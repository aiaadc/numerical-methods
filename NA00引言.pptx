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397" r:id="rId5"/>
    <p:sldId id="396" r:id="rId6"/>
    <p:sldId id="389" r:id="rId7"/>
    <p:sldId id="297" r:id="rId8"/>
    <p:sldId id="303" r:id="rId9"/>
    <p:sldId id="304" r:id="rId10"/>
    <p:sldId id="394" r:id="rId11"/>
    <p:sldId id="295" r:id="rId12"/>
    <p:sldId id="294" r:id="rId13"/>
    <p:sldId id="392" r:id="rId14"/>
    <p:sldId id="288" r:id="rId15"/>
    <p:sldId id="393" r:id="rId16"/>
    <p:sldId id="395" r:id="rId17"/>
    <p:sldId id="300" r:id="rId18"/>
    <p:sldId id="286" r:id="rId19"/>
    <p:sldId id="287" r:id="rId20"/>
    <p:sldId id="398" r:id="rId21"/>
    <p:sldId id="399" r:id="rId22"/>
    <p:sldId id="257" r:id="rId23"/>
    <p:sldId id="261" r:id="rId24"/>
    <p:sldId id="258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846"/>
    <p:restoredTop sz="90551"/>
  </p:normalViewPr>
  <p:slideViewPr>
    <p:cSldViewPr showGuides="1">
      <p:cViewPr varScale="1">
        <p:scale>
          <a:sx n="99" d="100"/>
          <a:sy n="99" d="100"/>
        </p:scale>
        <p:origin x="1072" y="16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3.vml.rels><?xml version="1.0" encoding="UTF-8" standalone="yes"?>
<Relationships xmlns="http://schemas.openxmlformats.org/package/2006/relationships"><Relationship Id="rId5" Type="http://schemas.openxmlformats.org/officeDocument/2006/relationships/image" Target="../media/image26.emf"/><Relationship Id="rId4" Type="http://schemas.openxmlformats.org/officeDocument/2006/relationships/image" Target="../media/image25.emf"/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10EE2C-B419-45DE-BFFD-ED88C3BCD1A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9922F-842D-4D55-B456-071B03B210C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/>
              <a:t>有的摄像头的光学分辨率是</a:t>
            </a:r>
            <a:r>
              <a:rPr lang="en-US" altLang="zh-TW"/>
              <a:t>30</a:t>
            </a:r>
            <a:r>
              <a:rPr lang="zh-TW" altLang="en-US"/>
              <a:t>万</a:t>
            </a:r>
            <a:r>
              <a:rPr lang="zh-CN" altLang="en-US"/>
              <a:t>（实像素）</a:t>
            </a:r>
            <a:r>
              <a:rPr lang="zh-TW" altLang="en-US"/>
              <a:t>，却号称这个摄像头的分辨率是</a:t>
            </a:r>
            <a:r>
              <a:rPr lang="en-US" altLang="zh-TW"/>
              <a:t>130</a:t>
            </a:r>
            <a:r>
              <a:rPr lang="zh-TW" altLang="en-US"/>
              <a:t>万（</a:t>
            </a:r>
            <a:r>
              <a:rPr lang="zh-CN" altLang="en-US"/>
              <a:t>包含虚拟像素</a:t>
            </a:r>
            <a:r>
              <a:rPr lang="zh-TW" altLang="en-US"/>
              <a:t>）的</a:t>
            </a:r>
            <a:endParaRPr lang="en-US" altLang="en-US">
              <a:ea typeface="宋体" panose="02010600030101010101" pitchFamily="2" charset="-122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fld id="{F2215DA6-3E24-C644-B83D-F17C6E6C2779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TW" altLang="en-US"/>
              <a:t>计算机视觉的目标定位</a:t>
            </a:r>
            <a:endParaRPr lang="en-US" altLang="en-US">
              <a:ea typeface="宋体" panose="02010600030101010101" pitchFamily="2" charset="-122"/>
            </a:endParaRP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fld id="{561E4AE3-561F-6A43-AEA9-39D44440CB29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D9922F-842D-4D55-B456-071B03B210C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如何判断结果是正确的</a:t>
            </a:r>
            <a:endParaRPr lang="en-US" altLang="zh-CN"/>
          </a:p>
          <a:p>
            <a:r>
              <a:rPr lang="zh-CN" altLang="en-US"/>
              <a:t>通过分析方法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如何选择方法</a:t>
            </a:r>
            <a:endParaRPr lang="en-US" altLang="zh-CN"/>
          </a:p>
        </p:txBody>
      </p:sp>
      <p:sp>
        <p:nvSpPr>
          <p:cNvPr id="3789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fld id="{F5B9A1CD-A05E-F449-9449-F42F29C8F87B}" type="slidenum">
              <a:rPr lang="en-US" altLang="zh-CN" sz="1200"/>
            </a:fld>
            <a:endParaRPr lang="en-US" alt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hyperlink" Target="https://scholar.google.com/citations?user=2zZNzAwAAAAJ&amp;hl=en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jpe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jpe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7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6.emf"/><Relationship Id="rId1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5.bin"/><Relationship Id="rId3" Type="http://schemas.openxmlformats.org/officeDocument/2006/relationships/image" Target="../media/image20.emf"/><Relationship Id="rId2" Type="http://schemas.openxmlformats.org/officeDocument/2006/relationships/oleObject" Target="../embeddings/oleObject4.bin"/><Relationship Id="rId1" Type="http://schemas.openxmlformats.org/officeDocument/2006/relationships/image" Target="../media/image19.wmf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.bin"/><Relationship Id="rId8" Type="http://schemas.openxmlformats.org/officeDocument/2006/relationships/image" Target="../media/image25.emf"/><Relationship Id="rId7" Type="http://schemas.openxmlformats.org/officeDocument/2006/relationships/oleObject" Target="../embeddings/oleObject9.bin"/><Relationship Id="rId6" Type="http://schemas.openxmlformats.org/officeDocument/2006/relationships/image" Target="../media/image24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23.e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22.emf"/><Relationship Id="rId13" Type="http://schemas.openxmlformats.org/officeDocument/2006/relationships/notesSlide" Target="../notesSlides/notesSlide9.xml"/><Relationship Id="rId12" Type="http://schemas.openxmlformats.org/officeDocument/2006/relationships/vmlDrawing" Target="../drawings/vmlDrawing3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6.emf"/><Relationship Id="rId1" Type="http://schemas.openxmlformats.org/officeDocument/2006/relationships/oleObject" Target="../embeddings/oleObject6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1.wav"/><Relationship Id="rId1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7.xml"/><Relationship Id="rId6" Type="http://schemas.openxmlformats.org/officeDocument/2006/relationships/audio" Target="../media/audio2.wav"/><Relationship Id="rId5" Type="http://schemas.openxmlformats.org/officeDocument/2006/relationships/audio" Target="../media/audio1.wav"/><Relationship Id="rId4" Type="http://schemas.openxmlformats.org/officeDocument/2006/relationships/image" Target="../media/image30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29.wmf"/><Relationship Id="rId1" Type="http://schemas.openxmlformats.org/officeDocument/2006/relationships/oleObject" Target="../embeddings/oleObject1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9373" y="1142331"/>
            <a:ext cx="8991600" cy="27622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6000" b="1" dirty="0">
                <a:latin typeface="SimSun" panose="02010600030101010101" pitchFamily="2" charset="-122"/>
                <a:ea typeface="SimSun" panose="02010600030101010101" pitchFamily="2" charset="-122"/>
              </a:rPr>
              <a:t>计算方法</a:t>
            </a:r>
            <a:br>
              <a:rPr lang="en-US" altLang="zh-CN" sz="6000" b="1" dirty="0">
                <a:latin typeface="SimSun" panose="02010600030101010101" pitchFamily="2" charset="-122"/>
                <a:ea typeface="SimSun" panose="02010600030101010101" pitchFamily="2" charset="-122"/>
              </a:rPr>
            </a:br>
            <a:r>
              <a:rPr lang="en-US" altLang="zh-CN" sz="4800" b="1" dirty="0">
                <a:latin typeface="SimSun" panose="02010600030101010101" pitchFamily="2" charset="-122"/>
                <a:ea typeface="SimSun" panose="02010600030101010101" pitchFamily="2" charset="-122"/>
              </a:rPr>
              <a:t>Computation</a:t>
            </a:r>
            <a:r>
              <a:rPr lang="zh-CN" altLang="en-US" sz="4800" b="1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4800" b="1" dirty="0">
                <a:latin typeface="SimSun" panose="02010600030101010101" pitchFamily="2" charset="-122"/>
                <a:ea typeface="SimSun" panose="02010600030101010101" pitchFamily="2" charset="-122"/>
              </a:rPr>
              <a:t>Methods</a:t>
            </a:r>
            <a:endParaRPr lang="en-US" sz="48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57031" y="3651230"/>
            <a:ext cx="6477000" cy="2901969"/>
          </a:xfrm>
        </p:spPr>
        <p:txBody>
          <a:bodyPr>
            <a:noAutofit/>
          </a:bodyPr>
          <a:lstStyle/>
          <a:p>
            <a:endParaRPr lang="en-US" altLang="zh-CN" sz="24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人工智能与</a:t>
            </a:r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自动化学院</a:t>
            </a:r>
            <a:endParaRPr lang="en-US" altLang="zh-CN" sz="24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刘雪明</a:t>
            </a:r>
            <a:endParaRPr lang="en-US" altLang="zh-CN" sz="24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电话：</a:t>
            </a:r>
            <a:r>
              <a:rPr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87543563</a:t>
            </a:r>
            <a:endParaRPr lang="en-US" altLang="zh-CN" sz="24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办公室：南一楼西</a:t>
            </a:r>
            <a:r>
              <a:rPr lang="en-US" altLang="zh-CN" sz="2400" b="1" dirty="0">
                <a:solidFill>
                  <a:schemeClr val="tx1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303</a:t>
            </a:r>
            <a:endParaRPr lang="en-US" altLang="zh-CN" sz="2400" b="1" dirty="0">
              <a:solidFill>
                <a:schemeClr val="tx1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400" b="1" i="1" dirty="0" err="1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xm_liu@hust.edu.cn</a:t>
            </a:r>
            <a:endParaRPr lang="en-US" sz="2400" b="1" i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1027" name="Picture 3" descr="0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13597" cy="128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42899" y="0"/>
            <a:ext cx="2857501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1" i="0" u="none" strike="noStrike" cap="none" normalizeH="0" baseline="0" dirty="0" err="1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90204" pitchFamily="34" charset="0"/>
                <a:ea typeface="SimSun" panose="02010600030101010101" pitchFamily="2" charset="-122"/>
              </a:rPr>
              <a:t>Huazhong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90204" pitchFamily="34" charset="0"/>
                <a:ea typeface="SimSun" panose="02010600030101010101" pitchFamily="2" charset="-122"/>
              </a:rPr>
              <a:t> University of</a:t>
            </a:r>
            <a:endParaRPr kumimoji="0" lang="en-US" altLang="zh-CN" b="1" i="0" u="none" strike="noStrike" cap="none" normalizeH="0" baseline="0" dirty="0">
              <a:ln>
                <a:noFill/>
              </a:ln>
              <a:solidFill>
                <a:srgbClr val="01416E"/>
              </a:solidFill>
              <a:effectLst/>
              <a:latin typeface="Arial" panose="020B0604020202090204" pitchFamily="34" charset="0"/>
              <a:ea typeface="SimSun" panose="02010600030101010101" pitchFamily="2" charset="-122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01416E"/>
                </a:solidFill>
                <a:effectLst/>
                <a:latin typeface="Arial" panose="020B0604020202090204" pitchFamily="34" charset="0"/>
                <a:ea typeface="SimSun" panose="02010600030101010101" pitchFamily="2" charset="-122"/>
              </a:rPr>
              <a:t>Science and Technology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US" sz="3800" b="1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个人简介</a:t>
            </a:r>
            <a:r>
              <a:rPr lang="en-US" altLang="zh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——</a:t>
            </a:r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刘雪明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/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2400" y="1715037"/>
            <a:ext cx="8839200" cy="4707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ea typeface="SimSun" panose="02010600030101010101" pitchFamily="2" charset="-122"/>
              </a:rPr>
              <a:t>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2016/08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至今，在</a:t>
            </a: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华中科技大学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人工智能与自动化学院担任专职教师；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US" altLang="zh-CN" sz="2000" dirty="0">
              <a:ea typeface="SimSun" panose="02010600030101010101" pitchFamily="2" charset="-122"/>
            </a:endParaRPr>
          </a:p>
          <a:p>
            <a:pPr marL="457200" indent="-457200" algn="l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2014/09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至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2016/02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美国波士顿大学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物理学院进行博士联合培养学习，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2019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年在</a:t>
            </a: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美国哈佛医学院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访问交流；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年在牛津大学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伦敦玛丽女王大学访问交流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2010/06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2016/06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分别在</a:t>
            </a: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华中科技大学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控制系，自动化学院获得学士与博士学位；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研究兴趣：复杂系统网络科学、智能医疗大数据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1"/>
              </a:rPr>
              <a:t> </a:t>
            </a:r>
            <a:r>
              <a:rPr lang="zh-CN" altLang="en-US" sz="2000" b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1"/>
              </a:rPr>
              <a:t>   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hlinkClick r:id="rId1"/>
              </a:rPr>
              <a:t>https://scholar.google.com/citations?user=2zZNzAwAAAAJ&amp;hl=en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lnSpc>
                <a:spcPct val="125000"/>
              </a:lnSpc>
              <a:buFont typeface="Wingdings" panose="05000000000000000000" pitchFamily="2" charset="2"/>
              <a:buChar char="Ø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课程介绍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/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2998" y="997565"/>
            <a:ext cx="6858000" cy="1068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授课课程</a:t>
            </a:r>
            <a:endParaRPr lang="en-US" altLang="zh-CN" sz="2800" b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  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《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计算方法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》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（又名“数值分析”）</a:t>
            </a:r>
            <a:endParaRPr lang="en-US" altLang="zh-CN" sz="28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3383873" y="3200400"/>
            <a:ext cx="1159099" cy="457200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数</a:t>
            </a:r>
            <a:r>
              <a:rPr lang="zh-CN" altLang="en-US" sz="2000" b="1" dirty="0"/>
              <a:t> </a:t>
            </a:r>
            <a:r>
              <a:rPr lang="en-US" sz="2000" b="1" dirty="0"/>
              <a:t>学</a:t>
            </a:r>
            <a:endParaRPr lang="en-US" sz="2000" b="1" dirty="0"/>
          </a:p>
        </p:txBody>
      </p:sp>
      <p:sp>
        <p:nvSpPr>
          <p:cNvPr id="8" name="Rectangle 7"/>
          <p:cNvSpPr/>
          <p:nvPr/>
        </p:nvSpPr>
        <p:spPr>
          <a:xfrm>
            <a:off x="838200" y="4461330"/>
            <a:ext cx="1219200" cy="4572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基础数学</a:t>
            </a:r>
            <a:endParaRPr lang="en-US" sz="2000" b="1" dirty="0"/>
          </a:p>
        </p:txBody>
      </p:sp>
      <p:sp>
        <p:nvSpPr>
          <p:cNvPr id="14" name="Rectangle 13"/>
          <p:cNvSpPr/>
          <p:nvPr/>
        </p:nvSpPr>
        <p:spPr>
          <a:xfrm>
            <a:off x="2370398" y="4461330"/>
            <a:ext cx="1219200" cy="4572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计算数学</a:t>
            </a:r>
            <a:endParaRPr lang="en-US" sz="2000" b="1" dirty="0"/>
          </a:p>
        </p:txBody>
      </p:sp>
      <p:sp>
        <p:nvSpPr>
          <p:cNvPr id="16" name="Rectangle 15"/>
          <p:cNvSpPr/>
          <p:nvPr/>
        </p:nvSpPr>
        <p:spPr>
          <a:xfrm>
            <a:off x="5427537" y="4343401"/>
            <a:ext cx="1219200" cy="693057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概率论与数理统计</a:t>
            </a:r>
            <a:endParaRPr lang="en-US" sz="2000" b="1" dirty="0"/>
          </a:p>
        </p:txBody>
      </p:sp>
      <p:sp>
        <p:nvSpPr>
          <p:cNvPr id="17" name="Rectangle 16"/>
          <p:cNvSpPr/>
          <p:nvPr/>
        </p:nvSpPr>
        <p:spPr>
          <a:xfrm>
            <a:off x="3895339" y="4437899"/>
            <a:ext cx="1219200" cy="4572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应用数学</a:t>
            </a:r>
            <a:endParaRPr lang="en-US" sz="2000" b="1" dirty="0"/>
          </a:p>
        </p:txBody>
      </p:sp>
      <p:sp>
        <p:nvSpPr>
          <p:cNvPr id="18" name="Rectangle 17"/>
          <p:cNvSpPr/>
          <p:nvPr/>
        </p:nvSpPr>
        <p:spPr>
          <a:xfrm>
            <a:off x="7025049" y="4343400"/>
            <a:ext cx="1219200" cy="693057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运筹学与控制论</a:t>
            </a:r>
            <a:endParaRPr lang="en-US" sz="2000" b="1" dirty="0"/>
          </a:p>
        </p:txBody>
      </p:sp>
      <p:cxnSp>
        <p:nvCxnSpPr>
          <p:cNvPr id="13" name="Elbow Connector 12"/>
          <p:cNvCxnSpPr>
            <a:stCxn id="6" idx="4"/>
            <a:endCxn id="18" idx="0"/>
          </p:cNvCxnSpPr>
          <p:nvPr/>
        </p:nvCxnSpPr>
        <p:spPr>
          <a:xfrm rot="16200000" flipH="1">
            <a:off x="5456136" y="2164887"/>
            <a:ext cx="685800" cy="3671226"/>
          </a:xfrm>
          <a:prstGeom prst="bentConnector3">
            <a:avLst>
              <a:gd name="adj1" fmla="val 58466"/>
            </a:avLst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/>
          <p:cNvCxnSpPr>
            <a:stCxn id="6" idx="4"/>
            <a:endCxn id="8" idx="0"/>
          </p:cNvCxnSpPr>
          <p:nvPr/>
        </p:nvCxnSpPr>
        <p:spPr>
          <a:xfrm rot="5400000">
            <a:off x="2303747" y="2801654"/>
            <a:ext cx="803730" cy="2515623"/>
          </a:xfrm>
          <a:prstGeom prst="bentConnector3">
            <a:avLst>
              <a:gd name="adj1" fmla="val 50000"/>
            </a:avLst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/>
          <p:cNvCxnSpPr>
            <a:stCxn id="6" idx="4"/>
            <a:endCxn id="14" idx="0"/>
          </p:cNvCxnSpPr>
          <p:nvPr/>
        </p:nvCxnSpPr>
        <p:spPr>
          <a:xfrm rot="5400000">
            <a:off x="3069846" y="3567753"/>
            <a:ext cx="803730" cy="983425"/>
          </a:xfrm>
          <a:prstGeom prst="bentConnector3">
            <a:avLst>
              <a:gd name="adj1" fmla="val 50000"/>
            </a:avLst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6" idx="4"/>
            <a:endCxn id="17" idx="0"/>
          </p:cNvCxnSpPr>
          <p:nvPr/>
        </p:nvCxnSpPr>
        <p:spPr>
          <a:xfrm rot="16200000" flipH="1">
            <a:off x="3844032" y="3776991"/>
            <a:ext cx="780299" cy="541516"/>
          </a:xfrm>
          <a:prstGeom prst="bentConnector3">
            <a:avLst>
              <a:gd name="adj1" fmla="val 50000"/>
            </a:avLst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/>
          <p:cNvCxnSpPr>
            <a:stCxn id="6" idx="4"/>
            <a:endCxn id="16" idx="0"/>
          </p:cNvCxnSpPr>
          <p:nvPr/>
        </p:nvCxnSpPr>
        <p:spPr>
          <a:xfrm rot="16200000" flipH="1">
            <a:off x="4657380" y="2963643"/>
            <a:ext cx="685801" cy="2073714"/>
          </a:xfrm>
          <a:prstGeom prst="bentConnector3">
            <a:avLst>
              <a:gd name="adj1" fmla="val 60582"/>
            </a:avLst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endCxn id="48" idx="0"/>
          </p:cNvCxnSpPr>
          <p:nvPr/>
        </p:nvCxnSpPr>
        <p:spPr>
          <a:xfrm>
            <a:off x="2979998" y="4895099"/>
            <a:ext cx="0" cy="778121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523531" y="5673220"/>
            <a:ext cx="2912934" cy="5334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基础课程</a:t>
            </a:r>
            <a:r>
              <a:rPr lang="zh-CN" altLang="en-US" sz="2000" b="1" dirty="0"/>
              <a:t>：</a:t>
            </a:r>
            <a:r>
              <a:rPr lang="en-US" sz="2000" b="1" dirty="0"/>
              <a:t>计算方法</a:t>
            </a:r>
            <a:endParaRPr lang="en-US" sz="2000" b="1" dirty="0"/>
          </a:p>
        </p:txBody>
      </p:sp>
      <p:sp>
        <p:nvSpPr>
          <p:cNvPr id="50" name="Frame 49"/>
          <p:cNvSpPr/>
          <p:nvPr/>
        </p:nvSpPr>
        <p:spPr>
          <a:xfrm>
            <a:off x="5411880" y="5381599"/>
            <a:ext cx="1103187" cy="387537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412787" y="5381600"/>
            <a:ext cx="1103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数值逼近</a:t>
            </a:r>
            <a:endParaRPr lang="en-US" dirty="0"/>
          </a:p>
        </p:txBody>
      </p:sp>
      <p:sp>
        <p:nvSpPr>
          <p:cNvPr id="54" name="Frame 53"/>
          <p:cNvSpPr/>
          <p:nvPr/>
        </p:nvSpPr>
        <p:spPr>
          <a:xfrm>
            <a:off x="5410973" y="5858933"/>
            <a:ext cx="1103187" cy="387537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411880" y="585893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数值代数</a:t>
            </a:r>
            <a:endParaRPr lang="en-US" dirty="0"/>
          </a:p>
        </p:txBody>
      </p:sp>
      <p:sp>
        <p:nvSpPr>
          <p:cNvPr id="56" name="Frame 55"/>
          <p:cNvSpPr/>
          <p:nvPr/>
        </p:nvSpPr>
        <p:spPr>
          <a:xfrm>
            <a:off x="5410066" y="6318063"/>
            <a:ext cx="1980427" cy="387537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410973" y="6318064"/>
            <a:ext cx="1980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微分方程数值解</a:t>
            </a:r>
            <a:endParaRPr lang="en-US" dirty="0"/>
          </a:p>
        </p:txBody>
      </p:sp>
      <p:cxnSp>
        <p:nvCxnSpPr>
          <p:cNvPr id="68" name="Elbow Connector 67"/>
          <p:cNvCxnSpPr>
            <a:stCxn id="48" idx="3"/>
            <a:endCxn id="53" idx="1"/>
          </p:cNvCxnSpPr>
          <p:nvPr/>
        </p:nvCxnSpPr>
        <p:spPr>
          <a:xfrm flipV="1">
            <a:off x="4436465" y="5566266"/>
            <a:ext cx="976322" cy="373654"/>
          </a:xfrm>
          <a:prstGeom prst="bentConnector3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Elbow Connector 69"/>
          <p:cNvCxnSpPr>
            <a:stCxn id="48" idx="3"/>
            <a:endCxn id="57" idx="1"/>
          </p:cNvCxnSpPr>
          <p:nvPr/>
        </p:nvCxnSpPr>
        <p:spPr>
          <a:xfrm>
            <a:off x="4436465" y="5939920"/>
            <a:ext cx="974508" cy="562810"/>
          </a:xfrm>
          <a:prstGeom prst="bentConnector3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/>
          <p:cNvCxnSpPr>
            <a:stCxn id="48" idx="3"/>
            <a:endCxn id="55" idx="1"/>
          </p:cNvCxnSpPr>
          <p:nvPr/>
        </p:nvCxnSpPr>
        <p:spPr>
          <a:xfrm>
            <a:off x="4436465" y="5939920"/>
            <a:ext cx="975415" cy="103680"/>
          </a:xfrm>
          <a:prstGeom prst="bentConnector3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Picture 7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0400" y="1143000"/>
            <a:ext cx="1938551" cy="2726699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613228" y="1936164"/>
            <a:ext cx="5952739" cy="637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目标：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求解工程实际中的</a:t>
            </a:r>
            <a:r>
              <a:rPr lang="zh-CN" altLang="en-US" sz="2800" b="1" dirty="0">
                <a:solidFill>
                  <a:srgbClr val="FF0000"/>
                </a:solidFill>
                <a:highlight>
                  <a:srgbClr val="FFFF00"/>
                </a:highlight>
                <a:latin typeface="SimSun" panose="02010600030101010101" pitchFamily="2" charset="-122"/>
                <a:ea typeface="SimSun" panose="02010600030101010101" pitchFamily="2" charset="-122"/>
              </a:rPr>
              <a:t>数学</a:t>
            </a:r>
            <a:r>
              <a:rPr lang="zh-CN" altLang="en-US" sz="28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问题</a:t>
            </a:r>
            <a:endParaRPr lang="en-US" altLang="zh-CN" sz="2800" b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09600" y="2594199"/>
            <a:ext cx="65522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8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特点：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大量数学推导和计算，涉及建模</a:t>
            </a:r>
            <a:endParaRPr lang="en-US" altLang="zh-CN" sz="2800" b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4" grpId="0" animBg="1"/>
      <p:bldP spid="16" grpId="0" animBg="1"/>
      <p:bldP spid="17" grpId="0" animBg="1"/>
      <p:bldP spid="18" grpId="0" animBg="1"/>
      <p:bldP spid="48" grpId="0" animBg="1"/>
      <p:bldP spid="50" grpId="0" animBg="1"/>
      <p:bldP spid="53" grpId="0"/>
      <p:bldP spid="54" grpId="0" animBg="1"/>
      <p:bldP spid="55" grpId="0"/>
      <p:bldP spid="56" grpId="0" animBg="1"/>
      <p:bldP spid="57" grpId="0"/>
      <p:bldP spid="79" grpId="0"/>
      <p:bldP spid="8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课程目标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/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91227" y="3353394"/>
            <a:ext cx="8356057" cy="1861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授课学生：</a:t>
            </a:r>
            <a:endParaRPr lang="en-US" altLang="zh-CN" sz="3200" b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  </a:t>
            </a:r>
            <a:r>
              <a:rPr lang="zh-CN" altLang="en-US" sz="3000" b="1" dirty="0">
                <a:latin typeface="SimSun" panose="02010600030101010101" pitchFamily="2" charset="-122"/>
                <a:ea typeface="SimSun" panose="02010600030101010101" pitchFamily="2" charset="-122"/>
              </a:rPr>
              <a:t>人工智能</a:t>
            </a:r>
            <a:r>
              <a:rPr lang="zh-CN" altLang="en-US" sz="3000" b="1" dirty="0">
                <a:latin typeface="SimSun" panose="02010600030101010101" pitchFamily="2" charset="-122"/>
                <a:ea typeface="SimSun" panose="02010600030101010101" pitchFamily="2" charset="-122"/>
              </a:rPr>
              <a:t>与自动化学院</a:t>
            </a:r>
            <a:r>
              <a:rPr lang="zh-CN" altLang="en-US" sz="30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自动化专业大二</a:t>
            </a:r>
            <a:r>
              <a:rPr lang="zh-CN" altLang="en-US" sz="3000" b="1" dirty="0">
                <a:latin typeface="SimSun" panose="02010600030101010101" pitchFamily="2" charset="-122"/>
                <a:ea typeface="SimSun" panose="02010600030101010101" pitchFamily="2" charset="-122"/>
              </a:rPr>
              <a:t>学生</a:t>
            </a:r>
            <a:endParaRPr lang="en-US" altLang="zh-CN" sz="3000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30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已学过的相关课程</a:t>
            </a:r>
            <a:r>
              <a:rPr lang="zh-CN" altLang="en-US" sz="3000" b="1" dirty="0">
                <a:latin typeface="SimSun" panose="02010600030101010101" pitchFamily="2" charset="-122"/>
                <a:ea typeface="SimSun" panose="02010600030101010101" pitchFamily="2" charset="-122"/>
              </a:rPr>
              <a:t>：微积分、线性代数、概率论</a:t>
            </a:r>
            <a:endParaRPr lang="en-US" altLang="zh-CN" sz="30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0400" y="1143000"/>
            <a:ext cx="1938551" cy="2726699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8512" y="5582284"/>
            <a:ext cx="1641627" cy="894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626" y="5608035"/>
            <a:ext cx="2092174" cy="835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0140" y="5669884"/>
            <a:ext cx="2660347" cy="711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3545346" y="5354395"/>
            <a:ext cx="17331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《</a:t>
            </a:r>
            <a:r>
              <a:rPr lang="zh-CN" altLang="en-US" sz="20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计算方法</a:t>
            </a:r>
            <a:r>
              <a:rPr lang="en-US" altLang="zh-CN" sz="20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》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2998" y="997565"/>
            <a:ext cx="6858000" cy="1068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授课课程</a:t>
            </a:r>
            <a:endParaRPr lang="en-US" altLang="zh-CN" sz="2800" b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  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《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计算方法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》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（又名“数值分析”）</a:t>
            </a:r>
            <a:endParaRPr lang="en-US" altLang="zh-CN" sz="28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3228" y="1936164"/>
            <a:ext cx="5952739" cy="637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目标：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求解工程实际中的</a:t>
            </a:r>
            <a:r>
              <a:rPr lang="zh-CN" altLang="en-US" sz="2800" b="1" dirty="0">
                <a:solidFill>
                  <a:srgbClr val="FF0000"/>
                </a:solidFill>
                <a:highlight>
                  <a:srgbClr val="FFFF00"/>
                </a:highlight>
                <a:latin typeface="SimSun" panose="02010600030101010101" pitchFamily="2" charset="-122"/>
                <a:ea typeface="SimSun" panose="02010600030101010101" pitchFamily="2" charset="-122"/>
              </a:rPr>
              <a:t>数学</a:t>
            </a:r>
            <a:r>
              <a:rPr lang="zh-CN" altLang="en-US" sz="28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问题</a:t>
            </a:r>
            <a:endParaRPr lang="en-US" altLang="zh-CN" sz="2800" b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9600" y="2594199"/>
            <a:ext cx="65522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800" b="1" dirty="0">
                <a:solidFill>
                  <a:srgbClr val="0000FF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特点：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大量数学推导和计算，涉及建模</a:t>
            </a:r>
            <a:endParaRPr lang="en-US" altLang="zh-CN" sz="2800" b="1" dirty="0">
              <a:solidFill>
                <a:srgbClr val="0000FF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950" y="2590800"/>
            <a:ext cx="100965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3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" y="2057400"/>
            <a:ext cx="2159000" cy="215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752600" y="5105400"/>
            <a:ext cx="6705600" cy="954088"/>
          </a:xfrm>
          <a:prstGeom prst="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txBody>
          <a:bodyPr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低分辨率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图像放大后像素点之间的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缺失值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如何填充？</a:t>
            </a:r>
            <a:endParaRPr lang="en-US" altLang="zh-CN" sz="28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48400" y="6178550"/>
            <a:ext cx="2057400" cy="6461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>
            <a:spAutoFit/>
          </a:bodyPr>
          <a:lstStyle/>
          <a:p>
            <a:pPr algn="just">
              <a:defRPr/>
            </a:pPr>
            <a:r>
              <a:rPr lang="zh-CN" altLang="en-US" sz="36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插值</a:t>
            </a:r>
            <a:r>
              <a:rPr lang="zh-CN" alt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问题</a:t>
            </a:r>
            <a:endParaRPr lang="en-US" altLang="zh-CN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pic>
        <p:nvPicPr>
          <p:cNvPr id="10" name="图片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 t="4445" r="23334" b="10001"/>
          <a:stretch>
            <a:fillRect/>
          </a:stretch>
        </p:blipFill>
        <p:spPr bwMode="auto">
          <a:xfrm>
            <a:off x="381000" y="5105400"/>
            <a:ext cx="925513" cy="139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Elbow Connector 10"/>
          <p:cNvCxnSpPr/>
          <p:nvPr/>
        </p:nvCxnSpPr>
        <p:spPr>
          <a:xfrm>
            <a:off x="4191000" y="6096000"/>
            <a:ext cx="1981200" cy="442913"/>
          </a:xfrm>
          <a:prstGeom prst="bentConnector3">
            <a:avLst>
              <a:gd name="adj1" fmla="val 3050"/>
            </a:avLst>
          </a:prstGeom>
          <a:ln w="1047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1238" y="1222375"/>
            <a:ext cx="3606800" cy="360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/>
          <p:cNvSpPr txBox="1"/>
          <p:nvPr/>
        </p:nvSpPr>
        <p:spPr>
          <a:xfrm>
            <a:off x="330743" y="228600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实例</a:t>
            </a:r>
            <a:r>
              <a:rPr lang="en-US" altLang="zh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1:</a:t>
            </a:r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图像的超分辨率显示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4" name="Process 13"/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29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087" y="1464078"/>
            <a:ext cx="6792913" cy="5255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 txBox="1"/>
          <p:nvPr/>
        </p:nvSpPr>
        <p:spPr>
          <a:xfrm>
            <a:off x="330743" y="228600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实例</a:t>
            </a:r>
            <a:r>
              <a:rPr lang="en-US" altLang="zh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2:</a:t>
            </a:r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语音变调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Process 4"/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125538"/>
            <a:ext cx="7899400" cy="544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 txBox="1"/>
          <p:nvPr/>
        </p:nvSpPr>
        <p:spPr>
          <a:xfrm>
            <a:off x="330743" y="228600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实例</a:t>
            </a:r>
            <a:r>
              <a:rPr lang="en-US" altLang="zh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3:</a:t>
            </a:r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自动驾驶汽车定位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Process 4"/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95288" y="5516563"/>
            <a:ext cx="8280400" cy="120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zh-TW" altLang="en-US" sz="2400"/>
          </a:p>
        </p:txBody>
      </p:sp>
      <p:sp>
        <p:nvSpPr>
          <p:cNvPr id="6" name="Title 1"/>
          <p:cNvSpPr txBox="1"/>
          <p:nvPr/>
        </p:nvSpPr>
        <p:spPr>
          <a:xfrm>
            <a:off x="330743" y="228600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实例</a:t>
            </a:r>
            <a:r>
              <a:rPr lang="en-US" altLang="zh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4:</a:t>
            </a:r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计算机如何开根号？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7" name="Process 6"/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1447800" y="3503188"/>
                <a:ext cx="1217833" cy="412870"/>
              </a:xfrm>
              <a:prstGeom prst="rect">
                <a:avLst/>
              </a:prstGeom>
              <a:noFill/>
              <a:ln w="38100">
                <a:solidFill>
                  <a:schemeClr val="accent1">
                    <a:shade val="50000"/>
                  </a:schemeClr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e>
                      </m:rad>
                    </m:oMath>
                  </m:oMathPara>
                </a14:m>
                <a:endParaRPr lang="en-US" sz="2400" b="1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3503188"/>
                <a:ext cx="1217833" cy="412870"/>
              </a:xfrm>
              <a:prstGeom prst="rect">
                <a:avLst/>
              </a:prstGeom>
              <a:blipFill rotWithShape="1">
                <a:blip r:embed="rId1"/>
                <a:stretch>
                  <a:fillRect l="-1564" t="-4742" r="-2459" b="-4611"/>
                </a:stretch>
              </a:blipFill>
              <a:ln w="38100"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ight Arrow 8"/>
          <p:cNvSpPr/>
          <p:nvPr/>
        </p:nvSpPr>
        <p:spPr>
          <a:xfrm>
            <a:off x="3499984" y="3557617"/>
            <a:ext cx="381000" cy="206435"/>
          </a:xfrm>
          <a:prstGeom prst="rightArrow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482" name="Picture 2" descr="Computer Cartoon Images, Stock Photos &amp; Vectors | Shutterstock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28"/>
          <a:stretch>
            <a:fillRect/>
          </a:stretch>
        </p:blipFill>
        <p:spPr bwMode="auto">
          <a:xfrm>
            <a:off x="4582886" y="2203570"/>
            <a:ext cx="3390900" cy="332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9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1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341438"/>
            <a:ext cx="7100887" cy="532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 txBox="1"/>
          <p:nvPr/>
        </p:nvSpPr>
        <p:spPr>
          <a:xfrm>
            <a:off x="330743" y="228600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实例</a:t>
            </a:r>
            <a:r>
              <a:rPr lang="en-US" altLang="zh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5:GPS</a:t>
            </a:r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定位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Process 4"/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405102"/>
            <a:ext cx="6377180" cy="4690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95288" y="5516563"/>
            <a:ext cx="8280400" cy="120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zh-TW" altLang="en-US" sz="2400"/>
          </a:p>
        </p:txBody>
      </p:sp>
      <p:sp>
        <p:nvSpPr>
          <p:cNvPr id="6" name="Title 1"/>
          <p:cNvSpPr txBox="1"/>
          <p:nvPr/>
        </p:nvSpPr>
        <p:spPr>
          <a:xfrm>
            <a:off x="330743" y="228600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实例</a:t>
            </a:r>
            <a:r>
              <a:rPr lang="en-US" altLang="zh-CN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6:</a:t>
            </a:r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网页排序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7" name="Process 6"/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实际问题求解流程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/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4" name="Oval 7"/>
          <p:cNvSpPr>
            <a:spLocks noChangeArrowheads="1"/>
          </p:cNvSpPr>
          <p:nvPr/>
        </p:nvSpPr>
        <p:spPr bwMode="auto">
          <a:xfrm>
            <a:off x="855662" y="2362200"/>
            <a:ext cx="1125538" cy="1109663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D8D8D8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0" r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应用</a:t>
            </a:r>
            <a:endParaRPr lang="en-US" altLang="zh-CN" sz="2800" b="1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问题</a:t>
            </a:r>
            <a:endParaRPr lang="zh-CN" altLang="en-US" sz="2800" b="1" dirty="0"/>
          </a:p>
        </p:txBody>
      </p:sp>
      <p:sp>
        <p:nvSpPr>
          <p:cNvPr id="45" name="AutoShape 10"/>
          <p:cNvSpPr>
            <a:spLocks noChangeArrowheads="1"/>
          </p:cNvSpPr>
          <p:nvPr/>
        </p:nvSpPr>
        <p:spPr bwMode="auto">
          <a:xfrm>
            <a:off x="2040310" y="2819400"/>
            <a:ext cx="931490" cy="228600"/>
          </a:xfrm>
          <a:prstGeom prst="rightArrow">
            <a:avLst>
              <a:gd name="adj1" fmla="val 50000"/>
              <a:gd name="adj2" fmla="val 122494"/>
            </a:avLst>
          </a:prstGeom>
          <a:solidFill>
            <a:schemeClr val="hlink"/>
          </a:solidFill>
          <a:ln w="9525">
            <a:solidFill>
              <a:schemeClr val="hlink"/>
            </a:solidFill>
            <a:miter lim="800000"/>
          </a:ln>
        </p:spPr>
        <p:txBody>
          <a:bodyPr wrap="none" lIns="0" r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pSp>
        <p:nvGrpSpPr>
          <p:cNvPr id="46" name="Group 67"/>
          <p:cNvGrpSpPr/>
          <p:nvPr/>
        </p:nvGrpSpPr>
        <p:grpSpPr bwMode="auto">
          <a:xfrm>
            <a:off x="3055224" y="2374581"/>
            <a:ext cx="1669176" cy="922319"/>
            <a:chOff x="432" y="1440"/>
            <a:chExt cx="2689" cy="1200"/>
          </a:xfrm>
        </p:grpSpPr>
        <p:sp>
          <p:nvSpPr>
            <p:cNvPr id="47" name="AutoShape 11"/>
            <p:cNvSpPr>
              <a:spLocks noChangeArrowheads="1"/>
            </p:cNvSpPr>
            <p:nvPr/>
          </p:nvSpPr>
          <p:spPr bwMode="auto">
            <a:xfrm>
              <a:off x="432" y="1440"/>
              <a:ext cx="2689" cy="1200"/>
            </a:xfrm>
            <a:prstGeom prst="bevel">
              <a:avLst>
                <a:gd name="adj" fmla="val 8421"/>
              </a:avLst>
            </a:prstGeom>
            <a:gradFill rotWithShape="0">
              <a:gsLst>
                <a:gs pos="0">
                  <a:srgbClr val="D8D8D8"/>
                </a:gs>
                <a:gs pos="5000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48" name="Rectangle 44"/>
            <p:cNvSpPr>
              <a:spLocks noChangeArrowheads="1"/>
            </p:cNvSpPr>
            <p:nvPr/>
          </p:nvSpPr>
          <p:spPr bwMode="auto">
            <a:xfrm>
              <a:off x="543" y="1815"/>
              <a:ext cx="2484" cy="5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数学模型</a:t>
              </a:r>
              <a:endParaRPr lang="zh-CN" altLang="en-US" sz="2800" b="1" dirty="0"/>
            </a:p>
          </p:txBody>
        </p:sp>
      </p:grpSp>
      <p:sp>
        <p:nvSpPr>
          <p:cNvPr id="49" name="AutoShape 10"/>
          <p:cNvSpPr>
            <a:spLocks noChangeArrowheads="1"/>
          </p:cNvSpPr>
          <p:nvPr/>
        </p:nvSpPr>
        <p:spPr bwMode="auto">
          <a:xfrm>
            <a:off x="4724400" y="2819400"/>
            <a:ext cx="917575" cy="213100"/>
          </a:xfrm>
          <a:prstGeom prst="rightArrow">
            <a:avLst>
              <a:gd name="adj1" fmla="val 50000"/>
              <a:gd name="adj2" fmla="val 122494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</a:ln>
        </p:spPr>
        <p:txBody>
          <a:bodyPr wrap="none" lIns="0" r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50" name="AutoShape 49"/>
          <p:cNvSpPr>
            <a:spLocks noChangeArrowheads="1"/>
          </p:cNvSpPr>
          <p:nvPr/>
        </p:nvSpPr>
        <p:spPr bwMode="auto">
          <a:xfrm rot="5400000">
            <a:off x="6809115" y="3444183"/>
            <a:ext cx="523220" cy="184150"/>
          </a:xfrm>
          <a:prstGeom prst="rightArrow">
            <a:avLst>
              <a:gd name="adj1" fmla="val 50000"/>
              <a:gd name="adj2" fmla="val 83336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pSp>
        <p:nvGrpSpPr>
          <p:cNvPr id="51" name="Group 67"/>
          <p:cNvGrpSpPr/>
          <p:nvPr/>
        </p:nvGrpSpPr>
        <p:grpSpPr bwMode="auto">
          <a:xfrm>
            <a:off x="5698397" y="2484333"/>
            <a:ext cx="2378803" cy="812566"/>
            <a:chOff x="432" y="1440"/>
            <a:chExt cx="2689" cy="1200"/>
          </a:xfrm>
        </p:grpSpPr>
        <p:sp>
          <p:nvSpPr>
            <p:cNvPr id="52" name="AutoShape 11"/>
            <p:cNvSpPr>
              <a:spLocks noChangeArrowheads="1"/>
            </p:cNvSpPr>
            <p:nvPr/>
          </p:nvSpPr>
          <p:spPr bwMode="auto">
            <a:xfrm>
              <a:off x="432" y="1440"/>
              <a:ext cx="2689" cy="1200"/>
            </a:xfrm>
            <a:prstGeom prst="bevel">
              <a:avLst>
                <a:gd name="adj" fmla="val 8421"/>
              </a:avLst>
            </a:prstGeom>
            <a:gradFill rotWithShape="0">
              <a:gsLst>
                <a:gs pos="0">
                  <a:srgbClr val="D8D8D8"/>
                </a:gs>
                <a:gs pos="5000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3" name="Rectangle 44"/>
            <p:cNvSpPr>
              <a:spLocks noChangeArrowheads="1"/>
            </p:cNvSpPr>
            <p:nvPr/>
          </p:nvSpPr>
          <p:spPr bwMode="auto">
            <a:xfrm>
              <a:off x="532" y="1815"/>
              <a:ext cx="2540" cy="5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计算模型</a:t>
              </a:r>
              <a:endParaRPr lang="zh-CN" altLang="en-US" sz="2800" b="1" dirty="0"/>
            </a:p>
          </p:txBody>
        </p:sp>
      </p:grpSp>
      <p:grpSp>
        <p:nvGrpSpPr>
          <p:cNvPr id="54" name="Group 67"/>
          <p:cNvGrpSpPr/>
          <p:nvPr/>
        </p:nvGrpSpPr>
        <p:grpSpPr bwMode="auto">
          <a:xfrm>
            <a:off x="5791201" y="3920984"/>
            <a:ext cx="2514599" cy="1058526"/>
            <a:chOff x="432" y="1440"/>
            <a:chExt cx="2689" cy="1200"/>
          </a:xfrm>
        </p:grpSpPr>
        <p:sp>
          <p:nvSpPr>
            <p:cNvPr id="55" name="AutoShape 11"/>
            <p:cNvSpPr>
              <a:spLocks noChangeArrowheads="1"/>
            </p:cNvSpPr>
            <p:nvPr/>
          </p:nvSpPr>
          <p:spPr bwMode="auto">
            <a:xfrm>
              <a:off x="432" y="1440"/>
              <a:ext cx="2689" cy="1200"/>
            </a:xfrm>
            <a:prstGeom prst="bevel">
              <a:avLst>
                <a:gd name="adj" fmla="val 8421"/>
              </a:avLst>
            </a:prstGeom>
            <a:gradFill rotWithShape="0">
              <a:gsLst>
                <a:gs pos="0">
                  <a:srgbClr val="D8D8D8"/>
                </a:gs>
                <a:gs pos="5000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56" name="Rectangle 44"/>
            <p:cNvSpPr>
              <a:spLocks noChangeArrowheads="1"/>
            </p:cNvSpPr>
            <p:nvPr/>
          </p:nvSpPr>
          <p:spPr bwMode="auto">
            <a:xfrm>
              <a:off x="432" y="1815"/>
              <a:ext cx="2540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计算实现</a:t>
              </a:r>
              <a:endParaRPr lang="zh-CN" altLang="en-US" sz="2800" b="1" dirty="0"/>
            </a:p>
          </p:txBody>
        </p:sp>
      </p:grpSp>
      <p:sp>
        <p:nvSpPr>
          <p:cNvPr id="58" name="Oval 7"/>
          <p:cNvSpPr>
            <a:spLocks noChangeArrowheads="1"/>
          </p:cNvSpPr>
          <p:nvPr/>
        </p:nvSpPr>
        <p:spPr bwMode="auto">
          <a:xfrm>
            <a:off x="6553200" y="5486400"/>
            <a:ext cx="1130300" cy="1093788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D8D8D8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0" r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实际</a:t>
            </a:r>
            <a:endParaRPr lang="zh-CN" altLang="en-US" sz="2800" b="1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应用</a:t>
            </a:r>
            <a:endParaRPr lang="zh-CN" altLang="en-US" sz="2800" b="1" dirty="0"/>
          </a:p>
        </p:txBody>
      </p:sp>
      <p:sp>
        <p:nvSpPr>
          <p:cNvPr id="60" name="Bent-Up Arrow 28"/>
          <p:cNvSpPr/>
          <p:nvPr/>
        </p:nvSpPr>
        <p:spPr bwMode="auto">
          <a:xfrm flipH="1">
            <a:off x="2209798" y="3032502"/>
            <a:ext cx="4893892" cy="2207850"/>
          </a:xfrm>
          <a:custGeom>
            <a:avLst/>
            <a:gdLst>
              <a:gd name="T0" fmla="*/ 0 w 4679950"/>
              <a:gd name="T1" fmla="*/ 2908013 h 3030537"/>
              <a:gd name="T2" fmla="*/ 4506346 w 4679950"/>
              <a:gd name="T3" fmla="*/ 2908013 h 3030537"/>
              <a:gd name="T4" fmla="*/ 4506346 w 4679950"/>
              <a:gd name="T5" fmla="*/ 245473 h 3030537"/>
              <a:gd name="T6" fmla="*/ 4455266 w 4679950"/>
              <a:gd name="T7" fmla="*/ 245473 h 3030537"/>
              <a:gd name="T8" fmla="*/ 4567608 w 4679950"/>
              <a:gd name="T9" fmla="*/ 0 h 3030537"/>
              <a:gd name="T10" fmla="*/ 4679950 w 4679950"/>
              <a:gd name="T11" fmla="*/ 245473 h 3030537"/>
              <a:gd name="T12" fmla="*/ 4628870 w 4679950"/>
              <a:gd name="T13" fmla="*/ 245473 h 3030537"/>
              <a:gd name="T14" fmla="*/ 4628870 w 4679950"/>
              <a:gd name="T15" fmla="*/ 3030538 h 3030537"/>
              <a:gd name="T16" fmla="*/ 0 w 4679950"/>
              <a:gd name="T17" fmla="*/ 3030538 h 3030537"/>
              <a:gd name="T18" fmla="*/ 0 w 4679950"/>
              <a:gd name="T19" fmla="*/ 2908013 h 303053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679950" h="3030537">
                <a:moveTo>
                  <a:pt x="0" y="2908012"/>
                </a:moveTo>
                <a:lnTo>
                  <a:pt x="4506346" y="2908012"/>
                </a:lnTo>
                <a:lnTo>
                  <a:pt x="4506346" y="245473"/>
                </a:lnTo>
                <a:lnTo>
                  <a:pt x="4455266" y="245473"/>
                </a:lnTo>
                <a:lnTo>
                  <a:pt x="4567608" y="0"/>
                </a:lnTo>
                <a:lnTo>
                  <a:pt x="4679950" y="245473"/>
                </a:lnTo>
                <a:lnTo>
                  <a:pt x="4628870" y="245473"/>
                </a:lnTo>
                <a:lnTo>
                  <a:pt x="4628870" y="3030537"/>
                </a:lnTo>
                <a:lnTo>
                  <a:pt x="0" y="3030537"/>
                </a:lnTo>
                <a:lnTo>
                  <a:pt x="0" y="2908012"/>
                </a:lnTo>
                <a:close/>
              </a:path>
            </a:pathLst>
          </a:custGeom>
          <a:solidFill>
            <a:schemeClr val="hlink"/>
          </a:solidFill>
          <a:ln w="9525">
            <a:solidFill>
              <a:schemeClr val="hlink"/>
            </a:solidFill>
            <a:miter lim="800000"/>
          </a:ln>
        </p:spPr>
        <p:txBody>
          <a:bodyPr wrap="none" lIns="0" rIns="0" anchor="ctr"/>
          <a:lstStyle/>
          <a:p>
            <a:endParaRPr lang="en-US"/>
          </a:p>
        </p:txBody>
      </p:sp>
      <p:sp>
        <p:nvSpPr>
          <p:cNvPr id="61" name="TextBox 32"/>
          <p:cNvSpPr txBox="1">
            <a:spLocks noChangeArrowheads="1"/>
          </p:cNvSpPr>
          <p:nvPr/>
        </p:nvSpPr>
        <p:spPr bwMode="auto">
          <a:xfrm>
            <a:off x="1768207" y="4148513"/>
            <a:ext cx="54420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/>
              <a:t>修正</a:t>
            </a:r>
            <a:endParaRPr lang="en-US" altLang="zh-CN" sz="24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284968" y="1066800"/>
            <a:ext cx="85282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zh-CN" altLang="en-US" sz="3200" b="1" dirty="0">
                <a:latin typeface="SimSun" panose="02010600030101010101" pitchFamily="2" charset="-122"/>
                <a:ea typeface="SimSun" panose="02010600030101010101" pitchFamily="2" charset="-122"/>
              </a:rPr>
              <a:t>采用</a:t>
            </a:r>
            <a:r>
              <a:rPr lang="zh-CN" altLang="en-US" sz="3200" b="1" dirty="0">
                <a:latin typeface="SimSun" panose="02010600030101010101" pitchFamily="2" charset="-122"/>
                <a:ea typeface="SimSun" panose="02010600030101010101" pitchFamily="2" charset="-122"/>
              </a:rPr>
              <a:t>问题</a:t>
            </a:r>
            <a:r>
              <a:rPr lang="zh-CN" altLang="en-US" sz="3200" b="1" dirty="0">
                <a:latin typeface="SimSun" panose="02010600030101010101" pitchFamily="2" charset="-122"/>
                <a:ea typeface="SimSun" panose="02010600030101010101" pitchFamily="2" charset="-122"/>
              </a:rPr>
              <a:t>引领教学法，从</a:t>
            </a:r>
            <a:r>
              <a:rPr lang="zh-CN" altLang="en-US" sz="3200" b="1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实际问题求解流程</a:t>
            </a:r>
            <a:r>
              <a:rPr lang="zh-CN" altLang="en-US" sz="3200" b="1" dirty="0">
                <a:latin typeface="SimSun" panose="02010600030101010101" pitchFamily="2" charset="-122"/>
                <a:ea typeface="SimSun" panose="02010600030101010101" pitchFamily="2" charset="-122"/>
              </a:rPr>
              <a:t>来设计教学</a:t>
            </a:r>
            <a:endParaRPr lang="en-US" altLang="zh-CN" sz="32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9" name="AutoShape 49"/>
          <p:cNvSpPr>
            <a:spLocks noChangeArrowheads="1"/>
          </p:cNvSpPr>
          <p:nvPr/>
        </p:nvSpPr>
        <p:spPr bwMode="auto">
          <a:xfrm rot="5400000">
            <a:off x="6933105" y="5147560"/>
            <a:ext cx="441703" cy="170085"/>
          </a:xfrm>
          <a:prstGeom prst="rightArrow">
            <a:avLst>
              <a:gd name="adj1" fmla="val 50000"/>
              <a:gd name="adj2" fmla="val 83336"/>
            </a:avLst>
          </a:prstGeom>
          <a:solidFill>
            <a:schemeClr val="hlink"/>
          </a:solidFill>
          <a:ln w="9525">
            <a:solidFill>
              <a:schemeClr val="hlink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4734953" y="1924802"/>
            <a:ext cx="3570848" cy="3086949"/>
          </a:xfrm>
          <a:prstGeom prst="rect">
            <a:avLst/>
          </a:prstGeom>
          <a:noFill/>
          <a:ln w="44450">
            <a:solidFill>
              <a:srgbClr val="FF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3600" dirty="0">
              <a:solidFill>
                <a:srgbClr val="FF0000"/>
              </a:solidFill>
            </a:endParaRPr>
          </a:p>
        </p:txBody>
      </p:sp>
      <p:sp>
        <p:nvSpPr>
          <p:cNvPr id="23" name="TextBox 2"/>
          <p:cNvSpPr txBox="1">
            <a:spLocks noChangeArrowheads="1"/>
          </p:cNvSpPr>
          <p:nvPr/>
        </p:nvSpPr>
        <p:spPr bwMode="auto">
          <a:xfrm>
            <a:off x="8382000" y="2220218"/>
            <a:ext cx="796197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计算方法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9" grpId="0" animBg="1"/>
      <p:bldP spid="50" grpId="0" animBg="1"/>
      <p:bldP spid="58" grpId="0" animBg="1"/>
      <p:bldP spid="60" grpId="0" animBg="1"/>
      <p:bldP spid="61" grpId="0"/>
      <p:bldP spid="59" grpId="0" animBg="1"/>
      <p:bldP spid="22" grpId="0" animBg="1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Content Placeholder 2"/>
          <p:cNvSpPr txBox="1">
            <a:spLocks noChangeArrowheads="1"/>
          </p:cNvSpPr>
          <p:nvPr/>
        </p:nvSpPr>
        <p:spPr bwMode="auto">
          <a:xfrm>
            <a:off x="762000" y="1219200"/>
            <a:ext cx="842486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marL="0" indent="0">
              <a:buNone/>
            </a:pPr>
            <a:endParaRPr lang="en-US" altLang="zh-CN" sz="3500" dirty="0">
              <a:solidFill>
                <a:srgbClr val="0000FF"/>
              </a:solidFill>
            </a:endParaRPr>
          </a:p>
          <a:p>
            <a:pPr>
              <a:buFontTx/>
              <a:buAutoNum type="arabicParenBoth"/>
            </a:pPr>
            <a:r>
              <a:rPr lang="zh-CN" altLang="en-US" dirty="0"/>
              <a:t>求非线性方程          </a:t>
            </a:r>
            <a:r>
              <a:rPr lang="en-US" altLang="zh-CN" dirty="0"/>
              <a:t>           </a:t>
            </a:r>
            <a:r>
              <a:rPr lang="zh-CN" altLang="en-US" dirty="0"/>
              <a:t>的根</a:t>
            </a:r>
            <a:endParaRPr lang="en-US" altLang="zh-CN" dirty="0"/>
          </a:p>
          <a:p>
            <a:pPr>
              <a:buFontTx/>
              <a:buAutoNum type="arabicParenBoth"/>
            </a:pPr>
            <a:r>
              <a:rPr lang="zh-CN" altLang="en-US" dirty="0"/>
              <a:t>求一阶微分方程初值问题：</a:t>
            </a:r>
            <a:endParaRPr lang="en-US" altLang="zh-CN" dirty="0"/>
          </a:p>
          <a:p>
            <a:pPr>
              <a:buFontTx/>
              <a:buAutoNum type="arabicParenBoth"/>
            </a:pPr>
            <a:endParaRPr lang="en-US" altLang="zh-CN" dirty="0"/>
          </a:p>
          <a:p>
            <a:pPr>
              <a:buFontTx/>
              <a:buAutoNum type="arabicParenBoth"/>
            </a:pPr>
            <a:endParaRPr lang="en-US" altLang="zh-CN" dirty="0"/>
          </a:p>
          <a:p>
            <a:pPr>
              <a:buFontTx/>
              <a:buAutoNum type="arabicParenBoth"/>
            </a:pPr>
            <a:r>
              <a:rPr lang="zh-CN" altLang="en-US" dirty="0"/>
              <a:t>求积分：</a:t>
            </a:r>
            <a:endParaRPr lang="en-US" altLang="zh-CN" dirty="0"/>
          </a:p>
          <a:p>
            <a:pPr>
              <a:buFontTx/>
              <a:buAutoNum type="arabicParenBoth"/>
            </a:pPr>
            <a:r>
              <a:rPr lang="zh-CN" altLang="en-US" dirty="0"/>
              <a:t>解线性代数方程组</a:t>
            </a:r>
            <a:endParaRPr lang="en-US" altLang="zh-CN" dirty="0"/>
          </a:p>
          <a:p>
            <a:pPr>
              <a:buFontTx/>
              <a:buAutoNum type="arabicParenBoth"/>
            </a:pPr>
            <a:endParaRPr lang="en-US" altLang="zh-CN" dirty="0"/>
          </a:p>
          <a:p>
            <a:pPr>
              <a:buFontTx/>
              <a:buNone/>
            </a:pPr>
            <a:endParaRPr lang="en-US" altLang="zh-CN" dirty="0"/>
          </a:p>
          <a:p>
            <a:pPr>
              <a:buFontTx/>
              <a:buNone/>
            </a:pPr>
            <a:endParaRPr lang="en-US" altLang="zh-CN" dirty="0">
              <a:solidFill>
                <a:srgbClr val="0000FF"/>
              </a:solidFill>
            </a:endParaRPr>
          </a:p>
          <a:p>
            <a:pPr>
              <a:buFontTx/>
              <a:buNone/>
            </a:pPr>
            <a:r>
              <a:rPr lang="en-US" altLang="zh-CN" dirty="0"/>
              <a:t>       </a:t>
            </a:r>
            <a:endParaRPr lang="en-US" altLang="zh-CN" dirty="0"/>
          </a:p>
        </p:txBody>
      </p:sp>
      <p:graphicFrame>
        <p:nvGraphicFramePr>
          <p:cNvPr id="33794" name="Object 9"/>
          <p:cNvGraphicFramePr>
            <a:graphicFrameLocks noChangeAspect="1"/>
          </p:cNvGraphicFramePr>
          <p:nvPr/>
        </p:nvGraphicFramePr>
        <p:xfrm>
          <a:off x="2562225" y="3019425"/>
          <a:ext cx="3741737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9" name="Equation" r:id="rId1" imgW="1271270" imgH="384175" progId="Equation.3">
                  <p:embed/>
                </p:oleObj>
              </mc:Choice>
              <mc:Fallback>
                <p:oleObj name="Equation" r:id="rId1" imgW="1271270" imgH="38417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225" y="3019425"/>
                        <a:ext cx="3741737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5" name="Rectangle 4"/>
          <p:cNvSpPr>
            <a:spLocks noChangeArrowheads="1"/>
          </p:cNvSpPr>
          <p:nvPr/>
        </p:nvSpPr>
        <p:spPr bwMode="auto">
          <a:xfrm>
            <a:off x="6378575" y="3163888"/>
            <a:ext cx="90328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/>
              <a:t>的解</a:t>
            </a:r>
            <a:endParaRPr lang="en-US" altLang="zh-CN" sz="2800"/>
          </a:p>
        </p:txBody>
      </p:sp>
      <p:graphicFrame>
        <p:nvGraphicFramePr>
          <p:cNvPr id="33796" name="Object 9"/>
          <p:cNvGraphicFramePr>
            <a:graphicFrameLocks noChangeAspect="1"/>
          </p:cNvGraphicFramePr>
          <p:nvPr/>
        </p:nvGraphicFramePr>
        <p:xfrm>
          <a:off x="2994025" y="4027488"/>
          <a:ext cx="1963737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658495" imgH="384175" progId="Equation.3">
                  <p:embed/>
                </p:oleObj>
              </mc:Choice>
              <mc:Fallback>
                <p:oleObj name="Equation" r:id="rId3" imgW="658495" imgH="38417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4025" y="4027488"/>
                        <a:ext cx="1963737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Object 9"/>
          <p:cNvGraphicFramePr>
            <a:graphicFrameLocks noChangeAspect="1"/>
          </p:cNvGraphicFramePr>
          <p:nvPr/>
        </p:nvGraphicFramePr>
        <p:xfrm>
          <a:off x="3859212" y="1939925"/>
          <a:ext cx="203835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685800" imgH="191770" progId="Equation.3">
                  <p:embed/>
                </p:oleObj>
              </mc:Choice>
              <mc:Fallback>
                <p:oleObj name="Equation" r:id="rId5" imgW="685800" imgH="19177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9212" y="1939925"/>
                        <a:ext cx="203835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1"/>
          <p:cNvSpPr txBox="1"/>
          <p:nvPr/>
        </p:nvSpPr>
        <p:spPr>
          <a:xfrm>
            <a:off x="330743" y="228600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待求解的数学问题举例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1" name="Process 10"/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30743" y="228600"/>
            <a:ext cx="7313571" cy="762000"/>
          </a:xfrm>
        </p:spPr>
        <p:txBody>
          <a:bodyPr>
            <a:normAutofit/>
          </a:bodyPr>
          <a:lstStyle/>
          <a:p>
            <a:pPr algn="l"/>
            <a:r>
              <a:rPr 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课程大纲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Process 2"/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22" name="Group 67"/>
          <p:cNvGrpSpPr/>
          <p:nvPr/>
        </p:nvGrpSpPr>
        <p:grpSpPr bwMode="auto">
          <a:xfrm>
            <a:off x="511174" y="2786064"/>
            <a:ext cx="1981200" cy="1152525"/>
            <a:chOff x="432" y="1440"/>
            <a:chExt cx="2739" cy="1200"/>
          </a:xfrm>
        </p:grpSpPr>
        <p:sp>
          <p:nvSpPr>
            <p:cNvPr id="23" name="AutoShape 11"/>
            <p:cNvSpPr>
              <a:spLocks noChangeArrowheads="1"/>
            </p:cNvSpPr>
            <p:nvPr/>
          </p:nvSpPr>
          <p:spPr bwMode="auto">
            <a:xfrm>
              <a:off x="432" y="1440"/>
              <a:ext cx="2689" cy="1200"/>
            </a:xfrm>
            <a:prstGeom prst="bevel">
              <a:avLst>
                <a:gd name="adj" fmla="val 8421"/>
              </a:avLst>
            </a:prstGeom>
            <a:gradFill rotWithShape="0">
              <a:gsLst>
                <a:gs pos="0">
                  <a:srgbClr val="D8D8D8"/>
                </a:gs>
                <a:gs pos="5000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5" name="Rectangle 44"/>
            <p:cNvSpPr>
              <a:spLocks noChangeArrowheads="1"/>
            </p:cNvSpPr>
            <p:nvPr/>
          </p:nvSpPr>
          <p:spPr bwMode="auto">
            <a:xfrm>
              <a:off x="631" y="1815"/>
              <a:ext cx="2540" cy="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 dirty="0"/>
                <a:t>数学模型</a:t>
              </a:r>
              <a:endParaRPr lang="zh-CN" altLang="en-US" b="1" dirty="0"/>
            </a:p>
          </p:txBody>
        </p:sp>
      </p:grpSp>
      <p:sp>
        <p:nvSpPr>
          <p:cNvPr id="26" name="TextBox 32"/>
          <p:cNvSpPr txBox="1">
            <a:spLocks noChangeArrowheads="1"/>
          </p:cNvSpPr>
          <p:nvPr/>
        </p:nvSpPr>
        <p:spPr bwMode="auto">
          <a:xfrm>
            <a:off x="511175" y="4429125"/>
            <a:ext cx="2787545" cy="20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定积分</a:t>
            </a:r>
            <a:endParaRPr lang="en-US" altLang="zh-CN" sz="2400" b="1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ja-JP" altLang="en-US" sz="2400" b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常微分方程</a:t>
            </a:r>
            <a:endParaRPr lang="en-US" altLang="ja-JP" sz="2400" b="1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TW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非线性方程</a:t>
            </a:r>
            <a:endParaRPr lang="en-US" altLang="zh-TW" sz="2400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TW" altLang="en-US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线性方程组</a:t>
            </a:r>
            <a:endParaRPr lang="en-US" altLang="zh-TW" sz="2400" b="1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矩阵特征向量</a:t>
            </a:r>
            <a:endParaRPr lang="en-US" altLang="zh-CN" sz="24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grpSp>
        <p:nvGrpSpPr>
          <p:cNvPr id="27" name="Group 67"/>
          <p:cNvGrpSpPr/>
          <p:nvPr/>
        </p:nvGrpSpPr>
        <p:grpSpPr bwMode="auto">
          <a:xfrm>
            <a:off x="4002086" y="2844801"/>
            <a:ext cx="1981200" cy="1152525"/>
            <a:chOff x="432" y="1440"/>
            <a:chExt cx="2739" cy="1200"/>
          </a:xfrm>
        </p:grpSpPr>
        <p:sp>
          <p:nvSpPr>
            <p:cNvPr id="28" name="AutoShape 11"/>
            <p:cNvSpPr>
              <a:spLocks noChangeArrowheads="1"/>
            </p:cNvSpPr>
            <p:nvPr/>
          </p:nvSpPr>
          <p:spPr bwMode="auto">
            <a:xfrm>
              <a:off x="432" y="1440"/>
              <a:ext cx="2689" cy="1200"/>
            </a:xfrm>
            <a:prstGeom prst="bevel">
              <a:avLst>
                <a:gd name="adj" fmla="val 8421"/>
              </a:avLst>
            </a:prstGeom>
            <a:gradFill rotWithShape="0">
              <a:gsLst>
                <a:gs pos="0">
                  <a:srgbClr val="D8D8D8"/>
                </a:gs>
                <a:gs pos="5000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29" name="Rectangle 44"/>
            <p:cNvSpPr>
              <a:spLocks noChangeArrowheads="1"/>
            </p:cNvSpPr>
            <p:nvPr/>
          </p:nvSpPr>
          <p:spPr bwMode="auto">
            <a:xfrm>
              <a:off x="631" y="1815"/>
              <a:ext cx="2540" cy="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rgbClr val="000000"/>
                  </a:solidFill>
                </a:rPr>
                <a:t>计算模型</a:t>
              </a:r>
              <a:endParaRPr lang="zh-CN" altLang="en-US" b="1" dirty="0">
                <a:solidFill>
                  <a:srgbClr val="000000"/>
                </a:solidFill>
              </a:endParaRPr>
            </a:p>
          </p:txBody>
        </p:sp>
      </p:grpSp>
      <p:sp>
        <p:nvSpPr>
          <p:cNvPr id="30" name="AutoShape 10"/>
          <p:cNvSpPr>
            <a:spLocks noChangeArrowheads="1"/>
          </p:cNvSpPr>
          <p:nvPr/>
        </p:nvSpPr>
        <p:spPr bwMode="auto">
          <a:xfrm>
            <a:off x="2598736" y="3348038"/>
            <a:ext cx="1138584" cy="196850"/>
          </a:xfrm>
          <a:prstGeom prst="rightArrow">
            <a:avLst>
              <a:gd name="adj1" fmla="val 50000"/>
              <a:gd name="adj2" fmla="val 122498"/>
            </a:avLst>
          </a:prstGeom>
          <a:solidFill>
            <a:schemeClr val="hlink"/>
          </a:solidFill>
          <a:ln w="9525">
            <a:solidFill>
              <a:schemeClr val="hlink"/>
            </a:solidFill>
            <a:miter lim="800000"/>
          </a:ln>
        </p:spPr>
        <p:txBody>
          <a:bodyPr wrap="none" lIns="0" r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000000"/>
              </a:solidFill>
            </a:endParaRPr>
          </a:p>
        </p:txBody>
      </p:sp>
      <p:sp>
        <p:nvSpPr>
          <p:cNvPr id="31" name="AutoShape 222"/>
          <p:cNvSpPr>
            <a:spLocks noChangeArrowheads="1"/>
          </p:cNvSpPr>
          <p:nvPr/>
        </p:nvSpPr>
        <p:spPr bwMode="auto">
          <a:xfrm>
            <a:off x="304800" y="1371600"/>
            <a:ext cx="6059487" cy="1143000"/>
          </a:xfrm>
          <a:prstGeom prst="wedgeEllipseCallout">
            <a:avLst>
              <a:gd name="adj1" fmla="val -3197"/>
              <a:gd name="adj2" fmla="val 119699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48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数的浮点表示和误差</a:t>
            </a:r>
            <a:endParaRPr lang="en-US" altLang="zh-CN" sz="2400" b="1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函数逼近、插值、</a:t>
            </a:r>
            <a:r>
              <a:rPr lang="zh-CN" altLang="en-US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数据拟合</a:t>
            </a:r>
            <a:endParaRPr lang="en-US" altLang="zh-CN" sz="2400" b="1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2" name="TextBox 32"/>
          <p:cNvSpPr txBox="1">
            <a:spLocks noChangeArrowheads="1"/>
          </p:cNvSpPr>
          <p:nvPr/>
        </p:nvSpPr>
        <p:spPr bwMode="auto">
          <a:xfrm>
            <a:off x="3517898" y="4429125"/>
            <a:ext cx="3455988" cy="20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高斯型积分公式等</a:t>
            </a:r>
            <a:endParaRPr lang="en-US" altLang="zh-CN" sz="2400" b="1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显式</a:t>
            </a:r>
            <a:r>
              <a:rPr lang="en-US" altLang="zh-CN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Euler</a:t>
            </a:r>
            <a:r>
              <a:rPr lang="zh-CN" altLang="en-US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公式等</a:t>
            </a:r>
            <a:endParaRPr lang="en-US" altLang="zh-CN" sz="2400" b="1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牛顿迭代公式</a:t>
            </a:r>
            <a:r>
              <a:rPr lang="zh-CN" altLang="en-US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等</a:t>
            </a:r>
            <a:endParaRPr lang="zh-CN" altLang="en-US" sz="2400" b="1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Jacobi</a:t>
            </a:r>
            <a:r>
              <a:rPr lang="zh-CN" altLang="en-US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迭代公式等</a:t>
            </a:r>
            <a:endParaRPr lang="en-US" altLang="zh-CN" sz="2400" b="1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幂法</a:t>
            </a:r>
            <a:r>
              <a:rPr lang="zh-CN" altLang="en-US" sz="2400" b="1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等</a:t>
            </a:r>
            <a:endParaRPr lang="en-US" altLang="zh-CN" sz="2400" b="1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3" name="AutoShape 10"/>
          <p:cNvSpPr>
            <a:spLocks noChangeArrowheads="1"/>
          </p:cNvSpPr>
          <p:nvPr/>
        </p:nvSpPr>
        <p:spPr bwMode="auto">
          <a:xfrm>
            <a:off x="6037262" y="3348038"/>
            <a:ext cx="936625" cy="196850"/>
          </a:xfrm>
          <a:prstGeom prst="rightArrow">
            <a:avLst>
              <a:gd name="adj1" fmla="val 50000"/>
              <a:gd name="adj2" fmla="val 122498"/>
            </a:avLst>
          </a:prstGeom>
          <a:solidFill>
            <a:schemeClr val="hlink"/>
          </a:solidFill>
          <a:ln w="9525">
            <a:solidFill>
              <a:schemeClr val="hlink"/>
            </a:solidFill>
            <a:miter lim="800000"/>
          </a:ln>
        </p:spPr>
        <p:txBody>
          <a:bodyPr wrap="none" lIns="0" r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000000"/>
              </a:solidFill>
            </a:endParaRPr>
          </a:p>
        </p:txBody>
      </p:sp>
      <p:grpSp>
        <p:nvGrpSpPr>
          <p:cNvPr id="34" name="Group 67"/>
          <p:cNvGrpSpPr/>
          <p:nvPr/>
        </p:nvGrpSpPr>
        <p:grpSpPr bwMode="auto">
          <a:xfrm>
            <a:off x="7050086" y="2771776"/>
            <a:ext cx="1981200" cy="1152525"/>
            <a:chOff x="432" y="1440"/>
            <a:chExt cx="2739" cy="1200"/>
          </a:xfrm>
        </p:grpSpPr>
        <p:sp>
          <p:nvSpPr>
            <p:cNvPr id="35" name="AutoShape 11"/>
            <p:cNvSpPr>
              <a:spLocks noChangeArrowheads="1"/>
            </p:cNvSpPr>
            <p:nvPr/>
          </p:nvSpPr>
          <p:spPr bwMode="auto">
            <a:xfrm>
              <a:off x="432" y="1440"/>
              <a:ext cx="2689" cy="1200"/>
            </a:xfrm>
            <a:prstGeom prst="bevel">
              <a:avLst>
                <a:gd name="adj" fmla="val 8421"/>
              </a:avLst>
            </a:prstGeom>
            <a:gradFill rotWithShape="0">
              <a:gsLst>
                <a:gs pos="0">
                  <a:srgbClr val="D8D8D8"/>
                </a:gs>
                <a:gs pos="5000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6" name="Rectangle 44"/>
            <p:cNvSpPr>
              <a:spLocks noChangeArrowheads="1"/>
            </p:cNvSpPr>
            <p:nvPr/>
          </p:nvSpPr>
          <p:spPr bwMode="auto">
            <a:xfrm>
              <a:off x="631" y="1815"/>
              <a:ext cx="2540" cy="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 dirty="0">
                  <a:solidFill>
                    <a:srgbClr val="000000"/>
                  </a:solidFill>
                </a:rPr>
                <a:t>计算实现</a:t>
              </a:r>
              <a:endParaRPr lang="zh-CN" altLang="en-US" b="1" dirty="0">
                <a:solidFill>
                  <a:srgbClr val="000000"/>
                </a:solidFill>
              </a:endParaRPr>
            </a:p>
          </p:txBody>
        </p:sp>
      </p:grpSp>
      <p:sp>
        <p:nvSpPr>
          <p:cNvPr id="37" name="Rectangle 36"/>
          <p:cNvSpPr>
            <a:spLocks noChangeArrowheads="1"/>
          </p:cNvSpPr>
          <p:nvPr/>
        </p:nvSpPr>
        <p:spPr bwMode="auto">
          <a:xfrm>
            <a:off x="7193066" y="4716464"/>
            <a:ext cx="176202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Python</a:t>
            </a:r>
            <a:endParaRPr lang="en-US" altLang="zh-CN" sz="2400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MATLAB</a:t>
            </a:r>
            <a:r>
              <a:rPr lang="zh-CN" altLang="en-US" sz="2400" b="1" dirty="0">
                <a:latin typeface="SimSun" panose="02010600030101010101" pitchFamily="2" charset="-122"/>
                <a:ea typeface="SimSun" panose="02010600030101010101" pitchFamily="2" charset="-122"/>
              </a:rPr>
              <a:t>等</a:t>
            </a:r>
            <a:endParaRPr lang="en-US" altLang="zh-CN" sz="240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320564" y="1230716"/>
            <a:ext cx="877451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²"/>
            </a:pPr>
            <a:r>
              <a:rPr lang="zh-CN" altLang="en-US" b="1" dirty="0"/>
              <a:t>核心手段：将复杂运算转化为</a:t>
            </a:r>
            <a:r>
              <a:rPr lang="zh-CN" altLang="en-US" b="1" dirty="0">
                <a:solidFill>
                  <a:srgbClr val="0000FF"/>
                </a:solidFill>
              </a:rPr>
              <a:t>加减乘除</a:t>
            </a:r>
            <a:r>
              <a:rPr lang="zh-CN" altLang="en-US" b="1" dirty="0"/>
              <a:t>运算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330743" y="228600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计算方法课程的核心概念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1" name="Process 10"/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320564" y="1976618"/>
            <a:ext cx="856297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²"/>
            </a:pPr>
            <a:r>
              <a:rPr lang="zh-CN" altLang="en-US" b="1" dirty="0"/>
              <a:t>计算结果：</a:t>
            </a:r>
            <a:r>
              <a:rPr lang="zh-CN" altLang="en-US" b="1" dirty="0">
                <a:solidFill>
                  <a:srgbClr val="FF0000"/>
                </a:solidFill>
              </a:rPr>
              <a:t>数值解</a:t>
            </a:r>
            <a:r>
              <a:rPr lang="zh-CN" altLang="en-US" b="1" dirty="0">
                <a:solidFill>
                  <a:srgbClr val="FF0000"/>
                </a:solidFill>
              </a:rPr>
              <a:t>（近似解）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532104" y="5887137"/>
            <a:ext cx="856297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²"/>
            </a:pPr>
            <a:r>
              <a:rPr lang="zh-CN" altLang="en-US" b="1" dirty="0"/>
              <a:t>重要概念：</a:t>
            </a:r>
            <a:r>
              <a:rPr lang="zh-CN" altLang="en-US" b="1" dirty="0">
                <a:solidFill>
                  <a:srgbClr val="FF0000"/>
                </a:solidFill>
              </a:rPr>
              <a:t>误差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31" name="Oval 7"/>
          <p:cNvSpPr>
            <a:spLocks noChangeArrowheads="1"/>
          </p:cNvSpPr>
          <p:nvPr/>
        </p:nvSpPr>
        <p:spPr bwMode="auto">
          <a:xfrm>
            <a:off x="855662" y="2716212"/>
            <a:ext cx="1125538" cy="1109663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D8D8D8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0" r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应用</a:t>
            </a:r>
            <a:endParaRPr lang="en-US" altLang="zh-CN" sz="2800" b="1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问题</a:t>
            </a:r>
            <a:endParaRPr lang="zh-CN" altLang="en-US" sz="2800" b="1" dirty="0"/>
          </a:p>
        </p:txBody>
      </p:sp>
      <p:sp>
        <p:nvSpPr>
          <p:cNvPr id="32" name="AutoShape 10"/>
          <p:cNvSpPr>
            <a:spLocks noChangeArrowheads="1"/>
          </p:cNvSpPr>
          <p:nvPr/>
        </p:nvSpPr>
        <p:spPr bwMode="auto">
          <a:xfrm>
            <a:off x="2040310" y="3173412"/>
            <a:ext cx="931490" cy="228600"/>
          </a:xfrm>
          <a:prstGeom prst="rightArrow">
            <a:avLst>
              <a:gd name="adj1" fmla="val 50000"/>
              <a:gd name="adj2" fmla="val 122494"/>
            </a:avLst>
          </a:prstGeom>
          <a:solidFill>
            <a:schemeClr val="hlink"/>
          </a:solidFill>
          <a:ln w="9525">
            <a:solidFill>
              <a:schemeClr val="hlink"/>
            </a:solidFill>
            <a:miter lim="800000"/>
          </a:ln>
        </p:spPr>
        <p:txBody>
          <a:bodyPr wrap="none" lIns="0" r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pSp>
        <p:nvGrpSpPr>
          <p:cNvPr id="33" name="Group 67"/>
          <p:cNvGrpSpPr/>
          <p:nvPr/>
        </p:nvGrpSpPr>
        <p:grpSpPr bwMode="auto">
          <a:xfrm>
            <a:off x="3055223" y="2728593"/>
            <a:ext cx="1822063" cy="900067"/>
            <a:chOff x="432" y="1440"/>
            <a:chExt cx="2689" cy="1200"/>
          </a:xfrm>
        </p:grpSpPr>
        <p:sp>
          <p:nvSpPr>
            <p:cNvPr id="34" name="AutoShape 11"/>
            <p:cNvSpPr>
              <a:spLocks noChangeArrowheads="1"/>
            </p:cNvSpPr>
            <p:nvPr/>
          </p:nvSpPr>
          <p:spPr bwMode="auto">
            <a:xfrm>
              <a:off x="432" y="1440"/>
              <a:ext cx="2689" cy="1200"/>
            </a:xfrm>
            <a:prstGeom prst="bevel">
              <a:avLst>
                <a:gd name="adj" fmla="val 8421"/>
              </a:avLst>
            </a:prstGeom>
            <a:gradFill rotWithShape="0">
              <a:gsLst>
                <a:gs pos="0">
                  <a:srgbClr val="D8D8D8"/>
                </a:gs>
                <a:gs pos="5000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35" name="Rectangle 44"/>
            <p:cNvSpPr>
              <a:spLocks noChangeArrowheads="1"/>
            </p:cNvSpPr>
            <p:nvPr/>
          </p:nvSpPr>
          <p:spPr bwMode="auto">
            <a:xfrm>
              <a:off x="543" y="1815"/>
              <a:ext cx="2484" cy="5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数学模型</a:t>
              </a:r>
              <a:endParaRPr lang="zh-CN" altLang="en-US" sz="2800" b="1" dirty="0"/>
            </a:p>
          </p:txBody>
        </p:sp>
      </p:grpSp>
      <p:sp>
        <p:nvSpPr>
          <p:cNvPr id="36" name="AutoShape 10"/>
          <p:cNvSpPr>
            <a:spLocks noChangeArrowheads="1"/>
          </p:cNvSpPr>
          <p:nvPr/>
        </p:nvSpPr>
        <p:spPr bwMode="auto">
          <a:xfrm>
            <a:off x="4813591" y="3173412"/>
            <a:ext cx="917575" cy="213100"/>
          </a:xfrm>
          <a:prstGeom prst="rightArrow">
            <a:avLst>
              <a:gd name="adj1" fmla="val 50000"/>
              <a:gd name="adj2" fmla="val 122494"/>
            </a:avLst>
          </a:prstGeom>
          <a:solidFill>
            <a:srgbClr val="0000FF"/>
          </a:solidFill>
          <a:ln w="9525">
            <a:solidFill>
              <a:srgbClr val="0000FF"/>
            </a:solidFill>
            <a:miter lim="800000"/>
          </a:ln>
        </p:spPr>
        <p:txBody>
          <a:bodyPr wrap="none" lIns="0" r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37" name="AutoShape 49"/>
          <p:cNvSpPr>
            <a:spLocks noChangeArrowheads="1"/>
          </p:cNvSpPr>
          <p:nvPr/>
        </p:nvSpPr>
        <p:spPr bwMode="auto">
          <a:xfrm rot="5400000">
            <a:off x="6576834" y="3633967"/>
            <a:ext cx="365482" cy="260349"/>
          </a:xfrm>
          <a:prstGeom prst="rightArrow">
            <a:avLst>
              <a:gd name="adj1" fmla="val 50000"/>
              <a:gd name="adj2" fmla="val 83336"/>
            </a:avLst>
          </a:prstGeom>
          <a:solidFill>
            <a:srgbClr val="0000FF"/>
          </a:solidFill>
          <a:ln w="9525">
            <a:solidFill>
              <a:srgbClr val="0000FF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pSp>
        <p:nvGrpSpPr>
          <p:cNvPr id="38" name="Group 67"/>
          <p:cNvGrpSpPr/>
          <p:nvPr/>
        </p:nvGrpSpPr>
        <p:grpSpPr bwMode="auto">
          <a:xfrm>
            <a:off x="5698397" y="2838345"/>
            <a:ext cx="2133599" cy="702005"/>
            <a:chOff x="432" y="1440"/>
            <a:chExt cx="2689" cy="1200"/>
          </a:xfrm>
        </p:grpSpPr>
        <p:sp>
          <p:nvSpPr>
            <p:cNvPr id="39" name="AutoShape 11"/>
            <p:cNvSpPr>
              <a:spLocks noChangeArrowheads="1"/>
            </p:cNvSpPr>
            <p:nvPr/>
          </p:nvSpPr>
          <p:spPr bwMode="auto">
            <a:xfrm>
              <a:off x="432" y="1440"/>
              <a:ext cx="2689" cy="1200"/>
            </a:xfrm>
            <a:prstGeom prst="bevel">
              <a:avLst>
                <a:gd name="adj" fmla="val 8421"/>
              </a:avLst>
            </a:prstGeom>
            <a:gradFill rotWithShape="0">
              <a:gsLst>
                <a:gs pos="0">
                  <a:srgbClr val="D8D8D8"/>
                </a:gs>
                <a:gs pos="5000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40" name="Rectangle 44"/>
            <p:cNvSpPr>
              <a:spLocks noChangeArrowheads="1"/>
            </p:cNvSpPr>
            <p:nvPr/>
          </p:nvSpPr>
          <p:spPr bwMode="auto">
            <a:xfrm>
              <a:off x="532" y="1815"/>
              <a:ext cx="2540" cy="5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计算模型</a:t>
              </a:r>
              <a:endParaRPr lang="zh-CN" altLang="en-US" sz="2800" b="1" dirty="0"/>
            </a:p>
          </p:txBody>
        </p:sp>
      </p:grpSp>
      <p:grpSp>
        <p:nvGrpSpPr>
          <p:cNvPr id="41" name="Group 67"/>
          <p:cNvGrpSpPr/>
          <p:nvPr/>
        </p:nvGrpSpPr>
        <p:grpSpPr bwMode="auto">
          <a:xfrm>
            <a:off x="5715001" y="3962400"/>
            <a:ext cx="2133599" cy="702005"/>
            <a:chOff x="432" y="1440"/>
            <a:chExt cx="2689" cy="1200"/>
          </a:xfrm>
        </p:grpSpPr>
        <p:sp>
          <p:nvSpPr>
            <p:cNvPr id="42" name="AutoShape 11"/>
            <p:cNvSpPr>
              <a:spLocks noChangeArrowheads="1"/>
            </p:cNvSpPr>
            <p:nvPr/>
          </p:nvSpPr>
          <p:spPr bwMode="auto">
            <a:xfrm>
              <a:off x="432" y="1440"/>
              <a:ext cx="2689" cy="1200"/>
            </a:xfrm>
            <a:prstGeom prst="bevel">
              <a:avLst>
                <a:gd name="adj" fmla="val 8421"/>
              </a:avLst>
            </a:prstGeom>
            <a:gradFill rotWithShape="0">
              <a:gsLst>
                <a:gs pos="0">
                  <a:srgbClr val="D8D8D8"/>
                </a:gs>
                <a:gs pos="50000">
                  <a:srgbClr val="FFFFFF"/>
                </a:gs>
                <a:gs pos="100000">
                  <a:srgbClr val="D8D8D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43" name="Rectangle 44"/>
            <p:cNvSpPr>
              <a:spLocks noChangeArrowheads="1"/>
            </p:cNvSpPr>
            <p:nvPr/>
          </p:nvSpPr>
          <p:spPr bwMode="auto">
            <a:xfrm>
              <a:off x="432" y="1815"/>
              <a:ext cx="2540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 dirty="0"/>
                <a:t>计算实现</a:t>
              </a:r>
              <a:endParaRPr lang="zh-CN" altLang="en-US" sz="2800" b="1" dirty="0"/>
            </a:p>
          </p:txBody>
        </p:sp>
      </p:grpSp>
      <p:sp>
        <p:nvSpPr>
          <p:cNvPr id="44" name="Oval 7"/>
          <p:cNvSpPr>
            <a:spLocks noChangeArrowheads="1"/>
          </p:cNvSpPr>
          <p:nvPr/>
        </p:nvSpPr>
        <p:spPr bwMode="auto">
          <a:xfrm>
            <a:off x="6194425" y="5250628"/>
            <a:ext cx="1130300" cy="1093788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D8D8D8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lIns="0" rIns="0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实际</a:t>
            </a:r>
            <a:endParaRPr lang="zh-CN" altLang="en-US" sz="2800" b="1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应用</a:t>
            </a:r>
            <a:endParaRPr lang="zh-CN" altLang="en-US" sz="2800" b="1" dirty="0"/>
          </a:p>
        </p:txBody>
      </p:sp>
      <p:sp>
        <p:nvSpPr>
          <p:cNvPr id="45" name="Bent-Up Arrow 28"/>
          <p:cNvSpPr/>
          <p:nvPr/>
        </p:nvSpPr>
        <p:spPr bwMode="auto">
          <a:xfrm flipH="1">
            <a:off x="2391756" y="3386514"/>
            <a:ext cx="4330931" cy="1551914"/>
          </a:xfrm>
          <a:custGeom>
            <a:avLst/>
            <a:gdLst>
              <a:gd name="T0" fmla="*/ 0 w 4679950"/>
              <a:gd name="T1" fmla="*/ 2908013 h 3030537"/>
              <a:gd name="T2" fmla="*/ 4506346 w 4679950"/>
              <a:gd name="T3" fmla="*/ 2908013 h 3030537"/>
              <a:gd name="T4" fmla="*/ 4506346 w 4679950"/>
              <a:gd name="T5" fmla="*/ 245473 h 3030537"/>
              <a:gd name="T6" fmla="*/ 4455266 w 4679950"/>
              <a:gd name="T7" fmla="*/ 245473 h 3030537"/>
              <a:gd name="T8" fmla="*/ 4567608 w 4679950"/>
              <a:gd name="T9" fmla="*/ 0 h 3030537"/>
              <a:gd name="T10" fmla="*/ 4679950 w 4679950"/>
              <a:gd name="T11" fmla="*/ 245473 h 3030537"/>
              <a:gd name="T12" fmla="*/ 4628870 w 4679950"/>
              <a:gd name="T13" fmla="*/ 245473 h 3030537"/>
              <a:gd name="T14" fmla="*/ 4628870 w 4679950"/>
              <a:gd name="T15" fmla="*/ 3030538 h 3030537"/>
              <a:gd name="T16" fmla="*/ 0 w 4679950"/>
              <a:gd name="T17" fmla="*/ 3030538 h 3030537"/>
              <a:gd name="T18" fmla="*/ 0 w 4679950"/>
              <a:gd name="T19" fmla="*/ 2908013 h 303053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4679950" h="3030537">
                <a:moveTo>
                  <a:pt x="0" y="2908012"/>
                </a:moveTo>
                <a:lnTo>
                  <a:pt x="4506346" y="2908012"/>
                </a:lnTo>
                <a:lnTo>
                  <a:pt x="4506346" y="245473"/>
                </a:lnTo>
                <a:lnTo>
                  <a:pt x="4455266" y="245473"/>
                </a:lnTo>
                <a:lnTo>
                  <a:pt x="4567608" y="0"/>
                </a:lnTo>
                <a:lnTo>
                  <a:pt x="4679950" y="245473"/>
                </a:lnTo>
                <a:lnTo>
                  <a:pt x="4628870" y="245473"/>
                </a:lnTo>
                <a:lnTo>
                  <a:pt x="4628870" y="3030537"/>
                </a:lnTo>
                <a:lnTo>
                  <a:pt x="0" y="3030537"/>
                </a:lnTo>
                <a:lnTo>
                  <a:pt x="0" y="2908012"/>
                </a:lnTo>
                <a:close/>
              </a:path>
            </a:pathLst>
          </a:custGeom>
          <a:solidFill>
            <a:schemeClr val="hlink"/>
          </a:solidFill>
          <a:ln w="9525">
            <a:solidFill>
              <a:schemeClr val="hlink"/>
            </a:solidFill>
            <a:miter lim="800000"/>
          </a:ln>
        </p:spPr>
        <p:txBody>
          <a:bodyPr wrap="none" lIns="0" rIns="0" anchor="ctr"/>
          <a:lstStyle/>
          <a:p>
            <a:endParaRPr lang="en-US"/>
          </a:p>
        </p:txBody>
      </p:sp>
      <p:sp>
        <p:nvSpPr>
          <p:cNvPr id="46" name="TextBox 32"/>
          <p:cNvSpPr txBox="1">
            <a:spLocks noChangeArrowheads="1"/>
          </p:cNvSpPr>
          <p:nvPr/>
        </p:nvSpPr>
        <p:spPr bwMode="auto">
          <a:xfrm>
            <a:off x="1981200" y="3980694"/>
            <a:ext cx="54420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/>
              <a:t>修正</a:t>
            </a:r>
            <a:endParaRPr lang="en-US" altLang="zh-CN" sz="2400" b="1" dirty="0"/>
          </a:p>
        </p:txBody>
      </p:sp>
      <p:sp>
        <p:nvSpPr>
          <p:cNvPr id="47" name="AutoShape 49"/>
          <p:cNvSpPr>
            <a:spLocks noChangeArrowheads="1"/>
          </p:cNvSpPr>
          <p:nvPr/>
        </p:nvSpPr>
        <p:spPr bwMode="auto">
          <a:xfrm rot="5400000">
            <a:off x="6586879" y="4830081"/>
            <a:ext cx="441703" cy="170085"/>
          </a:xfrm>
          <a:prstGeom prst="rightArrow">
            <a:avLst>
              <a:gd name="adj1" fmla="val 50000"/>
              <a:gd name="adj2" fmla="val 83336"/>
            </a:avLst>
          </a:prstGeom>
          <a:solidFill>
            <a:schemeClr val="hlink"/>
          </a:solidFill>
          <a:ln w="9525">
            <a:solidFill>
              <a:schemeClr val="hlink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  <p:bldP spid="31" grpId="0" animBg="1"/>
      <p:bldP spid="32" grpId="0" animBg="1"/>
      <p:bldP spid="36" grpId="0" animBg="1"/>
      <p:bldP spid="37" grpId="0" animBg="1"/>
      <p:bldP spid="44" grpId="0" animBg="1"/>
      <p:bldP spid="45" grpId="0" animBg="1"/>
      <p:bldP spid="46" grpId="0"/>
      <p:bldP spid="4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8"/>
          <p:cNvSpPr>
            <a:spLocks noChangeArrowheads="1"/>
          </p:cNvSpPr>
          <p:nvPr/>
        </p:nvSpPr>
        <p:spPr bwMode="auto">
          <a:xfrm>
            <a:off x="1476375" y="1778000"/>
            <a:ext cx="6148388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/>
              <a:t>double x = 1.0;</a:t>
            </a:r>
            <a:endParaRPr lang="en-US" altLang="zh-CN" sz="24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/>
              <a:t>double y = x/3.0;</a:t>
            </a:r>
            <a:endParaRPr lang="en-US" altLang="zh-CN" sz="24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/>
              <a:t>if (x == y*3.0)    cout&lt;&lt;“They are equal!”;</a:t>
            </a:r>
            <a:endParaRPr lang="en-US" altLang="zh-CN" sz="24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/>
              <a:t>else                     cout&lt;&lt;“They are NOT equal.”;</a:t>
            </a:r>
            <a:endParaRPr lang="en-US" altLang="zh-CN" sz="2400"/>
          </a:p>
          <a:p>
            <a:pPr>
              <a:spcBef>
                <a:spcPct val="0"/>
              </a:spcBef>
              <a:buFontTx/>
              <a:buNone/>
            </a:pPr>
            <a:endParaRPr lang="en-US" altLang="zh-CN" sz="2400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684213" y="4292600"/>
            <a:ext cx="7739062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/>
              <a:t>double x = 1.0;</a:t>
            </a:r>
            <a:endParaRPr lang="en-US" altLang="zh-CN" sz="24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/>
              <a:t>double y = x/3.0;</a:t>
            </a:r>
            <a:endParaRPr lang="en-US" altLang="zh-CN" sz="24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/>
              <a:t>if (fabs(x-y*3.0) &lt; epsilon)    cout&lt;&lt;“They are equal!”;</a:t>
            </a:r>
            <a:endParaRPr lang="en-US" altLang="zh-CN" sz="2400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/>
              <a:t>else                                          cout&lt;&lt;“They are NOT equal.”;</a:t>
            </a:r>
            <a:endParaRPr lang="en-US" altLang="zh-CN" sz="2400"/>
          </a:p>
          <a:p>
            <a:pPr>
              <a:spcBef>
                <a:spcPct val="0"/>
              </a:spcBef>
              <a:buFontTx/>
              <a:buNone/>
            </a:pPr>
            <a:endParaRPr lang="en-US" altLang="zh-CN" sz="2400"/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539750" y="3716338"/>
            <a:ext cx="3032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</a:rPr>
              <a:t>引入误差容忍度</a:t>
            </a:r>
            <a:endParaRPr lang="en-US" altLang="zh-CN" sz="2800" b="1" dirty="0">
              <a:solidFill>
                <a:srgbClr val="000000"/>
              </a:solidFill>
            </a:endParaRPr>
          </a:p>
        </p:txBody>
      </p:sp>
      <p:sp>
        <p:nvSpPr>
          <p:cNvPr id="34821" name="Rectangle 8"/>
          <p:cNvSpPr>
            <a:spLocks noChangeArrowheads="1"/>
          </p:cNvSpPr>
          <p:nvPr/>
        </p:nvSpPr>
        <p:spPr bwMode="auto">
          <a:xfrm>
            <a:off x="539750" y="1196975"/>
            <a:ext cx="23342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</a:rPr>
              <a:t>原始代码：</a:t>
            </a:r>
            <a:endParaRPr lang="en-US" altLang="zh-CN" sz="2800" b="1" dirty="0">
              <a:solidFill>
                <a:srgbClr val="000000"/>
              </a:solidFill>
            </a:endParaRPr>
          </a:p>
        </p:txBody>
      </p:sp>
      <p:sp>
        <p:nvSpPr>
          <p:cNvPr id="14" name="Text Box 16"/>
          <p:cNvSpPr txBox="1">
            <a:spLocks noChangeArrowheads="1"/>
          </p:cNvSpPr>
          <p:nvPr/>
        </p:nvSpPr>
        <p:spPr bwMode="auto">
          <a:xfrm>
            <a:off x="468313" y="6092825"/>
            <a:ext cx="835183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</a:rPr>
              <a:t>注意：数学上的等价</a:t>
            </a:r>
            <a:r>
              <a:rPr lang="zh-CN" altLang="en-US" b="1" dirty="0">
                <a:solidFill>
                  <a:srgbClr val="FF0000"/>
                </a:solidFill>
              </a:rPr>
              <a:t>在计算机上不一定等效！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330743" y="228600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误差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9" name="Process 8"/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41" name="Group 8"/>
          <p:cNvGrpSpPr/>
          <p:nvPr/>
        </p:nvGrpSpPr>
        <p:grpSpPr bwMode="auto">
          <a:xfrm>
            <a:off x="427038" y="115888"/>
            <a:ext cx="8716962" cy="1296987"/>
            <a:chOff x="269" y="75"/>
            <a:chExt cx="5196" cy="951"/>
          </a:xfrm>
        </p:grpSpPr>
        <p:sp>
          <p:nvSpPr>
            <p:cNvPr id="35846" name="Text Box 4"/>
            <p:cNvSpPr txBox="1">
              <a:spLocks noChangeArrowheads="1"/>
            </p:cNvSpPr>
            <p:nvPr/>
          </p:nvSpPr>
          <p:spPr bwMode="auto">
            <a:xfrm>
              <a:off x="929" y="255"/>
              <a:ext cx="4536" cy="6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/>
                <a:t>例：解二元一次方程组（小数点后</a:t>
              </a:r>
              <a:r>
                <a:rPr lang="en-US" altLang="zh-CN" sz="2800" b="1"/>
                <a:t>5</a:t>
              </a:r>
              <a:r>
                <a:rPr lang="zh-CN" altLang="en-US" sz="2800" b="1"/>
                <a:t>位有效数字）</a:t>
              </a:r>
              <a:endParaRPr lang="en-US" altLang="zh-CN" sz="2800" b="1"/>
            </a:p>
          </p:txBody>
        </p:sp>
        <p:pic>
          <p:nvPicPr>
            <p:cNvPr id="35847" name="Picture 7" descr="AMCONFUS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" y="75"/>
              <a:ext cx="557" cy="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35842" name="Object 9"/>
          <p:cNvGraphicFramePr>
            <a:graphicFrameLocks noChangeAspect="1"/>
          </p:cNvGraphicFramePr>
          <p:nvPr/>
        </p:nvGraphicFramePr>
        <p:xfrm>
          <a:off x="468313" y="1844675"/>
          <a:ext cx="7421562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9" name="Equation" r:id="rId2" imgW="2533015" imgH="457200" progId="Equation.3">
                  <p:embed/>
                </p:oleObj>
              </mc:Choice>
              <mc:Fallback>
                <p:oleObj name="Equation" r:id="rId2" imgW="2533015" imgH="457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844675"/>
                        <a:ext cx="7421562" cy="957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 bwMode="auto">
          <a:xfrm>
            <a:off x="323850" y="2814638"/>
            <a:ext cx="3930650" cy="461962"/>
            <a:chOff x="458295" y="4445224"/>
            <a:chExt cx="3932037" cy="461665"/>
          </a:xfrm>
        </p:grpSpPr>
        <p:sp>
          <p:nvSpPr>
            <p:cNvPr id="35844" name="Text Box 15"/>
            <p:cNvSpPr txBox="1">
              <a:spLocks noChangeArrowheads="1"/>
            </p:cNvSpPr>
            <p:nvPr/>
          </p:nvSpPr>
          <p:spPr bwMode="auto">
            <a:xfrm>
              <a:off x="458295" y="4445224"/>
              <a:ext cx="381610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50305040509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solidFill>
                    <a:srgbClr val="000000"/>
                  </a:solidFill>
                  <a:latin typeface="楷体_GB2312" charset="0"/>
                </a:rPr>
                <a:t>其准确解为</a:t>
              </a:r>
              <a:endParaRPr kumimoji="0" lang="en-US" altLang="zh-CN" sz="2400" b="1" dirty="0">
                <a:solidFill>
                  <a:srgbClr val="000000"/>
                </a:solidFill>
                <a:latin typeface="楷体_GB2312" charset="0"/>
              </a:endParaRPr>
            </a:p>
          </p:txBody>
        </p:sp>
        <p:graphicFrame>
          <p:nvGraphicFramePr>
            <p:cNvPr id="35845" name="对象 1"/>
            <p:cNvGraphicFramePr>
              <a:graphicFrameLocks noChangeAspect="1"/>
            </p:cNvGraphicFramePr>
            <p:nvPr/>
          </p:nvGraphicFramePr>
          <p:xfrm>
            <a:off x="2411771" y="4466878"/>
            <a:ext cx="1978561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Equation" r:id="rId4" imgW="887095" imgH="182880" progId="Equation.3">
                    <p:embed/>
                  </p:oleObj>
                </mc:Choice>
                <mc:Fallback>
                  <p:oleObj name="Equation" r:id="rId4" imgW="887095" imgH="182880" progId="Equation.3">
                    <p:embed/>
                    <p:pic>
                      <p:nvPicPr>
                        <p:cNvPr id="0" name="对象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11771" y="4466878"/>
                          <a:ext cx="1978561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5" name="Object 2"/>
          <p:cNvGraphicFramePr>
            <a:graphicFrameLocks noChangeAspect="1"/>
          </p:cNvGraphicFramePr>
          <p:nvPr/>
        </p:nvGraphicFramePr>
        <p:xfrm>
          <a:off x="647700" y="1851025"/>
          <a:ext cx="7421563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9" name="Equation" r:id="rId1" imgW="2533015" imgH="457200" progId="Equation.3">
                  <p:embed/>
                </p:oleObj>
              </mc:Choice>
              <mc:Fallback>
                <p:oleObj name="Equation" r:id="rId1" imgW="2533015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" y="1851025"/>
                        <a:ext cx="7421563" cy="957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7" name="Rectangle 4"/>
          <p:cNvSpPr>
            <a:spLocks noChangeArrowheads="1"/>
          </p:cNvSpPr>
          <p:nvPr/>
        </p:nvSpPr>
        <p:spPr bwMode="auto">
          <a:xfrm>
            <a:off x="323850" y="2951162"/>
            <a:ext cx="82804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/>
              <a:t>2. </a:t>
            </a:r>
            <a:r>
              <a:rPr lang="zh-CN" altLang="en-US" sz="2400"/>
              <a:t>方程</a:t>
            </a:r>
            <a:r>
              <a:rPr lang="en-US" altLang="zh-CN" sz="2400"/>
              <a:t>(1)</a:t>
            </a:r>
            <a:r>
              <a:rPr lang="zh-CN" altLang="en-US" sz="2400"/>
              <a:t>－</a:t>
            </a:r>
            <a:r>
              <a:rPr lang="en-US" altLang="zh-CN" sz="2400"/>
              <a:t>(2)</a:t>
            </a:r>
            <a:r>
              <a:rPr lang="zh-CN" altLang="en-US" sz="2400"/>
              <a:t>，得</a:t>
            </a:r>
            <a:endParaRPr lang="en-US" altLang="zh-CN" sz="2400"/>
          </a:p>
          <a:p>
            <a:pPr>
              <a:spcBef>
                <a:spcPct val="0"/>
              </a:spcBef>
              <a:buFontTx/>
              <a:buNone/>
            </a:pPr>
            <a:endParaRPr lang="en-US" altLang="zh-CN" sz="2400"/>
          </a:p>
        </p:txBody>
      </p:sp>
      <p:graphicFrame>
        <p:nvGraphicFramePr>
          <p:cNvPr id="23558" name="Object 5"/>
          <p:cNvGraphicFramePr>
            <a:graphicFrameLocks noChangeAspect="1"/>
          </p:cNvGraphicFramePr>
          <p:nvPr/>
        </p:nvGraphicFramePr>
        <p:xfrm>
          <a:off x="2555875" y="3455987"/>
          <a:ext cx="3898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1600200" imgH="191770" progId="Equation.3">
                  <p:embed/>
                </p:oleObj>
              </mc:Choice>
              <mc:Fallback>
                <p:oleObj name="Equation" r:id="rId3" imgW="1600200" imgH="19177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3455987"/>
                        <a:ext cx="38989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9" name="Rectangle 6"/>
          <p:cNvSpPr>
            <a:spLocks noChangeArrowheads="1"/>
          </p:cNvSpPr>
          <p:nvPr/>
        </p:nvSpPr>
        <p:spPr bwMode="auto">
          <a:xfrm>
            <a:off x="323850" y="4535487"/>
            <a:ext cx="73437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/>
              <a:t>3.1. </a:t>
            </a:r>
            <a:r>
              <a:rPr lang="zh-CN" altLang="en-US" sz="2400"/>
              <a:t>解得</a:t>
            </a:r>
            <a:r>
              <a:rPr lang="en-US" altLang="zh-CN" sz="2400"/>
              <a:t> y=4.99998e-1</a:t>
            </a:r>
            <a:r>
              <a:rPr lang="zh-CN" altLang="en-US" sz="2400"/>
              <a:t>，带入新的方程</a:t>
            </a:r>
            <a:r>
              <a:rPr lang="en-US" altLang="zh-CN" sz="2400"/>
              <a:t>(1)</a:t>
            </a:r>
            <a:r>
              <a:rPr lang="zh-CN" altLang="en-US" sz="2400"/>
              <a:t>，求得</a:t>
            </a:r>
            <a:endParaRPr lang="en-US" altLang="zh-CN" sz="2400"/>
          </a:p>
        </p:txBody>
      </p:sp>
      <p:graphicFrame>
        <p:nvGraphicFramePr>
          <p:cNvPr id="23560" name="Object 7"/>
          <p:cNvGraphicFramePr>
            <a:graphicFrameLocks noChangeAspect="1"/>
          </p:cNvGraphicFramePr>
          <p:nvPr/>
        </p:nvGraphicFramePr>
        <p:xfrm>
          <a:off x="1187450" y="5100637"/>
          <a:ext cx="6840538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2578735" imgH="164465" progId="Equation.3">
                  <p:embed/>
                </p:oleObj>
              </mc:Choice>
              <mc:Fallback>
                <p:oleObj name="Equation" r:id="rId5" imgW="2578735" imgH="16446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5100637"/>
                        <a:ext cx="6840538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1" name="Rectangle 8"/>
          <p:cNvSpPr>
            <a:spLocks noChangeArrowheads="1"/>
          </p:cNvSpPr>
          <p:nvPr/>
        </p:nvSpPr>
        <p:spPr bwMode="auto">
          <a:xfrm>
            <a:off x="323850" y="5441950"/>
            <a:ext cx="7343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/>
              <a:t>3.2. </a:t>
            </a:r>
            <a:r>
              <a:rPr lang="zh-CN" altLang="en-US" sz="2400"/>
              <a:t>解得</a:t>
            </a:r>
            <a:r>
              <a:rPr lang="en-US" altLang="zh-CN" sz="2400"/>
              <a:t> y=4.99998e-1</a:t>
            </a:r>
            <a:r>
              <a:rPr lang="zh-CN" altLang="en-US" sz="2400"/>
              <a:t>，带入方程</a:t>
            </a:r>
            <a:r>
              <a:rPr lang="en-US" altLang="zh-CN" sz="2400"/>
              <a:t>(2)</a:t>
            </a:r>
            <a:r>
              <a:rPr lang="zh-CN" altLang="en-US" sz="2400"/>
              <a:t>，求得</a:t>
            </a:r>
            <a:endParaRPr lang="en-US" altLang="zh-CN" sz="2400"/>
          </a:p>
        </p:txBody>
      </p:sp>
      <p:graphicFrame>
        <p:nvGraphicFramePr>
          <p:cNvPr id="23562" name="Object 9"/>
          <p:cNvGraphicFramePr>
            <a:graphicFrameLocks noChangeAspect="1"/>
          </p:cNvGraphicFramePr>
          <p:nvPr/>
        </p:nvGraphicFramePr>
        <p:xfrm>
          <a:off x="755650" y="5975350"/>
          <a:ext cx="7777163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7" imgW="3493135" imgH="164465" progId="Equation.3">
                  <p:embed/>
                </p:oleObj>
              </mc:Choice>
              <mc:Fallback>
                <p:oleObj name="Equation" r:id="rId7" imgW="3493135" imgH="16446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5975350"/>
                        <a:ext cx="7777163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95288" y="1295400"/>
            <a:ext cx="63373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/>
              <a:t>1. </a:t>
            </a:r>
            <a:r>
              <a:rPr lang="zh-CN" altLang="en-US" sz="2400"/>
              <a:t>方程</a:t>
            </a:r>
            <a:r>
              <a:rPr lang="en-US" altLang="zh-CN" sz="2400"/>
              <a:t>(1)</a:t>
            </a:r>
            <a:r>
              <a:rPr lang="zh-CN" altLang="en-US" sz="2400"/>
              <a:t>两边都＊</a:t>
            </a:r>
            <a:r>
              <a:rPr lang="en-US" altLang="zh-CN" sz="2400"/>
              <a:t>1.00000e5, </a:t>
            </a:r>
            <a:r>
              <a:rPr lang="zh-CN" altLang="en-US" sz="2400"/>
              <a:t>得到新的方程组</a:t>
            </a:r>
            <a:endParaRPr lang="en-US" altLang="zh-CN" sz="2400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2555875" y="4248150"/>
          <a:ext cx="4176713" cy="2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9" imgW="1508760" imgH="191770" progId="Equation.3">
                  <p:embed/>
                </p:oleObj>
              </mc:Choice>
              <mc:Fallback>
                <p:oleObj name="Equation" r:id="rId9" imgW="1508760" imgH="19177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4248150"/>
                        <a:ext cx="4176713" cy="2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468313" y="3816350"/>
            <a:ext cx="6858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/>
              <a:t>计算后保留小数点后</a:t>
            </a:r>
            <a:r>
              <a:rPr lang="en-US" altLang="zh-CN" sz="2400"/>
              <a:t>5</a:t>
            </a:r>
            <a:r>
              <a:rPr lang="zh-CN" altLang="en-US" sz="2400"/>
              <a:t>位有效数字（四舍五入）</a:t>
            </a:r>
            <a:endParaRPr lang="en-US" altLang="zh-CN" sz="2400"/>
          </a:p>
        </p:txBody>
      </p:sp>
      <p:sp>
        <p:nvSpPr>
          <p:cNvPr id="13" name="Title 1"/>
          <p:cNvSpPr txBox="1"/>
          <p:nvPr/>
        </p:nvSpPr>
        <p:spPr>
          <a:xfrm>
            <a:off x="330743" y="228600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计算机上求解过程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4" name="Process 13"/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/>
      <p:bldP spid="23559" grpId="0"/>
      <p:bldP spid="23561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330743" y="228600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计算方法的内涵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Process 4"/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Content Placeholder 2"/>
          <p:cNvSpPr txBox="1">
            <a:spLocks noChangeArrowheads="1"/>
          </p:cNvSpPr>
          <p:nvPr/>
        </p:nvSpPr>
        <p:spPr>
          <a:xfrm>
            <a:off x="539750" y="3429000"/>
            <a:ext cx="8064500" cy="191008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endParaRPr lang="en-US" altLang="zh-CN" sz="2800" dirty="0">
              <a:solidFill>
                <a:srgbClr val="FF0000"/>
              </a:solidFill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FF0000"/>
                </a:solidFill>
              </a:rPr>
              <a:t>数值计算与仿真</a:t>
            </a:r>
            <a:r>
              <a:rPr lang="zh-CN" altLang="en-US" sz="2800" dirty="0"/>
              <a:t>成为了除理论分析和科学实</a:t>
            </a:r>
            <a:r>
              <a:rPr lang="en-US" altLang="zh-CN" sz="2800" dirty="0"/>
              <a:t>  </a:t>
            </a:r>
            <a:r>
              <a:rPr lang="zh-CN" altLang="en-US" sz="2800" dirty="0"/>
              <a:t>验以外的第三种科学研究手段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marL="0" indent="0">
              <a:spcBef>
                <a:spcPct val="0"/>
              </a:spcBef>
              <a:buFontTx/>
              <a:buNone/>
            </a:pPr>
            <a:r>
              <a:rPr lang="en-US" altLang="zh-CN" sz="2400" i="1" dirty="0">
                <a:solidFill>
                  <a:srgbClr val="000000"/>
                </a:solidFill>
                <a:latin typeface="Calibri" panose="020F07020304040A0204" charset="0"/>
              </a:rPr>
              <a:t>       </a:t>
            </a:r>
            <a:r>
              <a:rPr lang="zh-CN" altLang="en-US" sz="2400" i="1" dirty="0">
                <a:solidFill>
                  <a:srgbClr val="660066"/>
                </a:solidFill>
                <a:latin typeface="Calibri" panose="020F07020304040A0204" charset="0"/>
              </a:rPr>
              <a:t>用计算模拟代替很多耗时，高成本的实验</a:t>
            </a:r>
            <a:endParaRPr lang="en-US" altLang="zh-CN" sz="2400" i="1" dirty="0">
              <a:solidFill>
                <a:srgbClr val="660066"/>
              </a:solidFill>
              <a:latin typeface="Calibri" panose="020F07020304040A0204" charset="0"/>
            </a:endParaRPr>
          </a:p>
          <a:p>
            <a:pPr marL="0" indent="0">
              <a:spcBef>
                <a:spcPct val="0"/>
              </a:spcBef>
              <a:buFontTx/>
              <a:buNone/>
            </a:pPr>
            <a:endParaRPr lang="en-US" altLang="zh-CN" sz="2400" i="1" dirty="0">
              <a:solidFill>
                <a:srgbClr val="660066"/>
              </a:solidFill>
              <a:latin typeface="Calibri" panose="020F07020304040A0204" charset="0"/>
            </a:endParaRPr>
          </a:p>
          <a:p>
            <a:pPr marL="0" indent="0">
              <a:buFontTx/>
              <a:buNone/>
            </a:pPr>
            <a:endParaRPr lang="en-US" altLang="zh-CN" dirty="0"/>
          </a:p>
          <a:p>
            <a:pPr marL="0" indent="0">
              <a:buFontTx/>
              <a:buNone/>
            </a:pPr>
            <a:endParaRPr lang="en-US" altLang="zh-CN" sz="2800" dirty="0">
              <a:solidFill>
                <a:srgbClr val="0000FF"/>
              </a:solidFill>
            </a:endParaRPr>
          </a:p>
          <a:p>
            <a:pPr marL="0" indent="0">
              <a:buFontTx/>
              <a:buNone/>
            </a:pPr>
            <a:r>
              <a:rPr lang="en-US" altLang="zh-CN" sz="2800" dirty="0"/>
              <a:t>       </a:t>
            </a:r>
            <a:endParaRPr lang="en-US" altLang="zh-CN" sz="2800" dirty="0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319217" y="1371978"/>
            <a:ext cx="848251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TW" altLang="en-US" sz="2800" dirty="0"/>
              <a:t>为</a:t>
            </a:r>
            <a:r>
              <a:rPr lang="zh-TW" altLang="en-US" sz="2800" dirty="0">
                <a:solidFill>
                  <a:srgbClr val="FF0000"/>
                </a:solidFill>
              </a:rPr>
              <a:t>各种数学问题</a:t>
            </a:r>
            <a:r>
              <a:rPr lang="zh-TW" altLang="en-US" sz="2800" dirty="0"/>
              <a:t>的数值解答研究提供</a:t>
            </a:r>
            <a:r>
              <a:rPr lang="zh-TW" altLang="en-US" sz="2800" dirty="0">
                <a:solidFill>
                  <a:srgbClr val="0000FF"/>
                </a:solidFill>
              </a:rPr>
              <a:t>最有效</a:t>
            </a:r>
            <a:r>
              <a:rPr lang="zh-TW" altLang="en-US" sz="2800" dirty="0"/>
              <a:t>的算法</a:t>
            </a:r>
            <a:endParaRPr lang="en-US" altLang="zh-CN" sz="2800" i="1" dirty="0">
              <a:solidFill>
                <a:srgbClr val="660066"/>
              </a:solidFill>
              <a:latin typeface="Calibri" panose="020F07020304040A0204" charset="0"/>
            </a:endParaRP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1232694" y="2005213"/>
            <a:ext cx="711041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2400" dirty="0"/>
              <a:t>  </a:t>
            </a:r>
            <a:r>
              <a:rPr lang="zh-CN" altLang="en-US" sz="2400" dirty="0"/>
              <a:t>理论可靠：稳定性、收敛（快慢）性</a:t>
            </a:r>
            <a:endParaRPr lang="en-US" altLang="zh-CN" sz="2400" dirty="0"/>
          </a:p>
          <a:p>
            <a:pPr>
              <a:spcBef>
                <a:spcPct val="0"/>
              </a:spcBef>
            </a:pPr>
            <a:r>
              <a:rPr lang="en-US" altLang="zh-CN" sz="2400" dirty="0"/>
              <a:t>  </a:t>
            </a:r>
            <a:r>
              <a:rPr lang="zh-CN" altLang="en-US" sz="2400" dirty="0"/>
              <a:t>计算复杂性好：时间、存储开销</a:t>
            </a:r>
            <a:endParaRPr lang="en-US" altLang="zh-CN" sz="2400" dirty="0"/>
          </a:p>
          <a:p>
            <a:pPr>
              <a:spcBef>
                <a:spcPct val="0"/>
              </a:spcBef>
            </a:pPr>
            <a:r>
              <a:rPr lang="en-US" altLang="zh-CN" sz="2400" dirty="0"/>
              <a:t>  </a:t>
            </a:r>
            <a:r>
              <a:rPr lang="zh-CN" altLang="en-US" sz="2400" dirty="0"/>
              <a:t>计算机上可实现：有限（可操作）性</a:t>
            </a: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330743" y="228600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计算机的发展与计算方法的发展</a:t>
            </a:r>
            <a:endParaRPr lang="zh-CN" alt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Process 4"/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Content Placeholder 2"/>
          <p:cNvSpPr txBox="1">
            <a:spLocks noChangeArrowheads="1"/>
          </p:cNvSpPr>
          <p:nvPr/>
        </p:nvSpPr>
        <p:spPr bwMode="auto">
          <a:xfrm>
            <a:off x="539750" y="1320800"/>
            <a:ext cx="80645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TW" altLang="en-US" sz="2400" dirty="0"/>
              <a:t>计算机软、硬件的发展为计算方法的实现提供环境，也促进它的快速发展</a:t>
            </a:r>
            <a:endParaRPr lang="en-US" altLang="zh-TW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400" dirty="0"/>
              <a:t>好的计算方法，如快速多极值法，集成到硬件、芯片中</a:t>
            </a:r>
            <a:endParaRPr lang="en-US" altLang="zh-CN" sz="2400" dirty="0"/>
          </a:p>
          <a:p>
            <a:endParaRPr lang="en-US" altLang="zh-CN" dirty="0"/>
          </a:p>
        </p:txBody>
      </p:sp>
      <p:pic>
        <p:nvPicPr>
          <p:cNvPr id="8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100" y="4797425"/>
            <a:ext cx="2257425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569801" y="4797425"/>
            <a:ext cx="611028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随着计算机的发展，解决问题要求越来越高，计算方法逐渐称为理工科、社会科学等专业人才必备知识和工具</a:t>
            </a:r>
            <a:r>
              <a:rPr lang="en-US" altLang="zh-CN" sz="2400" dirty="0">
                <a:solidFill>
                  <a:srgbClr val="FF0000"/>
                </a:solidFill>
              </a:rPr>
              <a:t>!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539750" y="2997200"/>
            <a:ext cx="8280400" cy="1348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</a:rPr>
              <a:t>计算方法对人类科学计算发展的作用不亚于计算机的发展</a:t>
            </a:r>
            <a:endParaRPr lang="en-US" altLang="zh-CN" sz="2400" dirty="0">
              <a:solidFill>
                <a:srgbClr val="000000"/>
              </a:solidFill>
            </a:endParaRPr>
          </a:p>
          <a:p>
            <a:r>
              <a:rPr lang="en-US" altLang="zh-TW" sz="2400" dirty="0">
                <a:solidFill>
                  <a:srgbClr val="000000"/>
                </a:solidFill>
              </a:rPr>
              <a:t>  </a:t>
            </a:r>
            <a:r>
              <a:rPr lang="zh-TW" altLang="en-US" sz="2400" dirty="0">
                <a:solidFill>
                  <a:srgbClr val="000000"/>
                </a:solidFill>
              </a:rPr>
              <a:t>计算机</a:t>
            </a:r>
            <a:r>
              <a:rPr lang="zh-CN" altLang="en-US" sz="2400" dirty="0">
                <a:solidFill>
                  <a:srgbClr val="000000"/>
                </a:solidFill>
              </a:rPr>
              <a:t>有极限有瓶颈</a:t>
            </a:r>
            <a:endParaRPr lang="en-US" altLang="zh-CN" sz="2400" dirty="0">
              <a:solidFill>
                <a:srgbClr val="000000"/>
              </a:solidFill>
            </a:endParaRPr>
          </a:p>
          <a:p>
            <a:r>
              <a:rPr lang="en-US" altLang="zh-CN" sz="2400" dirty="0">
                <a:solidFill>
                  <a:srgbClr val="000000"/>
                </a:solidFill>
              </a:rPr>
              <a:t>  </a:t>
            </a:r>
            <a:r>
              <a:rPr lang="zh-CN" altLang="en-US" sz="2400" dirty="0">
                <a:solidFill>
                  <a:srgbClr val="000000"/>
                </a:solidFill>
              </a:rPr>
              <a:t>计算方法的发展是无止境的</a:t>
            </a:r>
            <a:endParaRPr lang="en-US" altLang="zh-CN"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461169" y="1318184"/>
            <a:ext cx="80772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b="1" dirty="0">
                <a:latin typeface="Arial" panose="020B0604020202090204" pitchFamily="34" charset="0"/>
              </a:rPr>
              <a:t> 《</a:t>
            </a:r>
            <a:r>
              <a:rPr lang="zh-CN" altLang="en-US" b="1" dirty="0">
                <a:latin typeface="Arial" panose="020B0604020202090204" pitchFamily="34" charset="0"/>
              </a:rPr>
              <a:t>数值计算方法</a:t>
            </a:r>
            <a:r>
              <a:rPr lang="en-US" altLang="zh-CN" b="1" dirty="0">
                <a:latin typeface="Arial" panose="020B0604020202090204" pitchFamily="34" charset="0"/>
              </a:rPr>
              <a:t>》</a:t>
            </a:r>
            <a:r>
              <a:rPr lang="zh-CN" altLang="en-US" b="1" dirty="0">
                <a:latin typeface="Arial" panose="020B0604020202090204" pitchFamily="34" charset="0"/>
              </a:rPr>
              <a:t>，</a:t>
            </a:r>
            <a:r>
              <a:rPr lang="zh-CN" altLang="en-US" sz="2400" b="1" dirty="0">
                <a:latin typeface="Arial" panose="020B0604020202090204" pitchFamily="34" charset="0"/>
              </a:rPr>
              <a:t>黄云清等编 </a:t>
            </a:r>
            <a:r>
              <a:rPr lang="en-US" altLang="zh-CN" sz="2400" b="1" dirty="0">
                <a:latin typeface="Arial" panose="020B0604020202090204" pitchFamily="34" charset="0"/>
              </a:rPr>
              <a:t>,</a:t>
            </a:r>
            <a:r>
              <a:rPr lang="zh-CN" altLang="en-US" sz="2400" b="1" dirty="0">
                <a:latin typeface="Arial" panose="020B0604020202090204" pitchFamily="34" charset="0"/>
              </a:rPr>
              <a:t>科学出版社</a:t>
            </a:r>
            <a:endParaRPr lang="en-US" altLang="zh-CN" sz="2400" b="1" dirty="0">
              <a:latin typeface="Arial" panose="020B0604020202090204" pitchFamily="34" charset="0"/>
            </a:endParaRPr>
          </a:p>
        </p:txBody>
      </p:sp>
      <p:pic>
        <p:nvPicPr>
          <p:cNvPr id="43010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1931988"/>
            <a:ext cx="3455988" cy="488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 txBox="1"/>
          <p:nvPr/>
        </p:nvSpPr>
        <p:spPr>
          <a:xfrm>
            <a:off x="330743" y="228600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教材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5" name="Process 4"/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ext Box 3"/>
          <p:cNvSpPr txBox="1">
            <a:spLocks noChangeArrowheads="1"/>
          </p:cNvSpPr>
          <p:nvPr/>
        </p:nvSpPr>
        <p:spPr bwMode="auto">
          <a:xfrm>
            <a:off x="381000" y="1416308"/>
            <a:ext cx="8686800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660400" indent="-6604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《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计算方法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》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，崔国华编</a:t>
            </a:r>
            <a:r>
              <a:rPr lang="zh-CN" altLang="en-US" sz="2800" dirty="0">
                <a:solidFill>
                  <a:srgbClr val="0033CC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, 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华中科技大学出版社</a:t>
            </a:r>
            <a:endParaRPr lang="en-US" altLang="zh-CN" sz="2800" b="1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  <a:sym typeface="Symbol" pitchFamily="2" charset="2"/>
              </a:rPr>
              <a:t>《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  <a:sym typeface="Symbol" pitchFamily="2" charset="2"/>
              </a:rPr>
              <a:t>数值分析（第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  <a:sym typeface="Symbol" pitchFamily="2" charset="2"/>
              </a:rPr>
              <a:t>4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  <a:sym typeface="Symbol" pitchFamily="2" charset="2"/>
              </a:rPr>
              <a:t>版）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  <a:sym typeface="Symbol" pitchFamily="2" charset="2"/>
              </a:rPr>
              <a:t>》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  <a:sym typeface="Symbol" pitchFamily="2" charset="2"/>
              </a:rPr>
              <a:t>，李庆扬、王能超、易大义，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  <a:sym typeface="Symbol" pitchFamily="2" charset="2"/>
              </a:rPr>
              <a:t> 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  <a:sym typeface="Symbol" pitchFamily="2" charset="2"/>
              </a:rPr>
              <a:t>清华大学出版社</a:t>
            </a:r>
            <a:endParaRPr lang="zh-CN" altLang="en-US" sz="2800" b="1" dirty="0">
              <a:latin typeface="SimSun" panose="02010600030101010101" pitchFamily="2" charset="-122"/>
              <a:ea typeface="SimSun" panose="02010600030101010101" pitchFamily="2" charset="-122"/>
              <a:sym typeface="Symbol" pitchFamily="2" charset="2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  <a:sym typeface="Wingdings" panose="05000000000000000000" pitchFamily="2" charset="2"/>
              </a:rPr>
              <a:t> 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《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数值分析学习辅导习题解析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》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，李红，徐长发，华中科技大学出版社</a:t>
            </a:r>
            <a:endParaRPr lang="zh-CN" altLang="en-US" sz="2800" b="1" dirty="0">
              <a:latin typeface="SimSun" panose="02010600030101010101" pitchFamily="2" charset="-122"/>
              <a:ea typeface="SimSun" panose="02010600030101010101" pitchFamily="2" charset="-122"/>
              <a:sym typeface="Symbol" pitchFamily="2" charset="2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  <a:sym typeface="Wingdings" panose="05000000000000000000" pitchFamily="2" charset="2"/>
              </a:rPr>
              <a:t>  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《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  <a:sym typeface="Wingdings" panose="05000000000000000000" pitchFamily="2" charset="2"/>
              </a:rPr>
              <a:t>Numerical Analysis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》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  <a:sym typeface="Wingdings" panose="05000000000000000000" pitchFamily="2" charset="2"/>
              </a:rPr>
              <a:t>  (Seventh Edition)</a:t>
            </a:r>
            <a:endParaRPr lang="en-US" altLang="zh-CN" sz="2800" b="1" dirty="0">
              <a:latin typeface="SimSun" panose="02010600030101010101" pitchFamily="2" charset="-122"/>
              <a:ea typeface="SimSun" panose="02010600030101010101" pitchFamily="2" charset="-122"/>
              <a:sym typeface="Wingdings" panose="05000000000000000000" pitchFamily="2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CN" sz="2800" b="1" i="1" dirty="0">
                <a:latin typeface="SimSun" panose="02010600030101010101" pitchFamily="2" charset="-122"/>
                <a:ea typeface="SimSun" panose="02010600030101010101" pitchFamily="2" charset="-122"/>
                <a:sym typeface="Wingdings" panose="05000000000000000000" pitchFamily="2" charset="2"/>
              </a:rPr>
              <a:t>Richard L. Burden &amp; J. Douglas </a:t>
            </a:r>
            <a:r>
              <a:rPr lang="en-US" altLang="zh-CN" sz="2800" b="1" i="1" dirty="0" err="1">
                <a:latin typeface="SimSun" panose="02010600030101010101" pitchFamily="2" charset="-122"/>
                <a:ea typeface="SimSun" panose="02010600030101010101" pitchFamily="2" charset="-122"/>
                <a:sym typeface="Wingdings" panose="05000000000000000000" pitchFamily="2" charset="2"/>
              </a:rPr>
              <a:t>Faires</a:t>
            </a:r>
            <a:r>
              <a:rPr lang="en-US" altLang="zh-CN" sz="2800" b="1" i="1" dirty="0">
                <a:latin typeface="SimSun" panose="02010600030101010101" pitchFamily="2" charset="-122"/>
                <a:ea typeface="SimSun" panose="02010600030101010101" pitchFamily="2" charset="-122"/>
                <a:sym typeface="Wingdings" panose="05000000000000000000" pitchFamily="2" charset="2"/>
              </a:rPr>
              <a:t>  </a:t>
            </a:r>
            <a:endParaRPr lang="zh-CN" altLang="ja-JP" sz="2800" b="1" dirty="0">
              <a:latin typeface="SimSun" panose="02010600030101010101" pitchFamily="2" charset="-122"/>
              <a:ea typeface="SimSun" panose="02010600030101010101" pitchFamily="2" charset="-122"/>
              <a:sym typeface="Wingdings" panose="05000000000000000000" pitchFamily="2" charset="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  <a:sym typeface="Wingdings" panose="05000000000000000000" pitchFamily="2" charset="2"/>
              </a:rPr>
              <a:t>  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《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  <a:sym typeface="Wingdings" panose="05000000000000000000" pitchFamily="2" charset="2"/>
              </a:rPr>
              <a:t>数值方法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</a:rPr>
              <a:t>》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  <a:sym typeface="Wingdings" panose="05000000000000000000" pitchFamily="2" charset="2"/>
              </a:rPr>
              <a:t>，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  <a:sym typeface="Wingdings" panose="05000000000000000000" pitchFamily="2" charset="2"/>
              </a:rPr>
              <a:t>John H. Mathews, </a:t>
            </a:r>
            <a:r>
              <a:rPr lang="en-US" altLang="zh-CN" sz="2800" b="1" dirty="0" err="1">
                <a:latin typeface="SimSun" panose="02010600030101010101" pitchFamily="2" charset="-122"/>
                <a:ea typeface="SimSun" panose="02010600030101010101" pitchFamily="2" charset="-122"/>
                <a:sym typeface="Wingdings" panose="05000000000000000000" pitchFamily="2" charset="2"/>
              </a:rPr>
              <a:t>Kurites</a:t>
            </a:r>
            <a:r>
              <a:rPr lang="en-US" altLang="zh-CN" sz="2800" b="1" dirty="0">
                <a:latin typeface="SimSun" panose="02010600030101010101" pitchFamily="2" charset="-122"/>
                <a:ea typeface="SimSun" panose="02010600030101010101" pitchFamily="2" charset="-122"/>
                <a:sym typeface="Wingdings" panose="05000000000000000000" pitchFamily="2" charset="2"/>
              </a:rPr>
              <a:t> D. Fink  </a:t>
            </a:r>
            <a:r>
              <a:rPr lang="zh-CN" altLang="en-US" sz="2800" b="1" dirty="0">
                <a:latin typeface="SimSun" panose="02010600030101010101" pitchFamily="2" charset="-122"/>
                <a:ea typeface="SimSun" panose="02010600030101010101" pitchFamily="2" charset="-122"/>
                <a:sym typeface="Wingdings" panose="05000000000000000000" pitchFamily="2" charset="2"/>
              </a:rPr>
              <a:t>著  （电子工业出版社）   </a:t>
            </a:r>
            <a:endParaRPr lang="zh-CN" altLang="en-US" sz="2800" b="1" dirty="0">
              <a:latin typeface="SimSun" panose="02010600030101010101" pitchFamily="2" charset="-122"/>
              <a:ea typeface="SimSun" panose="0201060003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3" name="Title 1"/>
          <p:cNvSpPr txBox="1"/>
          <p:nvPr/>
        </p:nvSpPr>
        <p:spPr>
          <a:xfrm>
            <a:off x="330743" y="228600"/>
            <a:ext cx="7313571" cy="762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800" b="1" dirty="0">
                <a:solidFill>
                  <a:srgbClr val="00206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参考书目</a:t>
            </a:r>
            <a:endParaRPr lang="en-US" sz="3800" b="1" dirty="0">
              <a:solidFill>
                <a:srgbClr val="002060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4" name="Process 3"/>
          <p:cNvSpPr/>
          <p:nvPr/>
        </p:nvSpPr>
        <p:spPr>
          <a:xfrm>
            <a:off x="330743" y="990600"/>
            <a:ext cx="8482514" cy="45719"/>
          </a:xfrm>
          <a:prstGeom prst="flowChartProcess">
            <a:avLst/>
          </a:prstGeom>
          <a:gradFill flip="none" rotWithShape="1">
            <a:gsLst>
              <a:gs pos="70000">
                <a:schemeClr val="accent1"/>
              </a:gs>
              <a:gs pos="0">
                <a:schemeClr val="accent1">
                  <a:lumMod val="40000"/>
                  <a:lumOff val="60000"/>
                  <a:alpha val="22000"/>
                </a:schemeClr>
              </a:gs>
              <a:gs pos="19000">
                <a:schemeClr val="accent1">
                  <a:lumMod val="95000"/>
                  <a:lumOff val="5000"/>
                </a:schemeClr>
              </a:gs>
              <a:gs pos="33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395288" y="762000"/>
            <a:ext cx="8305800" cy="317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ym typeface="Webdings" panose="05030102010509060703" pitchFamily="2" charset="2"/>
              </a:rPr>
              <a:t>             </a:t>
            </a:r>
            <a:r>
              <a:rPr lang="zh-CN" altLang="en-US" b="1" dirty="0">
                <a:sym typeface="Webdings" panose="05030102010509060703" pitchFamily="2" charset="2"/>
              </a:rPr>
              <a:t>课程评分方法 </a:t>
            </a:r>
            <a:r>
              <a:rPr lang="en-US" altLang="zh-CN" sz="2800" b="1" dirty="0">
                <a:sym typeface="Webdings" panose="05030102010509060703" pitchFamily="2" charset="2"/>
              </a:rPr>
              <a:t>(Grading Policies)</a:t>
            </a:r>
            <a:endParaRPr lang="en-US" altLang="zh-CN" sz="2800" b="1" dirty="0">
              <a:sym typeface="Webdings" panose="05030102010509060703" pitchFamily="2" charset="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CN" sz="2800" b="1" dirty="0">
              <a:sym typeface="Webdings" panose="05030102010509060703" pitchFamily="2" charset="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ym typeface="Webdings" panose="05030102010509060703" pitchFamily="2" charset="2"/>
              </a:rPr>
              <a:t>  </a:t>
            </a:r>
            <a:r>
              <a:rPr lang="en-US" altLang="zh-CN" sz="2800" b="1" dirty="0">
                <a:sym typeface="Wingdings" panose="05000000000000000000" pitchFamily="2" charset="2"/>
              </a:rPr>
              <a:t> </a:t>
            </a:r>
            <a:r>
              <a:rPr lang="zh-CN" altLang="en-US" sz="2800" b="1" dirty="0">
                <a:sym typeface="Wingdings" panose="05000000000000000000" pitchFamily="2" charset="2"/>
              </a:rPr>
              <a:t>成绩</a:t>
            </a:r>
            <a:r>
              <a:rPr lang="en-US" altLang="zh-CN" sz="2800" b="1" dirty="0">
                <a:sym typeface="Wingdings" panose="05000000000000000000" pitchFamily="2" charset="2"/>
              </a:rPr>
              <a:t> (Lecture Grade) (100) </a:t>
            </a:r>
            <a:endParaRPr lang="en-US" altLang="zh-CN" sz="2800" b="1" dirty="0">
              <a:sym typeface="Wingdings" panose="05000000000000000000" pitchFamily="2" charset="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ym typeface="Wingdings" panose="05000000000000000000" pitchFamily="2" charset="2"/>
              </a:rPr>
              <a:t>       = </a:t>
            </a:r>
            <a:r>
              <a:rPr lang="zh-CN" altLang="en-US" sz="2800" b="1" dirty="0">
                <a:sym typeface="Wingdings" panose="05000000000000000000" pitchFamily="2" charset="2"/>
              </a:rPr>
              <a:t>课堂表现</a:t>
            </a:r>
            <a:r>
              <a:rPr lang="zh-CN" altLang="ja-JP" sz="2800" b="1" dirty="0">
                <a:sym typeface="Wingdings" panose="05000000000000000000" pitchFamily="2" charset="2"/>
              </a:rPr>
              <a:t> </a:t>
            </a:r>
            <a:r>
              <a:rPr lang="en-US" altLang="zh-CN" sz="2800" b="1" dirty="0">
                <a:sym typeface="Wingdings" panose="05000000000000000000" pitchFamily="2" charset="2"/>
              </a:rPr>
              <a:t>(</a:t>
            </a:r>
            <a:r>
              <a:rPr lang="en-US" altLang="zh-CN" sz="2800" b="1" dirty="0" err="1">
                <a:sym typeface="Wingdings" panose="05000000000000000000" pitchFamily="2" charset="2"/>
              </a:rPr>
              <a:t>Attendence</a:t>
            </a:r>
            <a:r>
              <a:rPr lang="en-US" altLang="zh-CN" sz="2800" b="1" dirty="0">
                <a:sym typeface="Wingdings" panose="05000000000000000000" pitchFamily="2" charset="2"/>
              </a:rPr>
              <a:t>)(20)</a:t>
            </a:r>
            <a:endParaRPr lang="en-US" altLang="zh-CN" sz="2800" b="1" dirty="0">
              <a:sym typeface="Wingdings" panose="05000000000000000000" pitchFamily="2" charset="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ym typeface="Wingdings" panose="05000000000000000000" pitchFamily="2" charset="2"/>
              </a:rPr>
              <a:t>          +</a:t>
            </a:r>
            <a:r>
              <a:rPr lang="zh-CN" altLang="en-US" sz="2800" b="1" dirty="0">
                <a:sym typeface="Wingdings" panose="05000000000000000000" pitchFamily="2" charset="2"/>
              </a:rPr>
              <a:t>考试</a:t>
            </a:r>
            <a:r>
              <a:rPr lang="en-US" altLang="zh-CN" sz="2800" b="1" dirty="0">
                <a:sym typeface="Wingdings" panose="05000000000000000000" pitchFamily="2" charset="2"/>
              </a:rPr>
              <a:t> (Final Exam) (80)</a:t>
            </a:r>
            <a:endParaRPr lang="en-US" altLang="zh-CN" sz="2800" b="1" dirty="0">
              <a:sym typeface="Wingdings" panose="05000000000000000000" pitchFamily="2" charset="2"/>
            </a:endParaRPr>
          </a:p>
        </p:txBody>
      </p:sp>
      <p:graphicFrame>
        <p:nvGraphicFramePr>
          <p:cNvPr id="45058" name="Object 6"/>
          <p:cNvGraphicFramePr>
            <a:graphicFrameLocks noChangeAspect="1"/>
          </p:cNvGraphicFramePr>
          <p:nvPr/>
        </p:nvGraphicFramePr>
        <p:xfrm>
          <a:off x="747713" y="685800"/>
          <a:ext cx="728662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9" name="剪辑" r:id="rId1" imgW="15135225" imgH="21621750" progId="MS_ClipArt_Gallery.2">
                  <p:embed/>
                </p:oleObj>
              </mc:Choice>
              <mc:Fallback>
                <p:oleObj name="剪辑" r:id="rId1" imgW="15135225" imgH="21621750" progId="MS_ClipArt_Gallery.2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713" y="685800"/>
                        <a:ext cx="728662" cy="1039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7" name="Object 11"/>
          <p:cNvGraphicFramePr>
            <a:graphicFrameLocks noChangeAspect="1"/>
          </p:cNvGraphicFramePr>
          <p:nvPr/>
        </p:nvGraphicFramePr>
        <p:xfrm>
          <a:off x="539750" y="4700588"/>
          <a:ext cx="1570038" cy="160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剪辑" r:id="rId3" imgW="24279225" imgH="20116800" progId="MS_ClipArt_Gallery.2">
                  <p:embed/>
                </p:oleObj>
              </mc:Choice>
              <mc:Fallback>
                <p:oleObj name="剪辑" r:id="rId3" imgW="24279225" imgH="20116800" progId="MS_ClipArt_Gallery.2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700588"/>
                        <a:ext cx="1570038" cy="160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0" name="Text Box 12"/>
          <p:cNvSpPr txBox="1">
            <a:spLocks noChangeArrowheads="1"/>
          </p:cNvSpPr>
          <p:nvPr/>
        </p:nvSpPr>
        <p:spPr bwMode="auto">
          <a:xfrm>
            <a:off x="2627313" y="4581525"/>
            <a:ext cx="5830887" cy="1311275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50305040509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/>
              <a:t>注意</a:t>
            </a:r>
            <a:r>
              <a:rPr lang="en-US" altLang="zh-CN" b="1" dirty="0"/>
              <a:t>:</a:t>
            </a:r>
            <a:endParaRPr lang="en-US" altLang="zh-CN" b="1" dirty="0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/>
              <a:t>不许随便缺课，注意课堂纪律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REMIND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2220</Words>
  <Application>WPS 文字</Application>
  <PresentationFormat>全屏显示(4:3)</PresentationFormat>
  <Paragraphs>254</Paragraphs>
  <Slides>22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12</vt:i4>
      </vt:variant>
      <vt:variant>
        <vt:lpstr>幻灯片标题</vt:lpstr>
      </vt:variant>
      <vt:variant>
        <vt:i4>22</vt:i4>
      </vt:variant>
    </vt:vector>
  </HeadingPairs>
  <TitlesOfParts>
    <vt:vector size="55" baseType="lpstr">
      <vt:lpstr>Arial</vt:lpstr>
      <vt:lpstr>宋体</vt:lpstr>
      <vt:lpstr>Wingdings</vt:lpstr>
      <vt:lpstr>SimSun</vt:lpstr>
      <vt:lpstr>微软雅黑</vt:lpstr>
      <vt:lpstr>汉仪旗黑</vt:lpstr>
      <vt:lpstr>Times New Roman</vt:lpstr>
      <vt:lpstr>Cambria Math</vt:lpstr>
      <vt:lpstr>Arial Unicode MS</vt:lpstr>
      <vt:lpstr>Calibri</vt:lpstr>
      <vt:lpstr>楷体_GB2312</vt:lpstr>
      <vt:lpstr>汉仪楷体简</vt:lpstr>
      <vt:lpstr>Symbol</vt:lpstr>
      <vt:lpstr>Kingsoft Sign</vt:lpstr>
      <vt:lpstr>Webdings</vt:lpstr>
      <vt:lpstr>新細明體</vt:lpstr>
      <vt:lpstr>Symbol</vt:lpstr>
      <vt:lpstr>Webdings</vt:lpstr>
      <vt:lpstr>Wingdings</vt:lpstr>
      <vt:lpstr>微软雅黑</vt:lpstr>
      <vt:lpstr>Office Theme</vt:lpstr>
      <vt:lpstr>Equation.3</vt:lpstr>
      <vt:lpstr>Equation.3</vt:lpstr>
      <vt:lpstr>MS_ClipArt_Gallery.2</vt:lpstr>
      <vt:lpstr>MS_ClipArt_Gallery.2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计算方法 Computation Methods</vt:lpstr>
      <vt:lpstr>个人简介——刘雪明</vt:lpstr>
      <vt:lpstr>课程介绍</vt:lpstr>
      <vt:lpstr>课程目标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实际问题求解流程</vt:lpstr>
      <vt:lpstr>PowerPoint 演示文稿</vt:lpstr>
      <vt:lpstr>课程大纲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[Insert name of your demo] Preparation Plan for 3rd-year Review</dc:title>
  <dc:creator>Frank</dc:creator>
  <cp:lastModifiedBy>刘雪明</cp:lastModifiedBy>
  <cp:revision>1785</cp:revision>
  <dcterms:created xsi:type="dcterms:W3CDTF">2026-05-26T04:14:55Z</dcterms:created>
  <dcterms:modified xsi:type="dcterms:W3CDTF">2026-05-26T04:14:55Z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6C37BECA5F98E64E3F1E156AF8A436E5_42</vt:lpwstr>
  </property>
  <property fmtid="{D5CDD505-2E9C-101B-9397-08002B2CF9AE}" pid="3" name="KSOProductBuildVer">
    <vt:lpwstr>2052-12.1.25895.25895</vt:lpwstr>
  </property>
</Properties>
</file>