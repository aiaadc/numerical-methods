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68" r:id="rId2"/>
    <p:sldId id="305" r:id="rId3"/>
    <p:sldId id="401" r:id="rId4"/>
    <p:sldId id="400" r:id="rId5"/>
    <p:sldId id="321" r:id="rId6"/>
    <p:sldId id="308" r:id="rId7"/>
    <p:sldId id="309" r:id="rId8"/>
    <p:sldId id="310" r:id="rId9"/>
    <p:sldId id="31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847"/>
    <p:restoredTop sz="90551"/>
  </p:normalViewPr>
  <p:slideViewPr>
    <p:cSldViewPr>
      <p:cViewPr varScale="1">
        <p:scale>
          <a:sx n="99" d="100"/>
          <a:sy n="99" d="100"/>
        </p:scale>
        <p:origin x="1072" y="16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16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9F161411-0335-7B47-8952-1EE5668AF1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C38C550F-6489-A54D-9930-22287BBBBC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统一格式便于存储，只需要存储</a:t>
            </a:r>
            <a:r>
              <a:rPr lang="en-US" altLang="zh-CN"/>
              <a:t>12931 </a:t>
            </a:r>
            <a:r>
              <a:rPr lang="zh-CN" altLang="en-US"/>
              <a:t>和－</a:t>
            </a:r>
            <a:r>
              <a:rPr lang="en-US" altLang="zh-CN"/>
              <a:t>2</a:t>
            </a:r>
            <a:r>
              <a:rPr lang="zh-CN" altLang="en-US"/>
              <a:t>就可以了，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en-CN">
              <a:ea typeface="宋体" panose="02010600030101010101" pitchFamily="2" charset="-122"/>
            </a:endParaRP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3E4D0A21-B07A-8142-8EFA-2505F61BF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9C881C8-F420-EC44-B2A7-B25D7490DC96}" type="slidenum">
              <a:rPr lang="en-US" altLang="zh-CN" sz="1200"/>
              <a:pPr/>
              <a:t>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549917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D4B9CAF9-9223-964E-9804-4B40697DD1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0E1D22D6-0090-BF4C-BC13-CF0D7D44F1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26B343C7-772F-2949-8683-5AFD173D0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141989B-E7DD-0040-ADFD-4A79E044826E}" type="slidenum">
              <a:rPr lang="en-US" altLang="zh-CN" sz="1200"/>
              <a:pPr/>
              <a:t>8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289772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5DA69F1D-990C-D64E-92AA-7B0EE5B1E7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7FB75C71-F9B9-4C48-B5D5-4255DF5DC6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9203E296-DD47-1C43-AC9D-76311D1AF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67C4DED0-72C5-994D-828E-047A7BC583BD}" type="slidenum">
              <a:rPr lang="en-US" altLang="zh-CN" sz="1200"/>
              <a:pPr/>
              <a:t>9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503788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18.emf"/><Relationship Id="rId18" Type="http://schemas.openxmlformats.org/officeDocument/2006/relationships/oleObject" Target="../embeddings/oleObject18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20.e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emf"/><Relationship Id="rId11" Type="http://schemas.openxmlformats.org/officeDocument/2006/relationships/image" Target="../media/image17.emf"/><Relationship Id="rId5" Type="http://schemas.openxmlformats.org/officeDocument/2006/relationships/oleObject" Target="../embeddings/oleObject12.bin"/><Relationship Id="rId15" Type="http://schemas.openxmlformats.org/officeDocument/2006/relationships/image" Target="../media/image19.emf"/><Relationship Id="rId10" Type="http://schemas.openxmlformats.org/officeDocument/2006/relationships/image" Target="../media/image16.emf"/><Relationship Id="rId19" Type="http://schemas.openxmlformats.org/officeDocument/2006/relationships/image" Target="../media/image21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4.bin"/><Relationship Id="rId14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5.emf"/><Relationship Id="rId3" Type="http://schemas.openxmlformats.org/officeDocument/2006/relationships/image" Target="../media/image16.emf"/><Relationship Id="rId7" Type="http://schemas.openxmlformats.org/officeDocument/2006/relationships/image" Target="../media/image22.emf"/><Relationship Id="rId12" Type="http://schemas.openxmlformats.org/officeDocument/2006/relationships/oleObject" Target="../embeddings/oleObject24.bin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4.emf"/><Relationship Id="rId5" Type="http://schemas.openxmlformats.org/officeDocument/2006/relationships/image" Target="../media/image20.emf"/><Relationship Id="rId15" Type="http://schemas.openxmlformats.org/officeDocument/2006/relationships/image" Target="../media/image26.e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3.emf"/><Relationship Id="rId14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1.emf"/><Relationship Id="rId21" Type="http://schemas.openxmlformats.org/officeDocument/2006/relationships/oleObject" Target="../embeddings/oleObject3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9.emf"/><Relationship Id="rId17" Type="http://schemas.openxmlformats.org/officeDocument/2006/relationships/oleObject" Target="../embeddings/oleObject33.bin"/><Relationship Id="rId25" Type="http://schemas.openxmlformats.org/officeDocument/2006/relationships/image" Target="../media/image34.emf"/><Relationship Id="rId2" Type="http://schemas.openxmlformats.org/officeDocument/2006/relationships/notesSlide" Target="../notesSlides/notesSlide3.xml"/><Relationship Id="rId16" Type="http://schemas.openxmlformats.org/officeDocument/2006/relationships/oleObject" Target="../embeddings/oleObject32.bin"/><Relationship Id="rId20" Type="http://schemas.openxmlformats.org/officeDocument/2006/relationships/image" Target="../media/image3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emf"/><Relationship Id="rId11" Type="http://schemas.openxmlformats.org/officeDocument/2006/relationships/oleObject" Target="../embeddings/oleObject29.bin"/><Relationship Id="rId24" Type="http://schemas.openxmlformats.org/officeDocument/2006/relationships/oleObject" Target="../embeddings/oleObject37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image" Target="../media/image33.emf"/><Relationship Id="rId10" Type="http://schemas.openxmlformats.org/officeDocument/2006/relationships/image" Target="../media/image28.emf"/><Relationship Id="rId19" Type="http://schemas.openxmlformats.org/officeDocument/2006/relationships/oleObject" Target="../embeddings/oleObject34.bin"/><Relationship Id="rId4" Type="http://schemas.openxmlformats.org/officeDocument/2006/relationships/image" Target="../media/image36.png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0.emf"/><Relationship Id="rId22" Type="http://schemas.openxmlformats.org/officeDocument/2006/relationships/oleObject" Target="../embeddings/oleObject3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3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9373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数的浮点表示</a:t>
            </a:r>
            <a:endParaRPr lang="en-US" sz="4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7031" y="3651231"/>
            <a:ext cx="6477000" cy="2148102"/>
          </a:xfrm>
        </p:spPr>
        <p:txBody>
          <a:bodyPr>
            <a:normAutofit/>
          </a:bodyPr>
          <a:lstStyle/>
          <a:p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人工智能与</a:t>
            </a:r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自动化学院</a:t>
            </a:r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刘雪明</a:t>
            </a:r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i="1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xm_liu@hust.edu.cn</a:t>
            </a:r>
            <a:endParaRPr lang="en-US" sz="2800" b="1" i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C9CC3-A950-934A-B9E2-43A3708EEC93}"/>
              </a:ext>
            </a:extLst>
          </p:cNvPr>
          <p:cNvSpPr/>
          <p:nvPr/>
        </p:nvSpPr>
        <p:spPr>
          <a:xfrm>
            <a:off x="6533876" y="6274713"/>
            <a:ext cx="24577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&lt;&lt;</a:t>
            </a:r>
            <a:r>
              <a:rPr lang="zh-CN" altLang="en-US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&gt;&gt;</a:t>
            </a:r>
            <a:r>
              <a:rPr lang="en-US" altLang="en-CN" sz="22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</a:t>
            </a:r>
            <a:endParaRPr lang="en-US" altLang="en-CN" sz="22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747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84810-64DD-7B49-AA40-E83E2E18F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475" y="1199832"/>
            <a:ext cx="8229600" cy="13715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800" b="1" dirty="0"/>
              <a:t>用“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3, ….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8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9</a:t>
            </a:r>
            <a:r>
              <a:rPr lang="zh-CN" altLang="en-US" sz="2800" b="1" dirty="0"/>
              <a:t>”十个数字表示，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逢十进一，</a:t>
            </a:r>
            <a:r>
              <a:rPr lang="zh-CN" altLang="en-US" sz="2800" b="1" dirty="0">
                <a:solidFill>
                  <a:srgbClr val="FF0000"/>
                </a:solidFill>
              </a:rPr>
              <a:t>基是</a:t>
            </a:r>
            <a:r>
              <a:rPr lang="en-US" altLang="zh-CN" sz="2800" b="1" dirty="0">
                <a:solidFill>
                  <a:srgbClr val="FF0000"/>
                </a:solidFill>
              </a:rPr>
              <a:t>10</a:t>
            </a:r>
            <a:r>
              <a:rPr lang="en-US" altLang="en-CN" sz="2800" b="1" dirty="0"/>
              <a:t>      </a:t>
            </a:r>
          </a:p>
        </p:txBody>
      </p:sp>
      <p:graphicFrame>
        <p:nvGraphicFramePr>
          <p:cNvPr id="3076" name="Object 170">
            <a:extLst>
              <a:ext uri="{FF2B5EF4-FFF2-40B4-BE49-F238E27FC236}">
                <a16:creationId xmlns:a16="http://schemas.microsoft.com/office/drawing/2014/main" id="{B21A9DD3-8EA8-064B-AA47-CFE172F3A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192165"/>
              </p:ext>
            </p:extLst>
          </p:nvPr>
        </p:nvGraphicFramePr>
        <p:xfrm>
          <a:off x="685800" y="2405657"/>
          <a:ext cx="26352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9000" imgH="215900" progId="Equation.3">
                  <p:embed/>
                </p:oleObj>
              </mc:Choice>
              <mc:Fallback>
                <p:oleObj name="Equation" r:id="rId2" imgW="889000" imgH="215900" progId="Equation.3">
                  <p:embed/>
                  <p:pic>
                    <p:nvPicPr>
                      <p:cNvPr id="3076" name="Object 170">
                        <a:extLst>
                          <a:ext uri="{FF2B5EF4-FFF2-40B4-BE49-F238E27FC236}">
                            <a16:creationId xmlns:a16="http://schemas.microsoft.com/office/drawing/2014/main" id="{B21A9DD3-8EA8-064B-AA47-CFE172F3A7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405657"/>
                        <a:ext cx="263525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9">
            <a:extLst>
              <a:ext uri="{FF2B5EF4-FFF2-40B4-BE49-F238E27FC236}">
                <a16:creationId xmlns:a16="http://schemas.microsoft.com/office/drawing/2014/main" id="{CFDC2EA6-465F-F54D-B41F-F0A068CC52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834129"/>
              </p:ext>
            </p:extLst>
          </p:nvPr>
        </p:nvGraphicFramePr>
        <p:xfrm>
          <a:off x="510924" y="2899431"/>
          <a:ext cx="820896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4000" imgH="203200" progId="Equation.3">
                  <p:embed/>
                </p:oleObj>
              </mc:Choice>
              <mc:Fallback>
                <p:oleObj name="Equation" r:id="rId4" imgW="4064000" imgH="203200" progId="Equation.3">
                  <p:embed/>
                  <p:pic>
                    <p:nvPicPr>
                      <p:cNvPr id="3077" name="Object 9">
                        <a:extLst>
                          <a:ext uri="{FF2B5EF4-FFF2-40B4-BE49-F238E27FC236}">
                            <a16:creationId xmlns:a16="http://schemas.microsoft.com/office/drawing/2014/main" id="{CFDC2EA6-465F-F54D-B41F-F0A068CC52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924" y="2899431"/>
                        <a:ext cx="8208962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231B5C6C-9F23-004F-B7D8-5A1DE0681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十进制数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BE03CF35-51C0-C94B-8DA4-A4C10408135E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F64DE5-322B-8E46-97D3-47A240824B0F}"/>
              </a:ext>
            </a:extLst>
          </p:cNvPr>
          <p:cNvSpPr/>
          <p:nvPr/>
        </p:nvSpPr>
        <p:spPr>
          <a:xfrm>
            <a:off x="318937" y="3809068"/>
            <a:ext cx="51940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以</a:t>
            </a:r>
            <a:r>
              <a:rPr lang="el-GR" altLang="zh-CN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β</a:t>
            </a: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为基的数系（</a:t>
            </a:r>
            <a:r>
              <a:rPr lang="el-GR" altLang="zh-CN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β</a:t>
            </a: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进制数）</a:t>
            </a:r>
            <a:endParaRPr lang="en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13" name="Object 170">
            <a:extLst>
              <a:ext uri="{FF2B5EF4-FFF2-40B4-BE49-F238E27FC236}">
                <a16:creationId xmlns:a16="http://schemas.microsoft.com/office/drawing/2014/main" id="{AB1A5CEF-297F-3748-AC52-4C96C25912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3189570"/>
              </p:ext>
            </p:extLst>
          </p:nvPr>
        </p:nvGraphicFramePr>
        <p:xfrm>
          <a:off x="345952" y="5516025"/>
          <a:ext cx="52720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8000" imgH="228600" progId="Equation.3">
                  <p:embed/>
                </p:oleObj>
              </mc:Choice>
              <mc:Fallback>
                <p:oleObj name="Equation" r:id="rId6" imgW="1778000" imgH="228600" progId="Equation.3">
                  <p:embed/>
                  <p:pic>
                    <p:nvPicPr>
                      <p:cNvPr id="10" name="Object 170">
                        <a:extLst>
                          <a:ext uri="{FF2B5EF4-FFF2-40B4-BE49-F238E27FC236}">
                            <a16:creationId xmlns:a16="http://schemas.microsoft.com/office/drawing/2014/main" id="{08A73A19-EC1C-B748-9D38-AB342CAEE2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52" y="5516025"/>
                        <a:ext cx="5272088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9">
            <a:extLst>
              <a:ext uri="{FF2B5EF4-FFF2-40B4-BE49-F238E27FC236}">
                <a16:creationId xmlns:a16="http://schemas.microsoft.com/office/drawing/2014/main" id="{E06EA1F8-2E96-DC4B-8B37-6C81A20614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172397"/>
              </p:ext>
            </p:extLst>
          </p:nvPr>
        </p:nvGraphicFramePr>
        <p:xfrm>
          <a:off x="341475" y="6132751"/>
          <a:ext cx="85693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41800" imgH="241300" progId="Equation.3">
                  <p:embed/>
                </p:oleObj>
              </mc:Choice>
              <mc:Fallback>
                <p:oleObj name="Equation" r:id="rId8" imgW="4241800" imgH="241300" progId="Equation.3">
                  <p:embed/>
                  <p:pic>
                    <p:nvPicPr>
                      <p:cNvPr id="4100" name="Object 9">
                        <a:extLst>
                          <a:ext uri="{FF2B5EF4-FFF2-40B4-BE49-F238E27FC236}">
                            <a16:creationId xmlns:a16="http://schemas.microsoft.com/office/drawing/2014/main" id="{36DE6FDD-C075-D74E-990B-27E4BFA512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75" y="6132751"/>
                        <a:ext cx="856932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A7B34CD0-65D3-0D46-9758-39ADFC745A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7131" y="4414044"/>
                <a:ext cx="8229600" cy="13715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itchFamily="2" charset="2"/>
                  <a:buChar char="Ø"/>
                </a:pPr>
                <a:r>
                  <a:rPr lang="zh-CN" altLang="en-US" sz="2800" b="1" dirty="0"/>
                  <a:t>用“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8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…,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800" b="1" dirty="0"/>
                  <a:t>……</a:t>
                </a:r>
                <a:r>
                  <a:rPr lang="zh-CN" altLang="en-US" sz="2800" b="1" dirty="0"/>
                  <a:t>”</a:t>
                </a:r>
                <a:r>
                  <a:rPr lang="el-GR" altLang="zh-CN" sz="2800" b="1" dirty="0">
                    <a:solidFill>
                      <a:srgbClr val="00206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 β</a:t>
                </a:r>
                <a:r>
                  <a:rPr lang="zh-CN" altLang="en-US" sz="2800" b="1" dirty="0"/>
                  <a:t>个数字表示，逢</a:t>
                </a:r>
                <a:r>
                  <a:rPr lang="el-GR" altLang="zh-CN" sz="2800" b="1" dirty="0">
                    <a:solidFill>
                      <a:srgbClr val="00206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β</a:t>
                </a:r>
                <a:r>
                  <a:rPr lang="zh-CN" altLang="en-US" sz="2800" b="1" dirty="0"/>
                  <a:t>进一，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基是</a:t>
                </a:r>
                <a:r>
                  <a:rPr lang="el-GR" altLang="zh-CN" sz="2800" b="1" dirty="0">
                    <a:solidFill>
                      <a:srgbClr val="00206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β</a:t>
                </a:r>
                <a:r>
                  <a:rPr lang="en-US" altLang="en-CN" sz="2800" b="1" dirty="0"/>
                  <a:t>     </a:t>
                </a: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A7B34CD0-65D3-0D46-9758-39ADFC745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31" y="4414044"/>
                <a:ext cx="8229600" cy="1371599"/>
              </a:xfrm>
              <a:prstGeom prst="rect">
                <a:avLst/>
              </a:prstGeom>
              <a:blipFill>
                <a:blip r:embed="rId11"/>
                <a:stretch>
                  <a:fillRect l="-1389" t="-6422" r="-30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440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31B5C6C-9F23-004F-B7D8-5A1DE0681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二进制数</a:t>
            </a:r>
            <a:r>
              <a:rPr lang="el-GR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β</a:t>
            </a:r>
            <a:r>
              <a:rPr lang="zh-CN" altLang="el-GR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＝</a:t>
            </a:r>
            <a:r>
              <a:rPr lang="el-GR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endParaRPr lang="zh-CN" alt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BE03CF35-51C0-C94B-8DA4-A4C10408135E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11" name="Object 170">
            <a:extLst>
              <a:ext uri="{FF2B5EF4-FFF2-40B4-BE49-F238E27FC236}">
                <a16:creationId xmlns:a16="http://schemas.microsoft.com/office/drawing/2014/main" id="{806885C7-9743-3645-A0A4-42EB640C76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044879"/>
              </p:ext>
            </p:extLst>
          </p:nvPr>
        </p:nvGraphicFramePr>
        <p:xfrm>
          <a:off x="196850" y="1447800"/>
          <a:ext cx="88011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98800" imgH="228600" progId="Equation.3">
                  <p:embed/>
                </p:oleObj>
              </mc:Choice>
              <mc:Fallback>
                <p:oleObj name="Equation" r:id="rId2" imgW="3098800" imgH="228600" progId="Equation.3">
                  <p:embed/>
                  <p:pic>
                    <p:nvPicPr>
                      <p:cNvPr id="4102" name="Object 170">
                        <a:extLst>
                          <a:ext uri="{FF2B5EF4-FFF2-40B4-BE49-F238E27FC236}">
                            <a16:creationId xmlns:a16="http://schemas.microsoft.com/office/drawing/2014/main" id="{91EFE9FC-F907-D24A-8F4C-F7A87D605F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" y="1447800"/>
                        <a:ext cx="88011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70">
            <a:extLst>
              <a:ext uri="{FF2B5EF4-FFF2-40B4-BE49-F238E27FC236}">
                <a16:creationId xmlns:a16="http://schemas.microsoft.com/office/drawing/2014/main" id="{C84812C9-C865-4946-AEB9-276E7FE17F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752932"/>
              </p:ext>
            </p:extLst>
          </p:nvPr>
        </p:nvGraphicFramePr>
        <p:xfrm>
          <a:off x="2124075" y="2166938"/>
          <a:ext cx="187166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500" imgH="215900" progId="Equation.3">
                  <p:embed/>
                </p:oleObj>
              </mc:Choice>
              <mc:Fallback>
                <p:oleObj name="Equation" r:id="rId4" imgW="698500" imgH="215900" progId="Equation.3">
                  <p:embed/>
                  <p:pic>
                    <p:nvPicPr>
                      <p:cNvPr id="4103" name="Object 170">
                        <a:extLst>
                          <a:ext uri="{FF2B5EF4-FFF2-40B4-BE49-F238E27FC236}">
                            <a16:creationId xmlns:a16="http://schemas.microsoft.com/office/drawing/2014/main" id="{79D45AA6-3D4D-3947-A05B-8338BE653D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166938"/>
                        <a:ext cx="1871663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F05A1BE6-A667-2C42-9987-F02D3C858B69}"/>
              </a:ext>
            </a:extLst>
          </p:cNvPr>
          <p:cNvSpPr/>
          <p:nvPr/>
        </p:nvSpPr>
        <p:spPr>
          <a:xfrm>
            <a:off x="352208" y="3401990"/>
            <a:ext cx="24897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zh-CN" altLang="en-US" sz="2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CN" sz="2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十六</a:t>
            </a:r>
            <a:r>
              <a:rPr lang="zh-CN" altLang="en-US" sz="2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进制数</a:t>
            </a:r>
            <a:endParaRPr lang="en-CN" sz="2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BCFE8D-FD6A-254B-BEFE-713E242A9DCB}"/>
              </a:ext>
            </a:extLst>
          </p:cNvPr>
          <p:cNvSpPr/>
          <p:nvPr/>
        </p:nvSpPr>
        <p:spPr>
          <a:xfrm>
            <a:off x="352208" y="4067152"/>
            <a:ext cx="86457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b="1" dirty="0"/>
              <a:t>以</a:t>
            </a:r>
            <a:r>
              <a:rPr kumimoji="1" lang="en-US" altLang="zh-CN" sz="2400" b="1" dirty="0"/>
              <a:t>16</a:t>
            </a:r>
            <a:r>
              <a:rPr kumimoji="1" lang="zh-CN" altLang="en-US" sz="2400" b="1" dirty="0"/>
              <a:t>为基的数包含数字：</a:t>
            </a:r>
            <a:r>
              <a:rPr kumimoji="1" lang="en-US" altLang="zh-CN" sz="2400" b="1" dirty="0"/>
              <a:t>0, 1, 2, 3, 4, 5, 6, 7, 8, 9, A, B, C, D, E, F</a:t>
            </a:r>
            <a:endParaRPr lang="en-CN" sz="2400" b="1" dirty="0"/>
          </a:p>
        </p:txBody>
      </p:sp>
      <p:graphicFrame>
        <p:nvGraphicFramePr>
          <p:cNvPr id="14" name="Object 170">
            <a:extLst>
              <a:ext uri="{FF2B5EF4-FFF2-40B4-BE49-F238E27FC236}">
                <a16:creationId xmlns:a16="http://schemas.microsoft.com/office/drawing/2014/main" id="{A4E7FAA9-1123-A949-9831-7FC9C1BBF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53547"/>
              </p:ext>
            </p:extLst>
          </p:nvPr>
        </p:nvGraphicFramePr>
        <p:xfrm>
          <a:off x="533400" y="4704650"/>
          <a:ext cx="7754938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30500" imgH="241300" progId="Equation.3">
                  <p:embed/>
                </p:oleObj>
              </mc:Choice>
              <mc:Fallback>
                <p:oleObj name="Equation" r:id="rId6" imgW="2730500" imgH="241300" progId="Equation.3">
                  <p:embed/>
                  <p:pic>
                    <p:nvPicPr>
                      <p:cNvPr id="5123" name="Object 170">
                        <a:extLst>
                          <a:ext uri="{FF2B5EF4-FFF2-40B4-BE49-F238E27FC236}">
                            <a16:creationId xmlns:a16="http://schemas.microsoft.com/office/drawing/2014/main" id="{BAD3FBC2-FDA9-3944-898C-206B307FE9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704650"/>
                        <a:ext cx="7754938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0">
            <a:extLst>
              <a:ext uri="{FF2B5EF4-FFF2-40B4-BE49-F238E27FC236}">
                <a16:creationId xmlns:a16="http://schemas.microsoft.com/office/drawing/2014/main" id="{70FE565F-9BD7-1A46-A9C7-7DC823D781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433599"/>
              </p:ext>
            </p:extLst>
          </p:nvPr>
        </p:nvGraphicFramePr>
        <p:xfrm>
          <a:off x="2330048" y="5315450"/>
          <a:ext cx="221297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25500" imgH="215900" progId="Equation.3">
                  <p:embed/>
                </p:oleObj>
              </mc:Choice>
              <mc:Fallback>
                <p:oleObj name="Equation" r:id="rId8" imgW="825500" imgH="215900" progId="Equation.3">
                  <p:embed/>
                  <p:pic>
                    <p:nvPicPr>
                      <p:cNvPr id="5124" name="Object 170">
                        <a:extLst>
                          <a:ext uri="{FF2B5EF4-FFF2-40B4-BE49-F238E27FC236}">
                            <a16:creationId xmlns:a16="http://schemas.microsoft.com/office/drawing/2014/main" id="{3CA8DD5D-16E1-7F45-A8C5-D05E1C46E4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048" y="5315450"/>
                        <a:ext cx="2212975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1846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F1DC9CB1-CC0E-7F41-80E8-A80478A23ADF}"/>
              </a:ext>
            </a:extLst>
          </p:cNvPr>
          <p:cNvSpPr txBox="1">
            <a:spLocks/>
          </p:cNvSpPr>
          <p:nvPr/>
        </p:nvSpPr>
        <p:spPr bwMode="auto">
          <a:xfrm>
            <a:off x="685800" y="1295400"/>
            <a:ext cx="79914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</a:pPr>
            <a:endParaRPr kumimoji="1" lang="en-US" altLang="zh-CN" sz="32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kumimoji="1"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整数部分</a:t>
            </a:r>
            <a:endParaRPr kumimoji="1" lang="en-US" altLang="zh-CN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kumimoji="1" lang="en-US" altLang="zh-CN" sz="2800" b="1" dirty="0">
                <a:ea typeface="宋体" panose="02010600030101010101" pitchFamily="2" charset="-122"/>
              </a:rPr>
              <a:t>     </a:t>
            </a:r>
            <a:r>
              <a:rPr kumimoji="1"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除</a:t>
            </a:r>
            <a:r>
              <a:rPr kumimoji="1"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kumimoji="1"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取余倒排</a:t>
            </a:r>
            <a:r>
              <a:rPr kumimoji="1" lang="zh-CN" altLang="en-US" sz="2800" b="1" dirty="0">
                <a:ea typeface="宋体" panose="02010600030101010101" pitchFamily="2" charset="-122"/>
              </a:rPr>
              <a:t>。即采用除</a:t>
            </a:r>
            <a:r>
              <a:rPr kumimoji="1" lang="en-US" altLang="zh-CN" sz="2800" b="1" dirty="0">
                <a:ea typeface="宋体" panose="02010600030101010101" pitchFamily="2" charset="-122"/>
              </a:rPr>
              <a:t>2</a:t>
            </a:r>
            <a:r>
              <a:rPr kumimoji="1" lang="zh-CN" altLang="en-US" sz="2800" b="1" dirty="0">
                <a:ea typeface="宋体" panose="02010600030101010101" pitchFamily="2" charset="-122"/>
              </a:rPr>
              <a:t>取余，直到商为</a:t>
            </a:r>
            <a:r>
              <a:rPr kumimoji="1" lang="en-US" altLang="zh-CN" sz="2800" b="1" dirty="0">
                <a:ea typeface="宋体" panose="02010600030101010101" pitchFamily="2" charset="-122"/>
              </a:rPr>
              <a:t>0</a:t>
            </a:r>
            <a:r>
              <a:rPr kumimoji="1" lang="zh-CN" altLang="en-US" sz="2800" b="1" dirty="0">
                <a:ea typeface="宋体" panose="02010600030101010101" pitchFamily="2" charset="-122"/>
              </a:rPr>
              <a:t>，先得到的余数排在低位，后得到的余数排在高位</a:t>
            </a: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小数部分</a:t>
            </a:r>
            <a:endParaRPr kumimoji="1" lang="en-US" altLang="zh-CN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kumimoji="1" lang="en-US" altLang="zh-CN" sz="2800" b="1" dirty="0">
                <a:solidFill>
                  <a:srgbClr val="0000FF"/>
                </a:solidFill>
                <a:ea typeface="宋体" panose="02010600030101010101" pitchFamily="2" charset="-122"/>
              </a:rPr>
              <a:t>     </a:t>
            </a:r>
            <a:r>
              <a:rPr kumimoji="1"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乘</a:t>
            </a:r>
            <a:r>
              <a:rPr kumimoji="1"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kumimoji="1"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取整顺排</a:t>
            </a:r>
            <a:r>
              <a:rPr kumimoji="1" lang="zh-CN" altLang="en-US" sz="2800" b="1" dirty="0">
                <a:ea typeface="宋体" panose="02010600030101010101" pitchFamily="2" charset="-122"/>
              </a:rPr>
              <a:t>。即采用乘</a:t>
            </a:r>
            <a:r>
              <a:rPr kumimoji="1" lang="en-US" altLang="zh-CN" sz="2800" b="1" dirty="0">
                <a:ea typeface="宋体" panose="02010600030101010101" pitchFamily="2" charset="-122"/>
              </a:rPr>
              <a:t>2</a:t>
            </a:r>
            <a:r>
              <a:rPr kumimoji="1" lang="zh-CN" altLang="en-US" sz="2800" b="1" dirty="0">
                <a:ea typeface="宋体" panose="02010600030101010101" pitchFamily="2" charset="-122"/>
              </a:rPr>
              <a:t>取正，直到小数的值为</a:t>
            </a:r>
            <a:r>
              <a:rPr kumimoji="1" lang="en-US" altLang="zh-CN" sz="2800" b="1" dirty="0">
                <a:ea typeface="宋体" panose="02010600030101010101" pitchFamily="2" charset="-122"/>
              </a:rPr>
              <a:t>0</a:t>
            </a:r>
            <a:r>
              <a:rPr kumimoji="1" lang="zh-CN" altLang="en-US" sz="2800" b="1" dirty="0">
                <a:ea typeface="宋体" panose="02010600030101010101" pitchFamily="2" charset="-122"/>
              </a:rPr>
              <a:t>或达到精度要求，先得到的整数排在高位后得到的整数排在低位。</a:t>
            </a:r>
            <a:endParaRPr kumimoji="1" lang="en-US" altLang="en-CN" sz="2800" b="1" dirty="0">
              <a:ea typeface="宋体" panose="02010600030101010101" pitchFamily="2" charset="-12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A0B747-11F7-C04D-A89E-5AA0256B7ED9}"/>
              </a:ext>
            </a:extLst>
          </p:cNvPr>
          <p:cNvSpPr txBox="1">
            <a:spLocks/>
          </p:cNvSpPr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十进制数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转二进制</a:t>
            </a:r>
          </a:p>
        </p:txBody>
      </p:sp>
      <p:sp>
        <p:nvSpPr>
          <p:cNvPr id="4" name="Process 3">
            <a:extLst>
              <a:ext uri="{FF2B5EF4-FFF2-40B4-BE49-F238E27FC236}">
                <a16:creationId xmlns:a16="http://schemas.microsoft.com/office/drawing/2014/main" id="{7DCA407A-139A-2D42-B59D-D9140296D9F8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52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>
            <a:extLst>
              <a:ext uri="{FF2B5EF4-FFF2-40B4-BE49-F238E27FC236}">
                <a16:creationId xmlns:a16="http://schemas.microsoft.com/office/drawing/2014/main" id="{3420115F-E4F8-C845-8399-FA2682C1C867}"/>
              </a:ext>
            </a:extLst>
          </p:cNvPr>
          <p:cNvSpPr txBox="1">
            <a:spLocks/>
          </p:cNvSpPr>
          <p:nvPr/>
        </p:nvSpPr>
        <p:spPr bwMode="auto">
          <a:xfrm>
            <a:off x="755650" y="1354137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kumimoji="1"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例：</a:t>
            </a:r>
            <a:r>
              <a:rPr kumimoji="1" lang="zh-CN" altLang="en-US" sz="3200" b="1" dirty="0">
                <a:ea typeface="宋体" panose="02010600030101010101" pitchFamily="2" charset="-122"/>
              </a:rPr>
              <a:t>将</a:t>
            </a:r>
            <a:r>
              <a:rPr kumimoji="1" lang="en-US" altLang="zh-CN" sz="3200" b="1" dirty="0">
                <a:ea typeface="宋体" panose="02010600030101010101" pitchFamily="2" charset="-122"/>
              </a:rPr>
              <a:t>      </a:t>
            </a:r>
            <a:r>
              <a:rPr kumimoji="1" lang="en-US" altLang="zh-CN" sz="2800" b="1" dirty="0">
                <a:ea typeface="宋体" panose="02010600030101010101" pitchFamily="2" charset="-122"/>
              </a:rPr>
              <a:t>              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转化为二进制数</a:t>
            </a: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Font typeface="Wingdings" pitchFamily="2" charset="2"/>
              <a:buChar char="Ø"/>
            </a:pPr>
            <a:endParaRPr kumimoji="1" lang="en-US" altLang="en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kumimoji="1" lang="zh-CN" altLang="en-US" sz="2800" b="1" dirty="0">
                <a:ea typeface="宋体" panose="02010600030101010101" pitchFamily="2" charset="-122"/>
              </a:rPr>
              <a:t>整数部分除</a:t>
            </a:r>
            <a:r>
              <a:rPr kumimoji="1" lang="en-US" altLang="zh-CN" sz="2800" b="1" dirty="0">
                <a:ea typeface="宋体" panose="02010600030101010101" pitchFamily="2" charset="-122"/>
              </a:rPr>
              <a:t>2</a:t>
            </a:r>
            <a:r>
              <a:rPr kumimoji="1" lang="zh-CN" altLang="en-US" sz="2800" b="1" dirty="0">
                <a:ea typeface="宋体" panose="02010600030101010101" pitchFamily="2" charset="-122"/>
              </a:rPr>
              <a:t>取余</a:t>
            </a:r>
            <a:r>
              <a:rPr kumimoji="1" lang="en-US" altLang="zh-CN" sz="2800" b="1" dirty="0">
                <a:ea typeface="宋体" panose="02010600030101010101" pitchFamily="2" charset="-122"/>
              </a:rPr>
              <a:t>      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小数部分乘</a:t>
            </a:r>
            <a:r>
              <a:rPr kumimoji="1" lang="en-US" altLang="zh-CN" sz="2800" b="1" dirty="0">
                <a:ea typeface="宋体" panose="02010600030101010101" pitchFamily="2" charset="-122"/>
              </a:rPr>
              <a:t>2</a:t>
            </a:r>
            <a:r>
              <a:rPr kumimoji="1" lang="zh-CN" altLang="en-US" sz="2800" b="1" dirty="0">
                <a:ea typeface="宋体" panose="02010600030101010101" pitchFamily="2" charset="-122"/>
              </a:rPr>
              <a:t>取整</a:t>
            </a:r>
            <a:r>
              <a:rPr kumimoji="1" lang="en-US" altLang="ja-JP" sz="2800" b="1" dirty="0">
                <a:ea typeface="宋体" panose="02010600030101010101" pitchFamily="2" charset="-122"/>
              </a:rPr>
              <a:t>     </a:t>
            </a:r>
            <a:endParaRPr kumimoji="1" lang="en-US" altLang="en-CN" sz="2800" b="1" dirty="0">
              <a:ea typeface="宋体" panose="02010600030101010101" pitchFamily="2" charset="-122"/>
            </a:endParaRP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C629D45F-D0DC-9541-B94D-941CAFACC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2" r="51637" b="20665"/>
          <a:stretch>
            <a:fillRect/>
          </a:stretch>
        </p:blipFill>
        <p:spPr bwMode="auto">
          <a:xfrm>
            <a:off x="900113" y="2865437"/>
            <a:ext cx="3511550" cy="298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172" name="Object 170">
            <a:extLst>
              <a:ext uri="{FF2B5EF4-FFF2-40B4-BE49-F238E27FC236}">
                <a16:creationId xmlns:a16="http://schemas.microsoft.com/office/drawing/2014/main" id="{B703B47D-E152-814A-863E-675027D062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5849351"/>
              </p:ext>
            </p:extLst>
          </p:nvPr>
        </p:nvGraphicFramePr>
        <p:xfrm>
          <a:off x="2578100" y="1474787"/>
          <a:ext cx="17351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700" imgH="215900" progId="Equation.3">
                  <p:embed/>
                </p:oleObj>
              </mc:Choice>
              <mc:Fallback>
                <p:oleObj name="Equation" r:id="rId3" imgW="647700" imgH="215900" progId="Equation.3">
                  <p:embed/>
                  <p:pic>
                    <p:nvPicPr>
                      <p:cNvPr id="7172" name="Object 170">
                        <a:extLst>
                          <a:ext uri="{FF2B5EF4-FFF2-40B4-BE49-F238E27FC236}">
                            <a16:creationId xmlns:a16="http://schemas.microsoft.com/office/drawing/2014/main" id="{B703B47D-E152-814A-863E-675027D062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1474787"/>
                        <a:ext cx="173513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170">
            <a:extLst>
              <a:ext uri="{FF2B5EF4-FFF2-40B4-BE49-F238E27FC236}">
                <a16:creationId xmlns:a16="http://schemas.microsoft.com/office/drawing/2014/main" id="{A99BF077-BE27-5449-AC5F-85FF411FB5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086867"/>
              </p:ext>
            </p:extLst>
          </p:nvPr>
        </p:nvGraphicFramePr>
        <p:xfrm>
          <a:off x="2124075" y="6249987"/>
          <a:ext cx="44577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63700" imgH="215900" progId="Equation.3">
                  <p:embed/>
                </p:oleObj>
              </mc:Choice>
              <mc:Fallback>
                <p:oleObj name="Equation" r:id="rId5" imgW="1663700" imgH="215900" progId="Equation.3">
                  <p:embed/>
                  <p:pic>
                    <p:nvPicPr>
                      <p:cNvPr id="7173" name="Object 170">
                        <a:extLst>
                          <a:ext uri="{FF2B5EF4-FFF2-40B4-BE49-F238E27FC236}">
                            <a16:creationId xmlns:a16="http://schemas.microsoft.com/office/drawing/2014/main" id="{A99BF077-BE27-5449-AC5F-85FF411FB5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6249987"/>
                        <a:ext cx="445770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4" name="Picture 6">
            <a:extLst>
              <a:ext uri="{FF2B5EF4-FFF2-40B4-BE49-F238E27FC236}">
                <a16:creationId xmlns:a16="http://schemas.microsoft.com/office/drawing/2014/main" id="{E4CDDCCF-5B00-BF4F-B93F-B3A39F794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72" t="20262" r="1595" b="21468"/>
          <a:stretch>
            <a:fillRect/>
          </a:stretch>
        </p:blipFill>
        <p:spPr bwMode="auto">
          <a:xfrm>
            <a:off x="4716463" y="2865437"/>
            <a:ext cx="3495675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1DB5AF3-5054-D34B-A6E5-0CBD1A6B28A3}"/>
              </a:ext>
            </a:extLst>
          </p:cNvPr>
          <p:cNvSpPr txBox="1">
            <a:spLocks/>
          </p:cNvSpPr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十进制数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转二进制</a:t>
            </a:r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95E8B2E2-F73B-674A-A267-D17151A3FE5F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977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91E8F8-931A-524E-8330-2A935F0B584B}"/>
              </a:ext>
            </a:extLst>
          </p:cNvPr>
          <p:cNvSpPr/>
          <p:nvPr/>
        </p:nvSpPr>
        <p:spPr>
          <a:xfrm>
            <a:off x="384903" y="3232392"/>
            <a:ext cx="8482514" cy="362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endParaRPr kumimoji="1" lang="en-US" altLang="zh-CN" sz="2800" b="1" dirty="0">
              <a:solidFill>
                <a:prstClr val="black"/>
              </a:solidFill>
            </a:endParaRPr>
          </a:p>
          <a:p>
            <a:pPr lvl="0">
              <a:spcBef>
                <a:spcPct val="20000"/>
              </a:spcBef>
              <a:buFont typeface="Wingdings" pitchFamily="2" charset="2"/>
              <a:buChar char="²"/>
            </a:pPr>
            <a:r>
              <a:rPr kumimoji="1" lang="el-GR" altLang="zh-CN" sz="2800" b="1" dirty="0">
                <a:solidFill>
                  <a:prstClr val="black"/>
                </a:solidFill>
              </a:rPr>
              <a:t>β</a:t>
            </a:r>
            <a:r>
              <a:rPr kumimoji="1" lang="zh-CN" altLang="en-US" sz="2800" b="1" dirty="0">
                <a:solidFill>
                  <a:prstClr val="black"/>
                </a:solidFill>
              </a:rPr>
              <a:t>进制下，规格化的浮点数可以表示成</a:t>
            </a:r>
            <a:endParaRPr kumimoji="1" lang="en-US" altLang="zh-CN" sz="2800" b="1" dirty="0">
              <a:solidFill>
                <a:prstClr val="black"/>
              </a:solidFill>
            </a:endParaRPr>
          </a:p>
          <a:p>
            <a:pPr lvl="0">
              <a:spcBef>
                <a:spcPct val="20000"/>
              </a:spcBef>
            </a:pPr>
            <a:r>
              <a:rPr kumimoji="1" lang="en-US" altLang="zh-CN" sz="2800" b="1" dirty="0">
                <a:solidFill>
                  <a:prstClr val="black"/>
                </a:solidFill>
              </a:rPr>
              <a:t>    </a:t>
            </a:r>
          </a:p>
          <a:p>
            <a:pPr lvl="0">
              <a:spcBef>
                <a:spcPct val="20000"/>
              </a:spcBef>
            </a:pPr>
            <a:r>
              <a:rPr kumimoji="1" lang="zh-CN" altLang="en-US" sz="2800" b="1" dirty="0">
                <a:solidFill>
                  <a:prstClr val="black"/>
                </a:solidFill>
              </a:rPr>
              <a:t>其中：</a:t>
            </a:r>
            <a:endParaRPr kumimoji="1" lang="en-US" altLang="zh-CN" sz="2800" b="1" dirty="0">
              <a:solidFill>
                <a:prstClr val="black"/>
              </a:solidFill>
            </a:endParaRPr>
          </a:p>
          <a:p>
            <a:pPr lvl="0">
              <a:spcBef>
                <a:spcPct val="20000"/>
              </a:spcBef>
            </a:pPr>
            <a:r>
              <a:rPr kumimoji="1" lang="en-US" altLang="en-CN" sz="2800" b="1" dirty="0">
                <a:solidFill>
                  <a:prstClr val="black"/>
                </a:solidFill>
                <a:ea typeface="宋体" panose="02010600030101010101" pitchFamily="2" charset="-122"/>
              </a:rPr>
              <a:t>                                   </a:t>
            </a:r>
            <a:r>
              <a:rPr kumimoji="1" lang="zh-CN" altLang="en-US" sz="2800" b="1" dirty="0">
                <a:solidFill>
                  <a:prstClr val="black"/>
                </a:solidFill>
              </a:rPr>
              <a:t>为浮点数的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尾数</a:t>
            </a:r>
            <a:r>
              <a:rPr kumimoji="1" lang="zh-CN" altLang="en-US" sz="2800" b="1" dirty="0">
                <a:solidFill>
                  <a:prstClr val="black"/>
                </a:solidFill>
              </a:rPr>
              <a:t>部分</a:t>
            </a:r>
            <a:endParaRPr kumimoji="1" lang="en-US" altLang="zh-CN" sz="2800" b="1" dirty="0">
              <a:solidFill>
                <a:prstClr val="black"/>
              </a:solidFill>
            </a:endParaRPr>
          </a:p>
          <a:p>
            <a:pPr lvl="0">
              <a:spcBef>
                <a:spcPct val="20000"/>
              </a:spcBef>
            </a:pPr>
            <a:r>
              <a:rPr kumimoji="1" lang="en-US" altLang="zh-CN" sz="2800" b="1" dirty="0">
                <a:solidFill>
                  <a:prstClr val="black"/>
                </a:solidFill>
              </a:rPr>
              <a:t>                                   </a:t>
            </a:r>
            <a:r>
              <a:rPr kumimoji="1" lang="zh-CN" altLang="en-US" sz="2800" b="1" dirty="0">
                <a:solidFill>
                  <a:prstClr val="black"/>
                </a:solidFill>
              </a:rPr>
              <a:t>为浮点数的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阶码</a:t>
            </a:r>
            <a:r>
              <a:rPr kumimoji="1" lang="zh-CN" altLang="en-US" sz="2800" b="1" dirty="0">
                <a:solidFill>
                  <a:prstClr val="black"/>
                </a:solidFill>
              </a:rPr>
              <a:t>，它是</a:t>
            </a:r>
            <a:r>
              <a:rPr kumimoji="1" lang="el-GR" altLang="zh-CN" sz="2800" b="1" dirty="0">
                <a:solidFill>
                  <a:prstClr val="black"/>
                </a:solidFill>
              </a:rPr>
              <a:t>β</a:t>
            </a:r>
            <a:r>
              <a:rPr kumimoji="1" lang="zh-CN" altLang="en-US" sz="2800" b="1" dirty="0">
                <a:solidFill>
                  <a:prstClr val="black"/>
                </a:solidFill>
              </a:rPr>
              <a:t>进制数</a:t>
            </a:r>
            <a:endParaRPr kumimoji="1" lang="en-US" altLang="zh-CN" sz="2800" b="1" dirty="0">
              <a:solidFill>
                <a:prstClr val="black"/>
              </a:solidFill>
            </a:endParaRPr>
          </a:p>
          <a:p>
            <a:pPr lvl="0">
              <a:spcBef>
                <a:spcPct val="20000"/>
              </a:spcBef>
            </a:pPr>
            <a:r>
              <a:rPr kumimoji="1" lang="zh-CN" altLang="en-US" sz="2800" b="1" dirty="0">
                <a:solidFill>
                  <a:prstClr val="black"/>
                </a:solidFill>
              </a:rPr>
              <a:t>如</a:t>
            </a:r>
            <a:r>
              <a:rPr kumimoji="1" lang="en-US" altLang="zh-CN" sz="2800" b="1" dirty="0">
                <a:solidFill>
                  <a:prstClr val="black"/>
                </a:solidFill>
              </a:rPr>
              <a:t>                     </a:t>
            </a:r>
            <a:r>
              <a:rPr kumimoji="1" lang="zh-CN" altLang="en-US" sz="2800" b="1" dirty="0">
                <a:solidFill>
                  <a:prstClr val="black"/>
                </a:solidFill>
              </a:rPr>
              <a:t>为规格化的二进制浮点数</a:t>
            </a:r>
            <a:endParaRPr kumimoji="1" lang="en-US" altLang="en-CN" sz="28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8194" name="Content Placeholder 2">
            <a:extLst>
              <a:ext uri="{FF2B5EF4-FFF2-40B4-BE49-F238E27FC236}">
                <a16:creationId xmlns:a16="http://schemas.microsoft.com/office/drawing/2014/main" id="{264E58FB-9131-3546-BA30-87808FFA12F6}"/>
              </a:ext>
            </a:extLst>
          </p:cNvPr>
          <p:cNvSpPr txBox="1">
            <a:spLocks/>
          </p:cNvSpPr>
          <p:nvPr/>
        </p:nvSpPr>
        <p:spPr bwMode="auto">
          <a:xfrm>
            <a:off x="250825" y="685800"/>
            <a:ext cx="88931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</a:pPr>
            <a:endParaRPr kumimoji="1" lang="en-US" altLang="zh-CN" sz="2800" b="1" dirty="0">
              <a:ea typeface="宋体" panose="02010600030101010101" pitchFamily="2" charset="-122"/>
            </a:endParaRP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固定小数点位置</a:t>
            </a:r>
            <a:r>
              <a:rPr kumimoji="1" lang="zh-CN" altLang="en-US" sz="2800" b="1" dirty="0">
                <a:ea typeface="宋体" panose="02010600030101010101" pitchFamily="2" charset="-122"/>
              </a:rPr>
              <a:t>的表示方法，称为</a:t>
            </a:r>
            <a:r>
              <a:rPr kumimoji="1"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数的定点表示</a:t>
            </a:r>
            <a:endParaRPr kumimoji="1" lang="en-US" altLang="zh-CN" sz="28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zh-CN" altLang="en-US" sz="2800" b="1" dirty="0">
                <a:ea typeface="宋体" panose="02010600030101010101" pitchFamily="2" charset="-122"/>
              </a:rPr>
              <a:t>允许小数点位置</a:t>
            </a:r>
            <a:r>
              <a:rPr kumimoji="1"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浮动</a:t>
            </a:r>
            <a:r>
              <a:rPr kumimoji="1" lang="zh-CN" altLang="en-US" sz="2800" b="1" dirty="0">
                <a:ea typeface="宋体" panose="02010600030101010101" pitchFamily="2" charset="-122"/>
              </a:rPr>
              <a:t>的表示方法，称为</a:t>
            </a:r>
            <a:r>
              <a:rPr kumimoji="1"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数的浮点表示</a:t>
            </a:r>
            <a:endParaRPr kumimoji="1" lang="en-US" altLang="ja-JP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Font typeface="Wingdings" pitchFamily="2" charset="2"/>
              <a:buChar char="²"/>
            </a:pPr>
            <a:r>
              <a:rPr kumimoji="1" lang="zh-CN" altLang="en-US" b="1" dirty="0">
                <a:ea typeface="宋体" panose="02010600030101010101" pitchFamily="2" charset="-122"/>
              </a:rPr>
              <a:t>例、定点数：</a:t>
            </a:r>
            <a:r>
              <a:rPr kumimoji="1" lang="en-US" altLang="zh-CN" b="1" dirty="0">
                <a:ea typeface="宋体" panose="02010600030101010101" pitchFamily="2" charset="-122"/>
              </a:rPr>
              <a:t>0.0012931</a:t>
            </a:r>
            <a:r>
              <a:rPr kumimoji="1" lang="zh-CN" altLang="en-US" b="1" dirty="0">
                <a:ea typeface="宋体" panose="02010600030101010101" pitchFamily="2" charset="-122"/>
              </a:rPr>
              <a:t>，</a:t>
            </a:r>
            <a:r>
              <a:rPr kumimoji="1" lang="en-US" altLang="zh-CN" b="1" dirty="0">
                <a:ea typeface="宋体" panose="02010600030101010101" pitchFamily="2" charset="-122"/>
              </a:rPr>
              <a:t>1.8924</a:t>
            </a:r>
            <a:r>
              <a:rPr kumimoji="1" lang="zh-CN" altLang="en-US" b="1" dirty="0">
                <a:ea typeface="宋体" panose="02010600030101010101" pitchFamily="2" charset="-122"/>
              </a:rPr>
              <a:t>，</a:t>
            </a:r>
            <a:r>
              <a:rPr kumimoji="1" lang="zh-CN" altLang="ja-JP" b="1" dirty="0">
                <a:ea typeface="宋体" panose="02010600030101010101" pitchFamily="2" charset="-122"/>
              </a:rPr>
              <a:t>3</a:t>
            </a:r>
            <a:r>
              <a:rPr kumimoji="1" lang="en-US" altLang="zh-CN" b="1" dirty="0">
                <a:ea typeface="宋体" panose="02010600030101010101" pitchFamily="2" charset="-122"/>
              </a:rPr>
              <a:t>19.8402</a:t>
            </a:r>
            <a:r>
              <a:rPr kumimoji="1" lang="zh-CN" altLang="en-US" b="1" dirty="0">
                <a:ea typeface="宋体" panose="02010600030101010101" pitchFamily="2" charset="-122"/>
              </a:rPr>
              <a:t>的浮点表示为</a:t>
            </a:r>
            <a:endParaRPr kumimoji="1" lang="en-US" altLang="zh-CN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endParaRPr kumimoji="1" lang="en-US" altLang="zh-CN" sz="2800" b="1" dirty="0">
              <a:ea typeface="宋体" panose="02010600030101010101" pitchFamily="2" charset="-122"/>
            </a:endParaRPr>
          </a:p>
        </p:txBody>
      </p:sp>
      <p:graphicFrame>
        <p:nvGraphicFramePr>
          <p:cNvPr id="8195" name="Object 170">
            <a:extLst>
              <a:ext uri="{FF2B5EF4-FFF2-40B4-BE49-F238E27FC236}">
                <a16:creationId xmlns:a16="http://schemas.microsoft.com/office/drawing/2014/main" id="{EBBE7E32-3B5B-7D4A-8DEF-1A9D1D8B22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484257"/>
              </p:ext>
            </p:extLst>
          </p:nvPr>
        </p:nvGraphicFramePr>
        <p:xfrm>
          <a:off x="484187" y="2730095"/>
          <a:ext cx="2363787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700" imgH="203200" progId="Equation.3">
                  <p:embed/>
                </p:oleObj>
              </mc:Choice>
              <mc:Fallback>
                <p:oleObj name="Equation" r:id="rId3" imgW="901700" imgH="203200" progId="Equation.3">
                  <p:embed/>
                  <p:pic>
                    <p:nvPicPr>
                      <p:cNvPr id="8195" name="Object 170">
                        <a:extLst>
                          <a:ext uri="{FF2B5EF4-FFF2-40B4-BE49-F238E27FC236}">
                            <a16:creationId xmlns:a16="http://schemas.microsoft.com/office/drawing/2014/main" id="{EBBE7E32-3B5B-7D4A-8DEF-1A9D1D8B22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7" y="2730095"/>
                        <a:ext cx="2363787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170">
            <a:extLst>
              <a:ext uri="{FF2B5EF4-FFF2-40B4-BE49-F238E27FC236}">
                <a16:creationId xmlns:a16="http://schemas.microsoft.com/office/drawing/2014/main" id="{2885DB74-5047-5B4A-B742-CC7C324CA8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776369"/>
              </p:ext>
            </p:extLst>
          </p:nvPr>
        </p:nvGraphicFramePr>
        <p:xfrm>
          <a:off x="3325813" y="2730095"/>
          <a:ext cx="2005012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50900" imgH="203200" progId="Equation.3">
                  <p:embed/>
                </p:oleObj>
              </mc:Choice>
              <mc:Fallback>
                <p:oleObj name="Equation" r:id="rId5" imgW="850900" imgH="203200" progId="Equation.3">
                  <p:embed/>
                  <p:pic>
                    <p:nvPicPr>
                      <p:cNvPr id="8196" name="Object 170">
                        <a:extLst>
                          <a:ext uri="{FF2B5EF4-FFF2-40B4-BE49-F238E27FC236}">
                            <a16:creationId xmlns:a16="http://schemas.microsoft.com/office/drawing/2014/main" id="{2885DB74-5047-5B4A-B742-CC7C324CA8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5813" y="2730095"/>
                        <a:ext cx="2005012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170">
            <a:extLst>
              <a:ext uri="{FF2B5EF4-FFF2-40B4-BE49-F238E27FC236}">
                <a16:creationId xmlns:a16="http://schemas.microsoft.com/office/drawing/2014/main" id="{589EA54B-6086-0047-B27C-FBEBE61F32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118506"/>
              </p:ext>
            </p:extLst>
          </p:nvPr>
        </p:nvGraphicFramePr>
        <p:xfrm>
          <a:off x="5990431" y="2674303"/>
          <a:ext cx="24939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03300" imgH="203200" progId="Equation.3">
                  <p:embed/>
                </p:oleObj>
              </mc:Choice>
              <mc:Fallback>
                <p:oleObj name="Equation" r:id="rId7" imgW="1003300" imgH="203200" progId="Equation.3">
                  <p:embed/>
                  <p:pic>
                    <p:nvPicPr>
                      <p:cNvPr id="8197" name="Object 170">
                        <a:extLst>
                          <a:ext uri="{FF2B5EF4-FFF2-40B4-BE49-F238E27FC236}">
                            <a16:creationId xmlns:a16="http://schemas.microsoft.com/office/drawing/2014/main" id="{589EA54B-6086-0047-B27C-FBEBE61F32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0431" y="2674303"/>
                        <a:ext cx="24939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9">
            <a:extLst>
              <a:ext uri="{FF2B5EF4-FFF2-40B4-BE49-F238E27FC236}">
                <a16:creationId xmlns:a16="http://schemas.microsoft.com/office/drawing/2014/main" id="{CD0FCE0F-EC8A-1A41-9254-176CF5044C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19822"/>
              </p:ext>
            </p:extLst>
          </p:nvPr>
        </p:nvGraphicFramePr>
        <p:xfrm>
          <a:off x="2484438" y="4286250"/>
          <a:ext cx="337026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70000" imgH="241300" progId="Equation.3">
                  <p:embed/>
                </p:oleObj>
              </mc:Choice>
              <mc:Fallback>
                <p:oleObj name="Equation" r:id="rId9" imgW="1270000" imgH="241300" progId="Equation.3">
                  <p:embed/>
                  <p:pic>
                    <p:nvPicPr>
                      <p:cNvPr id="8198" name="Object 9">
                        <a:extLst>
                          <a:ext uri="{FF2B5EF4-FFF2-40B4-BE49-F238E27FC236}">
                            <a16:creationId xmlns:a16="http://schemas.microsoft.com/office/drawing/2014/main" id="{CD0FCE0F-EC8A-1A41-9254-176CF5044C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286250"/>
                        <a:ext cx="337026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9" name="Object 9">
            <a:extLst>
              <a:ext uri="{FF2B5EF4-FFF2-40B4-BE49-F238E27FC236}">
                <a16:creationId xmlns:a16="http://schemas.microsoft.com/office/drawing/2014/main" id="{6E13A577-170B-0045-AD39-5E1939268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4860925"/>
            <a:ext cx="14398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200" name="Object 10">
            <a:extLst>
              <a:ext uri="{FF2B5EF4-FFF2-40B4-BE49-F238E27FC236}">
                <a16:creationId xmlns:a16="http://schemas.microsoft.com/office/drawing/2014/main" id="{0CC4C249-0CFD-C74C-AE17-AB1B5ED286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790525"/>
              </p:ext>
            </p:extLst>
          </p:nvPr>
        </p:nvGraphicFramePr>
        <p:xfrm>
          <a:off x="3492500" y="4859338"/>
          <a:ext cx="36766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87500" imgH="215900" progId="Equation.3">
                  <p:embed/>
                </p:oleObj>
              </mc:Choice>
              <mc:Fallback>
                <p:oleObj name="Equation" r:id="rId12" imgW="1587500" imgH="215900" progId="Equation.3">
                  <p:embed/>
                  <p:pic>
                    <p:nvPicPr>
                      <p:cNvPr id="8200" name="Object 10">
                        <a:extLst>
                          <a:ext uri="{FF2B5EF4-FFF2-40B4-BE49-F238E27FC236}">
                            <a16:creationId xmlns:a16="http://schemas.microsoft.com/office/drawing/2014/main" id="{0CC4C249-0CFD-C74C-AE17-AB1B5ED286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4859338"/>
                        <a:ext cx="36766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9">
            <a:extLst>
              <a:ext uri="{FF2B5EF4-FFF2-40B4-BE49-F238E27FC236}">
                <a16:creationId xmlns:a16="http://schemas.microsoft.com/office/drawing/2014/main" id="{AD804C1D-5A11-5C4F-B96D-89AC2EDDF5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785801"/>
              </p:ext>
            </p:extLst>
          </p:nvPr>
        </p:nvGraphicFramePr>
        <p:xfrm>
          <a:off x="1692275" y="5257800"/>
          <a:ext cx="1655763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85800" imgH="215900" progId="Equation.3">
                  <p:embed/>
                </p:oleObj>
              </mc:Choice>
              <mc:Fallback>
                <p:oleObj name="Equation" r:id="rId14" imgW="685800" imgH="215900" progId="Equation.3">
                  <p:embed/>
                  <p:pic>
                    <p:nvPicPr>
                      <p:cNvPr id="8201" name="Object 9">
                        <a:extLst>
                          <a:ext uri="{FF2B5EF4-FFF2-40B4-BE49-F238E27FC236}">
                            <a16:creationId xmlns:a16="http://schemas.microsoft.com/office/drawing/2014/main" id="{AD804C1D-5A11-5C4F-B96D-89AC2EDDF5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257800"/>
                        <a:ext cx="1655763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9">
            <a:extLst>
              <a:ext uri="{FF2B5EF4-FFF2-40B4-BE49-F238E27FC236}">
                <a16:creationId xmlns:a16="http://schemas.microsoft.com/office/drawing/2014/main" id="{9E1CC6D5-3B95-B940-BB08-FC388C9250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086487"/>
              </p:ext>
            </p:extLst>
          </p:nvPr>
        </p:nvGraphicFramePr>
        <p:xfrm>
          <a:off x="2514600" y="5867400"/>
          <a:ext cx="30321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300" imgH="139700" progId="Equation.3">
                  <p:embed/>
                </p:oleObj>
              </mc:Choice>
              <mc:Fallback>
                <p:oleObj name="Equation" r:id="rId16" imgW="114300" imgH="139700" progId="Equation.3">
                  <p:embed/>
                  <p:pic>
                    <p:nvPicPr>
                      <p:cNvPr id="8202" name="Object 9">
                        <a:extLst>
                          <a:ext uri="{FF2B5EF4-FFF2-40B4-BE49-F238E27FC236}">
                            <a16:creationId xmlns:a16="http://schemas.microsoft.com/office/drawing/2014/main" id="{9E1CC6D5-3B95-B940-BB08-FC388C9250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867400"/>
                        <a:ext cx="303212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170">
            <a:extLst>
              <a:ext uri="{FF2B5EF4-FFF2-40B4-BE49-F238E27FC236}">
                <a16:creationId xmlns:a16="http://schemas.microsoft.com/office/drawing/2014/main" id="{CFBCD3E8-223D-CE4D-9822-AC6E91BC50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059237"/>
              </p:ext>
            </p:extLst>
          </p:nvPr>
        </p:nvGraphicFramePr>
        <p:xfrm>
          <a:off x="915987" y="6330950"/>
          <a:ext cx="16748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11200" imgH="203200" progId="Equation.3">
                  <p:embed/>
                </p:oleObj>
              </mc:Choice>
              <mc:Fallback>
                <p:oleObj name="Equation" r:id="rId18" imgW="711200" imgH="203200" progId="Equation.3">
                  <p:embed/>
                  <p:pic>
                    <p:nvPicPr>
                      <p:cNvPr id="8203" name="Object 170">
                        <a:extLst>
                          <a:ext uri="{FF2B5EF4-FFF2-40B4-BE49-F238E27FC236}">
                            <a16:creationId xmlns:a16="http://schemas.microsoft.com/office/drawing/2014/main" id="{CFBCD3E8-223D-CE4D-9822-AC6E91BC50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7" y="6330950"/>
                        <a:ext cx="167481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CE1EA722-5C9E-384A-917E-575664A3AFD0}"/>
              </a:ext>
            </a:extLst>
          </p:cNvPr>
          <p:cNvSpPr txBox="1">
            <a:spLocks/>
          </p:cNvSpPr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数的浮点表示</a:t>
            </a:r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64F999C8-4E26-CC44-93A4-80E2AEA42B61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6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F9D16E-319C-714D-8C41-837DDAB1BCE5}"/>
              </a:ext>
            </a:extLst>
          </p:cNvPr>
          <p:cNvSpPr/>
          <p:nvPr/>
        </p:nvSpPr>
        <p:spPr>
          <a:xfrm>
            <a:off x="152400" y="5366329"/>
            <a:ext cx="8660857" cy="1348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</a:rPr>
              <a:t>例：机器数系</a:t>
            </a:r>
            <a:r>
              <a:rPr kumimoji="1" lang="en-US" altLang="zh-CN" sz="2400" b="1" dirty="0">
                <a:solidFill>
                  <a:prstClr val="black"/>
                </a:solidFill>
              </a:rPr>
              <a:t>F(10,5,10,-10)</a:t>
            </a:r>
            <a:r>
              <a:rPr kumimoji="1" lang="zh-CN" altLang="en-US" sz="2400" b="1" dirty="0">
                <a:solidFill>
                  <a:prstClr val="black"/>
                </a:solidFill>
              </a:rPr>
              <a:t>中，绝对值最大的数为：</a:t>
            </a:r>
            <a:endParaRPr kumimoji="1" lang="en-US" altLang="zh-CN" sz="2400" b="1" dirty="0">
              <a:solidFill>
                <a:prstClr val="black"/>
              </a:solidFill>
            </a:endParaRPr>
          </a:p>
          <a:p>
            <a:pPr lvl="0">
              <a:spcBef>
                <a:spcPct val="2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</a:rPr>
              <a:t>绝对值最小的数为：</a:t>
            </a:r>
            <a:endParaRPr kumimoji="1" lang="en-US" altLang="zh-CN" sz="2400" b="1" dirty="0">
              <a:solidFill>
                <a:prstClr val="black"/>
              </a:solidFill>
            </a:endParaRPr>
          </a:p>
          <a:p>
            <a:pPr lvl="0">
              <a:spcBef>
                <a:spcPct val="20000"/>
              </a:spcBef>
            </a:pPr>
            <a:r>
              <a:rPr kumimoji="1" lang="zh-CN" altLang="en-US" sz="2400" b="1" dirty="0">
                <a:solidFill>
                  <a:prstClr val="black"/>
                </a:solidFill>
              </a:rPr>
              <a:t>当机器数绝对值小于最小值，则为机器零；大于最大值则溢出</a:t>
            </a:r>
            <a:endParaRPr lang="en-CN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4E075C-51E3-974E-84F4-92CDF4C1167E}"/>
              </a:ext>
            </a:extLst>
          </p:cNvPr>
          <p:cNvSpPr/>
          <p:nvPr/>
        </p:nvSpPr>
        <p:spPr>
          <a:xfrm>
            <a:off x="250825" y="3805811"/>
            <a:ext cx="8991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kumimoji="1" lang="en-US" altLang="zh-CN" sz="2800" b="1" dirty="0">
                <a:solidFill>
                  <a:prstClr val="black"/>
                </a:solidFill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</a:rPr>
              <a:t>受计算机限制的浮点数</a:t>
            </a:r>
            <a:r>
              <a:rPr kumimoji="1" lang="zh-CN" altLang="en-US" sz="2800" b="1" dirty="0">
                <a:solidFill>
                  <a:prstClr val="black"/>
                </a:solidFill>
              </a:rPr>
              <a:t>称为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机器数</a:t>
            </a:r>
            <a:r>
              <a:rPr kumimoji="1" lang="zh-CN" altLang="en-US" sz="2800" b="1" dirty="0">
                <a:solidFill>
                  <a:prstClr val="black"/>
                </a:solidFill>
              </a:rPr>
              <a:t>，它们构成机器数系，并由         </a:t>
            </a:r>
            <a:r>
              <a:rPr kumimoji="1" lang="en-US" altLang="zh-CN" sz="2800" b="1" dirty="0">
                <a:solidFill>
                  <a:prstClr val="black"/>
                </a:solidFill>
              </a:rPr>
              <a:t>            </a:t>
            </a:r>
            <a:r>
              <a:rPr kumimoji="1" lang="zh-CN" altLang="en-US" sz="2800" b="1" dirty="0">
                <a:solidFill>
                  <a:prstClr val="black"/>
                </a:solidFill>
              </a:rPr>
              <a:t>所确定，记为</a:t>
            </a:r>
          </a:p>
        </p:txBody>
      </p:sp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77FE0FA8-B05C-7C4D-A61D-58C96B70A813}"/>
              </a:ext>
            </a:extLst>
          </p:cNvPr>
          <p:cNvSpPr txBox="1">
            <a:spLocks/>
          </p:cNvSpPr>
          <p:nvPr/>
        </p:nvSpPr>
        <p:spPr bwMode="auto">
          <a:xfrm>
            <a:off x="250825" y="260350"/>
            <a:ext cx="88931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</a:pP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kumimoji="1" lang="en-US" altLang="zh-CN" sz="2800" b="1" dirty="0">
                <a:ea typeface="宋体" panose="02010600030101010101" pitchFamily="2" charset="-122"/>
              </a:rPr>
              <a:t>   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受计算机硬件的限制：</a:t>
            </a: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Font typeface="Wingdings" pitchFamily="2" charset="2"/>
              <a:buChar char="²"/>
            </a:pPr>
            <a:r>
              <a:rPr kumimoji="1" lang="en-US" altLang="zh-CN" sz="2800" b="1" dirty="0">
                <a:ea typeface="宋体" panose="02010600030101010101" pitchFamily="2" charset="-122"/>
              </a:rPr>
              <a:t> 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浮点数的尾数部分</a:t>
            </a:r>
            <a:r>
              <a:rPr kumimoji="1"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尾数</a:t>
            </a:r>
            <a:r>
              <a:rPr kumimoji="1" lang="zh-CN" altLang="en-US" sz="2800" b="1" dirty="0">
                <a:ea typeface="宋体" panose="02010600030101010101" pitchFamily="2" charset="-122"/>
              </a:rPr>
              <a:t>是</a:t>
            </a:r>
            <a:r>
              <a:rPr kumimoji="1"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固定的为</a:t>
            </a:r>
            <a:r>
              <a:rPr kumimoji="1"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kumimoji="1"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位</a:t>
            </a:r>
            <a:r>
              <a:rPr kumimoji="1" lang="zh-CN" altLang="en-US" sz="2800" b="1" dirty="0">
                <a:ea typeface="宋体" panose="02010600030101010101" pitchFamily="2" charset="-122"/>
              </a:rPr>
              <a:t>，如</a:t>
            </a:r>
            <a:r>
              <a:rPr kumimoji="1" lang="en-US" altLang="zh-CN" sz="2800" b="1" dirty="0">
                <a:ea typeface="宋体" panose="02010600030101010101" pitchFamily="2" charset="-122"/>
              </a:rPr>
              <a:t>t</a:t>
            </a:r>
            <a:r>
              <a:rPr kumimoji="1" lang="zh-CN" altLang="en-US" sz="2800" b="1" dirty="0">
                <a:ea typeface="宋体" panose="02010600030101010101" pitchFamily="2" charset="-122"/>
              </a:rPr>
              <a:t>＝</a:t>
            </a:r>
            <a:r>
              <a:rPr kumimoji="1" lang="zh-CN" altLang="ja-JP" sz="2800" b="1" dirty="0">
                <a:ea typeface="宋体" panose="02010600030101010101" pitchFamily="2" charset="-122"/>
              </a:rPr>
              <a:t>6</a:t>
            </a:r>
            <a:r>
              <a:rPr kumimoji="1" lang="en-US" altLang="zh-CN" sz="2800" b="1" dirty="0">
                <a:ea typeface="宋体" panose="02010600030101010101" pitchFamily="2" charset="-122"/>
              </a:rPr>
              <a:t>4</a:t>
            </a:r>
            <a:r>
              <a:rPr kumimoji="1" lang="zh-CN" altLang="en-US" sz="2800" b="1" dirty="0">
                <a:ea typeface="宋体" panose="02010600030101010101" pitchFamily="2" charset="-122"/>
              </a:rPr>
              <a:t>位，</a:t>
            </a: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Font typeface="Wingdings" pitchFamily="2" charset="2"/>
              <a:buChar char="²"/>
            </a:pPr>
            <a:r>
              <a:rPr kumimoji="1" lang="en-US" altLang="zh-CN" sz="2800" b="1" dirty="0">
                <a:ea typeface="宋体" panose="02010600030101010101" pitchFamily="2" charset="-122"/>
              </a:rPr>
              <a:t> 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浮点数的阶码</a:t>
            </a:r>
            <a:r>
              <a:rPr kumimoji="1" lang="en-US" altLang="zh-CN" sz="2800" b="1" dirty="0">
                <a:ea typeface="宋体" panose="02010600030101010101" pitchFamily="2" charset="-122"/>
              </a:rPr>
              <a:t>   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的大小有确定的范围</a:t>
            </a:r>
          </a:p>
          <a:p>
            <a:pPr>
              <a:spcBef>
                <a:spcPct val="20000"/>
              </a:spcBef>
              <a:buFont typeface="Wingdings" pitchFamily="2" charset="2"/>
              <a:buChar char="²"/>
            </a:pPr>
            <a:endParaRPr kumimoji="1" lang="en-US" altLang="zh-CN" sz="2800" b="1" dirty="0">
              <a:ea typeface="宋体" panose="02010600030101010101" pitchFamily="2" charset="-122"/>
            </a:endParaRPr>
          </a:p>
        </p:txBody>
      </p:sp>
      <p:graphicFrame>
        <p:nvGraphicFramePr>
          <p:cNvPr id="9219" name="Object 9">
            <a:extLst>
              <a:ext uri="{FF2B5EF4-FFF2-40B4-BE49-F238E27FC236}">
                <a16:creationId xmlns:a16="http://schemas.microsoft.com/office/drawing/2014/main" id="{78C5F117-0510-F94C-B6AD-B4E4ED0DB2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1052513"/>
          <a:ext cx="33718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70000" imgH="241300" progId="Equation.3">
                  <p:embed/>
                </p:oleObj>
              </mc:Choice>
              <mc:Fallback>
                <p:oleObj name="Equation" r:id="rId2" imgW="1270000" imgH="241300" progId="Equation.3">
                  <p:embed/>
                  <p:pic>
                    <p:nvPicPr>
                      <p:cNvPr id="9219" name="Object 9">
                        <a:extLst>
                          <a:ext uri="{FF2B5EF4-FFF2-40B4-BE49-F238E27FC236}">
                            <a16:creationId xmlns:a16="http://schemas.microsoft.com/office/drawing/2014/main" id="{78C5F117-0510-F94C-B6AD-B4E4ED0DB2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052513"/>
                        <a:ext cx="33718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9">
            <a:extLst>
              <a:ext uri="{FF2B5EF4-FFF2-40B4-BE49-F238E27FC236}">
                <a16:creationId xmlns:a16="http://schemas.microsoft.com/office/drawing/2014/main" id="{75268C24-BCCF-D744-A147-A67C4A8F41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2924175"/>
          <a:ext cx="303212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" imgH="139700" progId="Equation.3">
                  <p:embed/>
                </p:oleObj>
              </mc:Choice>
              <mc:Fallback>
                <p:oleObj name="Equation" r:id="rId4" imgW="114300" imgH="139700" progId="Equation.3">
                  <p:embed/>
                  <p:pic>
                    <p:nvPicPr>
                      <p:cNvPr id="9220" name="Object 9">
                        <a:extLst>
                          <a:ext uri="{FF2B5EF4-FFF2-40B4-BE49-F238E27FC236}">
                            <a16:creationId xmlns:a16="http://schemas.microsoft.com/office/drawing/2014/main" id="{75268C24-BCCF-D744-A147-A67C4A8F41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924175"/>
                        <a:ext cx="303212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9">
            <a:extLst>
              <a:ext uri="{FF2B5EF4-FFF2-40B4-BE49-F238E27FC236}">
                <a16:creationId xmlns:a16="http://schemas.microsoft.com/office/drawing/2014/main" id="{D1D9188F-49F4-E94E-AD19-82332FC8BD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655602"/>
              </p:ext>
            </p:extLst>
          </p:nvPr>
        </p:nvGraphicFramePr>
        <p:xfrm>
          <a:off x="6781800" y="2895600"/>
          <a:ext cx="17859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3100" imgH="165100" progId="Equation.3">
                  <p:embed/>
                </p:oleObj>
              </mc:Choice>
              <mc:Fallback>
                <p:oleObj name="Equation" r:id="rId6" imgW="673100" imgH="165100" progId="Equation.3">
                  <p:embed/>
                  <p:pic>
                    <p:nvPicPr>
                      <p:cNvPr id="9221" name="Object 9">
                        <a:extLst>
                          <a:ext uri="{FF2B5EF4-FFF2-40B4-BE49-F238E27FC236}">
                            <a16:creationId xmlns:a16="http://schemas.microsoft.com/office/drawing/2014/main" id="{D1D9188F-49F4-E94E-AD19-82332FC8BD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895600"/>
                        <a:ext cx="17859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9">
            <a:extLst>
              <a:ext uri="{FF2B5EF4-FFF2-40B4-BE49-F238E27FC236}">
                <a16:creationId xmlns:a16="http://schemas.microsoft.com/office/drawing/2014/main" id="{3D4BAA98-64C0-3842-B878-BEAFB38427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228287"/>
              </p:ext>
            </p:extLst>
          </p:nvPr>
        </p:nvGraphicFramePr>
        <p:xfrm>
          <a:off x="966787" y="4213722"/>
          <a:ext cx="185261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98500" imgH="203200" progId="Equation.3">
                  <p:embed/>
                </p:oleObj>
              </mc:Choice>
              <mc:Fallback>
                <p:oleObj name="Equation" r:id="rId8" imgW="698500" imgH="203200" progId="Equation.3">
                  <p:embed/>
                  <p:pic>
                    <p:nvPicPr>
                      <p:cNvPr id="9222" name="Object 9">
                        <a:extLst>
                          <a:ext uri="{FF2B5EF4-FFF2-40B4-BE49-F238E27FC236}">
                            <a16:creationId xmlns:a16="http://schemas.microsoft.com/office/drawing/2014/main" id="{3D4BAA98-64C0-3842-B878-BEAFB38427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7" y="4213722"/>
                        <a:ext cx="1852613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9">
            <a:extLst>
              <a:ext uri="{FF2B5EF4-FFF2-40B4-BE49-F238E27FC236}">
                <a16:creationId xmlns:a16="http://schemas.microsoft.com/office/drawing/2014/main" id="{C908E1A9-D653-844A-A5E0-59E7AE69B9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59680"/>
              </p:ext>
            </p:extLst>
          </p:nvPr>
        </p:nvGraphicFramePr>
        <p:xfrm>
          <a:off x="4972665" y="4277896"/>
          <a:ext cx="21558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12800" imgH="203200" progId="Equation.3">
                  <p:embed/>
                </p:oleObj>
              </mc:Choice>
              <mc:Fallback>
                <p:oleObj name="Equation" r:id="rId10" imgW="812800" imgH="203200" progId="Equation.3">
                  <p:embed/>
                  <p:pic>
                    <p:nvPicPr>
                      <p:cNvPr id="9223" name="Object 9">
                        <a:extLst>
                          <a:ext uri="{FF2B5EF4-FFF2-40B4-BE49-F238E27FC236}">
                            <a16:creationId xmlns:a16="http://schemas.microsoft.com/office/drawing/2014/main" id="{C908E1A9-D653-844A-A5E0-59E7AE69B9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665" y="4277896"/>
                        <a:ext cx="21558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9">
            <a:extLst>
              <a:ext uri="{FF2B5EF4-FFF2-40B4-BE49-F238E27FC236}">
                <a16:creationId xmlns:a16="http://schemas.microsoft.com/office/drawing/2014/main" id="{0DDAA000-6253-B249-AA4A-47CDDAD245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0413" y="5300663"/>
          <a:ext cx="203358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01700" imgH="203200" progId="Equation.3">
                  <p:embed/>
                </p:oleObj>
              </mc:Choice>
              <mc:Fallback>
                <p:oleObj name="Equation" r:id="rId12" imgW="901700" imgH="203200" progId="Equation.3">
                  <p:embed/>
                  <p:pic>
                    <p:nvPicPr>
                      <p:cNvPr id="22535" name="Object 9">
                        <a:extLst>
                          <a:ext uri="{FF2B5EF4-FFF2-40B4-BE49-F238E27FC236}">
                            <a16:creationId xmlns:a16="http://schemas.microsoft.com/office/drawing/2014/main" id="{0DDAA000-6253-B249-AA4A-47CDDAD245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0413" y="5300663"/>
                        <a:ext cx="2033587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9">
            <a:extLst>
              <a:ext uri="{FF2B5EF4-FFF2-40B4-BE49-F238E27FC236}">
                <a16:creationId xmlns:a16="http://schemas.microsoft.com/office/drawing/2014/main" id="{56CE940C-57D0-F34F-9B04-144998BF1D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0525" y="5732463"/>
          <a:ext cx="21478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52500" imgH="203200" progId="Equation.3">
                  <p:embed/>
                </p:oleObj>
              </mc:Choice>
              <mc:Fallback>
                <p:oleObj name="Equation" r:id="rId14" imgW="952500" imgH="203200" progId="Equation.3">
                  <p:embed/>
                  <p:pic>
                    <p:nvPicPr>
                      <p:cNvPr id="22536" name="Object 9">
                        <a:extLst>
                          <a:ext uri="{FF2B5EF4-FFF2-40B4-BE49-F238E27FC236}">
                            <a16:creationId xmlns:a16="http://schemas.microsoft.com/office/drawing/2014/main" id="{56CE940C-57D0-F34F-9B04-144998BF1D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525" y="5732463"/>
                        <a:ext cx="21478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1604DD3E-52B8-7844-8141-564369F5D7B6}"/>
              </a:ext>
            </a:extLst>
          </p:cNvPr>
          <p:cNvSpPr txBox="1">
            <a:spLocks/>
          </p:cNvSpPr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计算机中数的浮点表示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74AE931F-65E3-044D-9410-0B7868699073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25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42" name="Content Placeholder 2">
                <a:extLst>
                  <a:ext uri="{FF2B5EF4-FFF2-40B4-BE49-F238E27FC236}">
                    <a16:creationId xmlns:a16="http://schemas.microsoft.com/office/drawing/2014/main" id="{E38806CD-496F-4840-AC71-3FB6ABE9887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0825" y="322263"/>
                <a:ext cx="8893175" cy="411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kumimoji="1" lang="en-US" altLang="zh-CN" sz="2800" b="1" dirty="0">
                  <a:ea typeface="宋体" panose="02010600030101010101" pitchFamily="2" charset="-122"/>
                </a:endParaRPr>
              </a:p>
              <a:p>
                <a:pPr>
                  <a:spcBef>
                    <a:spcPct val="20000"/>
                  </a:spcBef>
                </a:pPr>
                <a:r>
                  <a:rPr kumimoji="1" lang="zh-CN" altLang="en-US" sz="2800" b="1" dirty="0">
                    <a:ea typeface="宋体" panose="02010600030101010101" pitchFamily="2" charset="-122"/>
                  </a:rPr>
                  <a:t>对于任意实数，该实数绝对值位于机器数系            </a:t>
                </a:r>
                <a:r>
                  <a:rPr kumimoji="1" lang="en-US" altLang="zh-CN" sz="2800" b="1" dirty="0">
                    <a:ea typeface="宋体" panose="02010600030101010101" pitchFamily="2" charset="-122"/>
                  </a:rPr>
                  <a:t>        </a:t>
                </a:r>
                <a:r>
                  <a:rPr kumimoji="1" lang="zh-CN" altLang="en-US" sz="2800" b="1" dirty="0">
                    <a:ea typeface="宋体" panose="02010600030101010101" pitchFamily="2" charset="-122"/>
                  </a:rPr>
                  <a:t>所能表示的最大最小绝对值之间，该实数</a:t>
                </a:r>
                <a:r>
                  <a:rPr kumimoji="1" lang="en-US" altLang="zh-CN" sz="2800" b="1" dirty="0">
                    <a:ea typeface="宋体" panose="02010600030101010101" pitchFamily="2" charset="-122"/>
                  </a:rPr>
                  <a:t>             </a:t>
                </a:r>
                <a:r>
                  <a:rPr kumimoji="1" lang="zh-CN" altLang="en-US" sz="2800" b="1" dirty="0">
                    <a:ea typeface="宋体" panose="02010600030101010101" pitchFamily="2" charset="-122"/>
                  </a:rPr>
                  <a:t>为</a:t>
                </a:r>
                <a:endParaRPr kumimoji="1" lang="en-US" altLang="zh-CN" sz="2800" b="1" dirty="0">
                  <a:ea typeface="宋体" panose="02010600030101010101" pitchFamily="2" charset="-122"/>
                </a:endParaRPr>
              </a:p>
              <a:p>
                <a:pPr>
                  <a:spcBef>
                    <a:spcPct val="20000"/>
                  </a:spcBef>
                </a:pPr>
                <a:endParaRPr kumimoji="1" lang="en-US" altLang="zh-CN" sz="2800" b="1" dirty="0">
                  <a:ea typeface="宋体" panose="02010600030101010101" pitchFamily="2" charset="-122"/>
                </a:endParaRPr>
              </a:p>
              <a:p>
                <a:pPr>
                  <a:spcBef>
                    <a:spcPct val="20000"/>
                  </a:spcBef>
                </a:pPr>
                <a:r>
                  <a:rPr kumimoji="1" lang="en-US" altLang="zh-CN" sz="2800" b="1" dirty="0">
                    <a:ea typeface="宋体" panose="02010600030101010101" pitchFamily="2" charset="-122"/>
                  </a:rPr>
                  <a:t> </a:t>
                </a:r>
              </a:p>
              <a:p>
                <a:pPr>
                  <a:spcBef>
                    <a:spcPct val="20000"/>
                  </a:spcBef>
                </a:pPr>
                <a:r>
                  <a:rPr kumimoji="1" lang="en-US" altLang="zh-CN" sz="2800" b="1" dirty="0">
                    <a:ea typeface="宋体" panose="02010600030101010101" pitchFamily="2" charset="-122"/>
                  </a:rPr>
                  <a:t>        </a:t>
                </a:r>
                <a:r>
                  <a:rPr kumimoji="1" lang="zh-CN" altLang="en-US" sz="2800" b="1" dirty="0">
                    <a:ea typeface="宋体" panose="02010600030101010101" pitchFamily="2" charset="-122"/>
                  </a:rPr>
                  <a:t>为了能在计算机中参与运算，计算机将自动用机器数</a:t>
                </a:r>
                <a:r>
                  <a:rPr kumimoji="1" lang="en-US" altLang="zh-CN" sz="2800" b="1" dirty="0">
                    <a:ea typeface="宋体" panose="02010600030101010101" pitchFamily="2" charset="-122"/>
                  </a:rPr>
                  <a:t>                 </a:t>
                </a:r>
                <a:r>
                  <a:rPr kumimoji="1" lang="zh-CN" altLang="en-US" sz="2800" b="1" dirty="0">
                    <a:ea typeface="宋体" panose="02010600030101010101" pitchFamily="2" charset="-122"/>
                  </a:rPr>
                  <a:t>来代替该实数</a:t>
                </a:r>
                <a:r>
                  <a:rPr kumimoji="1" lang="en-US" altLang="zh-CN" sz="2800" b="1" dirty="0">
                    <a:ea typeface="宋体" panose="02010600030101010101" pitchFamily="2" charset="-122"/>
                  </a:rPr>
                  <a:t>,     </a:t>
                </a:r>
                <a:r>
                  <a:rPr kumimoji="1" lang="zh-CN" altLang="en-US" sz="2800" b="1" dirty="0">
                    <a:ea typeface="宋体" panose="02010600030101010101" pitchFamily="2" charset="-122"/>
                  </a:rPr>
                  <a:t>为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𝒙</m:t>
                    </m:r>
                  </m:oMath>
                </a14:m>
                <a:r>
                  <a:rPr kumimoji="1" lang="zh-CN" altLang="en-US" sz="2800" b="1" dirty="0">
                    <a:ea typeface="宋体" panose="02010600030101010101" pitchFamily="2" charset="-122"/>
                  </a:rPr>
                  <a:t>到</a:t>
                </a:r>
                <a:r>
                  <a:rPr kumimoji="1" lang="en-US" altLang="zh-CN" sz="2800" b="1" dirty="0">
                    <a:ea typeface="宋体" panose="02010600030101010101" pitchFamily="2" charset="-122"/>
                  </a:rPr>
                  <a:t>                      </a:t>
                </a:r>
                <a:r>
                  <a:rPr kumimoji="1" lang="zh-CN" altLang="en-US" sz="2800" b="1" dirty="0">
                    <a:ea typeface="宋体" panose="02010600030101010101" pitchFamily="2" charset="-122"/>
                  </a:rPr>
                  <a:t>的函数。计算机按两种方法得到  </a:t>
                </a:r>
                <a:r>
                  <a:rPr kumimoji="1" lang="en-US" altLang="zh-CN" sz="2800" b="1" dirty="0">
                    <a:ea typeface="宋体" panose="02010600030101010101" pitchFamily="2" charset="-122"/>
                  </a:rPr>
                  <a:t>   </a:t>
                </a:r>
                <a:r>
                  <a:rPr kumimoji="1" lang="zh-CN" altLang="en-US" sz="2800" b="1" dirty="0">
                    <a:ea typeface="宋体" panose="02010600030101010101" pitchFamily="2" charset="-122"/>
                  </a:rPr>
                  <a:t>：</a:t>
                </a:r>
                <a:endParaRPr kumimoji="1" lang="en-US" altLang="zh-CN" sz="2800" b="1" dirty="0">
                  <a:ea typeface="宋体" panose="02010600030101010101" pitchFamily="2" charset="-122"/>
                </a:endParaRPr>
              </a:p>
              <a:p>
                <a:pPr>
                  <a:spcBef>
                    <a:spcPct val="20000"/>
                  </a:spcBef>
                  <a:buFontTx/>
                  <a:buAutoNum type="arabicParenBoth"/>
                </a:pPr>
                <a:r>
                  <a:rPr kumimoji="1" lang="en-US" altLang="zh-CN" sz="2800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 </a:t>
                </a:r>
                <a:r>
                  <a:rPr kumimoji="1" lang="zh-CN" altLang="en-US" sz="2800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舍入：</a:t>
                </a:r>
                <a:r>
                  <a:rPr kumimoji="1" lang="en-US" altLang="zh-CN" sz="2800" b="1" dirty="0">
                    <a:ea typeface="宋体" panose="02010600030101010101" pitchFamily="2" charset="-122"/>
                  </a:rPr>
                  <a:t>         </a:t>
                </a:r>
                <a:r>
                  <a:rPr kumimoji="1" lang="zh-CN" altLang="en-US" sz="2800" b="1" dirty="0">
                    <a:ea typeface="宋体" panose="02010600030101010101" pitchFamily="2" charset="-122"/>
                  </a:rPr>
                  <a:t>取成与</a:t>
                </a:r>
                <a:r>
                  <a:rPr kumimoji="1" lang="en-US" altLang="zh-CN" sz="2800" b="1" dirty="0">
                    <a:ea typeface="宋体" panose="02010600030101010101" pitchFamily="2" charset="-122"/>
                  </a:rPr>
                  <a:t>     </a:t>
                </a:r>
                <a:r>
                  <a:rPr kumimoji="1" lang="zh-CN" altLang="en-US" sz="2800" b="1" dirty="0">
                    <a:ea typeface="宋体" panose="02010600030101010101" pitchFamily="2" charset="-122"/>
                  </a:rPr>
                  <a:t>最接近者，十进制下采用四舍五入规则，</a:t>
                </a:r>
                <a:endParaRPr kumimoji="1" lang="en-US" altLang="zh-CN" sz="2800" b="1" dirty="0">
                  <a:ea typeface="宋体" panose="02010600030101010101" pitchFamily="2" charset="-122"/>
                </a:endParaRPr>
              </a:p>
              <a:p>
                <a:pPr>
                  <a:spcBef>
                    <a:spcPct val="20000"/>
                  </a:spcBef>
                  <a:buFontTx/>
                  <a:buAutoNum type="arabicParenBoth"/>
                </a:pPr>
                <a:r>
                  <a:rPr kumimoji="1" lang="en-US" altLang="zh-CN" sz="2800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 </a:t>
                </a:r>
                <a:r>
                  <a:rPr kumimoji="1" lang="zh-CN" altLang="en-US" sz="2800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舍去：</a:t>
                </a:r>
                <a:r>
                  <a:rPr kumimoji="1" lang="en-US" altLang="zh-CN" sz="2800" b="1" dirty="0">
                    <a:ea typeface="宋体" panose="02010600030101010101" pitchFamily="2" charset="-122"/>
                  </a:rPr>
                  <a:t>          </a:t>
                </a:r>
                <a:r>
                  <a:rPr kumimoji="1" lang="zh-CN" altLang="en-US" sz="2800" b="1" dirty="0">
                    <a:ea typeface="宋体" panose="02010600030101010101" pitchFamily="2" charset="-122"/>
                  </a:rPr>
                  <a:t>取成满足</a:t>
                </a:r>
                <a:r>
                  <a:rPr kumimoji="1" lang="en-US" altLang="zh-CN" sz="2800" b="1" dirty="0">
                    <a:ea typeface="宋体" panose="02010600030101010101" pitchFamily="2" charset="-122"/>
                  </a:rPr>
                  <a:t>                      </a:t>
                </a:r>
                <a:r>
                  <a:rPr kumimoji="1" lang="zh-CN" altLang="en-US" sz="2800" b="1" dirty="0">
                    <a:ea typeface="宋体" panose="02010600030101010101" pitchFamily="2" charset="-122"/>
                  </a:rPr>
                  <a:t>的误差最小者，相当于截去</a:t>
                </a:r>
                <a:r>
                  <a:rPr kumimoji="1" lang="en-US" altLang="zh-CN" sz="2800" b="1" dirty="0">
                    <a:ea typeface="宋体" panose="02010600030101010101" pitchFamily="2" charset="-122"/>
                  </a:rPr>
                  <a:t>           </a:t>
                </a:r>
                <a:r>
                  <a:rPr kumimoji="1" lang="zh-CN" altLang="en-US" sz="2800" b="1" dirty="0">
                    <a:ea typeface="宋体" panose="02010600030101010101" pitchFamily="2" charset="-122"/>
                  </a:rPr>
                  <a:t>及其后面所有的数。</a:t>
                </a:r>
                <a:endParaRPr kumimoji="1" lang="en-US" altLang="zh-CN" sz="2800" b="1" dirty="0">
                  <a:ea typeface="宋体" panose="02010600030101010101" pitchFamily="2" charset="-122"/>
                </a:endParaRPr>
              </a:p>
              <a:p>
                <a:pPr>
                  <a:spcBef>
                    <a:spcPct val="20000"/>
                  </a:spcBef>
                </a:pPr>
                <a:r>
                  <a:rPr kumimoji="1" lang="en-US" altLang="zh-CN" sz="2800" b="1" dirty="0">
                    <a:ea typeface="宋体" panose="02010600030101010101" pitchFamily="2" charset="-122"/>
                  </a:rPr>
                  <a:t>                       </a:t>
                </a:r>
                <a:r>
                  <a:rPr kumimoji="1" lang="zh-CN" altLang="en-US" sz="3200" b="1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这个映射过程会产生</a:t>
                </a:r>
                <a:r>
                  <a:rPr kumimoji="1" lang="zh-CN" altLang="en-US" sz="3200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误差</a:t>
                </a:r>
                <a:r>
                  <a:rPr kumimoji="1" lang="zh-CN" altLang="en-US" sz="3200" b="1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！</a:t>
                </a:r>
                <a:endParaRPr kumimoji="1" lang="en-US" altLang="zh-CN" sz="3200" b="1" dirty="0">
                  <a:solidFill>
                    <a:srgbClr val="0000FF"/>
                  </a:solidFill>
                  <a:ea typeface="宋体" panose="02010600030101010101" pitchFamily="2" charset="-122"/>
                </a:endParaRPr>
              </a:p>
              <a:p>
                <a:pPr>
                  <a:spcBef>
                    <a:spcPct val="20000"/>
                  </a:spcBef>
                </a:pPr>
                <a:endParaRPr kumimoji="1" lang="zh-CN" altLang="en-US" sz="2800" b="1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0242" name="Content Placeholder 2">
                <a:extLst>
                  <a:ext uri="{FF2B5EF4-FFF2-40B4-BE49-F238E27FC236}">
                    <a16:creationId xmlns:a16="http://schemas.microsoft.com/office/drawing/2014/main" id="{E38806CD-496F-4840-AC71-3FB6ABE98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322263"/>
                <a:ext cx="8893175" cy="4114800"/>
              </a:xfrm>
              <a:prstGeom prst="rect">
                <a:avLst/>
              </a:prstGeom>
              <a:blipFill>
                <a:blip r:embed="rId4"/>
                <a:stretch>
                  <a:fillRect l="-1427" r="-1427" b="-572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243" name="Object 9">
            <a:extLst>
              <a:ext uri="{FF2B5EF4-FFF2-40B4-BE49-F238E27FC236}">
                <a16:creationId xmlns:a16="http://schemas.microsoft.com/office/drawing/2014/main" id="{4C1273B2-1100-D740-BE4D-350F6AAD00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898525"/>
          <a:ext cx="19827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800" imgH="203200" progId="Equation.3">
                  <p:embed/>
                </p:oleObj>
              </mc:Choice>
              <mc:Fallback>
                <p:oleObj name="Equation" r:id="rId5" imgW="812800" imgH="203200" progId="Equation.3">
                  <p:embed/>
                  <p:pic>
                    <p:nvPicPr>
                      <p:cNvPr id="10243" name="Object 9">
                        <a:extLst>
                          <a:ext uri="{FF2B5EF4-FFF2-40B4-BE49-F238E27FC236}">
                            <a16:creationId xmlns:a16="http://schemas.microsoft.com/office/drawing/2014/main" id="{4C1273B2-1100-D740-BE4D-350F6AAD00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898525"/>
                        <a:ext cx="19827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9">
            <a:extLst>
              <a:ext uri="{FF2B5EF4-FFF2-40B4-BE49-F238E27FC236}">
                <a16:creationId xmlns:a16="http://schemas.microsoft.com/office/drawing/2014/main" id="{A572FC5A-056F-2E4E-8D2C-4D46B40656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053305"/>
              </p:ext>
            </p:extLst>
          </p:nvPr>
        </p:nvGraphicFramePr>
        <p:xfrm>
          <a:off x="2771775" y="1828800"/>
          <a:ext cx="3608388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58900" imgH="241300" progId="Equation.3">
                  <p:embed/>
                </p:oleObj>
              </mc:Choice>
              <mc:Fallback>
                <p:oleObj name="Equation" r:id="rId7" imgW="1358900" imgH="241300" progId="Equation.3">
                  <p:embed/>
                  <p:pic>
                    <p:nvPicPr>
                      <p:cNvPr id="10244" name="Object 9">
                        <a:extLst>
                          <a:ext uri="{FF2B5EF4-FFF2-40B4-BE49-F238E27FC236}">
                            <a16:creationId xmlns:a16="http://schemas.microsoft.com/office/drawing/2014/main" id="{A572FC5A-056F-2E4E-8D2C-4D46B40656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828800"/>
                        <a:ext cx="3608388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9">
            <a:extLst>
              <a:ext uri="{FF2B5EF4-FFF2-40B4-BE49-F238E27FC236}">
                <a16:creationId xmlns:a16="http://schemas.microsoft.com/office/drawing/2014/main" id="{EFB87885-CE9B-204C-86E8-6AABAD6AF3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1341438"/>
          <a:ext cx="11144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165100" progId="Equation.3">
                  <p:embed/>
                </p:oleObj>
              </mc:Choice>
              <mc:Fallback>
                <p:oleObj name="Equation" r:id="rId9" imgW="419100" imgH="165100" progId="Equation.3">
                  <p:embed/>
                  <p:pic>
                    <p:nvPicPr>
                      <p:cNvPr id="10245" name="Object 9">
                        <a:extLst>
                          <a:ext uri="{FF2B5EF4-FFF2-40B4-BE49-F238E27FC236}">
                            <a16:creationId xmlns:a16="http://schemas.microsoft.com/office/drawing/2014/main" id="{EFB87885-CE9B-204C-86E8-6AABAD6AF3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1341438"/>
                        <a:ext cx="11144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9">
            <a:extLst>
              <a:ext uri="{FF2B5EF4-FFF2-40B4-BE49-F238E27FC236}">
                <a16:creationId xmlns:a16="http://schemas.microsoft.com/office/drawing/2014/main" id="{6C8DD967-3CB5-694C-8A07-85B68CD61B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3300" y="3284538"/>
          <a:ext cx="15525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84200" imgH="203200" progId="Equation.3">
                  <p:embed/>
                </p:oleObj>
              </mc:Choice>
              <mc:Fallback>
                <p:oleObj name="Equation" r:id="rId11" imgW="584200" imgH="203200" progId="Equation.3">
                  <p:embed/>
                  <p:pic>
                    <p:nvPicPr>
                      <p:cNvPr id="10246" name="Object 9">
                        <a:extLst>
                          <a:ext uri="{FF2B5EF4-FFF2-40B4-BE49-F238E27FC236}">
                            <a16:creationId xmlns:a16="http://schemas.microsoft.com/office/drawing/2014/main" id="{6C8DD967-3CB5-694C-8A07-85B68CD61B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3284538"/>
                        <a:ext cx="15525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9">
            <a:extLst>
              <a:ext uri="{FF2B5EF4-FFF2-40B4-BE49-F238E27FC236}">
                <a16:creationId xmlns:a16="http://schemas.microsoft.com/office/drawing/2014/main" id="{61B2F703-44C8-9B42-BFC2-3459A5EC25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84289"/>
              </p:ext>
            </p:extLst>
          </p:nvPr>
        </p:nvGraphicFramePr>
        <p:xfrm>
          <a:off x="4781550" y="3200400"/>
          <a:ext cx="4381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5100" imgH="203200" progId="Equation.3">
                  <p:embed/>
                </p:oleObj>
              </mc:Choice>
              <mc:Fallback>
                <p:oleObj name="Equation" r:id="rId13" imgW="165100" imgH="203200" progId="Equation.3">
                  <p:embed/>
                  <p:pic>
                    <p:nvPicPr>
                      <p:cNvPr id="10247" name="Object 9">
                        <a:extLst>
                          <a:ext uri="{FF2B5EF4-FFF2-40B4-BE49-F238E27FC236}">
                            <a16:creationId xmlns:a16="http://schemas.microsoft.com/office/drawing/2014/main" id="{61B2F703-44C8-9B42-BFC2-3459A5EC25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1550" y="3200400"/>
                        <a:ext cx="4381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>
            <a:extLst>
              <a:ext uri="{FF2B5EF4-FFF2-40B4-BE49-F238E27FC236}">
                <a16:creationId xmlns:a16="http://schemas.microsoft.com/office/drawing/2014/main" id="{93B8C43C-0C9B-7343-8B89-A18EE227DF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846422"/>
              </p:ext>
            </p:extLst>
          </p:nvPr>
        </p:nvGraphicFramePr>
        <p:xfrm>
          <a:off x="6172200" y="3305175"/>
          <a:ext cx="19827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12800" imgH="203200" progId="Equation.3">
                  <p:embed/>
                </p:oleObj>
              </mc:Choice>
              <mc:Fallback>
                <p:oleObj name="Equation" r:id="rId15" imgW="812800" imgH="203200" progId="Equation.3">
                  <p:embed/>
                  <p:pic>
                    <p:nvPicPr>
                      <p:cNvPr id="10249" name="Object 9">
                        <a:extLst>
                          <a:ext uri="{FF2B5EF4-FFF2-40B4-BE49-F238E27FC236}">
                            <a16:creationId xmlns:a16="http://schemas.microsoft.com/office/drawing/2014/main" id="{93B8C43C-0C9B-7343-8B89-A18EE227DF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305175"/>
                        <a:ext cx="19827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9">
            <a:extLst>
              <a:ext uri="{FF2B5EF4-FFF2-40B4-BE49-F238E27FC236}">
                <a16:creationId xmlns:a16="http://schemas.microsoft.com/office/drawing/2014/main" id="{1D070647-2CB1-4A45-84C1-8889B471CC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542648"/>
              </p:ext>
            </p:extLst>
          </p:nvPr>
        </p:nvGraphicFramePr>
        <p:xfrm>
          <a:off x="5003800" y="3657600"/>
          <a:ext cx="4381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5100" imgH="203200" progId="Equation.3">
                  <p:embed/>
                </p:oleObj>
              </mc:Choice>
              <mc:Fallback>
                <p:oleObj name="Equation" r:id="rId16" imgW="165100" imgH="203200" progId="Equation.3">
                  <p:embed/>
                  <p:pic>
                    <p:nvPicPr>
                      <p:cNvPr id="10250" name="Object 9">
                        <a:extLst>
                          <a:ext uri="{FF2B5EF4-FFF2-40B4-BE49-F238E27FC236}">
                            <a16:creationId xmlns:a16="http://schemas.microsoft.com/office/drawing/2014/main" id="{1D070647-2CB1-4A45-84C1-8889B471CC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657600"/>
                        <a:ext cx="4381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9">
            <a:extLst>
              <a:ext uri="{FF2B5EF4-FFF2-40B4-BE49-F238E27FC236}">
                <a16:creationId xmlns:a16="http://schemas.microsoft.com/office/drawing/2014/main" id="{22BE2AFD-469A-1D48-A62D-ECE23A96C2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4251325"/>
          <a:ext cx="9112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42900" imgH="203200" progId="Equation.3">
                  <p:embed/>
                </p:oleObj>
              </mc:Choice>
              <mc:Fallback>
                <p:oleObj name="Equation" r:id="rId17" imgW="342900" imgH="203200" progId="Equation.3">
                  <p:embed/>
                  <p:pic>
                    <p:nvPicPr>
                      <p:cNvPr id="10251" name="Object 9">
                        <a:extLst>
                          <a:ext uri="{FF2B5EF4-FFF2-40B4-BE49-F238E27FC236}">
                            <a16:creationId xmlns:a16="http://schemas.microsoft.com/office/drawing/2014/main" id="{22BE2AFD-469A-1D48-A62D-ECE23A96C2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251325"/>
                        <a:ext cx="91122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9">
            <a:extLst>
              <a:ext uri="{FF2B5EF4-FFF2-40B4-BE49-F238E27FC236}">
                <a16:creationId xmlns:a16="http://schemas.microsoft.com/office/drawing/2014/main" id="{CBBA45B2-0819-D94D-910A-73E10B767D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4348163"/>
          <a:ext cx="33655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7000" imgH="139700" progId="Equation.3">
                  <p:embed/>
                </p:oleObj>
              </mc:Choice>
              <mc:Fallback>
                <p:oleObj name="Equation" r:id="rId19" imgW="127000" imgH="139700" progId="Equation.3">
                  <p:embed/>
                  <p:pic>
                    <p:nvPicPr>
                      <p:cNvPr id="10252" name="Object 9">
                        <a:extLst>
                          <a:ext uri="{FF2B5EF4-FFF2-40B4-BE49-F238E27FC236}">
                            <a16:creationId xmlns:a16="http://schemas.microsoft.com/office/drawing/2014/main" id="{CBBA45B2-0819-D94D-910A-73E10B767D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4348163"/>
                        <a:ext cx="33655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9">
            <a:extLst>
              <a:ext uri="{FF2B5EF4-FFF2-40B4-BE49-F238E27FC236}">
                <a16:creationId xmlns:a16="http://schemas.microsoft.com/office/drawing/2014/main" id="{B5A47F92-D113-564C-B1C6-33A50DAE0C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5186363"/>
          <a:ext cx="9112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42900" imgH="203200" progId="Equation.3">
                  <p:embed/>
                </p:oleObj>
              </mc:Choice>
              <mc:Fallback>
                <p:oleObj name="Equation" r:id="rId21" imgW="342900" imgH="203200" progId="Equation.3">
                  <p:embed/>
                  <p:pic>
                    <p:nvPicPr>
                      <p:cNvPr id="10253" name="Object 9">
                        <a:extLst>
                          <a:ext uri="{FF2B5EF4-FFF2-40B4-BE49-F238E27FC236}">
                            <a16:creationId xmlns:a16="http://schemas.microsoft.com/office/drawing/2014/main" id="{B5A47F92-D113-564C-B1C6-33A50DAE0C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186363"/>
                        <a:ext cx="91122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9">
            <a:extLst>
              <a:ext uri="{FF2B5EF4-FFF2-40B4-BE49-F238E27FC236}">
                <a16:creationId xmlns:a16="http://schemas.microsoft.com/office/drawing/2014/main" id="{0878D200-98E9-D145-B806-1EDB0670E1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5763" y="5157788"/>
          <a:ext cx="18891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11200" imgH="203200" progId="Equation.3">
                  <p:embed/>
                </p:oleObj>
              </mc:Choice>
              <mc:Fallback>
                <p:oleObj name="Equation" r:id="rId22" imgW="711200" imgH="203200" progId="Equation.3">
                  <p:embed/>
                  <p:pic>
                    <p:nvPicPr>
                      <p:cNvPr id="10254" name="Object 9">
                        <a:extLst>
                          <a:ext uri="{FF2B5EF4-FFF2-40B4-BE49-F238E27FC236}">
                            <a16:creationId xmlns:a16="http://schemas.microsoft.com/office/drawing/2014/main" id="{0878D200-98E9-D145-B806-1EDB0670E1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763" y="5157788"/>
                        <a:ext cx="188912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9">
            <a:extLst>
              <a:ext uri="{FF2B5EF4-FFF2-40B4-BE49-F238E27FC236}">
                <a16:creationId xmlns:a16="http://schemas.microsoft.com/office/drawing/2014/main" id="{278FFDFB-EE62-9E40-AC8E-A4AC850FD1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1550" y="5516563"/>
          <a:ext cx="67468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54000" imgH="215900" progId="Equation.3">
                  <p:embed/>
                </p:oleObj>
              </mc:Choice>
              <mc:Fallback>
                <p:oleObj name="Equation" r:id="rId24" imgW="254000" imgH="215900" progId="Equation.3">
                  <p:embed/>
                  <p:pic>
                    <p:nvPicPr>
                      <p:cNvPr id="10255" name="Object 9">
                        <a:extLst>
                          <a:ext uri="{FF2B5EF4-FFF2-40B4-BE49-F238E27FC236}">
                            <a16:creationId xmlns:a16="http://schemas.microsoft.com/office/drawing/2014/main" id="{278FFDFB-EE62-9E40-AC8E-A4AC850FD1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5516563"/>
                        <a:ext cx="674688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16F957FC-9483-1341-9E05-12AD10782B39}"/>
              </a:ext>
            </a:extLst>
          </p:cNvPr>
          <p:cNvSpPr txBox="1">
            <a:spLocks/>
          </p:cNvSpPr>
          <p:nvPr/>
        </p:nvSpPr>
        <p:spPr>
          <a:xfrm>
            <a:off x="330743" y="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实数与机器数的映射</a:t>
            </a:r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BFA09078-6DE3-9844-9EF7-08C728F0D889}"/>
              </a:ext>
            </a:extLst>
          </p:cNvPr>
          <p:cNvSpPr/>
          <p:nvPr/>
        </p:nvSpPr>
        <p:spPr>
          <a:xfrm>
            <a:off x="330743" y="7620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956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8A6A59C2-1676-B04F-805F-1A535601B6EB}"/>
              </a:ext>
            </a:extLst>
          </p:cNvPr>
          <p:cNvSpPr txBox="1">
            <a:spLocks/>
          </p:cNvSpPr>
          <p:nvPr/>
        </p:nvSpPr>
        <p:spPr bwMode="auto">
          <a:xfrm>
            <a:off x="719138" y="1247775"/>
            <a:ext cx="88931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kumimoji="1"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舍入误差界</a:t>
            </a:r>
            <a:endParaRPr kumimoji="1" lang="en-US" altLang="zh-CN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FontTx/>
              <a:buAutoNum type="arabicParenBoth"/>
            </a:pPr>
            <a:r>
              <a:rPr kumimoji="1"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  </a:t>
            </a:r>
            <a:r>
              <a:rPr kumimoji="1"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舍入：</a:t>
            </a:r>
            <a:r>
              <a:rPr kumimoji="1" lang="en-US" altLang="zh-CN" sz="2800" b="1" dirty="0">
                <a:ea typeface="宋体" panose="02010600030101010101" pitchFamily="2" charset="-122"/>
              </a:rPr>
              <a:t>     </a:t>
            </a:r>
          </a:p>
          <a:p>
            <a:pPr>
              <a:spcBef>
                <a:spcPct val="20000"/>
              </a:spcBef>
              <a:buFontTx/>
              <a:buAutoNum type="arabicParenBoth"/>
            </a:pPr>
            <a:r>
              <a:rPr kumimoji="1"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  </a:t>
            </a:r>
            <a:r>
              <a:rPr kumimoji="1"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舍去：</a:t>
            </a:r>
            <a:endParaRPr kumimoji="1" lang="zh-CN" altLang="en-US" sz="2800" b="1" dirty="0">
              <a:ea typeface="宋体" panose="02010600030101010101" pitchFamily="2" charset="-122"/>
            </a:endParaRPr>
          </a:p>
        </p:txBody>
      </p:sp>
      <p:graphicFrame>
        <p:nvGraphicFramePr>
          <p:cNvPr id="11267" name="Object 9">
            <a:extLst>
              <a:ext uri="{FF2B5EF4-FFF2-40B4-BE49-F238E27FC236}">
                <a16:creationId xmlns:a16="http://schemas.microsoft.com/office/drawing/2014/main" id="{9040340C-A10B-4F4C-8020-E9510A4725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079501"/>
              </p:ext>
            </p:extLst>
          </p:nvPr>
        </p:nvGraphicFramePr>
        <p:xfrm>
          <a:off x="2738438" y="1690687"/>
          <a:ext cx="30337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228600" progId="Equation.3">
                  <p:embed/>
                </p:oleObj>
              </mc:Choice>
              <mc:Fallback>
                <p:oleObj name="Equation" r:id="rId3" imgW="1143000" imgH="228600" progId="Equation.3">
                  <p:embed/>
                  <p:pic>
                    <p:nvPicPr>
                      <p:cNvPr id="11267" name="Object 9">
                        <a:extLst>
                          <a:ext uri="{FF2B5EF4-FFF2-40B4-BE49-F238E27FC236}">
                            <a16:creationId xmlns:a16="http://schemas.microsoft.com/office/drawing/2014/main" id="{9040340C-A10B-4F4C-8020-E9510A4725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1690687"/>
                        <a:ext cx="303371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9">
            <a:extLst>
              <a:ext uri="{FF2B5EF4-FFF2-40B4-BE49-F238E27FC236}">
                <a16:creationId xmlns:a16="http://schemas.microsoft.com/office/drawing/2014/main" id="{C2D3FB9F-99B0-8C47-A832-9173EE1C08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549571"/>
              </p:ext>
            </p:extLst>
          </p:nvPr>
        </p:nvGraphicFramePr>
        <p:xfrm>
          <a:off x="2738438" y="2266950"/>
          <a:ext cx="26654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3300" imgH="228600" progId="Equation.3">
                  <p:embed/>
                </p:oleObj>
              </mc:Choice>
              <mc:Fallback>
                <p:oleObj name="Equation" r:id="rId5" imgW="1003300" imgH="228600" progId="Equation.3">
                  <p:embed/>
                  <p:pic>
                    <p:nvPicPr>
                      <p:cNvPr id="11268" name="Object 9">
                        <a:extLst>
                          <a:ext uri="{FF2B5EF4-FFF2-40B4-BE49-F238E27FC236}">
                            <a16:creationId xmlns:a16="http://schemas.microsoft.com/office/drawing/2014/main" id="{C2D3FB9F-99B0-8C47-A832-9173EE1C08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2266950"/>
                        <a:ext cx="266541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Content Placeholder 2">
            <a:extLst>
              <a:ext uri="{FF2B5EF4-FFF2-40B4-BE49-F238E27FC236}">
                <a16:creationId xmlns:a16="http://schemas.microsoft.com/office/drawing/2014/main" id="{1D605A5A-0949-CE4E-B800-1460B900685F}"/>
              </a:ext>
            </a:extLst>
          </p:cNvPr>
          <p:cNvSpPr txBox="1">
            <a:spLocks/>
          </p:cNvSpPr>
          <p:nvPr/>
        </p:nvSpPr>
        <p:spPr bwMode="auto">
          <a:xfrm>
            <a:off x="684213" y="3048000"/>
            <a:ext cx="76327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200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注</a:t>
            </a:r>
            <a:r>
              <a:rPr kumimoji="1" lang="en-US" altLang="zh-CN" sz="2800" b="1" dirty="0">
                <a:solidFill>
                  <a:srgbClr val="0000FF"/>
                </a:solidFill>
                <a:ea typeface="宋体" panose="02010600030101010101" pitchFamily="2" charset="-122"/>
              </a:rPr>
              <a:t>1 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凡介于机器容许的最大最小数之间的任何数，除非恰好是机器数外，一经送入计算机，即将称为近似数参与运算</a:t>
            </a:r>
            <a:endParaRPr kumimoji="1" lang="en-US" altLang="zh-CN" sz="2800" b="1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endParaRPr kumimoji="1" lang="en-US" altLang="zh-CN" sz="28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注</a:t>
            </a:r>
            <a:r>
              <a:rPr kumimoji="1" lang="zh-CN" altLang="ja-JP" sz="2800" b="1" dirty="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kumimoji="1" lang="en-US" altLang="zh-CN" sz="2800" b="1" dirty="0">
                <a:solidFill>
                  <a:srgbClr val="0000FF"/>
                </a:solidFill>
                <a:ea typeface="宋体" panose="02010600030101010101" pitchFamily="2" charset="-122"/>
              </a:rPr>
              <a:t>    </a:t>
            </a:r>
            <a:r>
              <a:rPr kumimoji="1" lang="zh-CN" altLang="en-US" sz="2800" b="1" dirty="0">
                <a:solidFill>
                  <a:srgbClr val="000000"/>
                </a:solidFill>
                <a:ea typeface="宋体" panose="02010600030101010101" pitchFamily="2" charset="-122"/>
              </a:rPr>
              <a:t>关系式</a:t>
            </a:r>
            <a:endParaRPr kumimoji="1" lang="en-US" altLang="zh-CN" sz="28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endParaRPr kumimoji="1" lang="en-US" altLang="zh-CN" sz="28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ea typeface="宋体" panose="02010600030101010101" pitchFamily="2" charset="-122"/>
              </a:rPr>
              <a:t>在讨论近似数运算的舍入误差时将多次用到</a:t>
            </a:r>
            <a:endParaRPr kumimoji="1" lang="en-US" altLang="zh-CN" sz="28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072B1A34-625E-D842-842C-D27DCD356F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826566"/>
              </p:ext>
            </p:extLst>
          </p:nvPr>
        </p:nvGraphicFramePr>
        <p:xfrm>
          <a:off x="3055144" y="5219700"/>
          <a:ext cx="30337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3000" imgH="228600" progId="Equation.3">
                  <p:embed/>
                </p:oleObj>
              </mc:Choice>
              <mc:Fallback>
                <p:oleObj name="Equation" r:id="rId7" imgW="1143000" imgH="228600" progId="Equation.3">
                  <p:embed/>
                  <p:pic>
                    <p:nvPicPr>
                      <p:cNvPr id="11267" name="Object 9">
                        <a:extLst>
                          <a:ext uri="{FF2B5EF4-FFF2-40B4-BE49-F238E27FC236}">
                            <a16:creationId xmlns:a16="http://schemas.microsoft.com/office/drawing/2014/main" id="{9040340C-A10B-4F4C-8020-E9510A4725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144" y="5219700"/>
                        <a:ext cx="303371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645E86B-3ADC-7044-9402-3B11D8A2A9D0}"/>
              </a:ext>
            </a:extLst>
          </p:cNvPr>
          <p:cNvSpPr txBox="1">
            <a:spLocks/>
          </p:cNvSpPr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误差上限</a:t>
            </a: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E6FCD6DF-6E77-1B4B-86D0-E9F87DEE7EB3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879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13602</TotalTime>
  <Words>656</Words>
  <Application>Microsoft Macintosh PowerPoint</Application>
  <PresentationFormat>全屏显示(4:3)</PresentationFormat>
  <Paragraphs>73</Paragraphs>
  <Slides>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SimSun</vt:lpstr>
      <vt:lpstr>Arial</vt:lpstr>
      <vt:lpstr>Calibri</vt:lpstr>
      <vt:lpstr>Cambria Math</vt:lpstr>
      <vt:lpstr>Times New Roman</vt:lpstr>
      <vt:lpstr>Wingdings</vt:lpstr>
      <vt:lpstr>Office Theme</vt:lpstr>
      <vt:lpstr>Equation</vt:lpstr>
      <vt:lpstr>数的浮点表示</vt:lpstr>
      <vt:lpstr> 十进制数</vt:lpstr>
      <vt:lpstr>二进制数β＝2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Xueming Liu</cp:lastModifiedBy>
  <cp:revision>1798</cp:revision>
  <dcterms:created xsi:type="dcterms:W3CDTF">2006-08-16T00:00:00Z</dcterms:created>
  <dcterms:modified xsi:type="dcterms:W3CDTF">2024-02-26T08:12:37Z</dcterms:modified>
</cp:coreProperties>
</file>