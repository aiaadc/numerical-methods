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audio1.bin" ContentType="audio/unknown"/>
  <Override PartName="/ppt/media/audio2.bin" ContentType="audio/unknown"/>
  <Override PartName="/ppt/media/audio3.bin" ContentType="audio/unknown"/>
  <Override PartName="/ppt/media/audio4.bin" ContentType="audio/unknown"/>
  <Override PartName="/ppt/media/audio5.bin" ContentType="audio/unknown"/>
  <Override PartName="/ppt/media/audio6.bin" ContentType="audio/unknown"/>
  <Override PartName="/ppt/media/audio7.bin" ContentType="audio/unknown"/>
  <Override PartName="/ppt/media/audio8.bin" ContentType="audio/unknown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392" r:id="rId3"/>
    <p:sldId id="393" r:id="rId4"/>
    <p:sldId id="304" r:id="rId5"/>
    <p:sldId id="395" r:id="rId6"/>
    <p:sldId id="330" r:id="rId7"/>
    <p:sldId id="289" r:id="rId8"/>
    <p:sldId id="290" r:id="rId9"/>
    <p:sldId id="293" r:id="rId10"/>
    <p:sldId id="294" r:id="rId11"/>
    <p:sldId id="295" r:id="rId12"/>
    <p:sldId id="296" r:id="rId13"/>
    <p:sldId id="297" r:id="rId14"/>
    <p:sldId id="298" r:id="rId15"/>
    <p:sldId id="336" r:id="rId16"/>
    <p:sldId id="302" r:id="rId17"/>
    <p:sldId id="303" r:id="rId18"/>
    <p:sldId id="394" r:id="rId19"/>
    <p:sldId id="326" r:id="rId20"/>
    <p:sldId id="328" r:id="rId21"/>
    <p:sldId id="327" r:id="rId22"/>
    <p:sldId id="312" r:id="rId23"/>
    <p:sldId id="313" r:id="rId24"/>
    <p:sldId id="314" r:id="rId25"/>
    <p:sldId id="316" r:id="rId26"/>
    <p:sldId id="337" r:id="rId27"/>
    <p:sldId id="320" r:id="rId28"/>
    <p:sldId id="321" r:id="rId29"/>
    <p:sldId id="317" r:id="rId30"/>
    <p:sldId id="333" r:id="rId31"/>
    <p:sldId id="334" r:id="rId32"/>
    <p:sldId id="318" r:id="rId33"/>
    <p:sldId id="319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47"/>
    <p:restoredTop sz="90551"/>
  </p:normalViewPr>
  <p:slideViewPr>
    <p:cSldViewPr>
      <p:cViewPr varScale="1">
        <p:scale>
          <a:sx n="99" d="100"/>
          <a:sy n="99" d="100"/>
        </p:scale>
        <p:origin x="1072" y="16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25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880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084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>
            <a:extLst>
              <a:ext uri="{FF2B5EF4-FFF2-40B4-BE49-F238E27FC236}">
                <a16:creationId xmlns:a16="http://schemas.microsoft.com/office/drawing/2014/main" id="{AB209771-C95B-9342-AEC2-F874F55DE3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8" name="Notes Placeholder 2">
            <a:extLst>
              <a:ext uri="{FF2B5EF4-FFF2-40B4-BE49-F238E27FC236}">
                <a16:creationId xmlns:a16="http://schemas.microsoft.com/office/drawing/2014/main" id="{A00B6C98-243C-BC4A-98A7-47D5358665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/>
              <a:t>已有多个位置点信息的情况下可以用插值</a:t>
            </a:r>
            <a:endParaRPr lang="en-US" altLang="zh-TW" dirty="0"/>
          </a:p>
          <a:p>
            <a:r>
              <a:rPr lang="zh-TW" altLang="en-US" dirty="0">
                <a:ea typeface="宋体" panose="02010600030101010101" pitchFamily="2" charset="-122"/>
              </a:rPr>
              <a:t>若只有一个点的信息</a:t>
            </a:r>
            <a:r>
              <a:rPr lang="zh-CN" altLang="en-US" dirty="0">
                <a:ea typeface="宋体" panose="02010600030101010101" pitchFamily="2" charset="-122"/>
              </a:rPr>
              <a:t>，这信息有根据雷达测得的速度和陀螺仪测的加速度，</a:t>
            </a:r>
            <a:r>
              <a:rPr lang="zh-CN" altLang="en-CN" dirty="0">
                <a:ea typeface="宋体" panose="02010600030101010101" pitchFamily="2" charset="-122"/>
              </a:rPr>
              <a:t>要推断</a:t>
            </a:r>
            <a:r>
              <a:rPr lang="zh-CN" altLang="en-US" dirty="0">
                <a:ea typeface="宋体" panose="02010600030101010101" pitchFamily="2" charset="-122"/>
              </a:rPr>
              <a:t>下一时候的位置就需要用到积分来计算</a:t>
            </a:r>
            <a:endParaRPr lang="en-US" altLang="en-CN" dirty="0">
              <a:ea typeface="宋体" panose="02010600030101010101" pitchFamily="2" charset="-122"/>
            </a:endParaRPr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F2158C48-A5FB-3242-8BDE-55B699E92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61E4AE3-561F-6A43-AEA9-39D44440CB29}" type="slidenum">
              <a:rPr lang="en-US" altLang="zh-CN" sz="1200"/>
              <a:pPr/>
              <a:t>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895558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>
            <a:extLst>
              <a:ext uri="{FF2B5EF4-FFF2-40B4-BE49-F238E27FC236}">
                <a16:creationId xmlns:a16="http://schemas.microsoft.com/office/drawing/2014/main" id="{AB209771-C95B-9342-AEC2-F874F55DE3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8" name="Notes Placeholder 2">
            <a:extLst>
              <a:ext uri="{FF2B5EF4-FFF2-40B4-BE49-F238E27FC236}">
                <a16:creationId xmlns:a16="http://schemas.microsoft.com/office/drawing/2014/main" id="{A00B6C98-243C-BC4A-98A7-47D5358665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计算机视觉的目标定位</a:t>
            </a:r>
            <a:endParaRPr lang="en-US" altLang="en-CN">
              <a:ea typeface="宋体" panose="02010600030101010101" pitchFamily="2" charset="-122"/>
            </a:endParaRPr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F2158C48-A5FB-3242-8BDE-55B699E92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61E4AE3-561F-6A43-AEA9-39D44440CB29}" type="slidenum">
              <a:rPr lang="en-US" altLang="zh-CN" sz="1200"/>
              <a:pPr/>
              <a:t>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697762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495CA-530C-5D46-8177-A1D7B6078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49C79-5A1F-3B45-A7E1-2FFA4E251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latin typeface="Times New Roman" pitchFamily="18" charset="0"/>
                <a:ea typeface="宋体" pitchFamily="2" charset="-122"/>
              </a:rPr>
              <a:t>Dx=hdt</a:t>
            </a:r>
            <a:endParaRPr lang="en-US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D042E-6BB0-054D-AD63-7BB36661F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62A4DC6-89B1-F14E-A4B8-C55A17F131EB}" type="slidenum">
              <a:rPr lang="en-US" altLang="zh-CN" sz="1200"/>
              <a:pPr eaLnBrk="1" hangingPunct="1"/>
              <a:t>21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38498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8229600" cy="863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2205038"/>
            <a:ext cx="4038600" cy="244792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2205038"/>
            <a:ext cx="4038600" cy="114776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505200"/>
            <a:ext cx="4038600" cy="11477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0D9B8DE-4F8E-9747-A145-4F06E05D06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313" y="6589713"/>
            <a:ext cx="2133600" cy="26828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 smtClean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6592917D-4390-4C43-89D8-0869EA65EEF4}" type="datetime1">
              <a:rPr lang="zh-CN" altLang="en-US"/>
              <a:pPr/>
              <a:t>2023/3/20</a:t>
            </a:fld>
            <a:endParaRPr lang="en-US" altLang="zh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31BD36-8E52-B146-945E-FB0AFF332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59113" y="6589713"/>
            <a:ext cx="2895600" cy="26828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21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FA241A-847A-B84E-9CC9-71AC1F6F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8125" y="6589713"/>
            <a:ext cx="2133600" cy="26828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/>
            </a:lvl1pPr>
          </a:lstStyle>
          <a:p>
            <a:fld id="{95B13F9C-9B08-B04F-8085-F01D40398D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9224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4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20.png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17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1.emf"/><Relationship Id="rId5" Type="http://schemas.openxmlformats.org/officeDocument/2006/relationships/image" Target="../media/image15.e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0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2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audio" Target="../media/audio2.bin"/><Relationship Id="rId7" Type="http://schemas.openxmlformats.org/officeDocument/2006/relationships/oleObject" Target="../embeddings/oleObject23.bin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emf"/><Relationship Id="rId10" Type="http://schemas.openxmlformats.org/officeDocument/2006/relationships/image" Target="../media/image24.emf"/><Relationship Id="rId4" Type="http://schemas.openxmlformats.org/officeDocument/2006/relationships/oleObject" Target="../embeddings/oleObject22.bin"/><Relationship Id="rId9" Type="http://schemas.openxmlformats.org/officeDocument/2006/relationships/oleObject" Target="../embeddings/oleObject2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6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audio" Target="../media/audio8.bin"/><Relationship Id="rId13" Type="http://schemas.openxmlformats.org/officeDocument/2006/relationships/image" Target="../media/image31.emf"/><Relationship Id="rId18" Type="http://schemas.openxmlformats.org/officeDocument/2006/relationships/oleObject" Target="../embeddings/oleObject32.bin"/><Relationship Id="rId3" Type="http://schemas.openxmlformats.org/officeDocument/2006/relationships/audio" Target="../media/audio4.bin"/><Relationship Id="rId21" Type="http://schemas.openxmlformats.org/officeDocument/2006/relationships/image" Target="../media/image35.emf"/><Relationship Id="rId7" Type="http://schemas.openxmlformats.org/officeDocument/2006/relationships/audio" Target="../media/audio7.bin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3.emf"/><Relationship Id="rId25" Type="http://schemas.openxmlformats.org/officeDocument/2006/relationships/image" Target="../media/image37.emf"/><Relationship Id="rId2" Type="http://schemas.openxmlformats.org/officeDocument/2006/relationships/audio" Target="../media/audio3.bin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6.bin"/><Relationship Id="rId11" Type="http://schemas.openxmlformats.org/officeDocument/2006/relationships/image" Target="../media/image30.emf"/><Relationship Id="rId24" Type="http://schemas.openxmlformats.org/officeDocument/2006/relationships/oleObject" Target="../embeddings/oleObject35.bin"/><Relationship Id="rId5" Type="http://schemas.openxmlformats.org/officeDocument/2006/relationships/audio" Target="../media/audio5.bin"/><Relationship Id="rId15" Type="http://schemas.openxmlformats.org/officeDocument/2006/relationships/image" Target="../media/image32.emf"/><Relationship Id="rId23" Type="http://schemas.openxmlformats.org/officeDocument/2006/relationships/image" Target="../media/image36.emf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4.emf"/><Relationship Id="rId4" Type="http://schemas.openxmlformats.org/officeDocument/2006/relationships/audio" Target="../media/audio1.bin"/><Relationship Id="rId9" Type="http://schemas.openxmlformats.org/officeDocument/2006/relationships/image" Target="../media/image29.jpeg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7" Type="http://schemas.openxmlformats.org/officeDocument/2006/relationships/image" Target="../media/image40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8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oleObject" Target="../embeddings/oleObject42.bin"/><Relationship Id="rId3" Type="http://schemas.openxmlformats.org/officeDocument/2006/relationships/audio" Target="../media/audio4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4.emf"/><Relationship Id="rId17" Type="http://schemas.openxmlformats.org/officeDocument/2006/relationships/image" Target="../media/image46.emf"/><Relationship Id="rId2" Type="http://schemas.openxmlformats.org/officeDocument/2006/relationships/notesSlide" Target="../notesSlides/notesSlide6.xml"/><Relationship Id="rId16" Type="http://schemas.openxmlformats.org/officeDocument/2006/relationships/oleObject" Target="../embeddings/oleObject4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e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image" Target="../media/image22.jpeg"/><Relationship Id="rId10" Type="http://schemas.openxmlformats.org/officeDocument/2006/relationships/image" Target="../media/image43.emf"/><Relationship Id="rId4" Type="http://schemas.openxmlformats.org/officeDocument/2006/relationships/audio" Target="../media/audio5.bin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7" Type="http://schemas.openxmlformats.org/officeDocument/2006/relationships/image" Target="../media/image48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4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emf"/><Relationship Id="rId4" Type="http://schemas.openxmlformats.org/officeDocument/2006/relationships/oleObject" Target="../embeddings/oleObject4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emf"/><Relationship Id="rId4" Type="http://schemas.openxmlformats.org/officeDocument/2006/relationships/oleObject" Target="../embeddings/oleObject50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56.emf"/><Relationship Id="rId7" Type="http://schemas.openxmlformats.org/officeDocument/2006/relationships/image" Target="../media/image58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emf"/><Relationship Id="rId4" Type="http://schemas.openxmlformats.org/officeDocument/2006/relationships/oleObject" Target="../embeddings/oleObject5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7" Type="http://schemas.openxmlformats.org/officeDocument/2006/relationships/image" Target="../media/image65.e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64.emf"/><Relationship Id="rId4" Type="http://schemas.openxmlformats.org/officeDocument/2006/relationships/oleObject" Target="../embeddings/oleObject6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72.emf"/><Relationship Id="rId3" Type="http://schemas.openxmlformats.org/officeDocument/2006/relationships/audio" Target="../media/audio1.bin"/><Relationship Id="rId21" Type="http://schemas.openxmlformats.org/officeDocument/2006/relationships/oleObject" Target="../embeddings/oleObject71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9.emf"/><Relationship Id="rId17" Type="http://schemas.openxmlformats.org/officeDocument/2006/relationships/oleObject" Target="../embeddings/oleObject69.bin"/><Relationship Id="rId2" Type="http://schemas.openxmlformats.org/officeDocument/2006/relationships/audio" Target="../media/audio4.bin"/><Relationship Id="rId16" Type="http://schemas.openxmlformats.org/officeDocument/2006/relationships/image" Target="../media/image71.emf"/><Relationship Id="rId20" Type="http://schemas.openxmlformats.org/officeDocument/2006/relationships/image" Target="../media/image7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11" Type="http://schemas.openxmlformats.org/officeDocument/2006/relationships/oleObject" Target="../embeddings/oleObject66.bin"/><Relationship Id="rId5" Type="http://schemas.openxmlformats.org/officeDocument/2006/relationships/image" Target="../media/image66.emf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68.emf"/><Relationship Id="rId19" Type="http://schemas.openxmlformats.org/officeDocument/2006/relationships/oleObject" Target="../embeddings/oleObject70.bin"/><Relationship Id="rId4" Type="http://schemas.openxmlformats.org/officeDocument/2006/relationships/oleObject" Target="../embeddings/oleObject63.bin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70.emf"/><Relationship Id="rId22" Type="http://schemas.openxmlformats.org/officeDocument/2006/relationships/image" Target="../media/image7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emf"/><Relationship Id="rId4" Type="http://schemas.openxmlformats.org/officeDocument/2006/relationships/oleObject" Target="../embeddings/oleObject73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image" Target="../media/image77.emf"/><Relationship Id="rId7" Type="http://schemas.openxmlformats.org/officeDocument/2006/relationships/image" Target="../media/image79.e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78.e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8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9373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CN" sz="6600" b="1" dirty="0">
                <a:latin typeface="SimSun" panose="02010600030101010101" pitchFamily="2" charset="-122"/>
                <a:ea typeface="SimSun" panose="02010600030101010101" pitchFamily="2" charset="-122"/>
              </a:rPr>
              <a:t>数值积分</a:t>
            </a:r>
            <a:br>
              <a:rPr lang="en-US" altLang="zh-CN" sz="6000" b="1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-US" altLang="zh-CN" sz="4800" b="1" dirty="0">
                <a:solidFill>
                  <a:srgbClr val="008000"/>
                </a:solidFill>
                <a:latin typeface="Arial" charset="0"/>
                <a:ea typeface="MS PGothic" charset="0"/>
                <a:cs typeface="MS PGothic" charset="0"/>
              </a:rPr>
              <a:t>Numerical Integration</a:t>
            </a:r>
            <a:endParaRPr lang="en-US" sz="4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031" y="3651230"/>
            <a:ext cx="6477000" cy="2901969"/>
          </a:xfrm>
        </p:spPr>
        <p:txBody>
          <a:bodyPr>
            <a:noAutofit/>
          </a:bodyPr>
          <a:lstStyle/>
          <a:p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人工智能与</a:t>
            </a:r>
            <a:r>
              <a:rPr lang="zh-CN" altLang="en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自动化学院</a:t>
            </a: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刘雪明</a:t>
            </a: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电话：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87543563</a:t>
            </a: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办公室：南一楼西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303</a:t>
            </a:r>
          </a:p>
          <a:p>
            <a:pPr>
              <a:lnSpc>
                <a:spcPct val="125000"/>
              </a:lnSpc>
            </a:pPr>
            <a:r>
              <a:rPr lang="en-US" altLang="zh-CN" sz="2400" b="1" i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xm_liu@hust.edu.cn</a:t>
            </a:r>
            <a:endParaRPr lang="en-US" sz="2400" b="1" i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11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实际问题求解流程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Oval 7">
            <a:extLst>
              <a:ext uri="{FF2B5EF4-FFF2-40B4-BE49-F238E27FC236}">
                <a16:creationId xmlns:a16="http://schemas.microsoft.com/office/drawing/2014/main" id="{A77E38E3-7F83-184D-BA8D-2928AEA52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2" y="2362200"/>
            <a:ext cx="1125538" cy="1109663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  <a:endParaRPr lang="en-US" altLang="zh-CN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问题</a:t>
            </a:r>
          </a:p>
        </p:txBody>
      </p:sp>
      <p:sp>
        <p:nvSpPr>
          <p:cNvPr id="45" name="AutoShape 10">
            <a:extLst>
              <a:ext uri="{FF2B5EF4-FFF2-40B4-BE49-F238E27FC236}">
                <a16:creationId xmlns:a16="http://schemas.microsoft.com/office/drawing/2014/main" id="{B10938F2-087F-344F-AAD6-394163D4A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0310" y="2819400"/>
            <a:ext cx="931490" cy="228600"/>
          </a:xfrm>
          <a:prstGeom prst="rightArrow">
            <a:avLst>
              <a:gd name="adj1" fmla="val 50000"/>
              <a:gd name="adj2" fmla="val 122494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46" name="Group 67">
            <a:extLst>
              <a:ext uri="{FF2B5EF4-FFF2-40B4-BE49-F238E27FC236}">
                <a16:creationId xmlns:a16="http://schemas.microsoft.com/office/drawing/2014/main" id="{63D2270F-7F98-F147-B066-6969B1B174B1}"/>
              </a:ext>
            </a:extLst>
          </p:cNvPr>
          <p:cNvGrpSpPr>
            <a:grpSpLocks/>
          </p:cNvGrpSpPr>
          <p:nvPr/>
        </p:nvGrpSpPr>
        <p:grpSpPr bwMode="auto">
          <a:xfrm>
            <a:off x="3055224" y="2374581"/>
            <a:ext cx="1669176" cy="922319"/>
            <a:chOff x="432" y="1440"/>
            <a:chExt cx="2689" cy="1200"/>
          </a:xfrm>
        </p:grpSpPr>
        <p:sp>
          <p:nvSpPr>
            <p:cNvPr id="47" name="AutoShape 11">
              <a:extLst>
                <a:ext uri="{FF2B5EF4-FFF2-40B4-BE49-F238E27FC236}">
                  <a16:creationId xmlns:a16="http://schemas.microsoft.com/office/drawing/2014/main" id="{9DFBAA8B-5052-BB4D-AB90-F3AC15786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8" name="Rectangle 44">
              <a:extLst>
                <a:ext uri="{FF2B5EF4-FFF2-40B4-BE49-F238E27FC236}">
                  <a16:creationId xmlns:a16="http://schemas.microsoft.com/office/drawing/2014/main" id="{201689A1-FB62-A74E-BB70-F18F7DE11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" y="1815"/>
              <a:ext cx="2484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数学模型</a:t>
              </a:r>
            </a:p>
          </p:txBody>
        </p:sp>
      </p:grpSp>
      <p:sp>
        <p:nvSpPr>
          <p:cNvPr id="49" name="AutoShape 10">
            <a:extLst>
              <a:ext uri="{FF2B5EF4-FFF2-40B4-BE49-F238E27FC236}">
                <a16:creationId xmlns:a16="http://schemas.microsoft.com/office/drawing/2014/main" id="{7C7DF57E-DAAC-274A-8418-8EAE8B638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819400"/>
            <a:ext cx="917575" cy="213100"/>
          </a:xfrm>
          <a:prstGeom prst="rightArrow">
            <a:avLst>
              <a:gd name="adj1" fmla="val 50000"/>
              <a:gd name="adj2" fmla="val 122494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50" name="AutoShape 49">
            <a:extLst>
              <a:ext uri="{FF2B5EF4-FFF2-40B4-BE49-F238E27FC236}">
                <a16:creationId xmlns:a16="http://schemas.microsoft.com/office/drawing/2014/main" id="{58991E87-1658-7841-BC58-2E7EB3D9045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09115" y="3444183"/>
            <a:ext cx="523220" cy="184150"/>
          </a:xfrm>
          <a:prstGeom prst="rightArrow">
            <a:avLst>
              <a:gd name="adj1" fmla="val 50000"/>
              <a:gd name="adj2" fmla="val 83336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51" name="Group 67">
            <a:extLst>
              <a:ext uri="{FF2B5EF4-FFF2-40B4-BE49-F238E27FC236}">
                <a16:creationId xmlns:a16="http://schemas.microsoft.com/office/drawing/2014/main" id="{8A76E920-3766-6A49-BE90-0CE0470F3A92}"/>
              </a:ext>
            </a:extLst>
          </p:cNvPr>
          <p:cNvGrpSpPr>
            <a:grpSpLocks/>
          </p:cNvGrpSpPr>
          <p:nvPr/>
        </p:nvGrpSpPr>
        <p:grpSpPr bwMode="auto">
          <a:xfrm>
            <a:off x="5698397" y="2484333"/>
            <a:ext cx="2378803" cy="812566"/>
            <a:chOff x="432" y="1440"/>
            <a:chExt cx="2689" cy="1200"/>
          </a:xfrm>
        </p:grpSpPr>
        <p:sp>
          <p:nvSpPr>
            <p:cNvPr id="52" name="AutoShape 11">
              <a:extLst>
                <a:ext uri="{FF2B5EF4-FFF2-40B4-BE49-F238E27FC236}">
                  <a16:creationId xmlns:a16="http://schemas.microsoft.com/office/drawing/2014/main" id="{32F8040F-94A1-FD42-9A99-678C9E9FC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3" name="Rectangle 44">
              <a:extLst>
                <a:ext uri="{FF2B5EF4-FFF2-40B4-BE49-F238E27FC236}">
                  <a16:creationId xmlns:a16="http://schemas.microsoft.com/office/drawing/2014/main" id="{76851430-4F5B-114E-90C0-0B3580145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1815"/>
              <a:ext cx="2540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计算模型</a:t>
              </a:r>
            </a:p>
          </p:txBody>
        </p:sp>
      </p:grpSp>
      <p:grpSp>
        <p:nvGrpSpPr>
          <p:cNvPr id="54" name="Group 67">
            <a:extLst>
              <a:ext uri="{FF2B5EF4-FFF2-40B4-BE49-F238E27FC236}">
                <a16:creationId xmlns:a16="http://schemas.microsoft.com/office/drawing/2014/main" id="{0C3A1DFE-31A1-FA45-9301-75F7D7AE82B8}"/>
              </a:ext>
            </a:extLst>
          </p:cNvPr>
          <p:cNvGrpSpPr>
            <a:grpSpLocks/>
          </p:cNvGrpSpPr>
          <p:nvPr/>
        </p:nvGrpSpPr>
        <p:grpSpPr bwMode="auto">
          <a:xfrm>
            <a:off x="5791201" y="3920984"/>
            <a:ext cx="2514599" cy="1058526"/>
            <a:chOff x="432" y="1440"/>
            <a:chExt cx="2689" cy="1200"/>
          </a:xfrm>
        </p:grpSpPr>
        <p:sp>
          <p:nvSpPr>
            <p:cNvPr id="55" name="AutoShape 11">
              <a:extLst>
                <a:ext uri="{FF2B5EF4-FFF2-40B4-BE49-F238E27FC236}">
                  <a16:creationId xmlns:a16="http://schemas.microsoft.com/office/drawing/2014/main" id="{7BC68F76-8FE8-7147-A18B-406427FE0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6" name="Rectangle 44">
              <a:extLst>
                <a:ext uri="{FF2B5EF4-FFF2-40B4-BE49-F238E27FC236}">
                  <a16:creationId xmlns:a16="http://schemas.microsoft.com/office/drawing/2014/main" id="{B18ADEB3-243C-4A43-8802-FA5D975C6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815"/>
              <a:ext cx="2540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计算实现</a:t>
              </a:r>
            </a:p>
          </p:txBody>
        </p:sp>
      </p:grpSp>
      <p:sp>
        <p:nvSpPr>
          <p:cNvPr id="58" name="Oval 7">
            <a:extLst>
              <a:ext uri="{FF2B5EF4-FFF2-40B4-BE49-F238E27FC236}">
                <a16:creationId xmlns:a16="http://schemas.microsoft.com/office/drawing/2014/main" id="{9A5A5548-BB3A-DF45-90D5-AED7B5C22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486400"/>
            <a:ext cx="1130300" cy="1093788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实际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</a:p>
        </p:txBody>
      </p:sp>
      <p:sp>
        <p:nvSpPr>
          <p:cNvPr id="60" name="Bent-Up Arrow 28">
            <a:extLst>
              <a:ext uri="{FF2B5EF4-FFF2-40B4-BE49-F238E27FC236}">
                <a16:creationId xmlns:a16="http://schemas.microsoft.com/office/drawing/2014/main" id="{F5C17A25-8907-9F49-9EDB-761C15EC65A7}"/>
              </a:ext>
            </a:extLst>
          </p:cNvPr>
          <p:cNvSpPr>
            <a:spLocks/>
          </p:cNvSpPr>
          <p:nvPr/>
        </p:nvSpPr>
        <p:spPr bwMode="auto">
          <a:xfrm flipH="1">
            <a:off x="2209798" y="3032502"/>
            <a:ext cx="4893892" cy="2207850"/>
          </a:xfrm>
          <a:custGeom>
            <a:avLst/>
            <a:gdLst>
              <a:gd name="T0" fmla="*/ 0 w 4679950"/>
              <a:gd name="T1" fmla="*/ 2908013 h 3030537"/>
              <a:gd name="T2" fmla="*/ 4506346 w 4679950"/>
              <a:gd name="T3" fmla="*/ 2908013 h 3030537"/>
              <a:gd name="T4" fmla="*/ 4506346 w 4679950"/>
              <a:gd name="T5" fmla="*/ 245473 h 3030537"/>
              <a:gd name="T6" fmla="*/ 4455266 w 4679950"/>
              <a:gd name="T7" fmla="*/ 245473 h 3030537"/>
              <a:gd name="T8" fmla="*/ 4567608 w 4679950"/>
              <a:gd name="T9" fmla="*/ 0 h 3030537"/>
              <a:gd name="T10" fmla="*/ 4679950 w 4679950"/>
              <a:gd name="T11" fmla="*/ 245473 h 3030537"/>
              <a:gd name="T12" fmla="*/ 4628870 w 4679950"/>
              <a:gd name="T13" fmla="*/ 245473 h 3030537"/>
              <a:gd name="T14" fmla="*/ 4628870 w 4679950"/>
              <a:gd name="T15" fmla="*/ 3030538 h 3030537"/>
              <a:gd name="T16" fmla="*/ 0 w 4679950"/>
              <a:gd name="T17" fmla="*/ 3030538 h 3030537"/>
              <a:gd name="T18" fmla="*/ 0 w 4679950"/>
              <a:gd name="T19" fmla="*/ 2908013 h 30305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79950" h="3030537">
                <a:moveTo>
                  <a:pt x="0" y="2908012"/>
                </a:moveTo>
                <a:lnTo>
                  <a:pt x="4506346" y="2908012"/>
                </a:lnTo>
                <a:lnTo>
                  <a:pt x="4506346" y="245473"/>
                </a:lnTo>
                <a:lnTo>
                  <a:pt x="4455266" y="245473"/>
                </a:lnTo>
                <a:lnTo>
                  <a:pt x="4567608" y="0"/>
                </a:lnTo>
                <a:lnTo>
                  <a:pt x="4679950" y="245473"/>
                </a:lnTo>
                <a:lnTo>
                  <a:pt x="4628870" y="245473"/>
                </a:lnTo>
                <a:lnTo>
                  <a:pt x="4628870" y="3030537"/>
                </a:lnTo>
                <a:lnTo>
                  <a:pt x="0" y="3030537"/>
                </a:lnTo>
                <a:lnTo>
                  <a:pt x="0" y="2908012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endParaRPr lang="en-CN"/>
          </a:p>
        </p:txBody>
      </p:sp>
      <p:sp>
        <p:nvSpPr>
          <p:cNvPr id="61" name="TextBox 32">
            <a:extLst>
              <a:ext uri="{FF2B5EF4-FFF2-40B4-BE49-F238E27FC236}">
                <a16:creationId xmlns:a16="http://schemas.microsoft.com/office/drawing/2014/main" id="{065CF10F-48AE-D049-A5AE-E418E6173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8207" y="4148513"/>
            <a:ext cx="54420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修正</a:t>
            </a:r>
            <a:endParaRPr lang="en-US" altLang="zh-CN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E3A1F9-CB1A-A840-A54D-B71C6E0D39BD}"/>
              </a:ext>
            </a:extLst>
          </p:cNvPr>
          <p:cNvSpPr txBox="1"/>
          <p:nvPr/>
        </p:nvSpPr>
        <p:spPr>
          <a:xfrm>
            <a:off x="284968" y="1066800"/>
            <a:ext cx="85282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采用</a:t>
            </a:r>
            <a:r>
              <a:rPr lang="zh-CN" altLang="en-CN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引领教学法，从</a:t>
            </a:r>
            <a:r>
              <a:rPr lang="zh-CN" altLang="en-US" sz="32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实际问题求解流程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来设计教学</a:t>
            </a:r>
            <a:endParaRPr lang="en-US" altLang="zh-CN" sz="32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662C03F8-D42E-B74B-A886-1B222DA9023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33105" y="5147560"/>
            <a:ext cx="441703" cy="170085"/>
          </a:xfrm>
          <a:prstGeom prst="rightArrow">
            <a:avLst>
              <a:gd name="adj1" fmla="val 50000"/>
              <a:gd name="adj2" fmla="val 83336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F88E53E0-2B67-694C-9A59-BEF54655F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4953" y="1924802"/>
            <a:ext cx="3570848" cy="3086949"/>
          </a:xfrm>
          <a:prstGeom prst="rect">
            <a:avLst/>
          </a:prstGeom>
          <a:noFill/>
          <a:ln w="444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3600" dirty="0">
              <a:solidFill>
                <a:srgbClr val="FF0000"/>
              </a:solidFill>
            </a:endParaRP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30DA9D58-9DC5-684D-9221-770ED868F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220218"/>
            <a:ext cx="796197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计算方法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27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课程大纲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22" name="Group 67">
            <a:extLst>
              <a:ext uri="{FF2B5EF4-FFF2-40B4-BE49-F238E27FC236}">
                <a16:creationId xmlns:a16="http://schemas.microsoft.com/office/drawing/2014/main" id="{146AC6D8-0C8D-1741-9D07-56405FF59CDC}"/>
              </a:ext>
            </a:extLst>
          </p:cNvPr>
          <p:cNvGrpSpPr>
            <a:grpSpLocks/>
          </p:cNvGrpSpPr>
          <p:nvPr/>
        </p:nvGrpSpPr>
        <p:grpSpPr bwMode="auto">
          <a:xfrm>
            <a:off x="511174" y="2786064"/>
            <a:ext cx="1981200" cy="1152525"/>
            <a:chOff x="432" y="1440"/>
            <a:chExt cx="2739" cy="1200"/>
          </a:xfrm>
        </p:grpSpPr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AEAE9C57-B92B-DD45-86BF-7E86B3003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5" name="Rectangle 44">
              <a:extLst>
                <a:ext uri="{FF2B5EF4-FFF2-40B4-BE49-F238E27FC236}">
                  <a16:creationId xmlns:a16="http://schemas.microsoft.com/office/drawing/2014/main" id="{8E01C737-719C-7447-BF33-C68522671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" y="1815"/>
              <a:ext cx="2540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数学模型</a:t>
              </a:r>
            </a:p>
          </p:txBody>
        </p:sp>
      </p:grpSp>
      <p:sp>
        <p:nvSpPr>
          <p:cNvPr id="26" name="TextBox 32">
            <a:extLst>
              <a:ext uri="{FF2B5EF4-FFF2-40B4-BE49-F238E27FC236}">
                <a16:creationId xmlns:a16="http://schemas.microsoft.com/office/drawing/2014/main" id="{BFCC0DA3-A69D-8040-A8C8-D20233582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4429125"/>
            <a:ext cx="2787545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定积分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ja-JP" altLang="en-US" sz="24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常微分方程</a:t>
            </a:r>
            <a:endParaRPr lang="en-US" altLang="ja-JP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zh-TW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非线性方程</a:t>
            </a:r>
            <a:endParaRPr lang="en-US" altLang="zh-TW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zh-TW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线性方程组</a:t>
            </a:r>
            <a:endParaRPr lang="en-US" altLang="zh-TW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矩阵特征向量</a:t>
            </a:r>
            <a:endParaRPr lang="en-US" altLang="zh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27" name="Group 67">
            <a:extLst>
              <a:ext uri="{FF2B5EF4-FFF2-40B4-BE49-F238E27FC236}">
                <a16:creationId xmlns:a16="http://schemas.microsoft.com/office/drawing/2014/main" id="{075F7D9F-4207-454C-B82A-C0F2042FAC83}"/>
              </a:ext>
            </a:extLst>
          </p:cNvPr>
          <p:cNvGrpSpPr>
            <a:grpSpLocks/>
          </p:cNvGrpSpPr>
          <p:nvPr/>
        </p:nvGrpSpPr>
        <p:grpSpPr bwMode="auto">
          <a:xfrm>
            <a:off x="4002086" y="2844801"/>
            <a:ext cx="1981200" cy="1152525"/>
            <a:chOff x="432" y="1440"/>
            <a:chExt cx="2739" cy="1200"/>
          </a:xfrm>
        </p:grpSpPr>
        <p:sp>
          <p:nvSpPr>
            <p:cNvPr id="28" name="AutoShape 11">
              <a:extLst>
                <a:ext uri="{FF2B5EF4-FFF2-40B4-BE49-F238E27FC236}">
                  <a16:creationId xmlns:a16="http://schemas.microsoft.com/office/drawing/2014/main" id="{C9937806-1D12-6D46-82A6-66F96EC95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9" name="Rectangle 44">
              <a:extLst>
                <a:ext uri="{FF2B5EF4-FFF2-40B4-BE49-F238E27FC236}">
                  <a16:creationId xmlns:a16="http://schemas.microsoft.com/office/drawing/2014/main" id="{D46506E8-A452-0142-84B7-CD9B3FC0D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" y="1815"/>
              <a:ext cx="2540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</a:rPr>
                <a:t>计算模型</a:t>
              </a:r>
            </a:p>
          </p:txBody>
        </p:sp>
      </p:grpSp>
      <p:sp>
        <p:nvSpPr>
          <p:cNvPr id="30" name="AutoShape 10">
            <a:extLst>
              <a:ext uri="{FF2B5EF4-FFF2-40B4-BE49-F238E27FC236}">
                <a16:creationId xmlns:a16="http://schemas.microsoft.com/office/drawing/2014/main" id="{BE5C6EB8-A71A-B047-AA1E-27095D7F6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8736" y="3348038"/>
            <a:ext cx="1138584" cy="196850"/>
          </a:xfrm>
          <a:prstGeom prst="rightArrow">
            <a:avLst>
              <a:gd name="adj1" fmla="val 50000"/>
              <a:gd name="adj2" fmla="val 122498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31" name="AutoShape 222">
            <a:extLst>
              <a:ext uri="{FF2B5EF4-FFF2-40B4-BE49-F238E27FC236}">
                <a16:creationId xmlns:a16="http://schemas.microsoft.com/office/drawing/2014/main" id="{5595509E-6203-AE4D-B8FC-DDE4293AC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71600"/>
            <a:ext cx="6059487" cy="1143000"/>
          </a:xfrm>
          <a:prstGeom prst="wedgeEllipseCallout">
            <a:avLst>
              <a:gd name="adj1" fmla="val -3197"/>
              <a:gd name="adj2" fmla="val 119699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48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数的浮点表示和误差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函数逼近、插值、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数据拟合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ADD7FCF-D015-E245-AAEC-36D8B6022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7898" y="4429125"/>
            <a:ext cx="3455988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高斯型积分公式等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显式</a:t>
            </a:r>
            <a:r>
              <a:rPr lang="en-US" altLang="zh-CN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Euler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公式等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牛顿迭代公式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等</a:t>
            </a:r>
          </a:p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Jacobi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迭代公式等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幂法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等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A5B1CA7B-1D49-AC49-BAD8-3471E6F67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262" y="3348038"/>
            <a:ext cx="936625" cy="196850"/>
          </a:xfrm>
          <a:prstGeom prst="rightArrow">
            <a:avLst>
              <a:gd name="adj1" fmla="val 50000"/>
              <a:gd name="adj2" fmla="val 122498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34" name="Group 67">
            <a:extLst>
              <a:ext uri="{FF2B5EF4-FFF2-40B4-BE49-F238E27FC236}">
                <a16:creationId xmlns:a16="http://schemas.microsoft.com/office/drawing/2014/main" id="{1E0411D1-E7C8-8B42-8850-2DEBDB4738B0}"/>
              </a:ext>
            </a:extLst>
          </p:cNvPr>
          <p:cNvGrpSpPr>
            <a:grpSpLocks/>
          </p:cNvGrpSpPr>
          <p:nvPr/>
        </p:nvGrpSpPr>
        <p:grpSpPr bwMode="auto">
          <a:xfrm>
            <a:off x="7050086" y="2771776"/>
            <a:ext cx="1981200" cy="1152525"/>
            <a:chOff x="432" y="1440"/>
            <a:chExt cx="2739" cy="1200"/>
          </a:xfrm>
        </p:grpSpPr>
        <p:sp>
          <p:nvSpPr>
            <p:cNvPr id="35" name="AutoShape 11">
              <a:extLst>
                <a:ext uri="{FF2B5EF4-FFF2-40B4-BE49-F238E27FC236}">
                  <a16:creationId xmlns:a16="http://schemas.microsoft.com/office/drawing/2014/main" id="{1008BF68-C658-2941-B078-921F3081F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" name="Rectangle 44">
              <a:extLst>
                <a:ext uri="{FF2B5EF4-FFF2-40B4-BE49-F238E27FC236}">
                  <a16:creationId xmlns:a16="http://schemas.microsoft.com/office/drawing/2014/main" id="{856D0A95-6E02-D840-9AB1-12263EFA2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" y="1815"/>
              <a:ext cx="2540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</a:rPr>
                <a:t>计算实现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A9AD5F9-1672-2548-B5BA-6B24C0049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3066" y="4716464"/>
            <a:ext cx="17620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Python</a:t>
            </a:r>
          </a:p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MATLAB</a:t>
            </a: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等</a:t>
            </a:r>
            <a:endParaRPr lang="en-US" altLang="zh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106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>
            <a:extLst>
              <a:ext uri="{FF2B5EF4-FFF2-40B4-BE49-F238E27FC236}">
                <a16:creationId xmlns:a16="http://schemas.microsoft.com/office/drawing/2014/main" id="{ED2E7164-2A10-B745-82A0-F01DCFD8C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25538"/>
            <a:ext cx="7899400" cy="544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A77CF91-330B-A84B-BAE6-24B4F57A3CB9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自动驾驶汽车（视觉定位）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Process 4">
            <a:extLst>
              <a:ext uri="{FF2B5EF4-FFF2-40B4-BE49-F238E27FC236}">
                <a16:creationId xmlns:a16="http://schemas.microsoft.com/office/drawing/2014/main" id="{3E51A984-0638-7048-9DD2-84EFAD4ACB94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963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77CF91-330B-A84B-BAE6-24B4F57A3CB9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无人机侦查路线选择</a:t>
            </a:r>
          </a:p>
        </p:txBody>
      </p:sp>
      <p:sp>
        <p:nvSpPr>
          <p:cNvPr id="5" name="Process 4">
            <a:extLst>
              <a:ext uri="{FF2B5EF4-FFF2-40B4-BE49-F238E27FC236}">
                <a16:creationId xmlns:a16="http://schemas.microsoft.com/office/drawing/2014/main" id="{3E51A984-0638-7048-9DD2-84EFAD4ACB94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C040D1-1460-744F-BEB9-254787009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06550"/>
            <a:ext cx="7517117" cy="479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8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1">
            <a:extLst>
              <a:ext uri="{FF2B5EF4-FFF2-40B4-BE49-F238E27FC236}">
                <a16:creationId xmlns:a16="http://schemas.microsoft.com/office/drawing/2014/main" id="{36F8B045-53A3-9843-8D54-D4B6FECA3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0"/>
            <a:ext cx="38576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527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4">
            <a:extLst>
              <a:ext uri="{FF2B5EF4-FFF2-40B4-BE49-F238E27FC236}">
                <a16:creationId xmlns:a16="http://schemas.microsoft.com/office/drawing/2014/main" id="{7CD23DFE-5998-C947-8424-D85179449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905000"/>
            <a:ext cx="632618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latin typeface="+mn-lt"/>
              </a:rPr>
              <a:t>§1</a:t>
            </a:r>
            <a:r>
              <a:rPr lang="en-US" altLang="zh-CN" sz="3200" b="1" dirty="0">
                <a:latin typeface="+mn-lt"/>
                <a:ea typeface="宋体" panose="02010600030101010101" pitchFamily="2" charset="-122"/>
              </a:rPr>
              <a:t>  </a:t>
            </a:r>
            <a:r>
              <a:rPr lang="zh-CN" altLang="en-US" sz="3200" b="1" dirty="0">
                <a:latin typeface="+mn-lt"/>
                <a:ea typeface="宋体" panose="02010600030101010101" pitchFamily="2" charset="-122"/>
              </a:rPr>
              <a:t>构造数值积分公式的基本方法</a:t>
            </a:r>
          </a:p>
        </p:txBody>
      </p:sp>
      <p:sp>
        <p:nvSpPr>
          <p:cNvPr id="23554" name="Text Box 7">
            <a:extLst>
              <a:ext uri="{FF2B5EF4-FFF2-40B4-BE49-F238E27FC236}">
                <a16:creationId xmlns:a16="http://schemas.microsoft.com/office/drawing/2014/main" id="{6C2FB86F-5C3F-D944-9899-E59DFD604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841625"/>
            <a:ext cx="46037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§2 Newton-Cotes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公式</a:t>
            </a:r>
          </a:p>
        </p:txBody>
      </p:sp>
      <p:sp>
        <p:nvSpPr>
          <p:cNvPr id="23555" name="Text Box 10">
            <a:extLst>
              <a:ext uri="{FF2B5EF4-FFF2-40B4-BE49-F238E27FC236}">
                <a16:creationId xmlns:a16="http://schemas.microsoft.com/office/drawing/2014/main" id="{76653744-A0EF-F442-88B3-4E2D53317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778250"/>
            <a:ext cx="38877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§3 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复化求积公式</a:t>
            </a:r>
          </a:p>
        </p:txBody>
      </p:sp>
      <p:sp>
        <p:nvSpPr>
          <p:cNvPr id="23556" name="Rectangle 13">
            <a:extLst>
              <a:ext uri="{FF2B5EF4-FFF2-40B4-BE49-F238E27FC236}">
                <a16:creationId xmlns:a16="http://schemas.microsoft.com/office/drawing/2014/main" id="{6A1E1916-2FF1-BA42-BA74-2B58CF5A4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713288"/>
            <a:ext cx="389401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§4 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龙贝格求积算法</a:t>
            </a:r>
          </a:p>
        </p:txBody>
      </p:sp>
      <p:sp>
        <p:nvSpPr>
          <p:cNvPr id="23558" name="Rectangle 13">
            <a:extLst>
              <a:ext uri="{FF2B5EF4-FFF2-40B4-BE49-F238E27FC236}">
                <a16:creationId xmlns:a16="http://schemas.microsoft.com/office/drawing/2014/main" id="{8A1958BB-4C54-5E4A-9768-447FF70D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5649913"/>
            <a:ext cx="348204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§5 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高斯求积公式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76B7A19-8321-D047-9CB2-0DBBFF34A5C3}"/>
              </a:ext>
            </a:extLst>
          </p:cNvPr>
          <p:cNvSpPr txBox="1">
            <a:spLocks/>
          </p:cNvSpPr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zh-CN" alt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15DB8B4E-051A-F641-9F78-E9A73DA1DE1C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34F08-1D95-9843-9E7C-46C0769FCC35}"/>
              </a:ext>
            </a:extLst>
          </p:cNvPr>
          <p:cNvSpPr/>
          <p:nvPr/>
        </p:nvSpPr>
        <p:spPr>
          <a:xfrm>
            <a:off x="468709" y="251837"/>
            <a:ext cx="78370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第四章 数值积分</a:t>
            </a:r>
            <a:endParaRPr lang="en-CN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15809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7" name="Rectangle 3">
            <a:extLst>
              <a:ext uri="{FF2B5EF4-FFF2-40B4-BE49-F238E27FC236}">
                <a16:creationId xmlns:a16="http://schemas.microsoft.com/office/drawing/2014/main" id="{0F0C6D12-7B69-DC4B-9C6F-0D1E0C272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087437"/>
            <a:ext cx="8229600" cy="1655763"/>
          </a:xfrm>
        </p:spPr>
        <p:txBody>
          <a:bodyPr/>
          <a:lstStyle/>
          <a:p>
            <a:pPr algn="just" eaLnBrk="1" hangingPunct="1">
              <a:buFont typeface="Wingdings" charset="0"/>
              <a:buChar char="Ø"/>
              <a:defRPr/>
            </a:pPr>
            <a:r>
              <a:rPr lang="zh-CN" altLang="en-US" sz="2800" dirty="0">
                <a:latin typeface="宋体" charset="0"/>
                <a:ea typeface="宋体" charset="0"/>
              </a:rPr>
              <a:t>在一元函数的积分学中</a:t>
            </a:r>
            <a:r>
              <a:rPr lang="en-US" altLang="zh-CN" sz="2800" dirty="0">
                <a:latin typeface="宋体" charset="0"/>
                <a:ea typeface="宋体" charset="0"/>
              </a:rPr>
              <a:t>,</a:t>
            </a:r>
            <a:r>
              <a:rPr lang="zh-CN" altLang="en-US" sz="2800" dirty="0">
                <a:latin typeface="宋体" charset="0"/>
                <a:ea typeface="宋体" charset="0"/>
              </a:rPr>
              <a:t>若函数</a:t>
            </a:r>
            <a:r>
              <a:rPr lang="en-US" altLang="zh-CN" sz="2800" dirty="0">
                <a:latin typeface="宋体" charset="0"/>
                <a:ea typeface="宋体" charset="0"/>
              </a:rPr>
              <a:t>f(x)</a:t>
            </a:r>
            <a:r>
              <a:rPr lang="zh-CN" altLang="en-US" sz="2800" dirty="0">
                <a:latin typeface="宋体" charset="0"/>
                <a:ea typeface="宋体" charset="0"/>
              </a:rPr>
              <a:t>在区间［</a:t>
            </a:r>
            <a:r>
              <a:rPr lang="en-US" altLang="zh-CN" sz="2800" dirty="0">
                <a:latin typeface="宋体" charset="0"/>
                <a:ea typeface="宋体" charset="0"/>
              </a:rPr>
              <a:t>a, b]</a:t>
            </a:r>
            <a:r>
              <a:rPr lang="zh-CN" altLang="en-US" sz="2800" dirty="0">
                <a:latin typeface="宋体" charset="0"/>
                <a:ea typeface="宋体" charset="0"/>
              </a:rPr>
              <a:t>上连续且其原函数为</a:t>
            </a:r>
            <a:r>
              <a:rPr lang="en-US" altLang="zh-CN" sz="2800" dirty="0">
                <a:latin typeface="宋体" charset="0"/>
                <a:ea typeface="宋体" charset="0"/>
              </a:rPr>
              <a:t>F(x),</a:t>
            </a:r>
            <a:r>
              <a:rPr lang="zh-CN" altLang="en-US" sz="2800" dirty="0">
                <a:latin typeface="宋体" charset="0"/>
                <a:ea typeface="宋体" charset="0"/>
              </a:rPr>
              <a:t>则可用牛顿</a:t>
            </a:r>
            <a:r>
              <a:rPr lang="en-US" altLang="zh-CN" sz="2800" dirty="0">
                <a:latin typeface="宋体" charset="0"/>
                <a:ea typeface="宋体" charset="0"/>
              </a:rPr>
              <a:t>―</a:t>
            </a:r>
            <a:r>
              <a:rPr lang="zh-CN" altLang="en-US" sz="2800" dirty="0">
                <a:latin typeface="宋体" charset="0"/>
                <a:ea typeface="宋体" charset="0"/>
              </a:rPr>
              <a:t>莱布尼兹公式</a:t>
            </a:r>
            <a:r>
              <a:rPr kumimoji="0" lang="zh-CN" altLang="en-US" sz="2800" dirty="0">
                <a:latin typeface="Arial" charset="0"/>
                <a:ea typeface="宋体" charset="0"/>
              </a:rPr>
              <a:t>来求定积分</a:t>
            </a:r>
            <a:endParaRPr lang="en-US" altLang="zh-CN" sz="2800" dirty="0">
              <a:latin typeface="宋体" charset="0"/>
              <a:ea typeface="宋体" charset="0"/>
            </a:endParaRPr>
          </a:p>
        </p:txBody>
      </p:sp>
      <p:graphicFrame>
        <p:nvGraphicFramePr>
          <p:cNvPr id="16389" name="Object 4">
            <a:extLst>
              <a:ext uri="{FF2B5EF4-FFF2-40B4-BE49-F238E27FC236}">
                <a16:creationId xmlns:a16="http://schemas.microsoft.com/office/drawing/2014/main" id="{B4069E9C-30A8-CB4C-A21F-1A1F0A3D7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121922"/>
              </p:ext>
            </p:extLst>
          </p:nvPr>
        </p:nvGraphicFramePr>
        <p:xfrm>
          <a:off x="3505200" y="2359025"/>
          <a:ext cx="30480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642300" imgH="7607300" progId="Equation.3">
                  <p:embed/>
                </p:oleObj>
              </mc:Choice>
              <mc:Fallback>
                <p:oleObj name="Equation" r:id="rId2" imgW="33642300" imgH="7607300" progId="Equation.3">
                  <p:embed/>
                  <p:pic>
                    <p:nvPicPr>
                      <p:cNvPr id="16389" name="Object 4">
                        <a:extLst>
                          <a:ext uri="{FF2B5EF4-FFF2-40B4-BE49-F238E27FC236}">
                            <a16:creationId xmlns:a16="http://schemas.microsoft.com/office/drawing/2014/main" id="{B4069E9C-30A8-CB4C-A21F-1A1F0A3D7E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359025"/>
                        <a:ext cx="30480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E055041-7AC9-2040-B963-FDD58F476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035300"/>
            <a:ext cx="8424862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buFont typeface="Wingdings" pitchFamily="2" charset="2"/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被积函数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f(x)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的原函数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F(x)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不易找到。许多很简单的函数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1943BE18-F0D3-BA42-BE51-73BAF1E36E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316950"/>
              </p:ext>
            </p:extLst>
          </p:nvPr>
        </p:nvGraphicFramePr>
        <p:xfrm>
          <a:off x="3132138" y="4237038"/>
          <a:ext cx="27432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327100" imgH="9067800" progId="Equation.3">
                  <p:embed/>
                </p:oleObj>
              </mc:Choice>
              <mc:Fallback>
                <p:oleObj name="Equation" r:id="rId4" imgW="26327100" imgH="9067800" progId="Equation.3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1943BE18-F0D3-BA42-BE51-73BAF1E36E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237038"/>
                        <a:ext cx="274320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0709F4B-BF9A-C545-BA13-9CBDA5066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100638"/>
            <a:ext cx="84248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buFont typeface="Wingdings" pitchFamily="2" charset="2"/>
              <a:buNone/>
            </a:pP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>
              <a:buFont typeface="Wingdings" pitchFamily="2" charset="2"/>
              <a:buChar char="Ø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积分中值定理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63F3BE-ECE4-E145-B664-90200F761DC5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6180138"/>
            <a:ext cx="6551612" cy="525462"/>
            <a:chOff x="899592" y="5445224"/>
            <a:chExt cx="6552728" cy="524643"/>
          </a:xfrm>
        </p:grpSpPr>
        <p:graphicFrame>
          <p:nvGraphicFramePr>
            <p:cNvPr id="24585" name="Object 13">
              <a:extLst>
                <a:ext uri="{FF2B5EF4-FFF2-40B4-BE49-F238E27FC236}">
                  <a16:creationId xmlns:a16="http://schemas.microsoft.com/office/drawing/2014/main" id="{228BEC26-95F6-DF40-BC42-FF4636F8DF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99592" y="5445224"/>
            <a:ext cx="342329" cy="524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7000" imgH="203200" progId="Equation.3">
                    <p:embed/>
                  </p:oleObj>
                </mc:Choice>
                <mc:Fallback>
                  <p:oleObj name="Equation" r:id="rId6" imgW="127000" imgH="203200" progId="Equation.3">
                    <p:embed/>
                    <p:pic>
                      <p:nvPicPr>
                        <p:cNvPr id="24585" name="Object 13">
                          <a:extLst>
                            <a:ext uri="{FF2B5EF4-FFF2-40B4-BE49-F238E27FC236}">
                              <a16:creationId xmlns:a16="http://schemas.microsoft.com/office/drawing/2014/main" id="{228BEC26-95F6-DF40-BC42-FF4636F8DF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5445224"/>
                          <a:ext cx="342329" cy="5246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6" name="Rectangle 14">
              <a:extLst>
                <a:ext uri="{FF2B5EF4-FFF2-40B4-BE49-F238E27FC236}">
                  <a16:creationId xmlns:a16="http://schemas.microsoft.com/office/drawing/2014/main" id="{FE8AB6E6-FD7B-1C4F-B89A-97374B239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5445224"/>
              <a:ext cx="61926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buFont typeface="Wingdings" pitchFamily="2" charset="2"/>
                <a:buNone/>
              </a:pPr>
              <a:r>
                <a:rPr lang="zh-CN" altLang="en-US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难以确定怎么办？</a:t>
              </a:r>
              <a:endParaRPr lang="en-US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7ED78CC2-7F00-6049-A3E1-981FF35B8A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501851"/>
              </p:ext>
            </p:extLst>
          </p:nvPr>
        </p:nvGraphicFramePr>
        <p:xfrm>
          <a:off x="3563938" y="5389563"/>
          <a:ext cx="29940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35100" imgH="330200" progId="Equation.3">
                  <p:embed/>
                </p:oleObj>
              </mc:Choice>
              <mc:Fallback>
                <p:oleObj name="Equation" r:id="rId8" imgW="1435100" imgH="330200" progId="Equation.3">
                  <p:embed/>
                  <p:pic>
                    <p:nvPicPr>
                      <p:cNvPr id="16" name="Object 4">
                        <a:extLst>
                          <a:ext uri="{FF2B5EF4-FFF2-40B4-BE49-F238E27FC236}">
                            <a16:creationId xmlns:a16="http://schemas.microsoft.com/office/drawing/2014/main" id="{7ED78CC2-7F00-6049-A3E1-981FF35B8A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389563"/>
                        <a:ext cx="299402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rocess 13">
            <a:extLst>
              <a:ext uri="{FF2B5EF4-FFF2-40B4-BE49-F238E27FC236}">
                <a16:creationId xmlns:a16="http://schemas.microsoft.com/office/drawing/2014/main" id="{79657CAA-AD1F-5449-A3C2-5DA5FEFFD4EC}"/>
              </a:ext>
            </a:extLst>
          </p:cNvPr>
          <p:cNvSpPr/>
          <p:nvPr/>
        </p:nvSpPr>
        <p:spPr>
          <a:xfrm>
            <a:off x="330743" y="738763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184D65-3B7A-6448-BF55-CC0CFF5568B6}"/>
              </a:ext>
            </a:extLst>
          </p:cNvPr>
          <p:cNvSpPr/>
          <p:nvPr/>
        </p:nvSpPr>
        <p:spPr>
          <a:xfrm>
            <a:off x="468709" y="76200"/>
            <a:ext cx="78370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积分中值定理</a:t>
            </a:r>
            <a:endParaRPr lang="en-CN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8671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3" name="Object 4">
            <a:extLst>
              <a:ext uri="{FF2B5EF4-FFF2-40B4-BE49-F238E27FC236}">
                <a16:creationId xmlns:a16="http://schemas.microsoft.com/office/drawing/2014/main" id="{60E27622-2EB2-B942-A33C-C20849434F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634906"/>
              </p:ext>
            </p:extLst>
          </p:nvPr>
        </p:nvGraphicFramePr>
        <p:xfrm>
          <a:off x="609600" y="1193800"/>
          <a:ext cx="4038600" cy="370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2667000" imgH="2451100" progId="Photoshop.Image.5">
                  <p:embed/>
                </p:oleObj>
              </mc:Choice>
              <mc:Fallback>
                <p:oleObj name="Image" r:id="rId2" imgW="2667000" imgH="2451100" progId="Photoshop.Image.5">
                  <p:embed/>
                  <p:pic>
                    <p:nvPicPr>
                      <p:cNvPr id="25603" name="Object 4">
                        <a:extLst>
                          <a:ext uri="{FF2B5EF4-FFF2-40B4-BE49-F238E27FC236}">
                            <a16:creationId xmlns:a16="http://schemas.microsoft.com/office/drawing/2014/main" id="{60E27622-2EB2-B942-A33C-C20849434F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193800"/>
                        <a:ext cx="4038600" cy="370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21" name="Rectangle 5">
            <a:extLst>
              <a:ext uri="{FF2B5EF4-FFF2-40B4-BE49-F238E27FC236}">
                <a16:creationId xmlns:a16="http://schemas.microsoft.com/office/drawing/2014/main" id="{92EC342A-D518-B44C-9069-4AE40F7F115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219700" y="2128838"/>
            <a:ext cx="3168650" cy="2016125"/>
          </a:xfrm>
        </p:spPr>
        <p:txBody>
          <a:bodyPr/>
          <a:lstStyle/>
          <a:p>
            <a:pPr algn="just" eaLnBrk="1" hangingPunct="1"/>
            <a:r>
              <a:rPr lang="zh-CN" altLang="en-US" sz="2800" b="1" dirty="0"/>
              <a:t>若用左矩形近似地代替曲边梯形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则得到</a:t>
            </a:r>
            <a:r>
              <a:rPr lang="zh-CN" altLang="en-US" sz="2800" b="1" dirty="0">
                <a:solidFill>
                  <a:srgbClr val="FF0000"/>
                </a:solidFill>
              </a:rPr>
              <a:t>左矩形公式</a:t>
            </a:r>
            <a:r>
              <a:rPr lang="en-US" altLang="zh-CN" sz="2800" b="1" dirty="0">
                <a:solidFill>
                  <a:srgbClr val="FF0000"/>
                </a:solidFill>
              </a:rPr>
              <a:t> </a:t>
            </a:r>
          </a:p>
        </p:txBody>
      </p:sp>
      <p:graphicFrame>
        <p:nvGraphicFramePr>
          <p:cNvPr id="22533" name="Object 8">
            <a:extLst>
              <a:ext uri="{FF2B5EF4-FFF2-40B4-BE49-F238E27FC236}">
                <a16:creationId xmlns:a16="http://schemas.microsoft.com/office/drawing/2014/main" id="{AB885E29-F316-5F44-BE84-6E50FABD3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332147"/>
              </p:ext>
            </p:extLst>
          </p:nvPr>
        </p:nvGraphicFramePr>
        <p:xfrm>
          <a:off x="2771775" y="5586413"/>
          <a:ext cx="3367088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394900" imgH="7607300" progId="Equation.3">
                  <p:embed/>
                </p:oleObj>
              </mc:Choice>
              <mc:Fallback>
                <p:oleObj name="Equation" r:id="rId4" imgW="35394900" imgH="7607300" progId="Equation.3">
                  <p:embed/>
                  <p:pic>
                    <p:nvPicPr>
                      <p:cNvPr id="22533" name="Object 8">
                        <a:extLst>
                          <a:ext uri="{FF2B5EF4-FFF2-40B4-BE49-F238E27FC236}">
                            <a16:creationId xmlns:a16="http://schemas.microsoft.com/office/drawing/2014/main" id="{AB885E29-F316-5F44-BE84-6E50FABD33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586413"/>
                        <a:ext cx="3367088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rocess 6">
            <a:extLst>
              <a:ext uri="{FF2B5EF4-FFF2-40B4-BE49-F238E27FC236}">
                <a16:creationId xmlns:a16="http://schemas.microsoft.com/office/drawing/2014/main" id="{4676F9AA-BC9F-5A4B-8C93-3C1D3C36C264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6D667E2-8C05-DC40-86CD-CD3A0B8B459E}"/>
                  </a:ext>
                </a:extLst>
              </p:cNvPr>
              <p:cNvSpPr/>
              <p:nvPr/>
            </p:nvSpPr>
            <p:spPr>
              <a:xfrm>
                <a:off x="468709" y="206118"/>
                <a:ext cx="7837091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MS PGothic" charset="0"/>
                      </a:rPr>
                      <m:t>𝝃</m:t>
                    </m:r>
                  </m:oMath>
                </a14:m>
                <a:r>
                  <a:rPr lang="zh-CN" altLang="en-US" sz="4000" b="1" dirty="0">
                    <a:solidFill>
                      <a:srgbClr val="00206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MS PGothic" charset="0"/>
                  </a:rPr>
                  <a:t>的近似值一        </a:t>
                </a:r>
                <a:endParaRPr lang="en-CN" sz="4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6D667E2-8C05-DC40-86CD-CD3A0B8B45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09" y="206118"/>
                <a:ext cx="7837091" cy="707886"/>
              </a:xfrm>
              <a:prstGeom prst="rect">
                <a:avLst/>
              </a:prstGeom>
              <a:blipFill>
                <a:blip r:embed="rId7"/>
                <a:stretch>
                  <a:fillRect l="-1777" t="-21429" b="-321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1310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2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4" name="Text Box 4">
            <a:extLst>
              <a:ext uri="{FF2B5EF4-FFF2-40B4-BE49-F238E27FC236}">
                <a16:creationId xmlns:a16="http://schemas.microsoft.com/office/drawing/2014/main" id="{AA25A468-5DCB-5D43-BAE8-5AFE3F427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27613"/>
            <a:ext cx="44561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同样可得到右矩形公式：</a:t>
            </a:r>
            <a:endParaRPr lang="en-US" altLang="zh-CN" sz="32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23556" name="Object 3">
            <a:extLst>
              <a:ext uri="{FF2B5EF4-FFF2-40B4-BE49-F238E27FC236}">
                <a16:creationId xmlns:a16="http://schemas.microsoft.com/office/drawing/2014/main" id="{3546EEDA-25D3-C749-9F81-5477DDD68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351869"/>
              </p:ext>
            </p:extLst>
          </p:nvPr>
        </p:nvGraphicFramePr>
        <p:xfrm>
          <a:off x="2484438" y="5675313"/>
          <a:ext cx="3344862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102800" imgH="7607300" progId="Equation.3">
                  <p:embed/>
                </p:oleObj>
              </mc:Choice>
              <mc:Fallback>
                <p:oleObj name="Equation" r:id="rId2" imgW="35102800" imgH="7607300" progId="Equation.3">
                  <p:embed/>
                  <p:pic>
                    <p:nvPicPr>
                      <p:cNvPr id="23556" name="Object 3">
                        <a:extLst>
                          <a:ext uri="{FF2B5EF4-FFF2-40B4-BE49-F238E27FC236}">
                            <a16:creationId xmlns:a16="http://schemas.microsoft.com/office/drawing/2014/main" id="{3546EEDA-25D3-C749-9F81-5477DDD684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675313"/>
                        <a:ext cx="3344862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13">
            <a:extLst>
              <a:ext uri="{FF2B5EF4-FFF2-40B4-BE49-F238E27FC236}">
                <a16:creationId xmlns:a16="http://schemas.microsoft.com/office/drawing/2014/main" id="{C56B4316-51B9-144B-8C8C-BE1FBD9D9FF4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439488367"/>
              </p:ext>
            </p:extLst>
          </p:nvPr>
        </p:nvGraphicFramePr>
        <p:xfrm>
          <a:off x="2339975" y="1139825"/>
          <a:ext cx="3960813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2622550" imgH="2451100" progId="Photoshop.Image.5">
                  <p:embed/>
                </p:oleObj>
              </mc:Choice>
              <mc:Fallback>
                <p:oleObj name="Image" r:id="rId4" imgW="2622550" imgH="2451100" progId="Photoshop.Image.5">
                  <p:embed/>
                  <p:pic>
                    <p:nvPicPr>
                      <p:cNvPr id="26629" name="Object 13">
                        <a:extLst>
                          <a:ext uri="{FF2B5EF4-FFF2-40B4-BE49-F238E27FC236}">
                            <a16:creationId xmlns:a16="http://schemas.microsoft.com/office/drawing/2014/main" id="{C56B4316-51B9-144B-8C8C-BE1FBD9D9F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139825"/>
                        <a:ext cx="3960813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rocess 8">
            <a:extLst>
              <a:ext uri="{FF2B5EF4-FFF2-40B4-BE49-F238E27FC236}">
                <a16:creationId xmlns:a16="http://schemas.microsoft.com/office/drawing/2014/main" id="{6616173A-0DCB-C443-BACB-5C7A4AA4456B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A0F333B-E9EC-4C48-A3EA-1E501486886C}"/>
                  </a:ext>
                </a:extLst>
              </p:cNvPr>
              <p:cNvSpPr/>
              <p:nvPr/>
            </p:nvSpPr>
            <p:spPr>
              <a:xfrm>
                <a:off x="468709" y="206118"/>
                <a:ext cx="7837091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MS PGothic" charset="0"/>
                      </a:rPr>
                      <m:t>𝝃</m:t>
                    </m:r>
                  </m:oMath>
                </a14:m>
                <a:r>
                  <a:rPr lang="zh-CN" altLang="en-US" sz="4000" b="1" dirty="0">
                    <a:solidFill>
                      <a:srgbClr val="00206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MS PGothic" charset="0"/>
                  </a:rPr>
                  <a:t>的近似值二        </a:t>
                </a:r>
                <a:endParaRPr lang="en-CN" sz="4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A0F333B-E9EC-4C48-A3EA-1E50148688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09" y="206118"/>
                <a:ext cx="7837091" cy="707886"/>
              </a:xfrm>
              <a:prstGeom prst="rect">
                <a:avLst/>
              </a:prstGeom>
              <a:blipFill>
                <a:blip r:embed="rId7"/>
                <a:stretch>
                  <a:fillRect l="-1777" t="-21429" b="-321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82080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1" name="Object 5">
            <a:extLst>
              <a:ext uri="{FF2B5EF4-FFF2-40B4-BE49-F238E27FC236}">
                <a16:creationId xmlns:a16="http://schemas.microsoft.com/office/drawing/2014/main" id="{BF6B569B-7126-3643-86C0-CE0028B004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132986"/>
              </p:ext>
            </p:extLst>
          </p:nvPr>
        </p:nvGraphicFramePr>
        <p:xfrm>
          <a:off x="381000" y="1377950"/>
          <a:ext cx="3962400" cy="365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2914650" imgH="2686050" progId="Photoshop.Image.5">
                  <p:embed/>
                </p:oleObj>
              </mc:Choice>
              <mc:Fallback>
                <p:oleObj name="Image" r:id="rId2" imgW="2914650" imgH="2686050" progId="Photoshop.Image.5">
                  <p:embed/>
                  <p:pic>
                    <p:nvPicPr>
                      <p:cNvPr id="27651" name="Object 5">
                        <a:extLst>
                          <a:ext uri="{FF2B5EF4-FFF2-40B4-BE49-F238E27FC236}">
                            <a16:creationId xmlns:a16="http://schemas.microsoft.com/office/drawing/2014/main" id="{BF6B569B-7126-3643-86C0-CE0028B004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77950"/>
                        <a:ext cx="3962400" cy="365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670" name="Rectangle 6">
            <a:extLst>
              <a:ext uri="{FF2B5EF4-FFF2-40B4-BE49-F238E27FC236}">
                <a16:creationId xmlns:a16="http://schemas.microsoft.com/office/drawing/2014/main" id="{9B6F5791-80AA-1C41-848C-00BE1A81A3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43438" y="2349500"/>
            <a:ext cx="4038600" cy="18716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若用梯形的面积近似地代替曲边梯形的面积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则得到计算定积分的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梯形公式</a:t>
            </a:r>
            <a:r>
              <a:rPr lang="en-US" altLang="zh-CN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</p:txBody>
      </p:sp>
      <p:graphicFrame>
        <p:nvGraphicFramePr>
          <p:cNvPr id="24581" name="Object 8">
            <a:extLst>
              <a:ext uri="{FF2B5EF4-FFF2-40B4-BE49-F238E27FC236}">
                <a16:creationId xmlns:a16="http://schemas.microsoft.com/office/drawing/2014/main" id="{18E7112A-7D3E-AE44-9D5B-643DFF8CB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414434"/>
              </p:ext>
            </p:extLst>
          </p:nvPr>
        </p:nvGraphicFramePr>
        <p:xfrm>
          <a:off x="2209800" y="5334000"/>
          <a:ext cx="4495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520100" imgH="9067800" progId="Equation.3">
                  <p:embed/>
                </p:oleObj>
              </mc:Choice>
              <mc:Fallback>
                <p:oleObj name="Equation" r:id="rId4" imgW="46520100" imgH="9067800" progId="Equation.3">
                  <p:embed/>
                  <p:pic>
                    <p:nvPicPr>
                      <p:cNvPr id="24581" name="Object 8">
                        <a:extLst>
                          <a:ext uri="{FF2B5EF4-FFF2-40B4-BE49-F238E27FC236}">
                            <a16:creationId xmlns:a16="http://schemas.microsoft.com/office/drawing/2014/main" id="{18E7112A-7D3E-AE44-9D5B-643DFF8CB3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334000"/>
                        <a:ext cx="44958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rocess 6">
            <a:extLst>
              <a:ext uri="{FF2B5EF4-FFF2-40B4-BE49-F238E27FC236}">
                <a16:creationId xmlns:a16="http://schemas.microsoft.com/office/drawing/2014/main" id="{E5E69CD7-F2EE-104A-91F7-88C6C19A244C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AC40A83-9DB3-6E47-B058-EC9F1CAEC162}"/>
                  </a:ext>
                </a:extLst>
              </p:cNvPr>
              <p:cNvSpPr/>
              <p:nvPr/>
            </p:nvSpPr>
            <p:spPr>
              <a:xfrm>
                <a:off x="468709" y="206118"/>
                <a:ext cx="7837091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MS PGothic" charset="0"/>
                      </a:rPr>
                      <m:t>𝝃</m:t>
                    </m:r>
                  </m:oMath>
                </a14:m>
                <a:r>
                  <a:rPr lang="zh-CN" altLang="en-US" sz="4000" b="1" dirty="0">
                    <a:solidFill>
                      <a:srgbClr val="00206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MS PGothic" charset="0"/>
                  </a:rPr>
                  <a:t>的近似值三        </a:t>
                </a:r>
                <a:endParaRPr lang="en-CN" sz="4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AC40A83-9DB3-6E47-B058-EC9F1CAEC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09" y="206118"/>
                <a:ext cx="7837091" cy="707886"/>
              </a:xfrm>
              <a:prstGeom prst="rect">
                <a:avLst/>
              </a:prstGeom>
              <a:blipFill>
                <a:blip r:embed="rId7"/>
                <a:stretch>
                  <a:fillRect l="-1777" t="-21429" b="-321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8297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7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3" name="Text Box 5">
            <a:extLst>
              <a:ext uri="{FF2B5EF4-FFF2-40B4-BE49-F238E27FC236}">
                <a16:creationId xmlns:a16="http://schemas.microsoft.com/office/drawing/2014/main" id="{757706E2-A1D5-A248-88E0-5459812D3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0" y="2514600"/>
            <a:ext cx="360045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若用抛物线代替曲线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f(x),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则可得到抛物线公式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辛普生公式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</a:p>
        </p:txBody>
      </p:sp>
      <p:graphicFrame>
        <p:nvGraphicFramePr>
          <p:cNvPr id="25604" name="Object 6">
            <a:extLst>
              <a:ext uri="{FF2B5EF4-FFF2-40B4-BE49-F238E27FC236}">
                <a16:creationId xmlns:a16="http://schemas.microsoft.com/office/drawing/2014/main" id="{0FCB7E32-AA6E-7144-8713-E6ABB9D0D9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776514"/>
              </p:ext>
            </p:extLst>
          </p:nvPr>
        </p:nvGraphicFramePr>
        <p:xfrm>
          <a:off x="1881187" y="5216525"/>
          <a:ext cx="581501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900" imgH="406400" progId="Equation.3">
                  <p:embed/>
                </p:oleObj>
              </mc:Choice>
              <mc:Fallback>
                <p:oleObj name="Equation" r:id="rId2" imgW="2755900" imgH="406400" progId="Equation.3">
                  <p:embed/>
                  <p:pic>
                    <p:nvPicPr>
                      <p:cNvPr id="25604" name="Object 6">
                        <a:extLst>
                          <a:ext uri="{FF2B5EF4-FFF2-40B4-BE49-F238E27FC236}">
                            <a16:creationId xmlns:a16="http://schemas.microsoft.com/office/drawing/2014/main" id="{0FCB7E32-AA6E-7144-8713-E6ABB9D0D9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7" y="5216525"/>
                        <a:ext cx="5815013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8">
            <a:extLst>
              <a:ext uri="{FF2B5EF4-FFF2-40B4-BE49-F238E27FC236}">
                <a16:creationId xmlns:a16="http://schemas.microsoft.com/office/drawing/2014/main" id="{3828A52F-29E9-FF4B-8ED4-C34B801E4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073955"/>
              </p:ext>
            </p:extLst>
          </p:nvPr>
        </p:nvGraphicFramePr>
        <p:xfrm>
          <a:off x="611188" y="1330325"/>
          <a:ext cx="3816350" cy="369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2781300" imgH="2698750" progId="Photoshop.Image.5">
                  <p:embed/>
                </p:oleObj>
              </mc:Choice>
              <mc:Fallback>
                <p:oleObj name="Image" r:id="rId4" imgW="2781300" imgH="2698750" progId="Photoshop.Image.5">
                  <p:embed/>
                  <p:pic>
                    <p:nvPicPr>
                      <p:cNvPr id="28678" name="Object 8">
                        <a:extLst>
                          <a:ext uri="{FF2B5EF4-FFF2-40B4-BE49-F238E27FC236}">
                            <a16:creationId xmlns:a16="http://schemas.microsoft.com/office/drawing/2014/main" id="{3828A52F-29E9-FF4B-8ED4-C34B801E4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330325"/>
                        <a:ext cx="3816350" cy="369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Process 10">
            <a:extLst>
              <a:ext uri="{FF2B5EF4-FFF2-40B4-BE49-F238E27FC236}">
                <a16:creationId xmlns:a16="http://schemas.microsoft.com/office/drawing/2014/main" id="{DD94B4FD-0FF4-1D41-92A8-BC7C1597124A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0BE4A69-6A7C-5242-8A0A-EF1A5677342E}"/>
                  </a:ext>
                </a:extLst>
              </p:cNvPr>
              <p:cNvSpPr/>
              <p:nvPr/>
            </p:nvSpPr>
            <p:spPr>
              <a:xfrm>
                <a:off x="468709" y="206118"/>
                <a:ext cx="7837091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MS PGothic" charset="0"/>
                      </a:rPr>
                      <m:t>𝝃</m:t>
                    </m:r>
                  </m:oMath>
                </a14:m>
                <a:r>
                  <a:rPr lang="zh-CN" altLang="en-US" sz="4000" b="1" dirty="0">
                    <a:solidFill>
                      <a:srgbClr val="00206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MS PGothic" charset="0"/>
                  </a:rPr>
                  <a:t>的近似值四        </a:t>
                </a:r>
                <a:endParaRPr lang="en-CN" sz="4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0BE4A69-6A7C-5242-8A0A-EF1A567734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09" y="206118"/>
                <a:ext cx="7837091" cy="707886"/>
              </a:xfrm>
              <a:prstGeom prst="rect">
                <a:avLst/>
              </a:prstGeom>
              <a:blipFill>
                <a:blip r:embed="rId7"/>
                <a:stretch>
                  <a:fillRect l="-1777" t="-21429" b="-321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4160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1" name="Rectangle 3">
            <a:extLst>
              <a:ext uri="{FF2B5EF4-FFF2-40B4-BE49-F238E27FC236}">
                <a16:creationId xmlns:a16="http://schemas.microsoft.com/office/drawing/2014/main" id="{621226C4-4821-554E-A4B3-87FDD0AA8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782050" cy="48244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CC00CC"/>
                </a:solidFill>
              </a:rPr>
              <a:t>梯形公式</a:t>
            </a:r>
            <a:r>
              <a:rPr lang="en-US" altLang="zh-CN" sz="2800" b="1" dirty="0">
                <a:solidFill>
                  <a:srgbClr val="CC00CC"/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/>
              <a:t>       </a:t>
            </a:r>
            <a:r>
              <a:rPr lang="en-US" altLang="zh-CN" sz="2800" b="1" i="1" dirty="0"/>
              <a:t>I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)≈(</a:t>
            </a:r>
            <a:r>
              <a:rPr lang="en-US" altLang="zh-CN" sz="2800" b="1" i="1" dirty="0"/>
              <a:t>b-a</a:t>
            </a:r>
            <a:r>
              <a:rPr lang="en-US" altLang="zh-CN" sz="2800" b="1" dirty="0"/>
              <a:t>)[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)+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b</a:t>
            </a:r>
            <a:r>
              <a:rPr lang="en-US" altLang="zh-CN" sz="2800" b="1" dirty="0"/>
              <a:t>)]/2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/>
              <a:t>和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olidFill>
                  <a:srgbClr val="CC00CC"/>
                </a:solidFill>
              </a:rPr>
              <a:t>Simpson</a:t>
            </a:r>
            <a:r>
              <a:rPr lang="zh-CN" altLang="en-US" sz="2800" b="1" dirty="0">
                <a:solidFill>
                  <a:srgbClr val="CC00CC"/>
                </a:solidFill>
              </a:rPr>
              <a:t>公式</a:t>
            </a:r>
            <a:r>
              <a:rPr lang="en-US" altLang="zh-CN" sz="2800" b="1" dirty="0">
                <a:solidFill>
                  <a:srgbClr val="CC00CC"/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/>
              <a:t>       </a:t>
            </a:r>
            <a:r>
              <a:rPr lang="en-US" altLang="zh-CN" sz="2800" b="1" i="1" dirty="0"/>
              <a:t>I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)≈(</a:t>
            </a:r>
            <a:r>
              <a:rPr lang="en-US" altLang="zh-CN" sz="2800" b="1" i="1" dirty="0"/>
              <a:t>b-a</a:t>
            </a:r>
            <a:r>
              <a:rPr lang="en-US" altLang="zh-CN" sz="2800" b="1" dirty="0"/>
              <a:t>)[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)+4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((</a:t>
            </a:r>
            <a:r>
              <a:rPr lang="en-US" altLang="zh-CN" sz="2800" b="1" i="1" dirty="0" err="1"/>
              <a:t>a+b</a:t>
            </a:r>
            <a:r>
              <a:rPr lang="en-US" altLang="zh-CN" sz="2800" b="1" dirty="0"/>
              <a:t>)/2)+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b</a:t>
            </a:r>
            <a:r>
              <a:rPr lang="en-US" altLang="zh-CN" sz="2800" b="1" dirty="0"/>
              <a:t>)]/6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b="1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/>
              <a:t>分别可以看作用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olidFill>
                  <a:srgbClr val="000099"/>
                </a:solidFill>
              </a:rPr>
              <a:t>a,  b, c=(</a:t>
            </a:r>
            <a:r>
              <a:rPr lang="en-US" altLang="zh-CN" sz="2800" b="1" dirty="0" err="1">
                <a:solidFill>
                  <a:srgbClr val="000099"/>
                </a:solidFill>
              </a:rPr>
              <a:t>a+b</a:t>
            </a:r>
            <a:r>
              <a:rPr lang="en-US" altLang="zh-CN" sz="2800" b="1" dirty="0">
                <a:solidFill>
                  <a:srgbClr val="000099"/>
                </a:solidFill>
              </a:rPr>
              <a:t>)/2,</a:t>
            </a:r>
            <a:r>
              <a:rPr lang="en-US" altLang="zh-CN" sz="2800" b="1" dirty="0"/>
              <a:t> </a:t>
            </a:r>
            <a:r>
              <a:rPr lang="zh-CN" altLang="en-US" sz="2800" b="1" dirty="0">
                <a:solidFill>
                  <a:srgbClr val="A50021"/>
                </a:solidFill>
              </a:rPr>
              <a:t>三点高度的加权平均值</a:t>
            </a:r>
            <a:r>
              <a:rPr lang="en-US" altLang="zh-CN" sz="2800" b="1" dirty="0"/>
              <a:t>   [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)+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b</a:t>
            </a:r>
            <a:r>
              <a:rPr lang="en-US" altLang="zh-CN" sz="2800" b="1" dirty="0"/>
              <a:t>)]/2    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     [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)+4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(c)+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b</a:t>
            </a:r>
            <a:r>
              <a:rPr lang="en-US" altLang="zh-CN" sz="2800" b="1" dirty="0"/>
              <a:t>)]/6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/>
              <a:t>作为</a:t>
            </a:r>
            <a:r>
              <a:rPr lang="zh-CN" altLang="en-US" sz="2800" b="1" dirty="0">
                <a:solidFill>
                  <a:srgbClr val="A50021"/>
                </a:solidFill>
              </a:rPr>
              <a:t>平均高度</a:t>
            </a:r>
            <a:r>
              <a:rPr lang="en-US" altLang="zh-CN" sz="2800" b="1" i="1" dirty="0">
                <a:solidFill>
                  <a:srgbClr val="A50021"/>
                </a:solidFill>
              </a:rPr>
              <a:t>f</a:t>
            </a:r>
            <a:r>
              <a:rPr lang="en-US" altLang="zh-CN" sz="2800" b="1" dirty="0">
                <a:solidFill>
                  <a:srgbClr val="A50021"/>
                </a:solidFill>
              </a:rPr>
              <a:t>(</a:t>
            </a:r>
            <a:r>
              <a:rPr lang="el-GR" altLang="zh-CN" sz="2800" b="1" i="1" dirty="0">
                <a:solidFill>
                  <a:srgbClr val="A50021"/>
                </a:solidFill>
              </a:rPr>
              <a:t>ξ</a:t>
            </a:r>
            <a:r>
              <a:rPr lang="en-US" altLang="zh-CN" sz="2800" b="1" dirty="0">
                <a:solidFill>
                  <a:srgbClr val="A50021"/>
                </a:solidFill>
              </a:rPr>
              <a:t>)</a:t>
            </a:r>
            <a:r>
              <a:rPr lang="zh-CN" altLang="en-US" sz="2800" b="1" dirty="0">
                <a:solidFill>
                  <a:srgbClr val="A50021"/>
                </a:solidFill>
              </a:rPr>
              <a:t>的近似值</a:t>
            </a:r>
            <a:r>
              <a:rPr lang="en-US" altLang="zh-CN" sz="2800" b="1" dirty="0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 dirty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2800" b="1" dirty="0"/>
              <a:t>积分值是函数值的加权平均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</a:pPr>
            <a:endParaRPr lang="en-US" altLang="zh-CN" sz="2800" b="1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6" name="Process 5">
            <a:extLst>
              <a:ext uri="{FF2B5EF4-FFF2-40B4-BE49-F238E27FC236}">
                <a16:creationId xmlns:a16="http://schemas.microsoft.com/office/drawing/2014/main" id="{80105A97-6558-C545-A5AF-2DD83AF182AA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029F8D-87E0-3246-AC8B-CAAA5683AC60}"/>
              </a:ext>
            </a:extLst>
          </p:cNvPr>
          <p:cNvSpPr/>
          <p:nvPr/>
        </p:nvSpPr>
        <p:spPr>
          <a:xfrm>
            <a:off x="468709" y="206118"/>
            <a:ext cx="78370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构造数值积分公式的基本方法</a:t>
            </a:r>
            <a:endParaRPr lang="en-CN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19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5" name="Rectangle 3">
            <a:extLst>
              <a:ext uri="{FF2B5EF4-FFF2-40B4-BE49-F238E27FC236}">
                <a16:creationId xmlns:a16="http://schemas.microsoft.com/office/drawing/2014/main" id="{A6A47141-C405-924B-9F35-471B2709C47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125538"/>
            <a:ext cx="8424863" cy="41148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/>
              <a:t>    </a:t>
            </a:r>
            <a:r>
              <a:rPr lang="zh-CN" altLang="en-US" sz="2800" b="1"/>
              <a:t>更一般地</a:t>
            </a:r>
            <a:r>
              <a:rPr lang="en-US" altLang="zh-CN" sz="2800" b="1"/>
              <a:t>,</a:t>
            </a:r>
            <a:r>
              <a:rPr lang="zh-CN" altLang="en-US" sz="2800" b="1"/>
              <a:t>取区间</a:t>
            </a:r>
            <a:r>
              <a:rPr lang="en-US" altLang="zh-CN" sz="2800" b="1"/>
              <a:t>[a,b]</a:t>
            </a:r>
            <a:r>
              <a:rPr lang="zh-CN" altLang="en-US" sz="2800" b="1"/>
              <a:t>内</a:t>
            </a:r>
            <a:r>
              <a:rPr lang="en-US" altLang="zh-CN" sz="2800" b="1">
                <a:solidFill>
                  <a:srgbClr val="000099"/>
                </a:solidFill>
              </a:rPr>
              <a:t>n+1</a:t>
            </a:r>
            <a:r>
              <a:rPr lang="zh-CN" altLang="en-US" sz="2800" b="1">
                <a:solidFill>
                  <a:srgbClr val="000099"/>
                </a:solidFill>
              </a:rPr>
              <a:t>个点</a:t>
            </a:r>
            <a:r>
              <a:rPr lang="en-US" altLang="zh-CN" sz="2800" b="1">
                <a:solidFill>
                  <a:srgbClr val="000099"/>
                </a:solidFill>
              </a:rPr>
              <a:t> {</a:t>
            </a:r>
            <a:r>
              <a:rPr lang="en-US" altLang="zh-CN" sz="2800" b="1" i="1">
                <a:solidFill>
                  <a:srgbClr val="000099"/>
                </a:solidFill>
              </a:rPr>
              <a:t>x</a:t>
            </a:r>
            <a:r>
              <a:rPr lang="en-US" altLang="zh-CN" sz="2800" b="1" baseline="-25000">
                <a:solidFill>
                  <a:srgbClr val="000099"/>
                </a:solidFill>
              </a:rPr>
              <a:t>i</a:t>
            </a:r>
            <a:r>
              <a:rPr lang="en-US" altLang="zh-CN" sz="2800" b="1">
                <a:solidFill>
                  <a:srgbClr val="000099"/>
                </a:solidFill>
              </a:rPr>
              <a:t>},(</a:t>
            </a:r>
            <a:r>
              <a:rPr lang="en-US" altLang="zh-CN" sz="2800" b="1"/>
              <a:t>i=0,1, 2,…n)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/>
              <a:t>     </a:t>
            </a:r>
            <a:r>
              <a:rPr lang="zh-CN" altLang="en-US" sz="2800" b="1"/>
              <a:t>处的高度</a:t>
            </a:r>
            <a:r>
              <a:rPr lang="en-US" altLang="zh-CN" sz="2800" b="1"/>
              <a:t>{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i</a:t>
            </a:r>
            <a:r>
              <a:rPr lang="en-US" altLang="zh-CN" sz="2800" b="1"/>
              <a:t>)} (i=0,1,…,n)</a:t>
            </a:r>
            <a:r>
              <a:rPr lang="zh-CN" altLang="en-US" sz="2800" b="1"/>
              <a:t>通过</a:t>
            </a:r>
            <a:r>
              <a:rPr lang="zh-CN" altLang="en-US" sz="2800" b="1">
                <a:solidFill>
                  <a:srgbClr val="0000CC"/>
                </a:solidFill>
              </a:rPr>
              <a:t>加权平均</a:t>
            </a:r>
            <a:r>
              <a:rPr lang="zh-CN" altLang="en-US" sz="2800" b="1"/>
              <a:t>的方法近似地得出平均高度</a:t>
            </a:r>
            <a:r>
              <a:rPr lang="en-US" altLang="zh-CN" sz="2800" i="1"/>
              <a:t>f</a:t>
            </a:r>
            <a:r>
              <a:rPr lang="en-US" altLang="zh-CN" sz="2800"/>
              <a:t>(</a:t>
            </a:r>
            <a:r>
              <a:rPr lang="el-GR" altLang="zh-CN" sz="2800"/>
              <a:t>ξ</a:t>
            </a:r>
            <a:r>
              <a:rPr lang="en-US" altLang="zh-CN" sz="2800"/>
              <a:t>),</a:t>
            </a:r>
            <a:r>
              <a:rPr lang="zh-CN" altLang="en-US" sz="2800" b="1"/>
              <a:t>这类求积方法称为</a:t>
            </a:r>
            <a:r>
              <a:rPr lang="zh-CN" altLang="en-US" sz="2800" b="1">
                <a:solidFill>
                  <a:srgbClr val="FF00FF"/>
                </a:solidFill>
              </a:rPr>
              <a:t>机械求积</a:t>
            </a:r>
            <a:r>
              <a:rPr lang="en-US" altLang="zh-CN" sz="2800" b="1">
                <a:solidFill>
                  <a:srgbClr val="FF00FF"/>
                </a:solidFill>
              </a:rPr>
              <a:t>:</a:t>
            </a:r>
          </a:p>
        </p:txBody>
      </p:sp>
      <p:sp>
        <p:nvSpPr>
          <p:cNvPr id="561156" name="Text Box 4">
            <a:extLst>
              <a:ext uri="{FF2B5EF4-FFF2-40B4-BE49-F238E27FC236}">
                <a16:creationId xmlns:a16="http://schemas.microsoft.com/office/drawing/2014/main" id="{013CEBBC-9B84-6242-9441-85CE9C112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284538"/>
            <a:ext cx="3097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altLang="zh-CN" sz="240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104364F3-6A5D-FE48-8DB0-4E002315D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4" y="5362575"/>
            <a:ext cx="3859213" cy="649288"/>
          </a:xfrm>
          <a:prstGeom prst="wedgeEllipseCallout">
            <a:avLst>
              <a:gd name="adj1" fmla="val 38098"/>
              <a:gd name="adj2" fmla="val -126458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  <a:sym typeface="Symbol" charset="0"/>
              </a:rPr>
              <a:t>数值积分公式</a:t>
            </a:r>
            <a:endParaRPr lang="en-US" altLang="zh-CN" sz="32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MS PGothic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8F53A6F9-8955-784B-9961-73CDBBF27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868863"/>
            <a:ext cx="2595562" cy="817880"/>
          </a:xfrm>
          <a:prstGeom prst="wedgeEllipseCallout">
            <a:avLst>
              <a:gd name="adj1" fmla="val -45255"/>
              <a:gd name="adj2" fmla="val -91250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求积系数</a:t>
            </a:r>
            <a:r>
              <a:rPr lang="en-US" altLang="zh-CN" sz="3200" b="1" dirty="0">
                <a:solidFill>
                  <a:schemeClr val="accent2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 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D4E66653-311E-634F-BFF7-824E0C5B9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665413"/>
            <a:ext cx="2362200" cy="688975"/>
          </a:xfrm>
          <a:prstGeom prst="wedgeEllipseCallout">
            <a:avLst>
              <a:gd name="adj1" fmla="val -36207"/>
              <a:gd name="adj2" fmla="val 137259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求积节点</a:t>
            </a:r>
            <a:r>
              <a:rPr lang="en-US" altLang="zh-CN" sz="3200" b="1" dirty="0">
                <a:solidFill>
                  <a:schemeClr val="accent2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 </a:t>
            </a:r>
          </a:p>
        </p:txBody>
      </p:sp>
      <p:graphicFrame>
        <p:nvGraphicFramePr>
          <p:cNvPr id="30728" name="Object 10">
            <a:extLst>
              <a:ext uri="{FF2B5EF4-FFF2-40B4-BE49-F238E27FC236}">
                <a16:creationId xmlns:a16="http://schemas.microsoft.com/office/drawing/2014/main" id="{4A12AC87-D5C5-374A-A401-687EE73A0B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385019"/>
              </p:ext>
            </p:extLst>
          </p:nvPr>
        </p:nvGraphicFramePr>
        <p:xfrm>
          <a:off x="1979613" y="3571875"/>
          <a:ext cx="39592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810700" imgH="9944100" progId="Equation.3">
                  <p:embed/>
                </p:oleObj>
              </mc:Choice>
              <mc:Fallback>
                <p:oleObj name="Equation" r:id="rId2" imgW="34810700" imgH="9944100" progId="Equation.3">
                  <p:embed/>
                  <p:pic>
                    <p:nvPicPr>
                      <p:cNvPr id="30728" name="Object 10">
                        <a:extLst>
                          <a:ext uri="{FF2B5EF4-FFF2-40B4-BE49-F238E27FC236}">
                            <a16:creationId xmlns:a16="http://schemas.microsoft.com/office/drawing/2014/main" id="{4A12AC87-D5C5-374A-A401-687EE73A0B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571875"/>
                        <a:ext cx="395922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Process 11">
            <a:extLst>
              <a:ext uri="{FF2B5EF4-FFF2-40B4-BE49-F238E27FC236}">
                <a16:creationId xmlns:a16="http://schemas.microsoft.com/office/drawing/2014/main" id="{75446E54-4381-AE4A-A86D-E6E5E69E3F0C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512A89-BEA9-6B49-BF51-5B3FEF7FEF93}"/>
              </a:ext>
            </a:extLst>
          </p:cNvPr>
          <p:cNvSpPr/>
          <p:nvPr/>
        </p:nvSpPr>
        <p:spPr>
          <a:xfrm>
            <a:off x="468709" y="206118"/>
            <a:ext cx="78370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数值积分公式</a:t>
            </a:r>
            <a:endParaRPr lang="en-CN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70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78AC3178-FE6B-DC47-B51E-F1FC400A20D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F216922-C51B-834F-A94B-2864764464D5}" type="datetime1">
              <a:rPr lang="zh-CN" altLang="en-US" sz="1400">
                <a:ea typeface="宋体" panose="02010600030101010101" pitchFamily="2" charset="-122"/>
              </a:rPr>
              <a:pPr eaLnBrk="1" hangingPunct="1"/>
              <a:t>2023/3/20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9E408682-7E0E-D049-BC6C-4ED33FC0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5DD0394-EAD8-574C-A709-85B488DE7E19}" type="slidenum">
              <a:rPr lang="en-US" altLang="zh-CN" sz="1400">
                <a:ea typeface="宋体" panose="02010600030101010101" pitchFamily="2" charset="-122"/>
              </a:rPr>
              <a:pPr eaLnBrk="1" hangingPunct="1"/>
              <a:t>15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561155" name="Rectangle 3">
            <a:extLst>
              <a:ext uri="{FF2B5EF4-FFF2-40B4-BE49-F238E27FC236}">
                <a16:creationId xmlns:a16="http://schemas.microsoft.com/office/drawing/2014/main" id="{375A5466-DA26-1D4F-9B62-AFFD9716907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125538"/>
            <a:ext cx="8424863" cy="41148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/>
              <a:t>    </a:t>
            </a:r>
            <a:r>
              <a:rPr lang="zh-CN" altLang="en-US" sz="2800" b="1"/>
              <a:t>更一般地</a:t>
            </a:r>
            <a:r>
              <a:rPr lang="en-US" altLang="zh-CN" sz="2800" b="1"/>
              <a:t>,</a:t>
            </a:r>
            <a:r>
              <a:rPr lang="zh-CN" altLang="en-US" sz="2800" b="1"/>
              <a:t>取区间</a:t>
            </a:r>
            <a:r>
              <a:rPr lang="en-US" altLang="zh-CN" sz="2800" b="1"/>
              <a:t>[a,b]</a:t>
            </a:r>
            <a:r>
              <a:rPr lang="zh-CN" altLang="en-US" sz="2800" b="1"/>
              <a:t>内</a:t>
            </a:r>
            <a:r>
              <a:rPr lang="en-US" altLang="zh-CN" sz="2800" b="1">
                <a:solidFill>
                  <a:srgbClr val="000099"/>
                </a:solidFill>
              </a:rPr>
              <a:t>n+1</a:t>
            </a:r>
            <a:r>
              <a:rPr lang="zh-CN" altLang="en-US" sz="2800" b="1">
                <a:solidFill>
                  <a:srgbClr val="000099"/>
                </a:solidFill>
              </a:rPr>
              <a:t>个点</a:t>
            </a:r>
            <a:r>
              <a:rPr lang="en-US" altLang="zh-CN" sz="2800" b="1">
                <a:solidFill>
                  <a:srgbClr val="000099"/>
                </a:solidFill>
              </a:rPr>
              <a:t> {</a:t>
            </a:r>
            <a:r>
              <a:rPr lang="en-US" altLang="zh-CN" sz="2800" b="1" i="1">
                <a:solidFill>
                  <a:srgbClr val="000099"/>
                </a:solidFill>
              </a:rPr>
              <a:t>x</a:t>
            </a:r>
            <a:r>
              <a:rPr lang="en-US" altLang="zh-CN" sz="2800" b="1" baseline="-25000">
                <a:solidFill>
                  <a:srgbClr val="000099"/>
                </a:solidFill>
              </a:rPr>
              <a:t>i</a:t>
            </a:r>
            <a:r>
              <a:rPr lang="en-US" altLang="zh-CN" sz="2800" b="1">
                <a:solidFill>
                  <a:srgbClr val="000099"/>
                </a:solidFill>
              </a:rPr>
              <a:t>},(</a:t>
            </a:r>
            <a:r>
              <a:rPr lang="en-US" altLang="zh-CN" sz="2800" b="1"/>
              <a:t>i=0,1, 2,…n)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/>
              <a:t>     </a:t>
            </a:r>
            <a:r>
              <a:rPr lang="zh-CN" altLang="en-US" sz="2800" b="1"/>
              <a:t>处的高度</a:t>
            </a:r>
            <a:r>
              <a:rPr lang="en-US" altLang="zh-CN" sz="2800" b="1"/>
              <a:t>{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i</a:t>
            </a:r>
            <a:r>
              <a:rPr lang="en-US" altLang="zh-CN" sz="2800" b="1"/>
              <a:t>)} (i=0,1,…,n)</a:t>
            </a:r>
            <a:r>
              <a:rPr lang="zh-CN" altLang="en-US" sz="2800" b="1"/>
              <a:t>通过</a:t>
            </a:r>
            <a:r>
              <a:rPr lang="zh-CN" altLang="en-US" sz="2800" b="1">
                <a:solidFill>
                  <a:srgbClr val="0000CC"/>
                </a:solidFill>
              </a:rPr>
              <a:t>加权平均</a:t>
            </a:r>
            <a:r>
              <a:rPr lang="zh-CN" altLang="en-US" sz="2800" b="1"/>
              <a:t>的方法近似地得出平均高度</a:t>
            </a:r>
            <a:r>
              <a:rPr lang="en-US" altLang="zh-CN" sz="2800" i="1"/>
              <a:t>f</a:t>
            </a:r>
            <a:r>
              <a:rPr lang="en-US" altLang="zh-CN" sz="2800"/>
              <a:t>(</a:t>
            </a:r>
            <a:r>
              <a:rPr lang="el-GR" altLang="zh-CN" sz="2800"/>
              <a:t>ξ</a:t>
            </a:r>
            <a:r>
              <a:rPr lang="en-US" altLang="zh-CN" sz="2800"/>
              <a:t>),</a:t>
            </a:r>
            <a:r>
              <a:rPr lang="zh-CN" altLang="en-US" sz="2800" b="1"/>
              <a:t>这类求积方法称为</a:t>
            </a:r>
            <a:r>
              <a:rPr lang="zh-CN" altLang="en-US" sz="2800" b="1">
                <a:solidFill>
                  <a:srgbClr val="FF00FF"/>
                </a:solidFill>
              </a:rPr>
              <a:t>机械求积</a:t>
            </a:r>
            <a:r>
              <a:rPr lang="en-US" altLang="zh-CN" sz="2800" b="1">
                <a:solidFill>
                  <a:srgbClr val="FF00FF"/>
                </a:solidFill>
              </a:rPr>
              <a:t>:</a:t>
            </a:r>
          </a:p>
        </p:txBody>
      </p:sp>
      <p:sp>
        <p:nvSpPr>
          <p:cNvPr id="561156" name="Text Box 4">
            <a:extLst>
              <a:ext uri="{FF2B5EF4-FFF2-40B4-BE49-F238E27FC236}">
                <a16:creationId xmlns:a16="http://schemas.microsoft.com/office/drawing/2014/main" id="{24ACD6AA-6596-044A-A0D2-25B7DBC79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284538"/>
            <a:ext cx="3097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altLang="zh-CN" sz="2400"/>
          </a:p>
        </p:txBody>
      </p:sp>
      <p:graphicFrame>
        <p:nvGraphicFramePr>
          <p:cNvPr id="31749" name="Object 10">
            <a:extLst>
              <a:ext uri="{FF2B5EF4-FFF2-40B4-BE49-F238E27FC236}">
                <a16:creationId xmlns:a16="http://schemas.microsoft.com/office/drawing/2014/main" id="{DB16E753-8818-AC49-B450-46BFBBA4F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2636838"/>
          <a:ext cx="39592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810700" imgH="9944100" progId="Equation.3">
                  <p:embed/>
                </p:oleObj>
              </mc:Choice>
              <mc:Fallback>
                <p:oleObj name="Equation" r:id="rId2" imgW="34810700" imgH="9944100" progId="Equation.3">
                  <p:embed/>
                  <p:pic>
                    <p:nvPicPr>
                      <p:cNvPr id="31749" name="Object 10">
                        <a:extLst>
                          <a:ext uri="{FF2B5EF4-FFF2-40B4-BE49-F238E27FC236}">
                            <a16:creationId xmlns:a16="http://schemas.microsoft.com/office/drawing/2014/main" id="{DB16E753-8818-AC49-B450-46BFBBA4F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636838"/>
                        <a:ext cx="395922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ADE1D91E-6BFB-0041-89F0-0A096D275C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5805488"/>
          <a:ext cx="581501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55900" imgH="406400" progId="Equation.3">
                  <p:embed/>
                </p:oleObj>
              </mc:Choice>
              <mc:Fallback>
                <p:oleObj name="Equation" r:id="rId4" imgW="2755900" imgH="406400" progId="Equation.3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ADE1D91E-6BFB-0041-89F0-0A096D275C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805488"/>
                        <a:ext cx="581501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>
            <a:extLst>
              <a:ext uri="{FF2B5EF4-FFF2-40B4-BE49-F238E27FC236}">
                <a16:creationId xmlns:a16="http://schemas.microsoft.com/office/drawing/2014/main" id="{0797F851-A78D-4D47-9DFD-C871D4E7E8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4797425"/>
          <a:ext cx="4495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520100" imgH="9067800" progId="Equation.3">
                  <p:embed/>
                </p:oleObj>
              </mc:Choice>
              <mc:Fallback>
                <p:oleObj name="Equation" r:id="rId6" imgW="46520100" imgH="9067800" progId="Equation.3">
                  <p:embed/>
                  <p:pic>
                    <p:nvPicPr>
                      <p:cNvPr id="13" name="Object 8">
                        <a:extLst>
                          <a:ext uri="{FF2B5EF4-FFF2-40B4-BE49-F238E27FC236}">
                            <a16:creationId xmlns:a16="http://schemas.microsoft.com/office/drawing/2014/main" id="{0797F851-A78D-4D47-9DFD-C871D4E7E8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797425"/>
                        <a:ext cx="44958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>
            <a:extLst>
              <a:ext uri="{FF2B5EF4-FFF2-40B4-BE49-F238E27FC236}">
                <a16:creationId xmlns:a16="http://schemas.microsoft.com/office/drawing/2014/main" id="{3D0D6496-F00C-1A4A-874C-69CE6F96EA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860800"/>
          <a:ext cx="3367087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394900" imgH="7607300" progId="Equation.3">
                  <p:embed/>
                </p:oleObj>
              </mc:Choice>
              <mc:Fallback>
                <p:oleObj name="Equation" r:id="rId8" imgW="35394900" imgH="7607300" progId="Equation.3">
                  <p:embed/>
                  <p:pic>
                    <p:nvPicPr>
                      <p:cNvPr id="14" name="Object 8">
                        <a:extLst>
                          <a:ext uri="{FF2B5EF4-FFF2-40B4-BE49-F238E27FC236}">
                            <a16:creationId xmlns:a16="http://schemas.microsoft.com/office/drawing/2014/main" id="{3D0D6496-F00C-1A4A-874C-69CE6F96EA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60800"/>
                        <a:ext cx="3367087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25211429-E5AF-9245-AA93-F8A9230BD4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3933825"/>
          <a:ext cx="334486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102800" imgH="7607300" progId="Equation.3">
                  <p:embed/>
                </p:oleObj>
              </mc:Choice>
              <mc:Fallback>
                <p:oleObj name="Equation" r:id="rId10" imgW="35102800" imgH="7607300" progId="Equation.3">
                  <p:embed/>
                  <p:pic>
                    <p:nvPicPr>
                      <p:cNvPr id="15" name="Object 3">
                        <a:extLst>
                          <a:ext uri="{FF2B5EF4-FFF2-40B4-BE49-F238E27FC236}">
                            <a16:creationId xmlns:a16="http://schemas.microsoft.com/office/drawing/2014/main" id="{25211429-E5AF-9245-AA93-F8A9230BD4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933825"/>
                        <a:ext cx="3344863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AutoShape 5">
            <a:extLst>
              <a:ext uri="{FF2B5EF4-FFF2-40B4-BE49-F238E27FC236}">
                <a16:creationId xmlns:a16="http://schemas.microsoft.com/office/drawing/2014/main" id="{E70C0082-9190-7542-98B9-AF81264D0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2924174"/>
            <a:ext cx="2282825" cy="784225"/>
          </a:xfrm>
          <a:prstGeom prst="wedgeEllipseCallout">
            <a:avLst>
              <a:gd name="adj1" fmla="val -122994"/>
              <a:gd name="adj2" fmla="val -26663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zh-CN" altLang="en-US" sz="3200" b="1" dirty="0">
                <a:solidFill>
                  <a:schemeClr val="accent2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如何确定？</a:t>
            </a:r>
            <a:endParaRPr lang="en-US" altLang="zh-CN" sz="3200" b="1" dirty="0">
              <a:solidFill>
                <a:schemeClr val="accent2"/>
              </a:solidFill>
              <a:latin typeface="SimSun" panose="02010600030101010101" pitchFamily="2" charset="-122"/>
              <a:ea typeface="SimSun" panose="02010600030101010101" pitchFamily="2" charset="-122"/>
              <a:cs typeface="MS PGothic" charset="0"/>
            </a:endParaRP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FC9353D0-DCE1-9D4E-9662-34339BD86DE1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6AE17A-3350-C647-8DEE-E8E6F2BDC782}"/>
              </a:ext>
            </a:extLst>
          </p:cNvPr>
          <p:cNvSpPr/>
          <p:nvPr/>
        </p:nvSpPr>
        <p:spPr>
          <a:xfrm>
            <a:off x="468709" y="206118"/>
            <a:ext cx="78370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数值积分公式</a:t>
            </a:r>
            <a:endParaRPr lang="en-CN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61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B85456F-9F4F-1A49-91A0-6A4EFE149E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9E57421-0A92-F145-8685-3C8F03DF6103}" type="datetime1">
              <a:rPr lang="zh-CN" altLang="en-US" sz="1400" smtClean="0">
                <a:ea typeface="宋体" panose="02010600030101010101" pitchFamily="2" charset="-122"/>
              </a:rPr>
              <a:pPr eaLnBrk="1" hangingPunct="1"/>
              <a:t>2023/3/20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4E3F036-60E2-B04C-8835-C5F675BCD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11BBD5E-E522-864E-9269-FF5E074DB840}" type="slidenum">
              <a:rPr lang="en-US" altLang="zh-CN" sz="1400">
                <a:ea typeface="宋体" panose="02010600030101010101" pitchFamily="2" charset="-122"/>
              </a:rPr>
              <a:pPr eaLnBrk="1" hangingPunct="1"/>
              <a:t>16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565251" name="Rectangle 3">
            <a:extLst>
              <a:ext uri="{FF2B5EF4-FFF2-40B4-BE49-F238E27FC236}">
                <a16:creationId xmlns:a16="http://schemas.microsoft.com/office/drawing/2014/main" id="{C7D1678B-034A-D249-B9D3-5A88D323E2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96975"/>
            <a:ext cx="8459787" cy="50403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/>
              <a:t>    </a:t>
            </a:r>
            <a:r>
              <a:rPr lang="zh-CN" altLang="en-US" b="1"/>
              <a:t>在积分区间</a:t>
            </a:r>
            <a:r>
              <a:rPr lang="en-US" altLang="zh-CN" b="1"/>
              <a:t>[</a:t>
            </a:r>
            <a:r>
              <a:rPr lang="en-US" altLang="zh-CN" b="1" i="1"/>
              <a:t>a,b</a:t>
            </a:r>
            <a:r>
              <a:rPr lang="en-US" altLang="zh-CN" b="1"/>
              <a:t>] </a:t>
            </a:r>
            <a:r>
              <a:rPr lang="zh-CN" altLang="en-US" b="1"/>
              <a:t>上</a:t>
            </a:r>
            <a:r>
              <a:rPr lang="zh-CN" altLang="en-US" b="1">
                <a:solidFill>
                  <a:srgbClr val="000099"/>
                </a:solidFill>
              </a:rPr>
              <a:t>取</a:t>
            </a:r>
            <a:r>
              <a:rPr lang="en-US" altLang="zh-CN" b="1">
                <a:solidFill>
                  <a:srgbClr val="000099"/>
                </a:solidFill>
              </a:rPr>
              <a:t>n+1</a:t>
            </a:r>
            <a:r>
              <a:rPr lang="zh-CN" altLang="en-US" b="1">
                <a:solidFill>
                  <a:srgbClr val="000099"/>
                </a:solidFill>
              </a:rPr>
              <a:t>个节点</a:t>
            </a:r>
            <a:r>
              <a:rPr lang="en-US" altLang="zh-CN" b="1" i="1">
                <a:solidFill>
                  <a:srgbClr val="000099"/>
                </a:solidFill>
              </a:rPr>
              <a:t>x</a:t>
            </a:r>
            <a:r>
              <a:rPr lang="en-US" altLang="zh-CN" b="1" i="1" baseline="-25000">
                <a:solidFill>
                  <a:srgbClr val="000099"/>
                </a:solidFill>
              </a:rPr>
              <a:t>i</a:t>
            </a:r>
            <a:r>
              <a:rPr lang="zh-CN" altLang="en-US" b="1" baseline="-25000"/>
              <a:t>，</a:t>
            </a:r>
            <a:r>
              <a:rPr lang="en-US" altLang="zh-CN" b="1" i="1"/>
              <a:t>i</a:t>
            </a:r>
            <a:r>
              <a:rPr lang="en-US" altLang="zh-CN" b="1"/>
              <a:t>=0,1,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/>
              <a:t>2,…,</a:t>
            </a:r>
            <a:r>
              <a:rPr lang="en-US" altLang="zh-CN" b="1" i="1"/>
              <a:t>n</a:t>
            </a:r>
            <a:r>
              <a:rPr lang="en-US" altLang="zh-CN" b="1"/>
              <a:t>,</a:t>
            </a:r>
            <a:r>
              <a:rPr lang="zh-CN" altLang="en-US" b="1">
                <a:solidFill>
                  <a:srgbClr val="000099"/>
                </a:solidFill>
              </a:rPr>
              <a:t>作</a:t>
            </a:r>
            <a:r>
              <a:rPr lang="en-US" altLang="zh-CN" b="1" i="1">
                <a:solidFill>
                  <a:srgbClr val="000099"/>
                </a:solidFill>
              </a:rPr>
              <a:t>f</a:t>
            </a:r>
            <a:r>
              <a:rPr lang="en-US" altLang="zh-CN" b="1">
                <a:solidFill>
                  <a:srgbClr val="000099"/>
                </a:solidFill>
              </a:rPr>
              <a:t>(</a:t>
            </a:r>
            <a:r>
              <a:rPr lang="en-US" altLang="zh-CN" b="1" i="1">
                <a:solidFill>
                  <a:srgbClr val="000099"/>
                </a:solidFill>
              </a:rPr>
              <a:t>x</a:t>
            </a:r>
            <a:r>
              <a:rPr lang="en-US" altLang="zh-CN" b="1">
                <a:solidFill>
                  <a:srgbClr val="000099"/>
                </a:solidFill>
              </a:rPr>
              <a:t>)</a:t>
            </a:r>
            <a:r>
              <a:rPr lang="zh-CN" altLang="en-US" b="1">
                <a:solidFill>
                  <a:srgbClr val="000099"/>
                </a:solidFill>
              </a:rPr>
              <a:t>的</a:t>
            </a:r>
            <a:r>
              <a:rPr lang="en-US" altLang="zh-CN" b="1" i="1">
                <a:solidFill>
                  <a:srgbClr val="000099"/>
                </a:solidFill>
              </a:rPr>
              <a:t>n</a:t>
            </a:r>
            <a:r>
              <a:rPr lang="zh-CN" altLang="en-US" b="1">
                <a:solidFill>
                  <a:srgbClr val="000099"/>
                </a:solidFill>
              </a:rPr>
              <a:t>次代数插值多项式</a:t>
            </a:r>
            <a:r>
              <a:rPr lang="zh-CN" altLang="en-US" b="1"/>
              <a:t>（拉格朗</a:t>
            </a:r>
            <a:endParaRPr lang="en-US" altLang="zh-CN" b="1"/>
          </a:p>
          <a:p>
            <a:pPr eaLnBrk="1" hangingPunct="1">
              <a:buFont typeface="Wingdings" pitchFamily="2" charset="2"/>
              <a:buNone/>
            </a:pPr>
            <a:r>
              <a:rPr lang="zh-CN" altLang="en-US" b="1"/>
              <a:t>日插值公式）</a:t>
            </a:r>
            <a:r>
              <a:rPr lang="en-US" altLang="zh-CN"/>
              <a:t>: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/>
          </a:p>
          <a:p>
            <a:pPr eaLnBrk="1" hangingPunct="1">
              <a:buFont typeface="Wingdings" pitchFamily="2" charset="2"/>
              <a:buNone/>
            </a:pPr>
            <a:r>
              <a:rPr lang="zh-CN" altLang="en-US" b="1"/>
              <a:t>则有</a:t>
            </a:r>
            <a:endParaRPr lang="en-US" altLang="zh-CN" b="1"/>
          </a:p>
          <a:p>
            <a:pPr eaLnBrk="1" hangingPunct="1">
              <a:buFont typeface="Wingdings" pitchFamily="2" charset="2"/>
              <a:buNone/>
            </a:pPr>
            <a:endParaRPr lang="en-US" altLang="zh-CN" sz="360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3600"/>
              <a:t>                                              </a:t>
            </a:r>
            <a:r>
              <a:rPr lang="zh-CN" altLang="en-US" b="1"/>
              <a:t>为插值余项</a:t>
            </a:r>
            <a:endParaRPr lang="en-US" altLang="zh-CN" b="1"/>
          </a:p>
          <a:p>
            <a:pPr eaLnBrk="1" hangingPunct="1">
              <a:buFont typeface="Wingdings" pitchFamily="2" charset="2"/>
              <a:buNone/>
            </a:pPr>
            <a:r>
              <a:rPr lang="zh-CN" altLang="en-US" b="1"/>
              <a:t>于是有</a:t>
            </a:r>
            <a:endParaRPr lang="en-US" altLang="zh-CN" b="1"/>
          </a:p>
          <a:p>
            <a:pPr eaLnBrk="1" hangingPunct="1">
              <a:buFont typeface="Wingdings" pitchFamily="2" charset="2"/>
              <a:buNone/>
            </a:pPr>
            <a:endParaRPr lang="en-US" altLang="zh-CN" sz="3600"/>
          </a:p>
        </p:txBody>
      </p:sp>
      <p:sp>
        <p:nvSpPr>
          <p:cNvPr id="565252" name="Rectangle 4">
            <a:extLst>
              <a:ext uri="{FF2B5EF4-FFF2-40B4-BE49-F238E27FC236}">
                <a16:creationId xmlns:a16="http://schemas.microsoft.com/office/drawing/2014/main" id="{9AFA469A-E05F-2047-965A-2C5780FA0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565253" name="Object 5">
            <a:extLst>
              <a:ext uri="{FF2B5EF4-FFF2-40B4-BE49-F238E27FC236}">
                <a16:creationId xmlns:a16="http://schemas.microsoft.com/office/drawing/2014/main" id="{08D9D375-6AD7-1C4C-A5A9-544E46011D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2636838"/>
          <a:ext cx="3240087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181800" imgH="10236200" progId="Equation.3">
                  <p:embed/>
                </p:oleObj>
              </mc:Choice>
              <mc:Fallback>
                <p:oleObj name="公式" r:id="rId2" imgW="32181800" imgH="10236200" progId="Equation.3">
                  <p:embed/>
                  <p:pic>
                    <p:nvPicPr>
                      <p:cNvPr id="565253" name="Object 5">
                        <a:extLst>
                          <a:ext uri="{FF2B5EF4-FFF2-40B4-BE49-F238E27FC236}">
                            <a16:creationId xmlns:a16="http://schemas.microsoft.com/office/drawing/2014/main" id="{08D9D375-6AD7-1C4C-A5A9-544E46011D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636838"/>
                        <a:ext cx="3240087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5254" name="Rectangle 6">
            <a:extLst>
              <a:ext uri="{FF2B5EF4-FFF2-40B4-BE49-F238E27FC236}">
                <a16:creationId xmlns:a16="http://schemas.microsoft.com/office/drawing/2014/main" id="{4BC50D2E-BE22-ED4C-AF05-5D9EA21D5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565255" name="Object 7">
            <a:extLst>
              <a:ext uri="{FF2B5EF4-FFF2-40B4-BE49-F238E27FC236}">
                <a16:creationId xmlns:a16="http://schemas.microsoft.com/office/drawing/2014/main" id="{395801C8-F46E-6746-96BC-7BC8637273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3789363"/>
          <a:ext cx="33829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013400" imgH="5270500" progId="Equation.3">
                  <p:embed/>
                </p:oleObj>
              </mc:Choice>
              <mc:Fallback>
                <p:oleObj name="公式" r:id="rId4" imgW="31013400" imgH="5270500" progId="Equation.3">
                  <p:embed/>
                  <p:pic>
                    <p:nvPicPr>
                      <p:cNvPr id="565255" name="Object 7">
                        <a:extLst>
                          <a:ext uri="{FF2B5EF4-FFF2-40B4-BE49-F238E27FC236}">
                            <a16:creationId xmlns:a16="http://schemas.microsoft.com/office/drawing/2014/main" id="{395801C8-F46E-6746-96BC-7BC8637273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789363"/>
                        <a:ext cx="338296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5256" name="Rectangle 8">
            <a:extLst>
              <a:ext uri="{FF2B5EF4-FFF2-40B4-BE49-F238E27FC236}">
                <a16:creationId xmlns:a16="http://schemas.microsoft.com/office/drawing/2014/main" id="{D411067F-B337-6D48-8A16-EA43F0CDA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565257" name="Object 9">
            <a:extLst>
              <a:ext uri="{FF2B5EF4-FFF2-40B4-BE49-F238E27FC236}">
                <a16:creationId xmlns:a16="http://schemas.microsoft.com/office/drawing/2014/main" id="{703767AC-68DA-064A-8E1C-9A77ED175E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4652963"/>
          <a:ext cx="3024188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102800" imgH="10236200" progId="Equation.3">
                  <p:embed/>
                </p:oleObj>
              </mc:Choice>
              <mc:Fallback>
                <p:oleObj name="Equation" r:id="rId6" imgW="35102800" imgH="10236200" progId="Equation.3">
                  <p:embed/>
                  <p:pic>
                    <p:nvPicPr>
                      <p:cNvPr id="565257" name="Object 9">
                        <a:extLst>
                          <a:ext uri="{FF2B5EF4-FFF2-40B4-BE49-F238E27FC236}">
                            <a16:creationId xmlns:a16="http://schemas.microsoft.com/office/drawing/2014/main" id="{703767AC-68DA-064A-8E1C-9A77ED175E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652963"/>
                        <a:ext cx="3024188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rocess 13">
            <a:extLst>
              <a:ext uri="{FF2B5EF4-FFF2-40B4-BE49-F238E27FC236}">
                <a16:creationId xmlns:a16="http://schemas.microsoft.com/office/drawing/2014/main" id="{4524022E-FEC0-324F-816C-83512277A608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1D7FF1-ECFC-3F48-B619-39F635FD9912}"/>
              </a:ext>
            </a:extLst>
          </p:cNvPr>
          <p:cNvSpPr/>
          <p:nvPr/>
        </p:nvSpPr>
        <p:spPr>
          <a:xfrm>
            <a:off x="468709" y="206118"/>
            <a:ext cx="78370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插值型</a:t>
            </a:r>
            <a:r>
              <a:rPr lang="zh-CN" altLang="en-US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求积公式</a:t>
            </a:r>
            <a:endParaRPr lang="en-CN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94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5" name="Rectangle 3">
            <a:extLst>
              <a:ext uri="{FF2B5EF4-FFF2-40B4-BE49-F238E27FC236}">
                <a16:creationId xmlns:a16="http://schemas.microsoft.com/office/drawing/2014/main" id="{6434B885-A0C5-7D40-86A1-6DC91A037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765175"/>
            <a:ext cx="7772400" cy="5616575"/>
          </a:xfrm>
        </p:spPr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/>
              <a:t>取</a:t>
            </a:r>
            <a:endParaRPr lang="en-US" altLang="zh-CN" sz="2800" b="1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称</a:t>
            </a:r>
            <a:r>
              <a:rPr lang="en-US" altLang="zh-CN" sz="2800" b="1" dirty="0">
                <a:solidFill>
                  <a:srgbClr val="000099"/>
                </a:solidFill>
              </a:rPr>
              <a:t>(4)</a:t>
            </a:r>
            <a:r>
              <a:rPr lang="zh-CN" altLang="en-US" sz="2800" b="1" dirty="0">
                <a:solidFill>
                  <a:srgbClr val="000099"/>
                </a:solidFill>
              </a:rPr>
              <a:t>式为插值型求积公式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其中</a:t>
            </a:r>
            <a:r>
              <a:rPr lang="zh-CN" altLang="en-US" sz="2800" b="1" dirty="0">
                <a:solidFill>
                  <a:srgbClr val="FF0066"/>
                </a:solidFill>
              </a:rPr>
              <a:t>求积系数</a:t>
            </a:r>
            <a:r>
              <a:rPr lang="en-US" altLang="zh-CN" sz="2800" b="1" i="1" dirty="0">
                <a:solidFill>
                  <a:srgbClr val="000099"/>
                </a:solidFill>
              </a:rPr>
              <a:t>A</a:t>
            </a:r>
            <a:r>
              <a:rPr lang="en-US" altLang="zh-CN" sz="2800" b="1" i="1" baseline="-25000" dirty="0">
                <a:solidFill>
                  <a:srgbClr val="000099"/>
                </a:solidFill>
              </a:rPr>
              <a:t>k</a:t>
            </a:r>
            <a:r>
              <a:rPr lang="zh-CN" altLang="en-US" sz="2800" b="1" dirty="0"/>
              <a:t>由</a:t>
            </a:r>
            <a:r>
              <a:rPr lang="en-US" altLang="zh-CN" sz="2800" b="1" dirty="0"/>
              <a:t>(5)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/>
              <a:t>式确定</a:t>
            </a:r>
            <a:r>
              <a:rPr lang="en-US" altLang="zh-CN" sz="2800" b="1" dirty="0"/>
              <a:t>.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566276" name="Rectangle 4">
            <a:extLst>
              <a:ext uri="{FF2B5EF4-FFF2-40B4-BE49-F238E27FC236}">
                <a16:creationId xmlns:a16="http://schemas.microsoft.com/office/drawing/2014/main" id="{93C3F018-F7AB-CB40-9AD6-1241D9D9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33797" name="Object 5">
            <a:extLst>
              <a:ext uri="{FF2B5EF4-FFF2-40B4-BE49-F238E27FC236}">
                <a16:creationId xmlns:a16="http://schemas.microsoft.com/office/drawing/2014/main" id="{510F4B95-A40F-2C47-A1C2-3389A403BB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581855"/>
              </p:ext>
            </p:extLst>
          </p:nvPr>
        </p:nvGraphicFramePr>
        <p:xfrm>
          <a:off x="1476375" y="1052512"/>
          <a:ext cx="5942013" cy="222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2611000" imgH="23406100" progId="Equation.3">
                  <p:embed/>
                </p:oleObj>
              </mc:Choice>
              <mc:Fallback>
                <p:oleObj name="公式" r:id="rId4" imgW="62611000" imgH="23406100" progId="Equation.3">
                  <p:embed/>
                  <p:pic>
                    <p:nvPicPr>
                      <p:cNvPr id="33797" name="Object 5">
                        <a:extLst>
                          <a:ext uri="{FF2B5EF4-FFF2-40B4-BE49-F238E27FC236}">
                            <a16:creationId xmlns:a16="http://schemas.microsoft.com/office/drawing/2014/main" id="{510F4B95-A40F-2C47-A1C2-3389A403BB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052512"/>
                        <a:ext cx="5942013" cy="222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6278" name="Rectangle 6">
            <a:extLst>
              <a:ext uri="{FF2B5EF4-FFF2-40B4-BE49-F238E27FC236}">
                <a16:creationId xmlns:a16="http://schemas.microsoft.com/office/drawing/2014/main" id="{442CB6E2-F48F-8247-AE12-BBB0BDB5B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566279" name="Rectangle 7">
            <a:extLst>
              <a:ext uri="{FF2B5EF4-FFF2-40B4-BE49-F238E27FC236}">
                <a16:creationId xmlns:a16="http://schemas.microsoft.com/office/drawing/2014/main" id="{997D1E90-42F9-9141-85B5-29C904D4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566280" name="Text Box 8">
            <a:extLst>
              <a:ext uri="{FF2B5EF4-FFF2-40B4-BE49-F238E27FC236}">
                <a16:creationId xmlns:a16="http://schemas.microsoft.com/office/drawing/2014/main" id="{CDA54D4A-5996-884C-A128-BF8C59777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3573463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Times New Roman" charset="0"/>
                <a:ea typeface="楷体_GB2312" charset="0"/>
                <a:cs typeface="楷体_GB2312" charset="0"/>
              </a:rPr>
              <a:t>(4)</a:t>
            </a:r>
          </a:p>
        </p:txBody>
      </p:sp>
      <p:sp>
        <p:nvSpPr>
          <p:cNvPr id="566281" name="Text Box 9">
            <a:extLst>
              <a:ext uri="{FF2B5EF4-FFF2-40B4-BE49-F238E27FC236}">
                <a16:creationId xmlns:a16="http://schemas.microsoft.com/office/drawing/2014/main" id="{0528892B-83D6-7542-8E9E-828984848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4508500"/>
            <a:ext cx="93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Times New Roman" charset="0"/>
                <a:ea typeface="楷体_GB2312" charset="0"/>
                <a:cs typeface="楷体_GB2312" charset="0"/>
              </a:rPr>
              <a:t>(5)</a:t>
            </a:r>
          </a:p>
        </p:txBody>
      </p:sp>
      <p:sp>
        <p:nvSpPr>
          <p:cNvPr id="566282" name="Rectangle 10">
            <a:extLst>
              <a:ext uri="{FF2B5EF4-FFF2-40B4-BE49-F238E27FC236}">
                <a16:creationId xmlns:a16="http://schemas.microsoft.com/office/drawing/2014/main" id="{A368F343-563D-0544-86BD-B0C85B3DC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pSp>
        <p:nvGrpSpPr>
          <p:cNvPr id="566283" name="Group 11">
            <a:extLst>
              <a:ext uri="{FF2B5EF4-FFF2-40B4-BE49-F238E27FC236}">
                <a16:creationId xmlns:a16="http://schemas.microsoft.com/office/drawing/2014/main" id="{378CFE83-32B4-B74C-ABE1-EF772FC4245B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2924175"/>
            <a:ext cx="4648200" cy="1066800"/>
            <a:chOff x="336" y="2784"/>
            <a:chExt cx="2544" cy="576"/>
          </a:xfrm>
        </p:grpSpPr>
        <p:sp>
          <p:nvSpPr>
            <p:cNvPr id="566284" name="AutoShape 12" descr="再生纸">
              <a:extLst>
                <a:ext uri="{FF2B5EF4-FFF2-40B4-BE49-F238E27FC236}">
                  <a16:creationId xmlns:a16="http://schemas.microsoft.com/office/drawing/2014/main" id="{5C81761C-0FA2-C74B-A46A-9DD2FE731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784"/>
              <a:ext cx="2544" cy="576"/>
            </a:xfrm>
            <a:prstGeom prst="bevel">
              <a:avLst>
                <a:gd name="adj" fmla="val 5287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graphicFrame>
          <p:nvGraphicFramePr>
            <p:cNvPr id="33813" name="Object 13">
              <a:extLst>
                <a:ext uri="{FF2B5EF4-FFF2-40B4-BE49-F238E27FC236}">
                  <a16:creationId xmlns:a16="http://schemas.microsoft.com/office/drawing/2014/main" id="{A4670E69-7ED6-0843-AAF3-582B06CCC9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2821"/>
            <a:ext cx="2448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6228000" imgH="9944100" progId="Equation.3">
                    <p:embed/>
                  </p:oleObj>
                </mc:Choice>
                <mc:Fallback>
                  <p:oleObj name="Equation" r:id="rId7" imgW="46228000" imgH="9944100" progId="Equation.3">
                    <p:embed/>
                    <p:pic>
                      <p:nvPicPr>
                        <p:cNvPr id="33813" name="Object 13">
                          <a:extLst>
                            <a:ext uri="{FF2B5EF4-FFF2-40B4-BE49-F238E27FC236}">
                              <a16:creationId xmlns:a16="http://schemas.microsoft.com/office/drawing/2014/main" id="{A4670E69-7ED6-0843-AAF3-582B06CCC9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821"/>
                          <a:ext cx="2448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6286" name="Group 14">
            <a:extLst>
              <a:ext uri="{FF2B5EF4-FFF2-40B4-BE49-F238E27FC236}">
                <a16:creationId xmlns:a16="http://schemas.microsoft.com/office/drawing/2014/main" id="{7064360F-1EE7-024C-B293-60F9FFE3380B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2997200"/>
            <a:ext cx="2438400" cy="838200"/>
            <a:chOff x="2016" y="2832"/>
            <a:chExt cx="1296" cy="480"/>
          </a:xfrm>
        </p:grpSpPr>
        <p:sp>
          <p:nvSpPr>
            <p:cNvPr id="566287" name="Oval 15">
              <a:extLst>
                <a:ext uri="{FF2B5EF4-FFF2-40B4-BE49-F238E27FC236}">
                  <a16:creationId xmlns:a16="http://schemas.microsoft.com/office/drawing/2014/main" id="{D4F97DEF-B58E-3649-BF13-90D72BE61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32"/>
              <a:ext cx="816" cy="48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566288" name="AutoShape 16">
              <a:extLst>
                <a:ext uri="{FF2B5EF4-FFF2-40B4-BE49-F238E27FC236}">
                  <a16:creationId xmlns:a16="http://schemas.microsoft.com/office/drawing/2014/main" id="{45783321-7DD9-224F-9121-3FDC37239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880"/>
              <a:ext cx="384" cy="335"/>
            </a:xfrm>
            <a:prstGeom prst="wedgeRoundRectCallout">
              <a:avLst>
                <a:gd name="adj1" fmla="val -101565"/>
                <a:gd name="adj2" fmla="val 29463"/>
                <a:gd name="adj3" fmla="val 16667"/>
              </a:avLst>
            </a:prstGeom>
            <a:gradFill rotWithShape="0">
              <a:gsLst>
                <a:gs pos="0">
                  <a:srgbClr val="CCFFCC"/>
                </a:gs>
                <a:gs pos="100000">
                  <a:schemeClr val="bg1"/>
                </a:gs>
              </a:gsLst>
              <a:lin ang="1890000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charset="0"/>
                  <a:ea typeface="MS PGothic" charset="0"/>
                  <a:cs typeface="MS PGothic" charset="0"/>
                </a:rPr>
                <a:t>A</a:t>
              </a:r>
              <a:r>
                <a:rPr lang="en-US" altLang="zh-CN" sz="2400" b="1" i="1" baseline="-25000">
                  <a:solidFill>
                    <a:srgbClr val="FF0000"/>
                  </a:solidFill>
                  <a:latin typeface="Times New Roman" charset="0"/>
                  <a:ea typeface="MS PGothic" charset="0"/>
                  <a:cs typeface="MS PGothic" charset="0"/>
                </a:rPr>
                <a:t>k</a:t>
              </a:r>
              <a:endParaRPr lang="en-US" altLang="zh-CN" sz="2400" b="1" i="1">
                <a:solidFill>
                  <a:srgbClr val="FF0000"/>
                </a:solidFill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566289" name="Group 17">
            <a:extLst>
              <a:ext uri="{FF2B5EF4-FFF2-40B4-BE49-F238E27FC236}">
                <a16:creationId xmlns:a16="http://schemas.microsoft.com/office/drawing/2014/main" id="{30890C73-896C-7549-B051-EFC79BBA4526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3933825"/>
            <a:ext cx="6913562" cy="1252538"/>
            <a:chOff x="144" y="2496"/>
            <a:chExt cx="3692" cy="789"/>
          </a:xfrm>
        </p:grpSpPr>
        <p:grpSp>
          <p:nvGrpSpPr>
            <p:cNvPr id="33806" name="Group 18">
              <a:extLst>
                <a:ext uri="{FF2B5EF4-FFF2-40B4-BE49-F238E27FC236}">
                  <a16:creationId xmlns:a16="http://schemas.microsoft.com/office/drawing/2014/main" id="{A2E3066B-77D5-6B4A-A0FF-863C242093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496"/>
              <a:ext cx="2252" cy="789"/>
              <a:chOff x="144" y="2496"/>
              <a:chExt cx="2252" cy="789"/>
            </a:xfrm>
          </p:grpSpPr>
          <p:sp>
            <p:nvSpPr>
              <p:cNvPr id="566291" name="AutoShape 19" descr="再生纸">
                <a:extLst>
                  <a:ext uri="{FF2B5EF4-FFF2-40B4-BE49-F238E27FC236}">
                    <a16:creationId xmlns:a16="http://schemas.microsoft.com/office/drawing/2014/main" id="{78D7E9AB-D275-F149-B042-44CB8751B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" y="2563"/>
                <a:ext cx="1968" cy="624"/>
              </a:xfrm>
              <a:prstGeom prst="bevel">
                <a:avLst>
                  <a:gd name="adj" fmla="val 5653"/>
                </a:avLst>
              </a:prstGeom>
              <a:blipFill dpi="0" rotWithShape="0">
                <a:blip r:embed="rId6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latin typeface="Times New Roman" charset="0"/>
                  <a:ea typeface="MS PGothic" charset="0"/>
                  <a:cs typeface="MS PGothic" charset="0"/>
                </a:endParaRPr>
              </a:p>
            </p:txBody>
          </p:sp>
          <p:graphicFrame>
            <p:nvGraphicFramePr>
              <p:cNvPr id="33809" name="Object 20">
                <a:extLst>
                  <a:ext uri="{FF2B5EF4-FFF2-40B4-BE49-F238E27FC236}">
                    <a16:creationId xmlns:a16="http://schemas.microsoft.com/office/drawing/2014/main" id="{186B7D4A-6908-A84F-93A1-6FE3B1C5E1C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4" y="2496"/>
              <a:ext cx="2196" cy="7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33350200" imgH="12585700" progId="Equation.3">
                      <p:embed/>
                    </p:oleObj>
                  </mc:Choice>
                  <mc:Fallback>
                    <p:oleObj name="Equation" r:id="rId9" imgW="33350200" imgH="12585700" progId="Equation.3">
                      <p:embed/>
                      <p:pic>
                        <p:nvPicPr>
                          <p:cNvPr id="33809" name="Object 20">
                            <a:extLst>
                              <a:ext uri="{FF2B5EF4-FFF2-40B4-BE49-F238E27FC236}">
                                <a16:creationId xmlns:a16="http://schemas.microsoft.com/office/drawing/2014/main" id="{186B7D4A-6908-A84F-93A1-6FE3B1C5E1C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" y="2496"/>
                            <a:ext cx="2196" cy="7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66293" name="Text Box 21">
              <a:extLst>
                <a:ext uri="{FF2B5EF4-FFF2-40B4-BE49-F238E27FC236}">
                  <a16:creationId xmlns:a16="http://schemas.microsoft.com/office/drawing/2014/main" id="{8B14D28C-BA6E-054D-BEDE-B5E6308C3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564"/>
              <a:ext cx="144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defRPr/>
              </a:pPr>
              <a:r>
                <a:rPr lang="zh-CN" altLang="en-US" b="1"/>
                <a:t>由</a:t>
              </a:r>
              <a:r>
                <a:rPr lang="en-US" altLang="zh-CN" b="1"/>
                <a:t> </a:t>
              </a:r>
              <a:r>
                <a:rPr lang="zh-CN" altLang="en-US" b="1">
                  <a:solidFill>
                    <a:srgbClr val="FF0000"/>
                  </a:solidFill>
                </a:rPr>
                <a:t>节点</a:t>
              </a:r>
              <a:r>
                <a:rPr lang="en-US" altLang="zh-CN" b="1"/>
                <a:t>  </a:t>
              </a:r>
              <a:r>
                <a:rPr lang="zh-CN" altLang="en-US" b="1"/>
                <a:t>决定，</a:t>
              </a:r>
              <a:endParaRPr lang="en-US" altLang="zh-CN" b="1"/>
            </a:p>
            <a:p>
              <a:pPr eaLnBrk="1" hangingPunct="1">
                <a:defRPr/>
              </a:pPr>
              <a:r>
                <a:rPr lang="zh-CN" altLang="en-US" b="1"/>
                <a:t>与</a:t>
              </a:r>
              <a:r>
                <a:rPr lang="en-US" altLang="zh-CN" b="1"/>
                <a:t> </a:t>
              </a:r>
              <a:r>
                <a:rPr lang="en-US" altLang="zh-CN" b="1" i="1">
                  <a:solidFill>
                    <a:srgbClr val="FF0000"/>
                  </a:solidFill>
                </a:rPr>
                <a:t>f</a:t>
              </a:r>
              <a:r>
                <a:rPr lang="en-US" altLang="zh-CN" b="1">
                  <a:solidFill>
                    <a:srgbClr val="FF0000"/>
                  </a:solidFill>
                </a:rPr>
                <a:t>(</a:t>
              </a:r>
              <a:r>
                <a:rPr lang="en-US" altLang="zh-CN" b="1" i="1">
                  <a:solidFill>
                    <a:srgbClr val="FF0000"/>
                  </a:solidFill>
                </a:rPr>
                <a:t>x</a:t>
              </a:r>
              <a:r>
                <a:rPr lang="en-US" altLang="zh-CN" b="1">
                  <a:solidFill>
                    <a:srgbClr val="FF0000"/>
                  </a:solidFill>
                </a:rPr>
                <a:t>)</a:t>
              </a:r>
              <a:r>
                <a:rPr lang="en-US" altLang="zh-CN" b="1"/>
                <a:t>    </a:t>
              </a:r>
              <a:r>
                <a:rPr lang="zh-CN" altLang="en-US" b="1"/>
                <a:t>无关。</a:t>
              </a:r>
              <a:endParaRPr lang="en-US" altLang="zh-CN" b="1"/>
            </a:p>
          </p:txBody>
        </p:sp>
      </p:grpSp>
      <p:sp>
        <p:nvSpPr>
          <p:cNvPr id="24" name="Process 23">
            <a:extLst>
              <a:ext uri="{FF2B5EF4-FFF2-40B4-BE49-F238E27FC236}">
                <a16:creationId xmlns:a16="http://schemas.microsoft.com/office/drawing/2014/main" id="{5357310A-6522-2A42-A80F-4EFA9F878DBD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09436C-24E0-B84D-AC99-128D7EB4083F}"/>
              </a:ext>
            </a:extLst>
          </p:cNvPr>
          <p:cNvSpPr/>
          <p:nvPr/>
        </p:nvSpPr>
        <p:spPr>
          <a:xfrm>
            <a:off x="468709" y="206118"/>
            <a:ext cx="78370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插值型</a:t>
            </a:r>
            <a:r>
              <a:rPr lang="zh-CN" altLang="en-US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求积公式</a:t>
            </a:r>
            <a:endParaRPr lang="en-CN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50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662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66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66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6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6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4" descr="4">
            <a:extLst>
              <a:ext uri="{FF2B5EF4-FFF2-40B4-BE49-F238E27FC236}">
                <a16:creationId xmlns:a16="http://schemas.microsoft.com/office/drawing/2014/main" id="{1FFEF996-9981-8943-9BF7-D7D719D98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800225"/>
            <a:ext cx="34575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819" name="Group 4">
            <a:extLst>
              <a:ext uri="{FF2B5EF4-FFF2-40B4-BE49-F238E27FC236}">
                <a16:creationId xmlns:a16="http://schemas.microsoft.com/office/drawing/2014/main" id="{EDF07EC3-FE52-5A4F-B1F1-95E5A7BB3108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1030288"/>
            <a:ext cx="5889625" cy="874712"/>
            <a:chOff x="288" y="3073"/>
            <a:chExt cx="4082" cy="594"/>
          </a:xfrm>
        </p:grpSpPr>
        <p:graphicFrame>
          <p:nvGraphicFramePr>
            <p:cNvPr id="34826" name="Object 5">
              <a:extLst>
                <a:ext uri="{FF2B5EF4-FFF2-40B4-BE49-F238E27FC236}">
                  <a16:creationId xmlns:a16="http://schemas.microsoft.com/office/drawing/2014/main" id="{8D131F85-F6C4-2549-B50A-3EEBDAB191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36" y="3073"/>
            <a:ext cx="2934" cy="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20900" imgH="469900" progId="Equation.3">
                    <p:embed/>
                  </p:oleObj>
                </mc:Choice>
                <mc:Fallback>
                  <p:oleObj name="Equation" r:id="rId3" imgW="2120900" imgH="469900" progId="Equation.3">
                    <p:embed/>
                    <p:pic>
                      <p:nvPicPr>
                        <p:cNvPr id="34826" name="Object 5">
                          <a:extLst>
                            <a:ext uri="{FF2B5EF4-FFF2-40B4-BE49-F238E27FC236}">
                              <a16:creationId xmlns:a16="http://schemas.microsoft.com/office/drawing/2014/main" id="{8D131F85-F6C4-2549-B50A-3EEBDAB191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6" y="3073"/>
                          <a:ext cx="2934" cy="5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AA2778AF-A11B-0243-BC53-075D16030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252"/>
              <a:ext cx="480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Times New Roman" charset="0"/>
                  <a:ea typeface="宋体" charset="0"/>
                </a:rPr>
                <a:t>误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charset="0"/>
                  <a:ea typeface="宋体" charset="0"/>
                </a:rPr>
                <a:t> 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charset="0"/>
                  <a:ea typeface="宋体" charset="0"/>
                </a:rPr>
                <a:t>差：</a:t>
              </a:r>
              <a:endParaRPr lang="en-US" altLang="zh-CN" sz="2800" b="1" dirty="0">
                <a:solidFill>
                  <a:srgbClr val="FF0000"/>
                </a:solidFill>
                <a:latin typeface="Times New Roman" charset="0"/>
                <a:ea typeface="宋体" charset="0"/>
              </a:endParaRPr>
            </a:p>
          </p:txBody>
        </p:sp>
      </p:grpSp>
      <p:grpSp>
        <p:nvGrpSpPr>
          <p:cNvPr id="8" name="Group 132">
            <a:extLst>
              <a:ext uri="{FF2B5EF4-FFF2-40B4-BE49-F238E27FC236}">
                <a16:creationId xmlns:a16="http://schemas.microsoft.com/office/drawing/2014/main" id="{FDE95FB8-2155-0642-9C24-F19CA7A33E11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4098925"/>
            <a:ext cx="7086600" cy="1309688"/>
            <a:chOff x="528" y="2352"/>
            <a:chExt cx="4464" cy="825"/>
          </a:xfrm>
        </p:grpSpPr>
        <p:sp>
          <p:nvSpPr>
            <p:cNvPr id="10" name="Text Box 129">
              <a:extLst>
                <a:ext uri="{FF2B5EF4-FFF2-40B4-BE49-F238E27FC236}">
                  <a16:creationId xmlns:a16="http://schemas.microsoft.com/office/drawing/2014/main" id="{CAC466DB-40C6-D84B-8A29-8DB96B217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352"/>
              <a:ext cx="4464" cy="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3200" b="1">
                  <a:solidFill>
                    <a:schemeClr val="accent2"/>
                  </a:solidFill>
                  <a:sym typeface="Wingdings" charset="0"/>
                </a:rPr>
                <a:t></a:t>
              </a:r>
              <a:r>
                <a:rPr lang="zh-CN" altLang="en-US" sz="2400" b="1"/>
                <a:t>当</a:t>
              </a:r>
              <a:r>
                <a:rPr lang="en-US" altLang="zh-CN" sz="2400" b="1" i="1"/>
                <a:t> f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) </a:t>
              </a:r>
              <a:r>
                <a:rPr lang="zh-CN" altLang="en-US" sz="2400" b="1"/>
                <a:t>为任一个次数</a:t>
              </a:r>
              <a:r>
                <a:rPr lang="en-US" altLang="zh-CN" sz="2400" b="1">
                  <a:solidFill>
                    <a:schemeClr val="accent2"/>
                  </a:solidFill>
                  <a:sym typeface="Symbol" charset="0"/>
                </a:rPr>
                <a:t> </a:t>
              </a:r>
              <a:r>
                <a:rPr lang="en-US" altLang="zh-CN" sz="2400" b="1" i="1">
                  <a:solidFill>
                    <a:schemeClr val="accent2"/>
                  </a:solidFill>
                  <a:sym typeface="Symbol" charset="0"/>
                </a:rPr>
                <a:t>n</a:t>
              </a:r>
              <a:r>
                <a:rPr lang="en-US" altLang="zh-CN" sz="2400" b="1">
                  <a:sym typeface="Symbol" charset="0"/>
                </a:rPr>
                <a:t> </a:t>
              </a:r>
              <a:r>
                <a:rPr lang="zh-CN" altLang="en-US" sz="2400" b="1"/>
                <a:t>的</a:t>
              </a:r>
              <a:r>
                <a:rPr lang="zh-CN" altLang="en-US" sz="2400" b="1">
                  <a:solidFill>
                    <a:schemeClr val="accent2"/>
                  </a:solidFill>
                </a:rPr>
                <a:t>多项式</a:t>
              </a:r>
              <a:r>
                <a:rPr lang="zh-CN" altLang="en-US" sz="2400" b="1"/>
                <a:t>时，</a:t>
              </a:r>
              <a:r>
                <a:rPr lang="en-US" altLang="zh-CN" sz="2400" b="1"/>
                <a:t>                  , </a:t>
              </a:r>
              <a:r>
                <a:rPr lang="zh-CN" altLang="en-US" sz="2400" b="1"/>
                <a:t>可知</a:t>
              </a:r>
              <a:r>
                <a:rPr lang="en-US" altLang="zh-CN" sz="2400" b="1"/>
                <a:t>                </a:t>
              </a:r>
              <a:r>
                <a:rPr lang="zh-CN" altLang="en-US" sz="2400" b="1"/>
                <a:t>，即插值多项式对于次数</a:t>
              </a:r>
              <a:r>
                <a:rPr lang="en-US" altLang="zh-CN" sz="2400" b="1">
                  <a:sym typeface="Symbol" charset="0"/>
                </a:rPr>
                <a:t> </a:t>
              </a:r>
              <a:r>
                <a:rPr lang="en-US" altLang="zh-CN" sz="2400" b="1" i="1">
                  <a:sym typeface="Symbol" charset="0"/>
                </a:rPr>
                <a:t>n </a:t>
              </a:r>
              <a:r>
                <a:rPr lang="zh-CN" altLang="en-US" sz="2400" b="1">
                  <a:sym typeface="Symbol" charset="0"/>
                </a:rPr>
                <a:t>的</a:t>
              </a:r>
              <a:r>
                <a:rPr lang="zh-CN" altLang="en-US" sz="2400" b="1"/>
                <a:t>多项式是</a:t>
              </a:r>
              <a:r>
                <a:rPr lang="zh-CN" altLang="en-US" sz="2400" b="1">
                  <a:solidFill>
                    <a:srgbClr val="FF3300"/>
                  </a:solidFill>
                </a:rPr>
                <a:t>精确</a:t>
              </a:r>
              <a:r>
                <a:rPr lang="zh-CN" altLang="en-US" sz="2400" b="1"/>
                <a:t>的。</a:t>
              </a:r>
              <a:endParaRPr lang="en-US" altLang="zh-CN" sz="2400" b="1"/>
            </a:p>
          </p:txBody>
        </p:sp>
        <p:graphicFrame>
          <p:nvGraphicFramePr>
            <p:cNvPr id="34824" name="Object 130">
              <a:extLst>
                <a:ext uri="{FF2B5EF4-FFF2-40B4-BE49-F238E27FC236}">
                  <a16:creationId xmlns:a16="http://schemas.microsoft.com/office/drawing/2014/main" id="{DBCA3BD3-322D-674A-A49E-34AD15431E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2448"/>
            <a:ext cx="912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304000" imgH="5270500" progId="Equation.3">
                    <p:embed/>
                  </p:oleObj>
                </mc:Choice>
                <mc:Fallback>
                  <p:oleObj name="Equation" r:id="rId5" imgW="19304000" imgH="5270500" progId="Equation.3">
                    <p:embed/>
                    <p:pic>
                      <p:nvPicPr>
                        <p:cNvPr id="34824" name="Object 130">
                          <a:extLst>
                            <a:ext uri="{FF2B5EF4-FFF2-40B4-BE49-F238E27FC236}">
                              <a16:creationId xmlns:a16="http://schemas.microsoft.com/office/drawing/2014/main" id="{DBCA3BD3-322D-674A-A49E-34AD15431E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448"/>
                          <a:ext cx="912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5" name="Object 131">
              <a:extLst>
                <a:ext uri="{FF2B5EF4-FFF2-40B4-BE49-F238E27FC236}">
                  <a16:creationId xmlns:a16="http://schemas.microsoft.com/office/drawing/2014/main" id="{826C3350-CF0A-AF48-96A4-38D2B507E3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2688"/>
            <a:ext cx="753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4922500" imgH="5270500" progId="Equation.3">
                    <p:embed/>
                  </p:oleObj>
                </mc:Choice>
                <mc:Fallback>
                  <p:oleObj name="Equation" r:id="rId7" imgW="14922500" imgH="5270500" progId="Equation.3">
                    <p:embed/>
                    <p:pic>
                      <p:nvPicPr>
                        <p:cNvPr id="34825" name="Object 131">
                          <a:extLst>
                            <a:ext uri="{FF2B5EF4-FFF2-40B4-BE49-F238E27FC236}">
                              <a16:creationId xmlns:a16="http://schemas.microsoft.com/office/drawing/2014/main" id="{826C3350-CF0A-AF48-96A4-38D2B507E3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688"/>
                          <a:ext cx="753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49" name="Rectangle 1">
            <a:extLst>
              <a:ext uri="{FF2B5EF4-FFF2-40B4-BE49-F238E27FC236}">
                <a16:creationId xmlns:a16="http://schemas.microsoft.com/office/drawing/2014/main" id="{EF15AF40-6FA4-2A49-8FA0-0C387E523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681663"/>
            <a:ext cx="5570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99"/>
                </a:solidFill>
                <a:ea typeface="宋体" panose="02010600030101010101" pitchFamily="2" charset="-122"/>
              </a:rPr>
              <a:t>对应的插值型求积公式是否精确？</a:t>
            </a:r>
            <a:endParaRPr lang="en-US" altLang="zh-CN" b="1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31750" name="Rectangle 12">
            <a:extLst>
              <a:ext uri="{FF2B5EF4-FFF2-40B4-BE49-F238E27FC236}">
                <a16:creationId xmlns:a16="http://schemas.microsoft.com/office/drawing/2014/main" id="{615C6F47-4758-C847-BA62-48F37E971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6257925"/>
            <a:ext cx="4852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99"/>
                </a:solidFill>
                <a:ea typeface="宋体" panose="02010600030101010101" pitchFamily="2" charset="-122"/>
              </a:rPr>
              <a:t>求积公式的精确度如何度量？</a:t>
            </a:r>
            <a:endParaRPr lang="en-US" altLang="zh-CN" b="1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EC4473D8-4AD2-4F4C-A183-2A1FA5251BAC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10071E-4BC3-F842-8143-55668DFDEE7E}"/>
              </a:ext>
            </a:extLst>
          </p:cNvPr>
          <p:cNvSpPr/>
          <p:nvPr/>
        </p:nvSpPr>
        <p:spPr>
          <a:xfrm>
            <a:off x="468709" y="206118"/>
            <a:ext cx="78370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插值型</a:t>
            </a:r>
            <a:r>
              <a:rPr lang="zh-CN" altLang="en-US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求积公式</a:t>
            </a:r>
            <a:endParaRPr lang="en-CN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04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/>
      <p:bldP spid="3175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02" name="Group 10">
            <a:extLst>
              <a:ext uri="{FF2B5EF4-FFF2-40B4-BE49-F238E27FC236}">
                <a16:creationId xmlns:a16="http://schemas.microsoft.com/office/drawing/2014/main" id="{EA505F8E-F54C-A240-8E32-972441696BB4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81000"/>
            <a:ext cx="8534400" cy="1630363"/>
            <a:chOff x="192" y="816"/>
            <a:chExt cx="5376" cy="1027"/>
          </a:xfrm>
        </p:grpSpPr>
        <p:sp>
          <p:nvSpPr>
            <p:cNvPr id="33796" name="AutoShape 4" descr="水滴">
              <a:extLst>
                <a:ext uri="{FF2B5EF4-FFF2-40B4-BE49-F238E27FC236}">
                  <a16:creationId xmlns:a16="http://schemas.microsoft.com/office/drawing/2014/main" id="{94C1C2E2-69DF-5341-B390-A46FEC0BD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816"/>
              <a:ext cx="533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9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>
                <a:defRPr/>
              </a:pPr>
              <a:r>
                <a:rPr kumimoji="0" lang="zh-CN" altLang="en-US" b="1">
                  <a:solidFill>
                    <a:schemeClr val="accent2"/>
                  </a:solidFill>
                  <a:latin typeface="Times New Roman" charset="0"/>
                  <a:ea typeface="MS PGothic" charset="0"/>
                  <a:cs typeface="MS PGothic" charset="0"/>
                </a:rPr>
                <a:t>定义</a:t>
              </a:r>
              <a:endParaRPr kumimoji="0" lang="en-US" altLang="zh-CN" b="1">
                <a:solidFill>
                  <a:schemeClr val="accent2"/>
                </a:solidFill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797" name="Text Box 5">
              <a:extLst>
                <a:ext uri="{FF2B5EF4-FFF2-40B4-BE49-F238E27FC236}">
                  <a16:creationId xmlns:a16="http://schemas.microsoft.com/office/drawing/2014/main" id="{8B6040CB-8749-8148-8ABC-456FDBFBA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819"/>
              <a:ext cx="5376" cy="1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algn="just" eaLnBrk="1" hangingPunct="1">
                <a:lnSpc>
                  <a:spcPct val="140000"/>
                </a:lnSpc>
                <a:defRPr/>
              </a:pPr>
              <a:r>
                <a:rPr lang="zh-CN" altLang="en-US" sz="2400" b="1"/>
                <a:t>　　　若某个求积公式所对应的误差</a:t>
              </a:r>
              <a:r>
                <a:rPr lang="en-US" altLang="zh-CN" sz="2400" b="1" i="1"/>
                <a:t>R</a:t>
              </a:r>
              <a:r>
                <a:rPr lang="en-US" altLang="zh-CN" sz="2400" b="1"/>
                <a:t>[ </a:t>
              </a:r>
              <a:r>
                <a:rPr lang="en-US" altLang="zh-CN" sz="2400" b="1" i="1"/>
                <a:t>f </a:t>
              </a:r>
              <a:r>
                <a:rPr lang="en-US" altLang="zh-CN" sz="2400" b="1"/>
                <a:t>]</a:t>
              </a:r>
              <a:r>
                <a:rPr lang="zh-CN" altLang="en-US" sz="2400" b="1"/>
                <a:t>满足：</a:t>
              </a:r>
              <a:r>
                <a:rPr lang="en-US" altLang="zh-CN" sz="2400" b="1" i="1"/>
                <a:t>R</a:t>
              </a:r>
              <a:r>
                <a:rPr lang="en-US" altLang="zh-CN" sz="2400" b="1"/>
                <a:t>[ </a:t>
              </a:r>
              <a:r>
                <a:rPr lang="en-US" altLang="zh-CN" sz="2400" b="1" i="1"/>
                <a:t>P</a:t>
              </a:r>
              <a:r>
                <a:rPr lang="en-US" altLang="zh-CN" sz="2400" b="1" i="1" baseline="-25000"/>
                <a:t>k</a:t>
              </a:r>
              <a:r>
                <a:rPr lang="en-US" altLang="zh-CN" sz="2400" b="1" i="1"/>
                <a:t> </a:t>
              </a:r>
              <a:r>
                <a:rPr lang="en-US" altLang="zh-CN" sz="2400" b="1"/>
                <a:t>]=0 </a:t>
              </a:r>
              <a:r>
                <a:rPr lang="zh-CN" altLang="en-US" sz="2400" b="1"/>
                <a:t>对</a:t>
              </a:r>
              <a:r>
                <a:rPr lang="zh-CN" altLang="en-US" sz="2400" b="1">
                  <a:solidFill>
                    <a:srgbClr val="FF0000"/>
                  </a:solidFill>
                </a:rPr>
                <a:t>任意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k</a:t>
              </a:r>
              <a:r>
                <a:rPr lang="en-US" altLang="zh-CN" sz="2400" b="1"/>
                <a:t> </a:t>
              </a:r>
              <a:r>
                <a:rPr lang="en-US" altLang="zh-CN" sz="2400" b="1">
                  <a:sym typeface="Symbol" charset="0"/>
                </a:rPr>
                <a:t> </a:t>
              </a:r>
              <a:r>
                <a:rPr lang="en-US" altLang="zh-CN" sz="2400" b="1" i="1">
                  <a:sym typeface="Symbol" charset="0"/>
                </a:rPr>
                <a:t>n </a:t>
              </a:r>
              <a:r>
                <a:rPr lang="zh-CN" altLang="en-US" sz="2400" b="1">
                  <a:sym typeface="Symbol" charset="0"/>
                </a:rPr>
                <a:t>阶</a:t>
              </a:r>
              <a:r>
                <a:rPr lang="zh-CN" altLang="en-US" sz="2400" b="1"/>
                <a:t>的多项式成立，且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R</a:t>
              </a:r>
              <a:r>
                <a:rPr lang="en-US" altLang="zh-CN" sz="2400" b="1"/>
                <a:t>[ </a:t>
              </a:r>
              <a:r>
                <a:rPr lang="en-US" altLang="zh-CN" sz="2400" b="1" i="1"/>
                <a:t>P</a:t>
              </a:r>
              <a:r>
                <a:rPr lang="en-US" altLang="zh-CN" sz="2400" b="1" i="1" baseline="-25000"/>
                <a:t>n</a:t>
              </a:r>
              <a:r>
                <a:rPr lang="en-US" altLang="zh-CN" sz="2400" b="1" baseline="-25000"/>
                <a:t>+1</a:t>
              </a:r>
              <a:r>
                <a:rPr lang="en-US" altLang="zh-CN" sz="2400" b="1" i="1"/>
                <a:t> </a:t>
              </a:r>
              <a:r>
                <a:rPr lang="en-US" altLang="zh-CN" sz="2400" b="1"/>
                <a:t>] </a:t>
              </a:r>
              <a:r>
                <a:rPr lang="en-US" altLang="zh-CN" sz="2400" b="1">
                  <a:sym typeface="Symbol" charset="0"/>
                </a:rPr>
                <a:t> </a:t>
              </a:r>
              <a:r>
                <a:rPr lang="en-US" altLang="zh-CN" sz="2400" b="1"/>
                <a:t>0 </a:t>
              </a:r>
              <a:r>
                <a:rPr lang="zh-CN" altLang="en-US" sz="2400" b="1"/>
                <a:t>对</a:t>
              </a:r>
              <a:r>
                <a:rPr lang="zh-CN" altLang="en-US" sz="2400" b="1">
                  <a:solidFill>
                    <a:srgbClr val="FF0000"/>
                  </a:solidFill>
                </a:rPr>
                <a:t>某个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n+</a:t>
              </a:r>
              <a:r>
                <a:rPr lang="en-US" altLang="zh-CN" sz="2400" b="1"/>
                <a:t>1 </a:t>
              </a:r>
              <a:r>
                <a:rPr lang="zh-CN" altLang="en-US" sz="2400" b="1"/>
                <a:t>阶多项式成立，则称此求积公式的</a:t>
              </a:r>
              <a:r>
                <a:rPr lang="zh-CN" altLang="en-US" sz="2400" b="1">
                  <a:solidFill>
                    <a:schemeClr val="accent2"/>
                  </a:solidFill>
                </a:rPr>
                <a:t>代数精度</a:t>
              </a:r>
              <a:r>
                <a:rPr lang="zh-CN" altLang="en-US" sz="2400" b="1"/>
                <a:t>为</a:t>
              </a:r>
              <a:r>
                <a:rPr lang="en-US" altLang="zh-CN" sz="2400" b="1" i="1"/>
                <a:t> 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n</a:t>
              </a:r>
              <a:r>
                <a:rPr lang="en-US" altLang="zh-CN" sz="2400" b="1"/>
                <a:t> </a:t>
              </a:r>
              <a:r>
                <a:rPr lang="zh-CN" altLang="en-US" sz="2400" b="1"/>
                <a:t>。</a:t>
              </a:r>
              <a:endParaRPr lang="en-US" altLang="zh-CN" sz="2400" b="1"/>
            </a:p>
          </p:txBody>
        </p:sp>
      </p:grpSp>
      <p:grpSp>
        <p:nvGrpSpPr>
          <p:cNvPr id="33811" name="Group 19">
            <a:extLst>
              <a:ext uri="{FF2B5EF4-FFF2-40B4-BE49-F238E27FC236}">
                <a16:creationId xmlns:a16="http://schemas.microsoft.com/office/drawing/2014/main" id="{17CCFB2B-ACD0-094D-95E6-5CB9F0FD6454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7543800" cy="1524000"/>
            <a:chOff x="192" y="1296"/>
            <a:chExt cx="4752" cy="960"/>
          </a:xfrm>
        </p:grpSpPr>
        <p:sp>
          <p:nvSpPr>
            <p:cNvPr id="33804" name="Text Box 12">
              <a:extLst>
                <a:ext uri="{FF2B5EF4-FFF2-40B4-BE49-F238E27FC236}">
                  <a16:creationId xmlns:a16="http://schemas.microsoft.com/office/drawing/2014/main" id="{1C0C3D24-B81E-2C4C-9763-45441F99D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296"/>
              <a:ext cx="3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solidFill>
                    <a:schemeClr val="accent2"/>
                  </a:solidFill>
                </a:rPr>
                <a:t>例：</a:t>
              </a:r>
              <a:r>
                <a:rPr lang="zh-CN" altLang="en-US" sz="2400" b="1"/>
                <a:t>对于</a:t>
              </a:r>
              <a:r>
                <a:rPr lang="en-US" altLang="zh-CN" sz="2400" b="1"/>
                <a:t>[</a:t>
              </a:r>
              <a:r>
                <a:rPr lang="en-US" altLang="zh-CN" sz="2400" b="1" i="1"/>
                <a:t>a</a:t>
              </a:r>
              <a:r>
                <a:rPr lang="en-US" altLang="zh-CN" sz="2400" b="1"/>
                <a:t>, </a:t>
              </a:r>
              <a:r>
                <a:rPr lang="en-US" altLang="zh-CN" sz="2400" b="1" i="1"/>
                <a:t>b</a:t>
              </a:r>
              <a:r>
                <a:rPr lang="en-US" altLang="zh-CN" sz="2400" b="1"/>
                <a:t>]</a:t>
              </a:r>
              <a:r>
                <a:rPr lang="zh-CN" altLang="en-US" sz="2400" b="1"/>
                <a:t>上</a:t>
              </a:r>
              <a:r>
                <a:rPr lang="en-US" altLang="zh-CN" sz="2400" b="1"/>
                <a:t>1</a:t>
              </a:r>
              <a:r>
                <a:rPr lang="zh-CN" altLang="en-US" sz="2400" b="1"/>
                <a:t>次插值，有</a:t>
              </a:r>
              <a:endParaRPr lang="en-US" altLang="zh-CN" sz="2400" b="1"/>
            </a:p>
          </p:txBody>
        </p:sp>
        <p:graphicFrame>
          <p:nvGraphicFramePr>
            <p:cNvPr id="35877" name="Object 14">
              <a:extLst>
                <a:ext uri="{FF2B5EF4-FFF2-40B4-BE49-F238E27FC236}">
                  <a16:creationId xmlns:a16="http://schemas.microsoft.com/office/drawing/2014/main" id="{95BCCF06-6D51-CA4F-B7B9-62468B86EE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1296"/>
            <a:ext cx="220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9497000" imgH="5270500" progId="Equation.3">
                    <p:embed/>
                  </p:oleObj>
                </mc:Choice>
                <mc:Fallback>
                  <p:oleObj name="Equation" r:id="rId10" imgW="39497000" imgH="5270500" progId="Equation.3">
                    <p:embed/>
                    <p:pic>
                      <p:nvPicPr>
                        <p:cNvPr id="35877" name="Object 14">
                          <a:extLst>
                            <a:ext uri="{FF2B5EF4-FFF2-40B4-BE49-F238E27FC236}">
                              <a16:creationId xmlns:a16="http://schemas.microsoft.com/office/drawing/2014/main" id="{95BCCF06-6D51-CA4F-B7B9-62468B86EE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296"/>
                          <a:ext cx="220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8" name="Object 15">
              <a:extLst>
                <a:ext uri="{FF2B5EF4-FFF2-40B4-BE49-F238E27FC236}">
                  <a16:creationId xmlns:a16="http://schemas.microsoft.com/office/drawing/2014/main" id="{7028D833-52F6-CF47-A3DD-CE2BF838F6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1584"/>
            <a:ext cx="3648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7881500" imgH="8191500" progId="Equation.3">
                    <p:embed/>
                  </p:oleObj>
                </mc:Choice>
                <mc:Fallback>
                  <p:oleObj name="Equation" r:id="rId12" imgW="67881500" imgH="8191500" progId="Equation.3">
                    <p:embed/>
                    <p:pic>
                      <p:nvPicPr>
                        <p:cNvPr id="35878" name="Object 15">
                          <a:extLst>
                            <a:ext uri="{FF2B5EF4-FFF2-40B4-BE49-F238E27FC236}">
                              <a16:creationId xmlns:a16="http://schemas.microsoft.com/office/drawing/2014/main" id="{7028D833-52F6-CF47-A3DD-CE2BF838F6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584"/>
                          <a:ext cx="3648" cy="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8" name="AutoShape 16">
              <a:extLst>
                <a:ext uri="{FF2B5EF4-FFF2-40B4-BE49-F238E27FC236}">
                  <a16:creationId xmlns:a16="http://schemas.microsoft.com/office/drawing/2014/main" id="{9C35AA47-DF1B-4A4C-998C-1672ACF90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728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09" name="AutoShape 17">
              <a:extLst>
                <a:ext uri="{FF2B5EF4-FFF2-40B4-BE49-F238E27FC236}">
                  <a16:creationId xmlns:a16="http://schemas.microsoft.com/office/drawing/2014/main" id="{F62480BD-49A1-DC4D-B984-FB41D55D9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728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10" name="Text Box 18">
              <a:extLst>
                <a:ext uri="{FF2B5EF4-FFF2-40B4-BE49-F238E27FC236}">
                  <a16:creationId xmlns:a16="http://schemas.microsoft.com/office/drawing/2014/main" id="{4C216320-299C-D54B-BAA1-44C381A93F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968"/>
              <a:ext cx="18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ea typeface="宋体" charset="0"/>
                  <a:cs typeface="宋体" charset="0"/>
                </a:rPr>
                <a:t>考察其代数精度。</a:t>
              </a:r>
              <a:endParaRPr lang="en-US" altLang="zh-CN" sz="2400" b="1">
                <a:ea typeface="宋体" charset="0"/>
                <a:cs typeface="宋体" charset="0"/>
              </a:endParaRPr>
            </a:p>
          </p:txBody>
        </p:sp>
      </p:grpSp>
      <p:grpSp>
        <p:nvGrpSpPr>
          <p:cNvPr id="33823" name="Group 31">
            <a:extLst>
              <a:ext uri="{FF2B5EF4-FFF2-40B4-BE49-F238E27FC236}">
                <a16:creationId xmlns:a16="http://schemas.microsoft.com/office/drawing/2014/main" id="{BF734206-3DCB-E04D-9616-88CD4910509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72200" y="3444875"/>
            <a:ext cx="2073275" cy="1403350"/>
            <a:chOff x="2352" y="2592"/>
            <a:chExt cx="1632" cy="1104"/>
          </a:xfrm>
        </p:grpSpPr>
        <p:sp>
          <p:nvSpPr>
            <p:cNvPr id="33824" name="AutoShape 32">
              <a:extLst>
                <a:ext uri="{FF2B5EF4-FFF2-40B4-BE49-F238E27FC236}">
                  <a16:creationId xmlns:a16="http://schemas.microsoft.com/office/drawing/2014/main" id="{8101B706-2459-5D45-8C12-E1A28977C92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2352" y="2592"/>
              <a:ext cx="1632" cy="528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25" name="Rectangle 33">
              <a:extLst>
                <a:ext uri="{FF2B5EF4-FFF2-40B4-BE49-F238E27FC236}">
                  <a16:creationId xmlns:a16="http://schemas.microsoft.com/office/drawing/2014/main" id="{287F6A4A-5491-1F45-99C3-E3BE017F43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52" y="3120"/>
              <a:ext cx="1632" cy="5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33822" name="Group 30">
            <a:extLst>
              <a:ext uri="{FF2B5EF4-FFF2-40B4-BE49-F238E27FC236}">
                <a16:creationId xmlns:a16="http://schemas.microsoft.com/office/drawing/2014/main" id="{56EE2E30-4A71-4A41-8CD3-A837DCF32D3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49963" y="3200400"/>
            <a:ext cx="2317750" cy="1952625"/>
            <a:chOff x="2256" y="2400"/>
            <a:chExt cx="1824" cy="1536"/>
          </a:xfrm>
        </p:grpSpPr>
        <p:sp>
          <p:nvSpPr>
            <p:cNvPr id="33812" name="Line 20">
              <a:extLst>
                <a:ext uri="{FF2B5EF4-FFF2-40B4-BE49-F238E27FC236}">
                  <a16:creationId xmlns:a16="http://schemas.microsoft.com/office/drawing/2014/main" id="{6D17E59A-50D3-2E46-A49E-8EC559A2E70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56" y="3696"/>
              <a:ext cx="182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13" name="Line 21">
              <a:extLst>
                <a:ext uri="{FF2B5EF4-FFF2-40B4-BE49-F238E27FC236}">
                  <a16:creationId xmlns:a16="http://schemas.microsoft.com/office/drawing/2014/main" id="{91698197-6D45-004B-A8D4-24A9ED34AED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352" y="2400"/>
              <a:ext cx="0" cy="12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14" name="Line 22">
              <a:extLst>
                <a:ext uri="{FF2B5EF4-FFF2-40B4-BE49-F238E27FC236}">
                  <a16:creationId xmlns:a16="http://schemas.microsoft.com/office/drawing/2014/main" id="{A7426A3D-AE82-8E42-8F50-4F4253DC90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984" y="2400"/>
              <a:ext cx="0" cy="12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16" name="Freeform 24">
              <a:extLst>
                <a:ext uri="{FF2B5EF4-FFF2-40B4-BE49-F238E27FC236}">
                  <a16:creationId xmlns:a16="http://schemas.microsoft.com/office/drawing/2014/main" id="{901DEEE9-F254-8046-8F8D-009BBCEAC63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52" y="2584"/>
              <a:ext cx="1632" cy="537"/>
            </a:xfrm>
            <a:custGeom>
              <a:avLst/>
              <a:gdLst>
                <a:gd name="T0" fmla="*/ 0 w 1632"/>
                <a:gd name="T1" fmla="*/ 539 h 536"/>
                <a:gd name="T2" fmla="*/ 144 w 1632"/>
                <a:gd name="T3" fmla="*/ 395 h 536"/>
                <a:gd name="T4" fmla="*/ 336 w 1632"/>
                <a:gd name="T5" fmla="*/ 347 h 536"/>
                <a:gd name="T6" fmla="*/ 576 w 1632"/>
                <a:gd name="T7" fmla="*/ 395 h 536"/>
                <a:gd name="T8" fmla="*/ 816 w 1632"/>
                <a:gd name="T9" fmla="*/ 347 h 536"/>
                <a:gd name="T10" fmla="*/ 1200 w 1632"/>
                <a:gd name="T11" fmla="*/ 56 h 536"/>
                <a:gd name="T12" fmla="*/ 1632 w 1632"/>
                <a:gd name="T13" fmla="*/ 8 h 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2" h="536">
                  <a:moveTo>
                    <a:pt x="0" y="536"/>
                  </a:moveTo>
                  <a:cubicBezTo>
                    <a:pt x="44" y="480"/>
                    <a:pt x="88" y="424"/>
                    <a:pt x="144" y="392"/>
                  </a:cubicBezTo>
                  <a:cubicBezTo>
                    <a:pt x="200" y="360"/>
                    <a:pt x="264" y="344"/>
                    <a:pt x="336" y="344"/>
                  </a:cubicBezTo>
                  <a:cubicBezTo>
                    <a:pt x="408" y="344"/>
                    <a:pt x="496" y="392"/>
                    <a:pt x="576" y="392"/>
                  </a:cubicBezTo>
                  <a:cubicBezTo>
                    <a:pt x="656" y="392"/>
                    <a:pt x="712" y="400"/>
                    <a:pt x="816" y="344"/>
                  </a:cubicBezTo>
                  <a:cubicBezTo>
                    <a:pt x="920" y="288"/>
                    <a:pt x="1064" y="112"/>
                    <a:pt x="1200" y="56"/>
                  </a:cubicBezTo>
                  <a:cubicBezTo>
                    <a:pt x="1336" y="0"/>
                    <a:pt x="1484" y="4"/>
                    <a:pt x="1632" y="8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33819" name="Text Box 27">
              <a:extLst>
                <a:ext uri="{FF2B5EF4-FFF2-40B4-BE49-F238E27FC236}">
                  <a16:creationId xmlns:a16="http://schemas.microsoft.com/office/drawing/2014/main" id="{DD48E23E-B302-DB44-9E2A-E02B7716334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215" y="2400"/>
              <a:ext cx="43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800" b="1" i="1">
                  <a:solidFill>
                    <a:schemeClr val="accent2"/>
                  </a:solidFill>
                </a:rPr>
                <a:t>f</a:t>
              </a:r>
              <a:r>
                <a:rPr lang="en-US" altLang="zh-CN" sz="1800" b="1">
                  <a:solidFill>
                    <a:schemeClr val="accent2"/>
                  </a:solidFill>
                </a:rPr>
                <a:t>(</a:t>
              </a:r>
              <a:r>
                <a:rPr lang="en-US" altLang="zh-CN" sz="18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1800" b="1">
                  <a:solidFill>
                    <a:schemeClr val="accent2"/>
                  </a:solidFill>
                </a:rPr>
                <a:t>)</a:t>
              </a:r>
              <a:endParaRPr lang="en-US" altLang="zh-CN" sz="1800" b="1" i="1">
                <a:solidFill>
                  <a:schemeClr val="accent2"/>
                </a:solidFill>
              </a:endParaRPr>
            </a:p>
          </p:txBody>
        </p:sp>
        <p:sp>
          <p:nvSpPr>
            <p:cNvPr id="33820" name="Text Box 28">
              <a:extLst>
                <a:ext uri="{FF2B5EF4-FFF2-40B4-BE49-F238E27FC236}">
                  <a16:creationId xmlns:a16="http://schemas.microsoft.com/office/drawing/2014/main" id="{99E93A84-68F5-E54C-A97D-E1456CE18DA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56" y="364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latin typeface="Times New Roman" charset="0"/>
                  <a:ea typeface="楷体_GB2312" charset="0"/>
                  <a:cs typeface="楷体_GB2312" charset="0"/>
                </a:rPr>
                <a:t>a</a:t>
              </a:r>
            </a:p>
          </p:txBody>
        </p:sp>
        <p:sp>
          <p:nvSpPr>
            <p:cNvPr id="33821" name="Text Box 29">
              <a:extLst>
                <a:ext uri="{FF2B5EF4-FFF2-40B4-BE49-F238E27FC236}">
                  <a16:creationId xmlns:a16="http://schemas.microsoft.com/office/drawing/2014/main" id="{046F7FB1-5589-D045-A64B-C33A28645B6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88" y="364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latin typeface="Times New Roman" charset="0"/>
                  <a:ea typeface="楷体_GB2312" charset="0"/>
                  <a:cs typeface="楷体_GB2312" charset="0"/>
                </a:rPr>
                <a:t>b</a:t>
              </a:r>
            </a:p>
          </p:txBody>
        </p:sp>
      </p:grpSp>
      <p:grpSp>
        <p:nvGrpSpPr>
          <p:cNvPr id="33830" name="Group 38">
            <a:extLst>
              <a:ext uri="{FF2B5EF4-FFF2-40B4-BE49-F238E27FC236}">
                <a16:creationId xmlns:a16="http://schemas.microsoft.com/office/drawing/2014/main" id="{387381AE-2ECF-CA42-9C13-6F55A5ABD1F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62600" y="4116388"/>
            <a:ext cx="609600" cy="731837"/>
            <a:chOff x="1872" y="3120"/>
            <a:chExt cx="480" cy="576"/>
          </a:xfrm>
        </p:grpSpPr>
        <p:sp>
          <p:nvSpPr>
            <p:cNvPr id="33826" name="AutoShape 34">
              <a:extLst>
                <a:ext uri="{FF2B5EF4-FFF2-40B4-BE49-F238E27FC236}">
                  <a16:creationId xmlns:a16="http://schemas.microsoft.com/office/drawing/2014/main" id="{F41C2633-7EB4-B54E-8A8E-3849995B1EA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256" y="3120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27" name="Text Box 35">
              <a:extLst>
                <a:ext uri="{FF2B5EF4-FFF2-40B4-BE49-F238E27FC236}">
                  <a16:creationId xmlns:a16="http://schemas.microsoft.com/office/drawing/2014/main" id="{CF01ECFC-AFF4-1348-AE65-B280ADD3A5D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872" y="3262"/>
              <a:ext cx="433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800" b="1" i="1">
                  <a:solidFill>
                    <a:schemeClr val="accent2"/>
                  </a:solidFill>
                </a:rPr>
                <a:t>f</a:t>
              </a:r>
              <a:r>
                <a:rPr lang="en-US" altLang="zh-CN" sz="1800" b="1">
                  <a:solidFill>
                    <a:schemeClr val="accent2"/>
                  </a:solidFill>
                </a:rPr>
                <a:t>(</a:t>
              </a:r>
              <a:r>
                <a:rPr lang="en-US" altLang="zh-CN" sz="1800" b="1" i="1">
                  <a:solidFill>
                    <a:schemeClr val="accent2"/>
                  </a:solidFill>
                </a:rPr>
                <a:t>a</a:t>
              </a:r>
              <a:r>
                <a:rPr lang="en-US" altLang="zh-CN" sz="1800" b="1">
                  <a:solidFill>
                    <a:schemeClr val="accent2"/>
                  </a:solidFill>
                </a:rPr>
                <a:t>)</a:t>
              </a:r>
              <a:endParaRPr lang="en-US" altLang="zh-CN" sz="1800"/>
            </a:p>
          </p:txBody>
        </p:sp>
      </p:grpSp>
      <p:grpSp>
        <p:nvGrpSpPr>
          <p:cNvPr id="33831" name="Group 39">
            <a:extLst>
              <a:ext uri="{FF2B5EF4-FFF2-40B4-BE49-F238E27FC236}">
                <a16:creationId xmlns:a16="http://schemas.microsoft.com/office/drawing/2014/main" id="{ECD17BB1-0771-7D4E-99B3-F0C46B2CFFC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45475" y="3444875"/>
            <a:ext cx="671513" cy="1403350"/>
            <a:chOff x="3984" y="2592"/>
            <a:chExt cx="528" cy="1104"/>
          </a:xfrm>
        </p:grpSpPr>
        <p:sp>
          <p:nvSpPr>
            <p:cNvPr id="33828" name="AutoShape 36">
              <a:extLst>
                <a:ext uri="{FF2B5EF4-FFF2-40B4-BE49-F238E27FC236}">
                  <a16:creationId xmlns:a16="http://schemas.microsoft.com/office/drawing/2014/main" id="{814AE7E2-2456-134E-985E-E4F75A0255C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84" y="2592"/>
              <a:ext cx="96" cy="1104"/>
            </a:xfrm>
            <a:prstGeom prst="rightBrace">
              <a:avLst>
                <a:gd name="adj1" fmla="val 95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3829" name="Text Box 37">
              <a:extLst>
                <a:ext uri="{FF2B5EF4-FFF2-40B4-BE49-F238E27FC236}">
                  <a16:creationId xmlns:a16="http://schemas.microsoft.com/office/drawing/2014/main" id="{0BBE2A86-D4D5-D943-A1A7-38C95698860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80" y="3027"/>
              <a:ext cx="43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800" b="1" i="1">
                  <a:solidFill>
                    <a:schemeClr val="accent2"/>
                  </a:solidFill>
                </a:rPr>
                <a:t>f</a:t>
              </a:r>
              <a:r>
                <a:rPr lang="en-US" altLang="zh-CN" sz="1800" b="1">
                  <a:solidFill>
                    <a:schemeClr val="accent2"/>
                  </a:solidFill>
                </a:rPr>
                <a:t>(</a:t>
              </a:r>
              <a:r>
                <a:rPr lang="en-US" altLang="zh-CN" sz="1800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1800" b="1">
                  <a:solidFill>
                    <a:schemeClr val="accent2"/>
                  </a:solidFill>
                </a:rPr>
                <a:t>)</a:t>
              </a:r>
              <a:endParaRPr lang="en-US" altLang="zh-CN" sz="1800"/>
            </a:p>
          </p:txBody>
        </p:sp>
      </p:grpSp>
      <p:sp>
        <p:nvSpPr>
          <p:cNvPr id="33833" name="AutoShape 41">
            <a:extLst>
              <a:ext uri="{FF2B5EF4-FFF2-40B4-BE49-F238E27FC236}">
                <a16:creationId xmlns:a16="http://schemas.microsoft.com/office/drawing/2014/main" id="{A1439A47-A27A-1441-8E09-890B6E2AA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886200"/>
            <a:ext cx="3733800" cy="1143000"/>
          </a:xfrm>
          <a:prstGeom prst="wedgeEllipseCallout">
            <a:avLst>
              <a:gd name="adj1" fmla="val 36736"/>
              <a:gd name="adj2" fmla="val -135139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chemeClr val="accent2"/>
                </a:solidFill>
                <a:sym typeface="Symbol" pitchFamily="2" charset="2"/>
              </a:rPr>
              <a:t>梯形公式</a:t>
            </a:r>
            <a:endParaRPr lang="en-US" altLang="zh-CN" sz="2400" b="1">
              <a:solidFill>
                <a:schemeClr val="accent2"/>
              </a:solidFill>
              <a:sym typeface="Symbol" pitchFamily="2" charset="2"/>
            </a:endParaRPr>
          </a:p>
          <a:p>
            <a:pPr algn="ctr" eaLnBrk="1" hangingPunct="1"/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  <a:sym typeface="Symbol" pitchFamily="2" charset="2"/>
              </a:rPr>
              <a:t>/* trapezoidal rule*/</a:t>
            </a:r>
            <a:endParaRPr lang="en-US" altLang="zh-CN" sz="2000" b="1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33836" name="Text Box 44">
            <a:extLst>
              <a:ext uri="{FF2B5EF4-FFF2-40B4-BE49-F238E27FC236}">
                <a16:creationId xmlns:a16="http://schemas.microsoft.com/office/drawing/2014/main" id="{0D5B663C-4518-AB48-96BD-2445CD496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502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</a:rPr>
              <a:t>解：</a:t>
            </a:r>
            <a:r>
              <a:rPr lang="zh-CN" altLang="en-US" sz="2400" b="1"/>
              <a:t>逐次检查公式是否精确成立</a:t>
            </a:r>
            <a:endParaRPr lang="en-US" altLang="zh-CN" sz="2400" b="1"/>
          </a:p>
        </p:txBody>
      </p:sp>
      <p:sp>
        <p:nvSpPr>
          <p:cNvPr id="33837" name="Text Box 45">
            <a:extLst>
              <a:ext uri="{FF2B5EF4-FFF2-40B4-BE49-F238E27FC236}">
                <a16:creationId xmlns:a16="http://schemas.microsoft.com/office/drawing/2014/main" id="{E692ED7F-F64E-7B40-AC45-92A0DD7B9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2672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代入</a:t>
            </a:r>
            <a:r>
              <a:rPr lang="en-US" altLang="zh-CN" sz="2400" b="1">
                <a:ea typeface="宋体" charset="0"/>
                <a:cs typeface="宋体" charset="0"/>
              </a:rPr>
              <a:t> </a:t>
            </a:r>
            <a:r>
              <a:rPr lang="en-US" altLang="zh-CN" sz="2400" b="1" i="1">
                <a:ea typeface="宋体" charset="0"/>
                <a:cs typeface="宋体" charset="0"/>
              </a:rPr>
              <a:t>P</a:t>
            </a:r>
            <a:r>
              <a:rPr lang="en-US" altLang="zh-CN" sz="2400" b="1" baseline="-25000">
                <a:ea typeface="宋体" charset="0"/>
                <a:cs typeface="宋体" charset="0"/>
              </a:rPr>
              <a:t>0</a:t>
            </a:r>
            <a:r>
              <a:rPr lang="en-US" altLang="zh-CN" sz="2400" b="1">
                <a:ea typeface="宋体" charset="0"/>
                <a:cs typeface="宋体" charset="0"/>
              </a:rPr>
              <a:t> = 1</a:t>
            </a:r>
            <a:r>
              <a:rPr lang="zh-CN" altLang="en-US" sz="2400" b="1">
                <a:ea typeface="宋体" charset="0"/>
                <a:cs typeface="宋体" charset="0"/>
              </a:rPr>
              <a:t>：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graphicFrame>
        <p:nvGraphicFramePr>
          <p:cNvPr id="33838" name="Object 46">
            <a:extLst>
              <a:ext uri="{FF2B5EF4-FFF2-40B4-BE49-F238E27FC236}">
                <a16:creationId xmlns:a16="http://schemas.microsoft.com/office/drawing/2014/main" id="{6F666CE6-A1A8-B348-A0E3-6B9238CE26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191000"/>
          <a:ext cx="16240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361400" imgH="8191500" progId="Equation.3">
                  <p:embed/>
                </p:oleObj>
              </mc:Choice>
              <mc:Fallback>
                <p:oleObj name="Equation" r:id="rId14" imgW="21361400" imgH="8191500" progId="Equation.3">
                  <p:embed/>
                  <p:pic>
                    <p:nvPicPr>
                      <p:cNvPr id="33838" name="Object 46">
                        <a:extLst>
                          <a:ext uri="{FF2B5EF4-FFF2-40B4-BE49-F238E27FC236}">
                            <a16:creationId xmlns:a16="http://schemas.microsoft.com/office/drawing/2014/main" id="{6F666CE6-A1A8-B348-A0E3-6B9238CE26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191000"/>
                        <a:ext cx="162401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9" name="Object 47">
            <a:extLst>
              <a:ext uri="{FF2B5EF4-FFF2-40B4-BE49-F238E27FC236}">
                <a16:creationId xmlns:a16="http://schemas.microsoft.com/office/drawing/2014/main" id="{7328BE8D-8062-CF40-AB2B-565F968B9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4238625"/>
          <a:ext cx="12192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754100" imgH="5270500" progId="Equation.3">
                  <p:embed/>
                </p:oleObj>
              </mc:Choice>
              <mc:Fallback>
                <p:oleObj name="Equation" r:id="rId16" imgW="13754100" imgH="5270500" progId="Equation.3">
                  <p:embed/>
                  <p:pic>
                    <p:nvPicPr>
                      <p:cNvPr id="33839" name="Object 47">
                        <a:extLst>
                          <a:ext uri="{FF2B5EF4-FFF2-40B4-BE49-F238E27FC236}">
                            <a16:creationId xmlns:a16="http://schemas.microsoft.com/office/drawing/2014/main" id="{7328BE8D-8062-CF40-AB2B-565F968B9F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238625"/>
                        <a:ext cx="12192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40" name="Text Box 48">
            <a:extLst>
              <a:ext uri="{FF2B5EF4-FFF2-40B4-BE49-F238E27FC236}">
                <a16:creationId xmlns:a16="http://schemas.microsoft.com/office/drawing/2014/main" id="{4FB695A9-C4CB-8B4F-82E6-BEA0BBD8B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267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b="1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=</a:t>
            </a:r>
          </a:p>
        </p:txBody>
      </p:sp>
      <p:sp>
        <p:nvSpPr>
          <p:cNvPr id="33841" name="Text Box 49">
            <a:extLst>
              <a:ext uri="{FF2B5EF4-FFF2-40B4-BE49-F238E27FC236}">
                <a16:creationId xmlns:a16="http://schemas.microsoft.com/office/drawing/2014/main" id="{C036141A-5BF7-894E-924E-8181D20BA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9530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代入</a:t>
            </a:r>
            <a:r>
              <a:rPr lang="en-US" altLang="zh-CN" sz="2400" b="1">
                <a:ea typeface="宋体" charset="0"/>
                <a:cs typeface="宋体" charset="0"/>
              </a:rPr>
              <a:t> </a:t>
            </a:r>
            <a:r>
              <a:rPr lang="en-US" altLang="zh-CN" sz="2400" b="1" i="1">
                <a:ea typeface="宋体" charset="0"/>
                <a:cs typeface="宋体" charset="0"/>
              </a:rPr>
              <a:t>P</a:t>
            </a:r>
            <a:r>
              <a:rPr lang="en-US" altLang="zh-CN" sz="2400" b="1" baseline="-25000">
                <a:ea typeface="宋体" charset="0"/>
                <a:cs typeface="宋体" charset="0"/>
              </a:rPr>
              <a:t>1</a:t>
            </a:r>
            <a:r>
              <a:rPr lang="en-US" altLang="zh-CN" sz="2400" b="1">
                <a:ea typeface="宋体" charset="0"/>
                <a:cs typeface="宋体" charset="0"/>
              </a:rPr>
              <a:t> = </a:t>
            </a:r>
            <a:r>
              <a:rPr lang="en-US" altLang="zh-CN" sz="2400" b="1" i="1">
                <a:ea typeface="宋体" charset="0"/>
                <a:cs typeface="宋体" charset="0"/>
              </a:rPr>
              <a:t>x </a:t>
            </a:r>
            <a:r>
              <a:rPr lang="zh-CN" altLang="en-US" sz="2400" b="1">
                <a:ea typeface="宋体" charset="0"/>
                <a:cs typeface="宋体" charset="0"/>
              </a:rPr>
              <a:t>：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sp>
        <p:nvSpPr>
          <p:cNvPr id="33842" name="Text Box 50">
            <a:extLst>
              <a:ext uri="{FF2B5EF4-FFF2-40B4-BE49-F238E27FC236}">
                <a16:creationId xmlns:a16="http://schemas.microsoft.com/office/drawing/2014/main" id="{E82A789E-942E-504F-BEF8-C21F0C799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138" y="4953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b="1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=</a:t>
            </a:r>
          </a:p>
        </p:txBody>
      </p:sp>
      <p:sp>
        <p:nvSpPr>
          <p:cNvPr id="33843" name="Text Box 51">
            <a:extLst>
              <a:ext uri="{FF2B5EF4-FFF2-40B4-BE49-F238E27FC236}">
                <a16:creationId xmlns:a16="http://schemas.microsoft.com/office/drawing/2014/main" id="{D5A96C72-04AD-494B-852E-CFDEA84F2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7150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a typeface="宋体" charset="0"/>
                <a:cs typeface="宋体" charset="0"/>
              </a:rPr>
              <a:t>代入</a:t>
            </a:r>
            <a:r>
              <a:rPr lang="en-US" altLang="zh-CN" sz="2400" b="1">
                <a:ea typeface="宋体" charset="0"/>
                <a:cs typeface="宋体" charset="0"/>
              </a:rPr>
              <a:t> </a:t>
            </a:r>
            <a:r>
              <a:rPr lang="en-US" altLang="zh-CN" sz="2400" b="1" i="1">
                <a:ea typeface="宋体" charset="0"/>
                <a:cs typeface="宋体" charset="0"/>
              </a:rPr>
              <a:t>P</a:t>
            </a:r>
            <a:r>
              <a:rPr lang="en-US" altLang="zh-CN" sz="2400" b="1" baseline="-25000">
                <a:ea typeface="宋体" charset="0"/>
                <a:cs typeface="宋体" charset="0"/>
              </a:rPr>
              <a:t>2</a:t>
            </a:r>
            <a:r>
              <a:rPr lang="en-US" altLang="zh-CN" sz="2400" b="1">
                <a:ea typeface="宋体" charset="0"/>
                <a:cs typeface="宋体" charset="0"/>
              </a:rPr>
              <a:t> = </a:t>
            </a:r>
            <a:r>
              <a:rPr lang="en-US" altLang="zh-CN" sz="2400" b="1" i="1">
                <a:ea typeface="宋体" charset="0"/>
                <a:cs typeface="宋体" charset="0"/>
              </a:rPr>
              <a:t>x</a:t>
            </a:r>
            <a:r>
              <a:rPr lang="en-US" altLang="zh-CN" sz="2400" b="1" baseline="30000">
                <a:ea typeface="宋体" charset="0"/>
                <a:cs typeface="宋体" charset="0"/>
              </a:rPr>
              <a:t>2 </a:t>
            </a:r>
            <a:r>
              <a:rPr lang="zh-CN" altLang="en-US" sz="2400" b="1">
                <a:ea typeface="宋体" charset="0"/>
                <a:cs typeface="宋体" charset="0"/>
              </a:rPr>
              <a:t>：</a:t>
            </a:r>
            <a:endParaRPr lang="en-US" altLang="zh-CN" sz="2400" b="1">
              <a:ea typeface="宋体" charset="0"/>
              <a:cs typeface="宋体" charset="0"/>
            </a:endParaRPr>
          </a:p>
        </p:txBody>
      </p:sp>
      <p:sp>
        <p:nvSpPr>
          <p:cNvPr id="33844" name="Text Box 52">
            <a:extLst>
              <a:ext uri="{FF2B5EF4-FFF2-40B4-BE49-F238E27FC236}">
                <a16:creationId xmlns:a16="http://schemas.microsoft.com/office/drawing/2014/main" id="{3DB8CFD5-7B44-3841-BF63-52DE7344B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715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b="1">
                <a:solidFill>
                  <a:srgbClr val="FF0000"/>
                </a:solidFill>
                <a:sym typeface="Symbol" charset="0"/>
              </a:rPr>
              <a:t>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graphicFrame>
        <p:nvGraphicFramePr>
          <p:cNvPr id="33845" name="Object 53">
            <a:extLst>
              <a:ext uri="{FF2B5EF4-FFF2-40B4-BE49-F238E27FC236}">
                <a16:creationId xmlns:a16="http://schemas.microsoft.com/office/drawing/2014/main" id="{559284AF-B9A8-4B41-9503-0B6C2969C8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4876800"/>
          <a:ext cx="16002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485100" imgH="8191500" progId="Equation.3">
                  <p:embed/>
                </p:oleObj>
              </mc:Choice>
              <mc:Fallback>
                <p:oleObj name="Equation" r:id="rId18" imgW="20485100" imgH="8191500" progId="Equation.3">
                  <p:embed/>
                  <p:pic>
                    <p:nvPicPr>
                      <p:cNvPr id="33845" name="Object 53">
                        <a:extLst>
                          <a:ext uri="{FF2B5EF4-FFF2-40B4-BE49-F238E27FC236}">
                            <a16:creationId xmlns:a16="http://schemas.microsoft.com/office/drawing/2014/main" id="{559284AF-B9A8-4B41-9503-0B6C2969C8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876800"/>
                        <a:ext cx="16002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46" name="Object 54">
            <a:extLst>
              <a:ext uri="{FF2B5EF4-FFF2-40B4-BE49-F238E27FC236}">
                <a16:creationId xmlns:a16="http://schemas.microsoft.com/office/drawing/2014/main" id="{1DB8217C-5F87-6B4E-95C6-B5CA844DEC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4953000"/>
          <a:ext cx="11430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338300" imgH="5270500" progId="Equation.3">
                  <p:embed/>
                </p:oleObj>
              </mc:Choice>
              <mc:Fallback>
                <p:oleObj name="Equation" r:id="rId20" imgW="14338300" imgH="5270500" progId="Equation.3">
                  <p:embed/>
                  <p:pic>
                    <p:nvPicPr>
                      <p:cNvPr id="33846" name="Object 54">
                        <a:extLst>
                          <a:ext uri="{FF2B5EF4-FFF2-40B4-BE49-F238E27FC236}">
                            <a16:creationId xmlns:a16="http://schemas.microsoft.com/office/drawing/2014/main" id="{1DB8217C-5F87-6B4E-95C6-B5CA844DE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953000"/>
                        <a:ext cx="11430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47" name="Object 55">
            <a:extLst>
              <a:ext uri="{FF2B5EF4-FFF2-40B4-BE49-F238E27FC236}">
                <a16:creationId xmlns:a16="http://schemas.microsoft.com/office/drawing/2014/main" id="{DE6BD7A9-95F1-584E-9F2A-A7EEF8CE54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5638800"/>
          <a:ext cx="16764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1653500" imgH="8191500" progId="Equation.3">
                  <p:embed/>
                </p:oleObj>
              </mc:Choice>
              <mc:Fallback>
                <p:oleObj name="Equation" r:id="rId22" imgW="21653500" imgH="8191500" progId="Equation.3">
                  <p:embed/>
                  <p:pic>
                    <p:nvPicPr>
                      <p:cNvPr id="33847" name="Object 55">
                        <a:extLst>
                          <a:ext uri="{FF2B5EF4-FFF2-40B4-BE49-F238E27FC236}">
                            <a16:creationId xmlns:a16="http://schemas.microsoft.com/office/drawing/2014/main" id="{DE6BD7A9-95F1-584E-9F2A-A7EEF8CE54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638800"/>
                        <a:ext cx="16764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48" name="Object 56">
            <a:extLst>
              <a:ext uri="{FF2B5EF4-FFF2-40B4-BE49-F238E27FC236}">
                <a16:creationId xmlns:a16="http://schemas.microsoft.com/office/drawing/2014/main" id="{AFE338FB-78C4-2445-8EB8-78B53B7345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5715000"/>
          <a:ext cx="152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551400" imgH="5562600" progId="Equation.3">
                  <p:embed/>
                </p:oleObj>
              </mc:Choice>
              <mc:Fallback>
                <p:oleObj name="Equation" r:id="rId24" imgW="17551400" imgH="5562600" progId="Equation.3">
                  <p:embed/>
                  <p:pic>
                    <p:nvPicPr>
                      <p:cNvPr id="33848" name="Object 56">
                        <a:extLst>
                          <a:ext uri="{FF2B5EF4-FFF2-40B4-BE49-F238E27FC236}">
                            <a16:creationId xmlns:a16="http://schemas.microsoft.com/office/drawing/2014/main" id="{AFE338FB-78C4-2445-8EB8-78B53B7345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715000"/>
                        <a:ext cx="1524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49" name="Text Box 57">
            <a:extLst>
              <a:ext uri="{FF2B5EF4-FFF2-40B4-BE49-F238E27FC236}">
                <a16:creationId xmlns:a16="http://schemas.microsoft.com/office/drawing/2014/main" id="{E0886293-539E-D248-AA18-0410B8B45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48640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b="1">
                <a:solidFill>
                  <a:schemeClr val="accent2"/>
                </a:solidFill>
                <a:ea typeface="宋体" charset="0"/>
                <a:cs typeface="宋体" charset="0"/>
              </a:rPr>
              <a:t>代数精度</a:t>
            </a:r>
            <a:r>
              <a:rPr lang="en-US" altLang="zh-CN" b="1">
                <a:solidFill>
                  <a:schemeClr val="accent2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b="1" i="1">
                <a:solidFill>
                  <a:schemeClr val="accent2"/>
                </a:solidFill>
                <a:ea typeface="宋体" charset="0"/>
                <a:cs typeface="宋体" charset="0"/>
              </a:rPr>
              <a:t>= </a:t>
            </a:r>
            <a:r>
              <a:rPr lang="en-US" altLang="zh-CN" b="1">
                <a:solidFill>
                  <a:schemeClr val="accent2"/>
                </a:solidFill>
                <a:ea typeface="宋体" charset="0"/>
                <a:cs typeface="宋体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085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38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8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338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8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38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38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8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338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338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8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33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338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3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3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38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33" grpId="0" animBg="1" autoUpdateAnimBg="0"/>
      <p:bldP spid="33836" grpId="0" autoUpdateAnimBg="0"/>
      <p:bldP spid="33837" grpId="0" autoUpdateAnimBg="0"/>
      <p:bldP spid="33840" grpId="0" autoUpdateAnimBg="0"/>
      <p:bldP spid="33841" grpId="0" autoUpdateAnimBg="0"/>
      <p:bldP spid="33842" grpId="0" autoUpdateAnimBg="0"/>
      <p:bldP spid="33843" grpId="0" autoUpdateAnimBg="0"/>
      <p:bldP spid="33844" grpId="0" autoUpdateAnimBg="0"/>
      <p:bldP spid="3384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4">
            <a:extLst>
              <a:ext uri="{FF2B5EF4-FFF2-40B4-BE49-F238E27FC236}">
                <a16:creationId xmlns:a16="http://schemas.microsoft.com/office/drawing/2014/main" id="{121A87EA-133F-3044-9AD5-9EA83B26ED0B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295400"/>
            <a:ext cx="8229600" cy="1524000"/>
            <a:chOff x="288" y="288"/>
            <a:chExt cx="5184" cy="960"/>
          </a:xfrm>
        </p:grpSpPr>
        <p:sp>
          <p:nvSpPr>
            <p:cNvPr id="3" name="AutoShape 33" descr="再生纸">
              <a:extLst>
                <a:ext uri="{FF2B5EF4-FFF2-40B4-BE49-F238E27FC236}">
                  <a16:creationId xmlns:a16="http://schemas.microsoft.com/office/drawing/2014/main" id="{D4807A90-2D60-DE4F-8AE2-027EE856F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88"/>
              <a:ext cx="5184" cy="960"/>
            </a:xfrm>
            <a:prstGeom prst="roundRect">
              <a:avLst>
                <a:gd name="adj" fmla="val 16667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577850" indent="-577850">
                <a:lnSpc>
                  <a:spcPct val="150000"/>
                </a:lnSpc>
                <a:defRPr/>
              </a:pPr>
              <a:r>
                <a:rPr lang="zh-CN" altLang="en-US" sz="2400" b="1" dirty="0">
                  <a:solidFill>
                    <a:schemeClr val="accent2"/>
                  </a:solidFill>
                  <a:latin typeface="Times New Roman" charset="0"/>
                  <a:ea typeface="MS PGothic" charset="0"/>
                  <a:cs typeface="MS PGothic" charset="0"/>
                </a:rPr>
                <a:t>注：</a:t>
              </a:r>
              <a:r>
                <a:rPr lang="zh-CN" altLang="en-US" sz="2400" b="1" dirty="0">
                  <a:latin typeface="Times New Roman" charset="0"/>
                  <a:ea typeface="MS PGothic" charset="0"/>
                  <a:cs typeface="MS PGothic" charset="0"/>
                </a:rPr>
                <a:t>形如</a:t>
              </a:r>
              <a:r>
                <a:rPr lang="en-US" altLang="zh-CN" sz="2400" b="1" dirty="0">
                  <a:latin typeface="Times New Roman" charset="0"/>
                  <a:ea typeface="MS PGothic" charset="0"/>
                  <a:cs typeface="MS PGothic" charset="0"/>
                </a:rPr>
                <a:t>                  </a:t>
              </a:r>
              <a:r>
                <a:rPr lang="zh-CN" altLang="en-US" sz="2400" b="1" dirty="0">
                  <a:latin typeface="Times New Roman" charset="0"/>
                  <a:ea typeface="MS PGothic" charset="0"/>
                  <a:cs typeface="MS PGothic" charset="0"/>
                </a:rPr>
                <a:t>的求积公式至少有</a:t>
              </a:r>
              <a:r>
                <a:rPr lang="en-US" altLang="zh-CN" sz="2400" b="1" dirty="0">
                  <a:latin typeface="Times New Roman" charset="0"/>
                  <a:ea typeface="MS PGothic" charset="0"/>
                  <a:cs typeface="MS PGothic" charset="0"/>
                </a:rPr>
                <a:t> </a:t>
              </a:r>
              <a:r>
                <a:rPr lang="en-US" altLang="zh-CN" sz="2400" b="1" i="1" dirty="0">
                  <a:solidFill>
                    <a:schemeClr val="accent2"/>
                  </a:solidFill>
                  <a:latin typeface="Times New Roman" charset="0"/>
                  <a:ea typeface="MS PGothic" charset="0"/>
                  <a:cs typeface="MS PGothic" charset="0"/>
                </a:rPr>
                <a:t>n</a:t>
              </a:r>
              <a:r>
                <a:rPr lang="en-US" altLang="zh-CN" sz="2400" b="1" dirty="0">
                  <a:latin typeface="Times New Roman" charset="0"/>
                  <a:ea typeface="MS PGothic" charset="0"/>
                  <a:cs typeface="MS PGothic" charset="0"/>
                </a:rPr>
                <a:t> </a:t>
              </a:r>
              <a:r>
                <a:rPr lang="zh-CN" altLang="en-US" sz="2400" b="1" dirty="0">
                  <a:latin typeface="Times New Roman" charset="0"/>
                  <a:ea typeface="MS PGothic" charset="0"/>
                  <a:cs typeface="MS PGothic" charset="0"/>
                </a:rPr>
                <a:t>次代数精度</a:t>
              </a:r>
              <a:r>
                <a:rPr lang="en-US" altLang="zh-CN" sz="2400" b="1" dirty="0">
                  <a:latin typeface="Times New Roman" charset="0"/>
                  <a:ea typeface="MS PGothic" charset="0"/>
                  <a:cs typeface="MS PGothic" charset="0"/>
                </a:rPr>
                <a:t> 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charset="0"/>
                  <a:ea typeface="MS PGothic" charset="0"/>
                  <a:cs typeface="MS PGothic" charset="0"/>
                  <a:sym typeface="Symbol" charset="0"/>
                </a:rPr>
                <a:t></a:t>
              </a:r>
              <a:r>
                <a:rPr lang="en-US" altLang="zh-CN" sz="2400" b="1" dirty="0">
                  <a:latin typeface="Times New Roman" charset="0"/>
                  <a:ea typeface="MS PGothic" charset="0"/>
                  <a:cs typeface="MS PGothic" charset="0"/>
                  <a:sym typeface="Symbol" charset="0"/>
                </a:rPr>
                <a:t> </a:t>
              </a:r>
              <a:r>
                <a:rPr lang="zh-CN" altLang="en-US" sz="2400" b="1" dirty="0">
                  <a:latin typeface="Times New Roman" charset="0"/>
                  <a:ea typeface="MS PGothic" charset="0"/>
                  <a:cs typeface="MS PGothic" charset="0"/>
                  <a:sym typeface="Symbol" charset="0"/>
                </a:rPr>
                <a:t>该</a:t>
              </a:r>
              <a:r>
                <a:rPr lang="zh-CN" altLang="en-US" sz="2400" b="1" dirty="0">
                  <a:latin typeface="Times New Roman" charset="0"/>
                  <a:ea typeface="MS PGothic" charset="0"/>
                  <a:cs typeface="MS PGothic" charset="0"/>
                </a:rPr>
                <a:t>公式为</a:t>
              </a:r>
              <a:r>
                <a:rPr lang="zh-CN" altLang="en-US" sz="2400" b="1" dirty="0">
                  <a:solidFill>
                    <a:schemeClr val="accent2"/>
                  </a:solidFill>
                  <a:latin typeface="Times New Roman" charset="0"/>
                  <a:ea typeface="MS PGothic" charset="0"/>
                  <a:cs typeface="MS PGothic" charset="0"/>
                </a:rPr>
                <a:t>插值型</a:t>
              </a:r>
              <a:r>
                <a:rPr lang="zh-CN" altLang="en-US" sz="2400" b="1" dirty="0">
                  <a:latin typeface="Times New Roman" charset="0"/>
                  <a:ea typeface="MS PGothic" charset="0"/>
                  <a:cs typeface="MS PGothic" charset="0"/>
                </a:rPr>
                <a:t>（即：</a:t>
              </a:r>
              <a:r>
                <a:rPr lang="zh-CN" sz="2400" b="1" dirty="0">
                  <a:latin typeface="Times New Roman" charset="0"/>
                  <a:ea typeface="MS PGothic" charset="0"/>
                  <a:cs typeface="MS PGothic" charset="0"/>
                </a:rPr>
                <a:t> </a:t>
              </a:r>
              <a:r>
                <a:rPr lang="en-US" altLang="zh-CN" sz="2400" b="1" dirty="0">
                  <a:latin typeface="Times New Roman" charset="0"/>
                  <a:ea typeface="MS PGothic" charset="0"/>
                  <a:cs typeface="MS PGothic" charset="0"/>
                </a:rPr>
                <a:t>     </a:t>
              </a:r>
              <a:r>
                <a:rPr lang="zh-CN" sz="2400" b="1" dirty="0">
                  <a:latin typeface="Times New Roman" charset="0"/>
                  <a:ea typeface="MS PGothic" charset="0"/>
                  <a:cs typeface="MS PGothic" charset="0"/>
                </a:rPr>
                <a:t>                       </a:t>
              </a:r>
              <a:r>
                <a:rPr lang="zh-CN" altLang="en-US" sz="2400" b="1" dirty="0">
                  <a:latin typeface="Times New Roman" charset="0"/>
                  <a:ea typeface="MS PGothic" charset="0"/>
                  <a:cs typeface="MS PGothic" charset="0"/>
                </a:rPr>
                <a:t>）</a:t>
              </a:r>
              <a:endParaRPr lang="en-US" altLang="zh-CN" sz="2400" b="1" dirty="0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graphicFrame>
          <p:nvGraphicFramePr>
            <p:cNvPr id="36869" name="Object 28">
              <a:extLst>
                <a:ext uri="{FF2B5EF4-FFF2-40B4-BE49-F238E27FC236}">
                  <a16:creationId xmlns:a16="http://schemas.microsoft.com/office/drawing/2014/main" id="{0B87469D-93E8-8149-97FE-15A697B02F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0" y="349"/>
            <a:ext cx="816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8135600" imgH="9944100" progId="Equation.3">
                    <p:embed/>
                  </p:oleObj>
                </mc:Choice>
                <mc:Fallback>
                  <p:oleObj name="Equation" r:id="rId3" imgW="18135600" imgH="9944100" progId="Equation.3">
                    <p:embed/>
                    <p:pic>
                      <p:nvPicPr>
                        <p:cNvPr id="36869" name="Object 28">
                          <a:extLst>
                            <a:ext uri="{FF2B5EF4-FFF2-40B4-BE49-F238E27FC236}">
                              <a16:creationId xmlns:a16="http://schemas.microsoft.com/office/drawing/2014/main" id="{0B87469D-93E8-8149-97FE-15A697B02F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49"/>
                          <a:ext cx="816" cy="4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0" name="Object 32">
              <a:extLst>
                <a:ext uri="{FF2B5EF4-FFF2-40B4-BE49-F238E27FC236}">
                  <a16:creationId xmlns:a16="http://schemas.microsoft.com/office/drawing/2014/main" id="{6052069B-2B15-3A45-A6DD-45A1C2BFF1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7170341"/>
                </p:ext>
              </p:extLst>
            </p:nvPr>
          </p:nvGraphicFramePr>
          <p:xfrm>
            <a:off x="2212" y="720"/>
            <a:ext cx="1244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2821900" imgH="8191500" progId="Equation.3">
                    <p:embed/>
                  </p:oleObj>
                </mc:Choice>
                <mc:Fallback>
                  <p:oleObj name="Equation" r:id="rId5" imgW="22821900" imgH="8191500" progId="Equation.3">
                    <p:embed/>
                    <p:pic>
                      <p:nvPicPr>
                        <p:cNvPr id="36870" name="Object 32">
                          <a:extLst>
                            <a:ext uri="{FF2B5EF4-FFF2-40B4-BE49-F238E27FC236}">
                              <a16:creationId xmlns:a16="http://schemas.microsoft.com/office/drawing/2014/main" id="{6052069B-2B15-3A45-A6DD-45A1C2BFF1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2" y="720"/>
                          <a:ext cx="1244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AutoShape 59">
            <a:extLst>
              <a:ext uri="{FF2B5EF4-FFF2-40B4-BE49-F238E27FC236}">
                <a16:creationId xmlns:a16="http://schemas.microsoft.com/office/drawing/2014/main" id="{832B588A-24CC-B34C-8925-756C6AF4474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812088" y="3114675"/>
            <a:ext cx="1152525" cy="720725"/>
          </a:xfrm>
          <a:prstGeom prst="wedgeRoundRectCallout">
            <a:avLst>
              <a:gd name="adj1" fmla="val 29750"/>
              <a:gd name="adj2" fmla="val 8568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rot="10800000"/>
          <a:lstStyle/>
          <a:p>
            <a:pPr algn="ctr">
              <a:defRPr/>
            </a:pPr>
            <a:r>
              <a:rPr lang="zh-CN" altLang="en-US" sz="2000">
                <a:latin typeface="Times New Roman" charset="0"/>
                <a:ea typeface="MS PGothic" charset="0"/>
                <a:cs typeface="MS PGothic" charset="0"/>
              </a:rPr>
              <a:t>证明见</a:t>
            </a:r>
            <a:endParaRPr lang="en-US" altLang="zh-CN" sz="2000">
              <a:latin typeface="Times New Roman" charset="0"/>
              <a:ea typeface="MS PGothic" charset="0"/>
              <a:cs typeface="MS PGothic" charset="0"/>
            </a:endParaRPr>
          </a:p>
          <a:p>
            <a:pPr algn="ctr">
              <a:defRPr/>
            </a:pPr>
            <a:r>
              <a:rPr lang="en-US" altLang="zh-CN" sz="2000">
                <a:latin typeface="Times New Roman" charset="0"/>
                <a:ea typeface="MS PGothic" charset="0"/>
                <a:cs typeface="MS PGothic" charset="0"/>
              </a:rPr>
              <a:t>P96-97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557BFC-58D5-4942-A8C7-E472FD06C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57600"/>
            <a:ext cx="3944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dirty="0"/>
              <a:t>课堂练习：</a:t>
            </a:r>
            <a:r>
              <a:rPr lang="en-US" altLang="zh-CN" dirty="0"/>
              <a:t>P127</a:t>
            </a:r>
            <a:r>
              <a:rPr lang="zh-CN" altLang="en-US" dirty="0"/>
              <a:t>，习题</a:t>
            </a:r>
            <a:r>
              <a:rPr lang="en-US" altLang="zh-CN" dirty="0"/>
              <a:t>4.5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EAA6C-FB34-804F-91DF-213DB596FC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046" y="4495800"/>
            <a:ext cx="8054554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7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54" name="Group 38">
            <a:extLst>
              <a:ext uri="{FF2B5EF4-FFF2-40B4-BE49-F238E27FC236}">
                <a16:creationId xmlns:a16="http://schemas.microsoft.com/office/drawing/2014/main" id="{90D9FDBB-4FA3-5946-9499-49FF03945D5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447800"/>
            <a:ext cx="7318375" cy="706438"/>
            <a:chOff x="240" y="1248"/>
            <a:chExt cx="4610" cy="445"/>
          </a:xfrm>
        </p:grpSpPr>
        <p:sp>
          <p:nvSpPr>
            <p:cNvPr id="34852" name="Text Box 36">
              <a:extLst>
                <a:ext uri="{FF2B5EF4-FFF2-40B4-BE49-F238E27FC236}">
                  <a16:creationId xmlns:a16="http://schemas.microsoft.com/office/drawing/2014/main" id="{B10B8D9F-3562-B24C-836B-1243FD11A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344"/>
              <a:ext cx="21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solidFill>
                    <a:schemeClr val="accent2"/>
                  </a:solidFill>
                  <a:sym typeface="Wingdings" charset="0"/>
                </a:rPr>
                <a:t> </a:t>
              </a:r>
              <a:r>
                <a:rPr lang="zh-CN" altLang="en-US" sz="2400" b="1"/>
                <a:t>当节点</a:t>
              </a:r>
              <a:r>
                <a:rPr lang="zh-CN" altLang="en-US" sz="2400" b="1">
                  <a:solidFill>
                    <a:schemeClr val="accent2"/>
                  </a:solidFill>
                </a:rPr>
                <a:t>等距分布</a:t>
              </a:r>
              <a:r>
                <a:rPr lang="zh-CN" altLang="en-US" sz="2400" b="1"/>
                <a:t>时：</a:t>
              </a:r>
              <a:endParaRPr lang="en-US" altLang="zh-CN" sz="2400" b="1"/>
            </a:p>
          </p:txBody>
        </p:sp>
        <p:graphicFrame>
          <p:nvGraphicFramePr>
            <p:cNvPr id="37908" name="Object 37">
              <a:extLst>
                <a:ext uri="{FF2B5EF4-FFF2-40B4-BE49-F238E27FC236}">
                  <a16:creationId xmlns:a16="http://schemas.microsoft.com/office/drawing/2014/main" id="{EA305F31-BF83-C44E-8E15-94C84D0C42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6" y="1248"/>
            <a:ext cx="2594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3835300" imgH="8775700" progId="Equation.3">
                    <p:embed/>
                  </p:oleObj>
                </mc:Choice>
                <mc:Fallback>
                  <p:oleObj name="Equation" r:id="rId5" imgW="53835300" imgH="8775700" progId="Equation.3">
                    <p:embed/>
                    <p:pic>
                      <p:nvPicPr>
                        <p:cNvPr id="37908" name="Object 37">
                          <a:extLst>
                            <a:ext uri="{FF2B5EF4-FFF2-40B4-BE49-F238E27FC236}">
                              <a16:creationId xmlns:a16="http://schemas.microsoft.com/office/drawing/2014/main" id="{EA305F31-BF83-C44E-8E15-94C84D0C42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1248"/>
                          <a:ext cx="2594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855" name="Object 39">
            <a:extLst>
              <a:ext uri="{FF2B5EF4-FFF2-40B4-BE49-F238E27FC236}">
                <a16:creationId xmlns:a16="http://schemas.microsoft.com/office/drawing/2014/main" id="{B4E28924-FB03-2440-8AAF-4924A802E6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949271"/>
              </p:ext>
            </p:extLst>
          </p:nvPr>
        </p:nvGraphicFramePr>
        <p:xfrm>
          <a:off x="762000" y="2057400"/>
          <a:ext cx="30480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642300" imgH="10820400" progId="Equation.3">
                  <p:embed/>
                </p:oleObj>
              </mc:Choice>
              <mc:Fallback>
                <p:oleObj name="Equation" r:id="rId7" imgW="33642300" imgH="10820400" progId="Equation.3">
                  <p:embed/>
                  <p:pic>
                    <p:nvPicPr>
                      <p:cNvPr id="34855" name="Object 39">
                        <a:extLst>
                          <a:ext uri="{FF2B5EF4-FFF2-40B4-BE49-F238E27FC236}">
                            <a16:creationId xmlns:a16="http://schemas.microsoft.com/office/drawing/2014/main" id="{B4E28924-FB03-2440-8AAF-4924A802E6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057400"/>
                        <a:ext cx="304800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6" name="Object 40">
            <a:extLst>
              <a:ext uri="{FF2B5EF4-FFF2-40B4-BE49-F238E27FC236}">
                <a16:creationId xmlns:a16="http://schemas.microsoft.com/office/drawing/2014/main" id="{BC852E00-08FC-424E-8FED-75CF30F56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847901"/>
              </p:ext>
            </p:extLst>
          </p:nvPr>
        </p:nvGraphicFramePr>
        <p:xfrm>
          <a:off x="1143000" y="2895600"/>
          <a:ext cx="68580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365100" imgH="10820400" progId="Equation.3">
                  <p:embed/>
                </p:oleObj>
              </mc:Choice>
              <mc:Fallback>
                <p:oleObj name="Equation" r:id="rId9" imgW="76365100" imgH="10820400" progId="Equation.3">
                  <p:embed/>
                  <p:pic>
                    <p:nvPicPr>
                      <p:cNvPr id="34856" name="Object 40">
                        <a:extLst>
                          <a:ext uri="{FF2B5EF4-FFF2-40B4-BE49-F238E27FC236}">
                            <a16:creationId xmlns:a16="http://schemas.microsoft.com/office/drawing/2014/main" id="{BC852E00-08FC-424E-8FED-75CF30F562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895600"/>
                        <a:ext cx="68580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62" name="Group 46">
            <a:extLst>
              <a:ext uri="{FF2B5EF4-FFF2-40B4-BE49-F238E27FC236}">
                <a16:creationId xmlns:a16="http://schemas.microsoft.com/office/drawing/2014/main" id="{B83728C1-829A-AC41-B2E9-154697753031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286000"/>
            <a:ext cx="2073275" cy="487363"/>
            <a:chOff x="2448" y="3072"/>
            <a:chExt cx="1306" cy="307"/>
          </a:xfrm>
        </p:grpSpPr>
        <p:sp>
          <p:nvSpPr>
            <p:cNvPr id="34858" name="Text Box 42">
              <a:extLst>
                <a:ext uri="{FF2B5EF4-FFF2-40B4-BE49-F238E27FC236}">
                  <a16:creationId xmlns:a16="http://schemas.microsoft.com/office/drawing/2014/main" id="{2EDE4AB1-80D0-464F-886F-1B18CF6BB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07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solidFill>
                    <a:srgbClr val="008000"/>
                  </a:solidFill>
                  <a:ea typeface="宋体" charset="0"/>
                  <a:cs typeface="宋体" charset="0"/>
                </a:rPr>
                <a:t>令</a:t>
              </a:r>
              <a:endParaRPr lang="en-US" altLang="zh-CN" sz="2400" b="1">
                <a:solidFill>
                  <a:srgbClr val="008000"/>
                </a:solidFill>
                <a:ea typeface="宋体" charset="0"/>
                <a:cs typeface="宋体" charset="0"/>
              </a:endParaRPr>
            </a:p>
          </p:txBody>
        </p:sp>
        <p:graphicFrame>
          <p:nvGraphicFramePr>
            <p:cNvPr id="37906" name="Object 43">
              <a:extLst>
                <a:ext uri="{FF2B5EF4-FFF2-40B4-BE49-F238E27FC236}">
                  <a16:creationId xmlns:a16="http://schemas.microsoft.com/office/drawing/2014/main" id="{4AC28377-D81B-8D4B-8339-A5A7B69970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3072"/>
            <a:ext cx="1018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506700" imgH="4686300" progId="Equation.3">
                    <p:embed/>
                  </p:oleObj>
                </mc:Choice>
                <mc:Fallback>
                  <p:oleObj name="Equation" r:id="rId11" imgW="15506700" imgH="4686300" progId="Equation.3">
                    <p:embed/>
                    <p:pic>
                      <p:nvPicPr>
                        <p:cNvPr id="37906" name="Object 43">
                          <a:extLst>
                            <a:ext uri="{FF2B5EF4-FFF2-40B4-BE49-F238E27FC236}">
                              <a16:creationId xmlns:a16="http://schemas.microsoft.com/office/drawing/2014/main" id="{4AC28377-D81B-8D4B-8339-A5A7B69970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072"/>
                          <a:ext cx="1018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865" name="Group 49">
            <a:extLst>
              <a:ext uri="{FF2B5EF4-FFF2-40B4-BE49-F238E27FC236}">
                <a16:creationId xmlns:a16="http://schemas.microsoft.com/office/drawing/2014/main" id="{EE33E4EE-DE52-5345-947B-2A140D88F74E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895600"/>
            <a:ext cx="3733800" cy="914400"/>
            <a:chOff x="2736" y="2160"/>
            <a:chExt cx="2352" cy="576"/>
          </a:xfrm>
        </p:grpSpPr>
        <p:sp>
          <p:nvSpPr>
            <p:cNvPr id="34863" name="Rectangle 47">
              <a:extLst>
                <a:ext uri="{FF2B5EF4-FFF2-40B4-BE49-F238E27FC236}">
                  <a16:creationId xmlns:a16="http://schemas.microsoft.com/office/drawing/2014/main" id="{4573C339-4F8C-CD45-B1DF-68546100C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160"/>
              <a:ext cx="1824" cy="57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34864" name="Rectangle 48">
              <a:extLst>
                <a:ext uri="{FF2B5EF4-FFF2-40B4-BE49-F238E27FC236}">
                  <a16:creationId xmlns:a16="http://schemas.microsoft.com/office/drawing/2014/main" id="{7855113C-1222-4D40-967D-E0B1314FF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400"/>
              <a:ext cx="528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grpSp>
        <p:nvGrpSpPr>
          <p:cNvPr id="34868" name="Group 52">
            <a:extLst>
              <a:ext uri="{FF2B5EF4-FFF2-40B4-BE49-F238E27FC236}">
                <a16:creationId xmlns:a16="http://schemas.microsoft.com/office/drawing/2014/main" id="{683F6CDC-3808-DA4C-B4A8-672F5BE1E24E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114800"/>
            <a:ext cx="2590800" cy="609600"/>
            <a:chOff x="3024" y="2928"/>
            <a:chExt cx="1632" cy="384"/>
          </a:xfrm>
        </p:grpSpPr>
        <p:sp>
          <p:nvSpPr>
            <p:cNvPr id="34866" name="AutoShape 50">
              <a:extLst>
                <a:ext uri="{FF2B5EF4-FFF2-40B4-BE49-F238E27FC236}">
                  <a16:creationId xmlns:a16="http://schemas.microsoft.com/office/drawing/2014/main" id="{4D4F860A-B078-DE40-A8A4-DB852BCD9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928"/>
              <a:ext cx="1632" cy="384"/>
            </a:xfrm>
            <a:prstGeom prst="wedgeRoundRectCallout">
              <a:avLst>
                <a:gd name="adj1" fmla="val -1653"/>
                <a:gd name="adj2" fmla="val -120315"/>
                <a:gd name="adj3" fmla="val 16667"/>
              </a:avLst>
            </a:prstGeom>
            <a:gradFill rotWithShape="0">
              <a:gsLst>
                <a:gs pos="0">
                  <a:srgbClr val="CCFFCC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r>
                <a:rPr lang="en-US" altLang="zh-CN" sz="2400" b="1">
                  <a:solidFill>
                    <a:schemeClr val="accent2"/>
                  </a:solidFill>
                  <a:latin typeface="Times New Roman" charset="0"/>
                  <a:ea typeface="宋体" charset="0"/>
                </a:rPr>
                <a:t>Cotes</a:t>
              </a:r>
              <a:r>
                <a:rPr lang="zh-CN" altLang="en-US" sz="2400" b="1">
                  <a:solidFill>
                    <a:schemeClr val="accent2"/>
                  </a:solidFill>
                  <a:latin typeface="Times New Roman" charset="0"/>
                  <a:ea typeface="宋体" charset="0"/>
                </a:rPr>
                <a:t>系数</a:t>
              </a:r>
              <a:endParaRPr lang="en-US" altLang="zh-CN" sz="2400" b="1">
                <a:solidFill>
                  <a:schemeClr val="accent2"/>
                </a:solidFill>
                <a:latin typeface="Times New Roman" charset="0"/>
                <a:ea typeface="宋体" charset="0"/>
              </a:endParaRPr>
            </a:p>
          </p:txBody>
        </p:sp>
        <p:graphicFrame>
          <p:nvGraphicFramePr>
            <p:cNvPr id="37902" name="Object 51">
              <a:extLst>
                <a:ext uri="{FF2B5EF4-FFF2-40B4-BE49-F238E27FC236}">
                  <a16:creationId xmlns:a16="http://schemas.microsoft.com/office/drawing/2014/main" id="{9AE3A7A4-C0A9-3142-910D-1BDACF0A93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2976"/>
            <a:ext cx="484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6731000" imgH="5562600" progId="Equation.3">
                    <p:embed/>
                  </p:oleObj>
                </mc:Choice>
                <mc:Fallback>
                  <p:oleObj name="Equation" r:id="rId13" imgW="6731000" imgH="5562600" progId="Equation.3">
                    <p:embed/>
                    <p:pic>
                      <p:nvPicPr>
                        <p:cNvPr id="37902" name="Object 51">
                          <a:extLst>
                            <a:ext uri="{FF2B5EF4-FFF2-40B4-BE49-F238E27FC236}">
                              <a16:creationId xmlns:a16="http://schemas.microsoft.com/office/drawing/2014/main" id="{9AE3A7A4-C0A9-3142-910D-1BDACF0A93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976"/>
                          <a:ext cx="484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73" name="Text Box 57">
            <a:extLst>
              <a:ext uri="{FF2B5EF4-FFF2-40B4-BE49-F238E27FC236}">
                <a16:creationId xmlns:a16="http://schemas.microsoft.com/office/drawing/2014/main" id="{F97DC23E-CA43-304D-A2FB-340716504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800600"/>
            <a:ext cx="1143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6000" b="1">
                <a:solidFill>
                  <a:srgbClr val="FF9933"/>
                </a:solidFill>
                <a:sym typeface="Wingdings" charset="0"/>
              </a:rPr>
              <a:t></a:t>
            </a:r>
            <a:endParaRPr lang="en-US" altLang="zh-CN" sz="6000" b="1">
              <a:solidFill>
                <a:srgbClr val="FF9933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579A4E-B1A0-8440-931C-DB64F96BDEFD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962400"/>
            <a:ext cx="4648200" cy="2362200"/>
            <a:chOff x="381000" y="4495800"/>
            <a:chExt cx="4648200" cy="2362200"/>
          </a:xfrm>
        </p:grpSpPr>
        <p:sp>
          <p:nvSpPr>
            <p:cNvPr id="34870" name="AutoShape 54" descr="再生纸">
              <a:extLst>
                <a:ext uri="{FF2B5EF4-FFF2-40B4-BE49-F238E27FC236}">
                  <a16:creationId xmlns:a16="http://schemas.microsoft.com/office/drawing/2014/main" id="{2B46A1A9-A30D-8D4D-AE9A-604BE7429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4495800"/>
              <a:ext cx="4648200" cy="2362200"/>
            </a:xfrm>
            <a:prstGeom prst="roundRect">
              <a:avLst>
                <a:gd name="adj" fmla="val 16667"/>
              </a:avLst>
            </a:prstGeom>
            <a:blipFill dpi="0" rotWithShape="0">
              <a:blip r:embed="rId15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577850" indent="-577850">
                <a:lnSpc>
                  <a:spcPct val="110000"/>
                </a:lnSpc>
                <a:defRPr/>
              </a:pPr>
              <a:r>
                <a:rPr lang="zh-CN" altLang="en-US" sz="2400" b="1">
                  <a:solidFill>
                    <a:schemeClr val="accent2"/>
                  </a:solidFill>
                  <a:latin typeface="Times New Roman" charset="0"/>
                  <a:ea typeface="MS PGothic" charset="0"/>
                  <a:cs typeface="MS PGothic" charset="0"/>
                </a:rPr>
                <a:t>注：</a:t>
              </a:r>
              <a:r>
                <a:rPr lang="en-US" altLang="zh-CN" sz="2400" b="1">
                  <a:latin typeface="Times New Roman" charset="0"/>
                  <a:ea typeface="MS PGothic" charset="0"/>
                  <a:cs typeface="MS PGothic" charset="0"/>
                </a:rPr>
                <a:t>Cotes </a:t>
              </a:r>
              <a:r>
                <a:rPr lang="zh-CN" altLang="en-US" sz="2400" b="1">
                  <a:latin typeface="Times New Roman" charset="0"/>
                  <a:ea typeface="MS PGothic" charset="0"/>
                  <a:cs typeface="MS PGothic" charset="0"/>
                </a:rPr>
                <a:t>系数仅取决于</a:t>
              </a:r>
              <a:r>
                <a:rPr lang="en-US" altLang="zh-CN" sz="2400" b="1">
                  <a:latin typeface="Times New Roman" charset="0"/>
                  <a:ea typeface="MS PGothic" charset="0"/>
                  <a:cs typeface="MS PGothic" charset="0"/>
                </a:rPr>
                <a:t> </a:t>
              </a:r>
              <a:r>
                <a:rPr lang="en-US" altLang="zh-CN" sz="2400" b="1" i="1">
                  <a:solidFill>
                    <a:schemeClr val="accent2"/>
                  </a:solidFill>
                  <a:latin typeface="Times New Roman" charset="0"/>
                  <a:ea typeface="MS PGothic" charset="0"/>
                  <a:cs typeface="MS PGothic" charset="0"/>
                </a:rPr>
                <a:t>n</a:t>
              </a:r>
              <a:r>
                <a:rPr lang="en-US" altLang="zh-CN" sz="2400" b="1">
                  <a:latin typeface="Times New Roman" charset="0"/>
                  <a:ea typeface="MS PGothic" charset="0"/>
                  <a:cs typeface="MS PGothic" charset="0"/>
                </a:rPr>
                <a:t> </a:t>
              </a:r>
              <a:r>
                <a:rPr lang="zh-CN" altLang="en-US" sz="2400" b="1">
                  <a:latin typeface="Times New Roman" charset="0"/>
                  <a:ea typeface="MS PGothic" charset="0"/>
                  <a:cs typeface="MS PGothic" charset="0"/>
                </a:rPr>
                <a:t>和</a:t>
              </a:r>
              <a:r>
                <a:rPr lang="en-US" altLang="zh-CN" sz="2400" b="1">
                  <a:latin typeface="Times New Roman" charset="0"/>
                  <a:ea typeface="MS PGothic" charset="0"/>
                  <a:cs typeface="MS PGothic" charset="0"/>
                </a:rPr>
                <a:t> </a:t>
              </a:r>
              <a:r>
                <a:rPr lang="en-US" altLang="zh-CN" sz="2400" b="1" i="1">
                  <a:solidFill>
                    <a:schemeClr val="accent2"/>
                  </a:solidFill>
                  <a:latin typeface="Times New Roman" charset="0"/>
                  <a:ea typeface="MS PGothic" charset="0"/>
                  <a:cs typeface="MS PGothic" charset="0"/>
                </a:rPr>
                <a:t>i</a:t>
              </a:r>
              <a:r>
                <a:rPr lang="zh-CN" altLang="en-US" sz="2400" b="1">
                  <a:latin typeface="Times New Roman" charset="0"/>
                  <a:ea typeface="MS PGothic" charset="0"/>
                  <a:cs typeface="MS PGothic" charset="0"/>
                </a:rPr>
                <a:t>，可查表得到。与</a:t>
              </a:r>
              <a:r>
                <a:rPr lang="en-US" altLang="zh-CN" sz="2400" b="1">
                  <a:latin typeface="Times New Roman" charset="0"/>
                  <a:ea typeface="MS PGothic" charset="0"/>
                  <a:cs typeface="MS PGothic" charset="0"/>
                </a:rPr>
                <a:t> </a:t>
              </a:r>
              <a:r>
                <a:rPr lang="en-US" altLang="zh-CN" sz="2400" b="1" i="1">
                  <a:latin typeface="Times New Roman" charset="0"/>
                  <a:ea typeface="MS PGothic" charset="0"/>
                  <a:cs typeface="MS PGothic" charset="0"/>
                </a:rPr>
                <a:t>f </a:t>
              </a:r>
              <a:r>
                <a:rPr lang="en-US" altLang="zh-CN" sz="2400" b="1">
                  <a:latin typeface="Times New Roman" charset="0"/>
                  <a:ea typeface="MS PGothic" charset="0"/>
                  <a:cs typeface="MS PGothic" charset="0"/>
                </a:rPr>
                <a:t>(</a:t>
              </a:r>
              <a:r>
                <a:rPr lang="en-US" altLang="zh-CN" sz="2400" b="1" i="1">
                  <a:latin typeface="Times New Roman" charset="0"/>
                  <a:ea typeface="MS PGothic" charset="0"/>
                  <a:cs typeface="MS PGothic" charset="0"/>
                </a:rPr>
                <a:t>x</a:t>
              </a:r>
              <a:r>
                <a:rPr lang="en-US" altLang="zh-CN" sz="2400" b="1">
                  <a:latin typeface="Times New Roman" charset="0"/>
                  <a:ea typeface="MS PGothic" charset="0"/>
                  <a:cs typeface="MS PGothic" charset="0"/>
                </a:rPr>
                <a:t>) </a:t>
              </a:r>
              <a:r>
                <a:rPr lang="zh-CN" altLang="en-US" sz="2400" b="1">
                  <a:latin typeface="Times New Roman" charset="0"/>
                  <a:ea typeface="MS PGothic" charset="0"/>
                  <a:cs typeface="MS PGothic" charset="0"/>
                </a:rPr>
                <a:t>及区间</a:t>
              </a:r>
              <a:r>
                <a:rPr lang="en-US" altLang="zh-CN" sz="2400" b="1">
                  <a:latin typeface="Times New Roman" charset="0"/>
                  <a:ea typeface="MS PGothic" charset="0"/>
                  <a:cs typeface="MS PGothic" charset="0"/>
                </a:rPr>
                <a:t>[</a:t>
              </a:r>
              <a:r>
                <a:rPr lang="en-US" altLang="zh-CN" sz="2400" b="1" i="1">
                  <a:latin typeface="Times New Roman" charset="0"/>
                  <a:ea typeface="MS PGothic" charset="0"/>
                  <a:cs typeface="MS PGothic" charset="0"/>
                </a:rPr>
                <a:t>a</a:t>
              </a:r>
              <a:r>
                <a:rPr lang="en-US" altLang="zh-CN" sz="2400" b="1">
                  <a:latin typeface="Times New Roman" charset="0"/>
                  <a:ea typeface="MS PGothic" charset="0"/>
                  <a:cs typeface="MS PGothic" charset="0"/>
                </a:rPr>
                <a:t>, </a:t>
              </a:r>
              <a:r>
                <a:rPr lang="en-US" altLang="zh-CN" sz="2400" b="1" i="1">
                  <a:latin typeface="Times New Roman" charset="0"/>
                  <a:ea typeface="MS PGothic" charset="0"/>
                  <a:cs typeface="MS PGothic" charset="0"/>
                </a:rPr>
                <a:t>b</a:t>
              </a:r>
              <a:r>
                <a:rPr lang="en-US" altLang="zh-CN" sz="2400" b="1">
                  <a:latin typeface="Times New Roman" charset="0"/>
                  <a:ea typeface="MS PGothic" charset="0"/>
                  <a:cs typeface="MS PGothic" charset="0"/>
                </a:rPr>
                <a:t>]</a:t>
              </a:r>
              <a:r>
                <a:rPr lang="zh-CN" altLang="en-US" sz="2400" b="1">
                  <a:latin typeface="Times New Roman" charset="0"/>
                  <a:ea typeface="MS PGothic" charset="0"/>
                  <a:cs typeface="MS PGothic" charset="0"/>
                </a:rPr>
                <a:t>均无关。且</a:t>
              </a:r>
              <a:r>
                <a:rPr lang="zh-CN" altLang="en-US" sz="2400" b="1">
                  <a:solidFill>
                    <a:srgbClr val="FF0066"/>
                  </a:solidFill>
                  <a:latin typeface="Times New Roman" charset="0"/>
                  <a:ea typeface="MS PGothic" charset="0"/>
                  <a:cs typeface="MS PGothic" charset="0"/>
                </a:rPr>
                <a:t>满足</a:t>
              </a:r>
              <a:r>
                <a:rPr lang="en-US" altLang="zh-CN" sz="2400" b="1">
                  <a:latin typeface="Times New Roman" charset="0"/>
                  <a:ea typeface="MS PGothic" charset="0"/>
                  <a:cs typeface="MS PGothic" charset="0"/>
                </a:rPr>
                <a:t>:</a:t>
              </a:r>
            </a:p>
          </p:txBody>
        </p:sp>
        <p:graphicFrame>
          <p:nvGraphicFramePr>
            <p:cNvPr id="37900" name="Object 9">
              <a:extLst>
                <a:ext uri="{FF2B5EF4-FFF2-40B4-BE49-F238E27FC236}">
                  <a16:creationId xmlns:a16="http://schemas.microsoft.com/office/drawing/2014/main" id="{A108AC2A-420E-FF44-B45F-4487E32AD5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5696" y="5759276"/>
            <a:ext cx="1649412" cy="1054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843500" imgH="11404600" progId="Equation.3">
                    <p:embed/>
                  </p:oleObj>
                </mc:Choice>
                <mc:Fallback>
                  <p:oleObj name="Equation" r:id="rId16" imgW="17843500" imgH="11404600" progId="Equation.3">
                    <p:embed/>
                    <p:pic>
                      <p:nvPicPr>
                        <p:cNvPr id="37900" name="Object 9">
                          <a:extLst>
                            <a:ext uri="{FF2B5EF4-FFF2-40B4-BE49-F238E27FC236}">
                              <a16:creationId xmlns:a16="http://schemas.microsoft.com/office/drawing/2014/main" id="{A108AC2A-420E-FF44-B45F-4487E32AD5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5759276"/>
                          <a:ext cx="1649412" cy="1054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Process 21">
            <a:extLst>
              <a:ext uri="{FF2B5EF4-FFF2-40B4-BE49-F238E27FC236}">
                <a16:creationId xmlns:a16="http://schemas.microsoft.com/office/drawing/2014/main" id="{799C1038-A47A-B84A-A74E-A829687F9133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01FE13-E414-E44A-A498-B7C8AECD1562}"/>
              </a:ext>
            </a:extLst>
          </p:cNvPr>
          <p:cNvSpPr/>
          <p:nvPr/>
        </p:nvSpPr>
        <p:spPr>
          <a:xfrm>
            <a:off x="468709" y="206118"/>
            <a:ext cx="78370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Newton-Cotes </a:t>
            </a:r>
            <a:r>
              <a:rPr lang="zh-CN" altLang="en-US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公式</a:t>
            </a:r>
            <a:endParaRPr lang="en-CN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04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48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7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>
            <a:extLst>
              <a:ext uri="{FF2B5EF4-FFF2-40B4-BE49-F238E27FC236}">
                <a16:creationId xmlns:a16="http://schemas.microsoft.com/office/drawing/2014/main" id="{2F41BB99-4572-FB4F-BBD7-A9484E0BB9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555750"/>
            <a:ext cx="7772400" cy="93662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zh-CN" altLang="en-US" sz="2800">
                <a:ea typeface="MS PGothic" charset="0"/>
              </a:rPr>
              <a:t>称</a:t>
            </a:r>
            <a:r>
              <a:rPr lang="en-US" altLang="zh-CN" sz="2800" i="1">
                <a:ea typeface="MS PGothic" charset="0"/>
              </a:rPr>
              <a:t>C</a:t>
            </a:r>
            <a:r>
              <a:rPr lang="en-US" altLang="zh-CN" sz="2800" baseline="-25000">
                <a:ea typeface="MS PGothic" charset="0"/>
              </a:rPr>
              <a:t>i</a:t>
            </a:r>
            <a:r>
              <a:rPr lang="en-US" altLang="zh-CN" sz="2800" baseline="30000">
                <a:ea typeface="MS PGothic" charset="0"/>
              </a:rPr>
              <a:t>(</a:t>
            </a:r>
            <a:r>
              <a:rPr lang="en-US" altLang="zh-CN" sz="2800" i="1" baseline="30000">
                <a:ea typeface="MS PGothic" charset="0"/>
              </a:rPr>
              <a:t>n</a:t>
            </a:r>
            <a:r>
              <a:rPr lang="en-US" altLang="zh-CN" sz="2800" baseline="30000">
                <a:ea typeface="MS PGothic" charset="0"/>
              </a:rPr>
              <a:t>)</a:t>
            </a:r>
            <a:r>
              <a:rPr lang="zh-CN" altLang="en-US" sz="2800">
                <a:ea typeface="MS PGothic" charset="0"/>
              </a:rPr>
              <a:t>为柯特斯求积系数。当</a:t>
            </a:r>
            <a:r>
              <a:rPr lang="en-US" altLang="zh-CN" sz="2800" i="1">
                <a:ea typeface="MS PGothic" charset="0"/>
              </a:rPr>
              <a:t>n</a:t>
            </a:r>
            <a:r>
              <a:rPr lang="en-US" altLang="zh-CN" sz="2800">
                <a:ea typeface="MS PGothic" charset="0"/>
              </a:rPr>
              <a:t>=1</a:t>
            </a:r>
            <a:r>
              <a:rPr lang="zh-CN" altLang="en-US" sz="2800">
                <a:ea typeface="MS PGothic" charset="0"/>
              </a:rPr>
              <a:t>时</a:t>
            </a:r>
            <a:r>
              <a:rPr lang="en-US" altLang="zh-CN" sz="2800">
                <a:ea typeface="MS PGothic" charset="0"/>
              </a:rPr>
              <a:t>,</a:t>
            </a:r>
            <a:r>
              <a:rPr lang="zh-CN" altLang="en-US" sz="2800">
                <a:ea typeface="MS PGothic" charset="0"/>
              </a:rPr>
              <a:t>可算得</a:t>
            </a:r>
            <a:endParaRPr lang="en-US" altLang="zh-CN">
              <a:ea typeface="MS PGothic" charset="0"/>
            </a:endParaRPr>
          </a:p>
        </p:txBody>
      </p:sp>
      <p:graphicFrame>
        <p:nvGraphicFramePr>
          <p:cNvPr id="376835" name="Object 3">
            <a:extLst>
              <a:ext uri="{FF2B5EF4-FFF2-40B4-BE49-F238E27FC236}">
                <a16:creationId xmlns:a16="http://schemas.microsoft.com/office/drawing/2014/main" id="{FEE80678-F4FD-1044-8162-77B1D3FDFF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0200" y="2312988"/>
          <a:ext cx="2997200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500" imgH="825500" progId="Equation.3">
                  <p:embed/>
                </p:oleObj>
              </mc:Choice>
              <mc:Fallback>
                <p:oleObj name="Equation" r:id="rId2" imgW="1460500" imgH="825500" progId="Equation.3">
                  <p:embed/>
                  <p:pic>
                    <p:nvPicPr>
                      <p:cNvPr id="376835" name="Object 3">
                        <a:extLst>
                          <a:ext uri="{FF2B5EF4-FFF2-40B4-BE49-F238E27FC236}">
                            <a16:creationId xmlns:a16="http://schemas.microsoft.com/office/drawing/2014/main" id="{FEE80678-F4FD-1044-8162-77B1D3FDFF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2312988"/>
                        <a:ext cx="2997200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36" name="Text Box 4">
            <a:extLst>
              <a:ext uri="{FF2B5EF4-FFF2-40B4-BE49-F238E27FC236}">
                <a16:creationId xmlns:a16="http://schemas.microsoft.com/office/drawing/2014/main" id="{416FC7CB-6E27-8449-B469-3057B8072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195763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/>
              <a:t>此时数值积分为</a:t>
            </a:r>
            <a:r>
              <a:rPr lang="en-US" altLang="zh-CN" sz="2400"/>
              <a:t> </a:t>
            </a:r>
          </a:p>
        </p:txBody>
      </p:sp>
      <p:graphicFrame>
        <p:nvGraphicFramePr>
          <p:cNvPr id="376837" name="Object 5">
            <a:extLst>
              <a:ext uri="{FF2B5EF4-FFF2-40B4-BE49-F238E27FC236}">
                <a16:creationId xmlns:a16="http://schemas.microsoft.com/office/drawing/2014/main" id="{E8B1B6B4-1F83-664C-A959-520FB503B7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9525" y="4802188"/>
          <a:ext cx="4038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520100" imgH="9067800" progId="Equation.3">
                  <p:embed/>
                </p:oleObj>
              </mc:Choice>
              <mc:Fallback>
                <p:oleObj name="Equation" r:id="rId4" imgW="46520100" imgH="9067800" progId="Equation.3">
                  <p:embed/>
                  <p:pic>
                    <p:nvPicPr>
                      <p:cNvPr id="376837" name="Object 5">
                        <a:extLst>
                          <a:ext uri="{FF2B5EF4-FFF2-40B4-BE49-F238E27FC236}">
                            <a16:creationId xmlns:a16="http://schemas.microsoft.com/office/drawing/2014/main" id="{E8B1B6B4-1F83-664C-A959-520FB503B7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9525" y="4802188"/>
                        <a:ext cx="4038600" cy="78740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39" name="Rectangle 7">
            <a:extLst>
              <a:ext uri="{FF2B5EF4-FFF2-40B4-BE49-F238E27FC236}">
                <a16:creationId xmlns:a16="http://schemas.microsoft.com/office/drawing/2014/main" id="{77149E22-51DC-2143-A122-BD18EE792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780088"/>
            <a:ext cx="2324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>
                <a:latin typeface="Times New Roman" charset="0"/>
                <a:ea typeface="MS PGothic" charset="0"/>
                <a:cs typeface="MS PGothic" charset="0"/>
              </a:rPr>
              <a:t>这是</a:t>
            </a:r>
            <a:r>
              <a:rPr lang="zh-CN" altLang="en-US" sz="2400" b="1">
                <a:latin typeface="Times New Roman" charset="0"/>
                <a:ea typeface="黑体" charset="0"/>
                <a:cs typeface="黑体" charset="0"/>
              </a:rPr>
              <a:t>梯形公式</a:t>
            </a:r>
            <a:r>
              <a:rPr lang="zh-CN" altLang="en-US" sz="2400">
                <a:latin typeface="Times New Roman" charset="0"/>
                <a:ea typeface="MS PGothic" charset="0"/>
                <a:cs typeface="MS PGothic" charset="0"/>
              </a:rPr>
              <a:t>。</a:t>
            </a:r>
            <a:endParaRPr lang="en-US" altLang="zh-CN" sz="2400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39944" name="Object 40">
            <a:extLst>
              <a:ext uri="{FF2B5EF4-FFF2-40B4-BE49-F238E27FC236}">
                <a16:creationId xmlns:a16="http://schemas.microsoft.com/office/drawing/2014/main" id="{81597A77-806F-BB44-A2C6-2C34E60C4D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420688"/>
          <a:ext cx="39671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700" imgH="469900" progId="Equation.3">
                  <p:embed/>
                </p:oleObj>
              </mc:Choice>
              <mc:Fallback>
                <p:oleObj name="Equation" r:id="rId6" imgW="1917700" imgH="469900" progId="Equation.3">
                  <p:embed/>
                  <p:pic>
                    <p:nvPicPr>
                      <p:cNvPr id="39944" name="Object 40">
                        <a:extLst>
                          <a:ext uri="{FF2B5EF4-FFF2-40B4-BE49-F238E27FC236}">
                            <a16:creationId xmlns:a16="http://schemas.microsoft.com/office/drawing/2014/main" id="{81597A77-806F-BB44-A2C6-2C34E60C4D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20688"/>
                        <a:ext cx="3967162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32458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76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76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7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76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4" grpId="0" build="p"/>
      <p:bldP spid="376836" grpId="0"/>
      <p:bldP spid="37683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>
            <a:extLst>
              <a:ext uri="{FF2B5EF4-FFF2-40B4-BE49-F238E27FC236}">
                <a16:creationId xmlns:a16="http://schemas.microsoft.com/office/drawing/2014/main" id="{963C6BF5-377E-2D47-8E5D-55C0EF162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457200"/>
            <a:ext cx="7772400" cy="1524000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/>
              <a:t>  </a:t>
            </a:r>
          </a:p>
          <a:p>
            <a:pPr algn="just" eaLnBrk="1" hangingPunct="1">
              <a:defRPr/>
            </a:pPr>
            <a:r>
              <a:rPr lang="zh-CN" altLang="en-US" sz="2800"/>
              <a:t>当</a:t>
            </a:r>
            <a:r>
              <a:rPr lang="en-US" altLang="zh-CN" sz="2800" i="1"/>
              <a:t>n</a:t>
            </a:r>
            <a:r>
              <a:rPr lang="en-US" altLang="zh-CN" sz="2800"/>
              <a:t>=2</a:t>
            </a:r>
            <a:r>
              <a:rPr lang="zh-CN" altLang="en-US" sz="2800"/>
              <a:t>时</a:t>
            </a:r>
            <a:r>
              <a:rPr lang="en-US" altLang="zh-CN" sz="2800"/>
              <a:t>,</a:t>
            </a:r>
            <a:r>
              <a:rPr lang="zh-CN" altLang="en-US" sz="2800"/>
              <a:t>可得</a:t>
            </a:r>
            <a:endParaRPr lang="en-US" altLang="zh-CN" sz="2800"/>
          </a:p>
          <a:p>
            <a:pPr eaLnBrk="1" hangingPunct="1">
              <a:defRPr/>
            </a:pPr>
            <a:endParaRPr lang="en-US" altLang="zh-CN"/>
          </a:p>
        </p:txBody>
      </p:sp>
      <p:graphicFrame>
        <p:nvGraphicFramePr>
          <p:cNvPr id="377859" name="Object 3">
            <a:extLst>
              <a:ext uri="{FF2B5EF4-FFF2-40B4-BE49-F238E27FC236}">
                <a16:creationId xmlns:a16="http://schemas.microsoft.com/office/drawing/2014/main" id="{AAE0528D-D5AC-1645-8AA4-716BCDAADA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5988" y="1573213"/>
          <a:ext cx="4006850" cy="262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600" imgH="1231900" progId="Equation.3">
                  <p:embed/>
                </p:oleObj>
              </mc:Choice>
              <mc:Fallback>
                <p:oleObj name="Equation" r:id="rId2" imgW="1879600" imgH="1231900" progId="Equation.3">
                  <p:embed/>
                  <p:pic>
                    <p:nvPicPr>
                      <p:cNvPr id="377859" name="Object 3">
                        <a:extLst>
                          <a:ext uri="{FF2B5EF4-FFF2-40B4-BE49-F238E27FC236}">
                            <a16:creationId xmlns:a16="http://schemas.microsoft.com/office/drawing/2014/main" id="{AAE0528D-D5AC-1645-8AA4-716BCDAADA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1573213"/>
                        <a:ext cx="4006850" cy="262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7860" name="Text Box 4">
            <a:extLst>
              <a:ext uri="{FF2B5EF4-FFF2-40B4-BE49-F238E27FC236}">
                <a16:creationId xmlns:a16="http://schemas.microsoft.com/office/drawing/2014/main" id="{F28F103D-2078-014C-9862-0369EBC1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767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/>
              <a:t>于是</a:t>
            </a:r>
            <a:r>
              <a:rPr lang="en-US" altLang="zh-CN" sz="2400"/>
              <a:t> </a:t>
            </a:r>
          </a:p>
        </p:txBody>
      </p:sp>
      <p:grpSp>
        <p:nvGrpSpPr>
          <p:cNvPr id="377864" name="Group 8">
            <a:extLst>
              <a:ext uri="{FF2B5EF4-FFF2-40B4-BE49-F238E27FC236}">
                <a16:creationId xmlns:a16="http://schemas.microsoft.com/office/drawing/2014/main" id="{E51159C2-34E5-4B44-926C-8F5F2B48D222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4737100"/>
            <a:ext cx="7620000" cy="852488"/>
            <a:chOff x="768" y="2928"/>
            <a:chExt cx="4800" cy="537"/>
          </a:xfrm>
        </p:grpSpPr>
        <p:graphicFrame>
          <p:nvGraphicFramePr>
            <p:cNvPr id="40968" name="Object 5">
              <a:extLst>
                <a:ext uri="{FF2B5EF4-FFF2-40B4-BE49-F238E27FC236}">
                  <a16:creationId xmlns:a16="http://schemas.microsoft.com/office/drawing/2014/main" id="{454492A4-599C-5C4C-ACE0-64D4E49112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" y="2928"/>
            <a:ext cx="3792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71500" imgH="9067800" progId="Equation.3">
                    <p:embed/>
                  </p:oleObj>
                </mc:Choice>
                <mc:Fallback>
                  <p:oleObj name="Equation" r:id="rId4" imgW="64071500" imgH="9067800" progId="Equation.3">
                    <p:embed/>
                    <p:pic>
                      <p:nvPicPr>
                        <p:cNvPr id="40968" name="Object 5">
                          <a:extLst>
                            <a:ext uri="{FF2B5EF4-FFF2-40B4-BE49-F238E27FC236}">
                              <a16:creationId xmlns:a16="http://schemas.microsoft.com/office/drawing/2014/main" id="{454492A4-599C-5C4C-ACE0-64D4E49112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928"/>
                          <a:ext cx="3792" cy="537"/>
                        </a:xfrm>
                        <a:prstGeom prst="rect">
                          <a:avLst/>
                        </a:prstGeom>
                        <a:solidFill>
                          <a:srgbClr val="FFCC99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7862" name="Text Box 6">
              <a:extLst>
                <a:ext uri="{FF2B5EF4-FFF2-40B4-BE49-F238E27FC236}">
                  <a16:creationId xmlns:a16="http://schemas.microsoft.com/office/drawing/2014/main" id="{AE98686A-9699-8846-8A9E-08077C5B6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3072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dirty="0">
                  <a:latin typeface="Times New Roman" charset="0"/>
                  <a:ea typeface="楷体_GB2312" charset="0"/>
                  <a:cs typeface="楷体_GB2312" charset="0"/>
                </a:rPr>
                <a:t> </a:t>
              </a:r>
            </a:p>
          </p:txBody>
        </p:sp>
      </p:grpSp>
      <p:sp>
        <p:nvSpPr>
          <p:cNvPr id="377863" name="Rectangle 7">
            <a:extLst>
              <a:ext uri="{FF2B5EF4-FFF2-40B4-BE49-F238E27FC236}">
                <a16:creationId xmlns:a16="http://schemas.microsoft.com/office/drawing/2014/main" id="{1581B12B-2C9F-C645-8E64-873FF6D6F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805488"/>
            <a:ext cx="3952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>
                <a:latin typeface="Times New Roman" charset="0"/>
                <a:ea typeface="MS PGothic" charset="0"/>
                <a:cs typeface="MS PGothic" charset="0"/>
              </a:rPr>
              <a:t>这是</a:t>
            </a:r>
            <a:r>
              <a:rPr lang="zh-CN" altLang="en-US" sz="2400" b="1">
                <a:latin typeface="Times New Roman" charset="0"/>
                <a:ea typeface="黑体" charset="0"/>
                <a:cs typeface="黑体" charset="0"/>
              </a:rPr>
              <a:t>抛物线</a:t>
            </a:r>
            <a:r>
              <a:rPr lang="en-US" altLang="zh-CN" sz="2400" b="1">
                <a:latin typeface="Times New Roman" charset="0"/>
                <a:ea typeface="黑体" charset="0"/>
                <a:cs typeface="黑体" charset="0"/>
              </a:rPr>
              <a:t>(Simpson)</a:t>
            </a:r>
            <a:r>
              <a:rPr lang="zh-CN" altLang="en-US" sz="2400" b="1">
                <a:latin typeface="Times New Roman" charset="0"/>
                <a:ea typeface="黑体" charset="0"/>
                <a:cs typeface="黑体" charset="0"/>
              </a:rPr>
              <a:t>公式</a:t>
            </a:r>
            <a:r>
              <a:rPr lang="zh-CN" altLang="en-US" sz="2400">
                <a:latin typeface="Times New Roman" charset="0"/>
                <a:ea typeface="MS PGothic" charset="0"/>
                <a:cs typeface="MS PGothic" charset="0"/>
              </a:rPr>
              <a:t>。</a:t>
            </a:r>
            <a:endParaRPr lang="en-US" altLang="zh-CN" sz="2400">
              <a:latin typeface="Times New Roman" charset="0"/>
              <a:ea typeface="MS PGothic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434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77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7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7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7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7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7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60" grpId="0"/>
      <p:bldP spid="37786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>
            <a:extLst>
              <a:ext uri="{FF2B5EF4-FFF2-40B4-BE49-F238E27FC236}">
                <a16:creationId xmlns:a16="http://schemas.microsoft.com/office/drawing/2014/main" id="{F982847E-DC48-604F-8785-E68970B48A3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27088" y="836613"/>
            <a:ext cx="4038600" cy="431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zh-CN" altLang="en-US" sz="2400">
                <a:ea typeface="MS PGothic" charset="0"/>
              </a:rPr>
              <a:t>当</a:t>
            </a:r>
            <a:r>
              <a:rPr lang="en-US" altLang="zh-CN" sz="2400" i="1">
                <a:ea typeface="MS PGothic" charset="0"/>
              </a:rPr>
              <a:t>n</a:t>
            </a:r>
            <a:r>
              <a:rPr lang="en-US" altLang="zh-CN" sz="2400">
                <a:ea typeface="MS PGothic" charset="0"/>
              </a:rPr>
              <a:t>=3</a:t>
            </a:r>
            <a:r>
              <a:rPr lang="zh-CN" altLang="en-US" sz="2400">
                <a:ea typeface="MS PGothic" charset="0"/>
              </a:rPr>
              <a:t>时</a:t>
            </a:r>
            <a:r>
              <a:rPr lang="en-US" altLang="zh-CN" sz="2400">
                <a:ea typeface="MS PGothic" charset="0"/>
              </a:rPr>
              <a:t>,</a:t>
            </a:r>
          </a:p>
        </p:txBody>
      </p:sp>
      <p:graphicFrame>
        <p:nvGraphicFramePr>
          <p:cNvPr id="378883" name="Object 3">
            <a:extLst>
              <a:ext uri="{FF2B5EF4-FFF2-40B4-BE49-F238E27FC236}">
                <a16:creationId xmlns:a16="http://schemas.microsoft.com/office/drawing/2014/main" id="{FA2191E4-42EF-8F42-BEAE-BDCC10E461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7925" y="1184275"/>
          <a:ext cx="5033963" cy="349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2200" imgH="1638300" progId="Equation.3">
                  <p:embed/>
                </p:oleObj>
              </mc:Choice>
              <mc:Fallback>
                <p:oleObj name="Equation" r:id="rId2" imgW="2362200" imgH="1638300" progId="Equation.3">
                  <p:embed/>
                  <p:pic>
                    <p:nvPicPr>
                      <p:cNvPr id="378883" name="Object 3">
                        <a:extLst>
                          <a:ext uri="{FF2B5EF4-FFF2-40B4-BE49-F238E27FC236}">
                            <a16:creationId xmlns:a16="http://schemas.microsoft.com/office/drawing/2014/main" id="{FA2191E4-42EF-8F42-BEAE-BDCC10E461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1184275"/>
                        <a:ext cx="5033963" cy="349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884" name="Rectangle 4">
            <a:extLst>
              <a:ext uri="{FF2B5EF4-FFF2-40B4-BE49-F238E27FC236}">
                <a16:creationId xmlns:a16="http://schemas.microsoft.com/office/drawing/2014/main" id="{0301C4A3-A34D-2041-84EA-8D3446104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7244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 typeface="Wingdings" charset="0"/>
              <a:buNone/>
              <a:defRPr/>
            </a:pPr>
            <a:r>
              <a:rPr lang="zh-CN" altLang="en-US" sz="2400">
                <a:latin typeface="Times New Roman" charset="0"/>
                <a:ea typeface="MS PGothic" charset="0"/>
                <a:cs typeface="MS PGothic" charset="0"/>
              </a:rPr>
              <a:t>得到求积公式</a:t>
            </a:r>
            <a:r>
              <a:rPr lang="en-US" altLang="zh-CN">
                <a:latin typeface="Times New Roman" charset="0"/>
                <a:ea typeface="MS PGothic" charset="0"/>
                <a:cs typeface="MS PGothic" charset="0"/>
              </a:rPr>
              <a:t> </a:t>
            </a:r>
          </a:p>
        </p:txBody>
      </p:sp>
      <p:graphicFrame>
        <p:nvGraphicFramePr>
          <p:cNvPr id="378885" name="Object 5">
            <a:extLst>
              <a:ext uri="{FF2B5EF4-FFF2-40B4-BE49-F238E27FC236}">
                <a16:creationId xmlns:a16="http://schemas.microsoft.com/office/drawing/2014/main" id="{C77C23B0-3389-794E-87D1-958E73BD688A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695450" y="5475288"/>
          <a:ext cx="56800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65500" imgH="406400" progId="Equation.3">
                  <p:embed/>
                </p:oleObj>
              </mc:Choice>
              <mc:Fallback>
                <p:oleObj name="Equation" r:id="rId4" imgW="3365500" imgH="406400" progId="Equation.3">
                  <p:embed/>
                  <p:pic>
                    <p:nvPicPr>
                      <p:cNvPr id="378885" name="Object 5">
                        <a:extLst>
                          <a:ext uri="{FF2B5EF4-FFF2-40B4-BE49-F238E27FC236}">
                            <a16:creationId xmlns:a16="http://schemas.microsoft.com/office/drawing/2014/main" id="{C77C23B0-3389-794E-87D1-958E73BD68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5475288"/>
                        <a:ext cx="56800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91458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8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0931" name="Object 3">
            <a:extLst>
              <a:ext uri="{FF2B5EF4-FFF2-40B4-BE49-F238E27FC236}">
                <a16:creationId xmlns:a16="http://schemas.microsoft.com/office/drawing/2014/main" id="{D3B07AAE-A786-8946-974E-4A35EC81BC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1268413"/>
          <a:ext cx="7239000" cy="526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8883650" imgH="6457950" progId="Photoshop.Image.5">
                  <p:embed/>
                </p:oleObj>
              </mc:Choice>
              <mc:Fallback>
                <p:oleObj name="Image" r:id="rId2" imgW="8883650" imgH="6457950" progId="Photoshop.Image.5">
                  <p:embed/>
                  <p:pic>
                    <p:nvPicPr>
                      <p:cNvPr id="380931" name="Object 3">
                        <a:extLst>
                          <a:ext uri="{FF2B5EF4-FFF2-40B4-BE49-F238E27FC236}">
                            <a16:creationId xmlns:a16="http://schemas.microsoft.com/office/drawing/2014/main" id="{D3B07AAE-A786-8946-974E-4A35EC81BC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268413"/>
                        <a:ext cx="7239000" cy="526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>
            <a:extLst>
              <a:ext uri="{FF2B5EF4-FFF2-40B4-BE49-F238E27FC236}">
                <a16:creationId xmlns:a16="http://schemas.microsoft.com/office/drawing/2014/main" id="{65B2E60B-C84E-804A-BA9C-2C17A4BB0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33375"/>
            <a:ext cx="7620000" cy="55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/>
              <a:t>类似地可分别求出</a:t>
            </a:r>
            <a:r>
              <a:rPr lang="en-US" altLang="zh-CN" sz="2400" i="1"/>
              <a:t>n</a:t>
            </a:r>
            <a:r>
              <a:rPr lang="en-US" altLang="zh-CN" sz="2400"/>
              <a:t>=</a:t>
            </a:r>
            <a:r>
              <a:rPr lang="zh-CN" altLang="ja-JP" sz="2400"/>
              <a:t>4</a:t>
            </a:r>
            <a:r>
              <a:rPr lang="en-US" altLang="zh-CN" sz="2400"/>
              <a:t>,</a:t>
            </a:r>
            <a:r>
              <a:rPr lang="zh-CN" altLang="ja-JP" sz="2400"/>
              <a:t>5</a:t>
            </a:r>
            <a:r>
              <a:rPr lang="en-US" altLang="zh-CN" sz="2400"/>
              <a:t>,</a:t>
            </a:r>
            <a:r>
              <a:rPr lang="en-US" altLang="zh-CN" sz="2400">
                <a:latin typeface="宋体" panose="02010600030101010101" pitchFamily="2" charset="-122"/>
              </a:rPr>
              <a:t>…</a:t>
            </a:r>
            <a:r>
              <a:rPr lang="zh-CN" altLang="en-US" sz="2400"/>
              <a:t>时的柯特斯系数</a:t>
            </a: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11026352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80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8D41C226-E864-384C-892B-A98D14ED02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597340"/>
              </p:ext>
            </p:extLst>
          </p:nvPr>
        </p:nvGraphicFramePr>
        <p:xfrm>
          <a:off x="381000" y="3500438"/>
          <a:ext cx="862488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10100" imgH="406400" progId="Equation.3">
                  <p:embed/>
                </p:oleObj>
              </mc:Choice>
              <mc:Fallback>
                <p:oleObj name="Equation" r:id="rId2" imgW="4610100" imgH="406400" progId="Equation.3">
                  <p:embed/>
                  <p:pic>
                    <p:nvPicPr>
                      <p:cNvPr id="2" name="Object 9">
                        <a:extLst>
                          <a:ext uri="{FF2B5EF4-FFF2-40B4-BE49-F238E27FC236}">
                            <a16:creationId xmlns:a16="http://schemas.microsoft.com/office/drawing/2014/main" id="{8D41C226-E864-384C-892B-A98D14ED02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500438"/>
                        <a:ext cx="862488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5">
            <a:extLst>
              <a:ext uri="{FF2B5EF4-FFF2-40B4-BE49-F238E27FC236}">
                <a16:creationId xmlns:a16="http://schemas.microsoft.com/office/drawing/2014/main" id="{E54D5D14-6A14-7240-8321-C7646A9AD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96975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i="1">
                <a:solidFill>
                  <a:schemeClr val="accent2"/>
                </a:solidFill>
                <a:ea typeface="宋体" charset="0"/>
                <a:cs typeface="宋体" charset="0"/>
              </a:rPr>
              <a:t>n</a:t>
            </a:r>
            <a:r>
              <a:rPr lang="en-US" altLang="zh-CN" sz="2400" b="1">
                <a:solidFill>
                  <a:schemeClr val="accent2"/>
                </a:solidFill>
                <a:ea typeface="宋体" charset="0"/>
                <a:cs typeface="宋体" charset="0"/>
              </a:rPr>
              <a:t> = 4: </a:t>
            </a:r>
            <a:r>
              <a:rPr lang="zh-CN" altLang="en-US" sz="2400" b="1">
                <a:solidFill>
                  <a:srgbClr val="FF0000"/>
                </a:solidFill>
                <a:ea typeface="宋体" charset="0"/>
                <a:cs typeface="宋体" charset="0"/>
              </a:rPr>
              <a:t>科特斯公式（</a:t>
            </a:r>
            <a:r>
              <a:rPr lang="en-US" altLang="zh-CN" sz="2400" b="1">
                <a:solidFill>
                  <a:srgbClr val="FF0000"/>
                </a:solidFill>
                <a:ea typeface="宋体" charset="0"/>
                <a:cs typeface="宋体" charset="0"/>
              </a:rPr>
              <a:t>Cotes Rule</a:t>
            </a:r>
            <a:r>
              <a:rPr lang="zh-CN" altLang="en-US" sz="2400" b="1">
                <a:solidFill>
                  <a:srgbClr val="FF0000"/>
                </a:solidFill>
                <a:ea typeface="宋体" charset="0"/>
                <a:cs typeface="宋体" charset="0"/>
              </a:rPr>
              <a:t>）</a:t>
            </a:r>
            <a:endParaRPr lang="en-US" altLang="zh-CN" sz="2400" b="1">
              <a:solidFill>
                <a:schemeClr val="accent2"/>
              </a:solidFill>
              <a:ea typeface="宋体" charset="0"/>
              <a:cs typeface="宋体" charset="0"/>
            </a:endParaRPr>
          </a:p>
        </p:txBody>
      </p:sp>
      <p:pic>
        <p:nvPicPr>
          <p:cNvPr id="44035" name="Picture 5">
            <a:extLst>
              <a:ext uri="{FF2B5EF4-FFF2-40B4-BE49-F238E27FC236}">
                <a16:creationId xmlns:a16="http://schemas.microsoft.com/office/drawing/2014/main" id="{94934B1E-1D52-2245-AD60-763DE291A3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276475"/>
            <a:ext cx="7900987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246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>
            <a:extLst>
              <a:ext uri="{FF2B5EF4-FFF2-40B4-BE49-F238E27FC236}">
                <a16:creationId xmlns:a16="http://schemas.microsoft.com/office/drawing/2014/main" id="{60E93814-8778-C448-88EB-0E6E17BF6C9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9750" y="1533525"/>
            <a:ext cx="4038600" cy="431800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zh-CN" altLang="en-US" sz="2000" b="1"/>
              <a:t>解</a:t>
            </a:r>
            <a:r>
              <a:rPr lang="en-US" altLang="zh-CN" sz="2000"/>
              <a:t>    </a:t>
            </a:r>
            <a:r>
              <a:rPr lang="zh-CN" altLang="en-US" sz="2000"/>
              <a:t>利用梯形公式</a:t>
            </a:r>
            <a:endParaRPr lang="en-US" altLang="zh-CN" sz="2000"/>
          </a:p>
        </p:txBody>
      </p:sp>
      <p:graphicFrame>
        <p:nvGraphicFramePr>
          <p:cNvPr id="45060" name="Object 3">
            <a:extLst>
              <a:ext uri="{FF2B5EF4-FFF2-40B4-BE49-F238E27FC236}">
                <a16:creationId xmlns:a16="http://schemas.microsoft.com/office/drawing/2014/main" id="{12DDF872-AB5E-1840-9049-D6D3E47AB0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142220"/>
              </p:ext>
            </p:extLst>
          </p:nvPr>
        </p:nvGraphicFramePr>
        <p:xfrm>
          <a:off x="3563938" y="885825"/>
          <a:ext cx="15240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30400" imgH="7607300" progId="Equation.DSMT4">
                  <p:embed/>
                </p:oleObj>
              </mc:Choice>
              <mc:Fallback>
                <p:oleObj name="Equation" r:id="rId2" imgW="14630400" imgH="7607300" progId="Equation.DSMT4">
                  <p:embed/>
                  <p:pic>
                    <p:nvPicPr>
                      <p:cNvPr id="45060" name="Object 3">
                        <a:extLst>
                          <a:ext uri="{FF2B5EF4-FFF2-40B4-BE49-F238E27FC236}">
                            <a16:creationId xmlns:a16="http://schemas.microsoft.com/office/drawing/2014/main" id="{12DDF872-AB5E-1840-9049-D6D3E47AB0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885825"/>
                        <a:ext cx="15240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0" name="Object 4">
            <a:extLst>
              <a:ext uri="{FF2B5EF4-FFF2-40B4-BE49-F238E27FC236}">
                <a16:creationId xmlns:a16="http://schemas.microsoft.com/office/drawing/2014/main" id="{DFCE5334-BFD6-8248-8523-FDDDD8DC66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338786"/>
              </p:ext>
            </p:extLst>
          </p:nvPr>
        </p:nvGraphicFramePr>
        <p:xfrm>
          <a:off x="2339975" y="2109788"/>
          <a:ext cx="42545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75400" imgH="15214600" progId="Equation.DSMT4">
                  <p:embed/>
                </p:oleObj>
              </mc:Choice>
              <mc:Fallback>
                <p:oleObj name="Equation" r:id="rId4" imgW="44475400" imgH="15214600" progId="Equation.DSMT4">
                  <p:embed/>
                  <p:pic>
                    <p:nvPicPr>
                      <p:cNvPr id="382980" name="Object 4">
                        <a:extLst>
                          <a:ext uri="{FF2B5EF4-FFF2-40B4-BE49-F238E27FC236}">
                            <a16:creationId xmlns:a16="http://schemas.microsoft.com/office/drawing/2014/main" id="{DFCE5334-BFD6-8248-8523-FDDDD8DC66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109788"/>
                        <a:ext cx="425450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2981" name="Text Box 5">
            <a:extLst>
              <a:ext uri="{FF2B5EF4-FFF2-40B4-BE49-F238E27FC236}">
                <a16:creationId xmlns:a16="http://schemas.microsoft.com/office/drawing/2014/main" id="{2E6518FC-D398-394E-B2A2-DAC79C0DD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117850"/>
            <a:ext cx="327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zh-CN" altLang="en-US" sz="2400"/>
              <a:t>利用抛物线公式</a:t>
            </a:r>
            <a:endParaRPr lang="en-US" altLang="zh-CN" sz="2400"/>
          </a:p>
        </p:txBody>
      </p:sp>
      <p:graphicFrame>
        <p:nvGraphicFramePr>
          <p:cNvPr id="382982" name="Object 6">
            <a:extLst>
              <a:ext uri="{FF2B5EF4-FFF2-40B4-BE49-F238E27FC236}">
                <a16:creationId xmlns:a16="http://schemas.microsoft.com/office/drawing/2014/main" id="{34D21605-7C31-F647-972F-A22B351D1A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409999"/>
              </p:ext>
            </p:extLst>
          </p:nvPr>
        </p:nvGraphicFramePr>
        <p:xfrm>
          <a:off x="2268538" y="3549650"/>
          <a:ext cx="5507037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340500" imgH="15214600" progId="Equation.DSMT4">
                  <p:embed/>
                </p:oleObj>
              </mc:Choice>
              <mc:Fallback>
                <p:oleObj name="Equation" r:id="rId6" imgW="57340500" imgH="15214600" progId="Equation.DSMT4">
                  <p:embed/>
                  <p:pic>
                    <p:nvPicPr>
                      <p:cNvPr id="382982" name="Object 6">
                        <a:extLst>
                          <a:ext uri="{FF2B5EF4-FFF2-40B4-BE49-F238E27FC236}">
                            <a16:creationId xmlns:a16="http://schemas.microsoft.com/office/drawing/2014/main" id="{34D21605-7C31-F647-972F-A22B351D1A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549650"/>
                        <a:ext cx="5507037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2983" name="Text Box 7">
            <a:extLst>
              <a:ext uri="{FF2B5EF4-FFF2-40B4-BE49-F238E27FC236}">
                <a16:creationId xmlns:a16="http://schemas.microsoft.com/office/drawing/2014/main" id="{386CCA98-976B-DA43-A473-F61C43910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81000"/>
            <a:ext cx="7129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charset="0"/>
              <a:buNone/>
              <a:defRPr/>
            </a:pPr>
            <a:r>
              <a:rPr kumimoji="0" lang="zh-CN" altLang="en-US" sz="2400" b="1" dirty="0">
                <a:solidFill>
                  <a:srgbClr val="FF0000"/>
                </a:solidFill>
                <a:latin typeface="Arial" charset="0"/>
                <a:ea typeface="宋体" charset="0"/>
                <a:cs typeface="宋体" charset="0"/>
              </a:rPr>
              <a:t>例</a:t>
            </a:r>
            <a:r>
              <a:rPr kumimoji="0" lang="en-US" altLang="zh-CN" sz="2400" b="1" dirty="0">
                <a:solidFill>
                  <a:srgbClr val="FF0000"/>
                </a:solidFill>
                <a:latin typeface="Arial" charset="0"/>
                <a:ea typeface="宋体" charset="0"/>
                <a:cs typeface="宋体" charset="0"/>
              </a:rPr>
              <a:t>1  </a:t>
            </a:r>
            <a:r>
              <a:rPr kumimoji="0" lang="zh-CN" altLang="en-US" sz="2400" dirty="0">
                <a:latin typeface="Arial" charset="0"/>
                <a:ea typeface="宋体" charset="0"/>
                <a:cs typeface="宋体" charset="0"/>
              </a:rPr>
              <a:t>试分别用</a:t>
            </a:r>
            <a:r>
              <a:rPr kumimoji="0" lang="zh-CN" altLang="en-US" sz="2400" b="1" dirty="0">
                <a:latin typeface="Arial" charset="0"/>
                <a:ea typeface="宋体" charset="0"/>
                <a:cs typeface="宋体" charset="0"/>
              </a:rPr>
              <a:t>梯形公式</a:t>
            </a:r>
            <a:r>
              <a:rPr kumimoji="0" lang="zh-CN" altLang="en-US" sz="2400" dirty="0">
                <a:latin typeface="Arial" charset="0"/>
                <a:ea typeface="宋体" charset="0"/>
                <a:cs typeface="宋体" charset="0"/>
              </a:rPr>
              <a:t>和</a:t>
            </a:r>
            <a:r>
              <a:rPr kumimoji="0" lang="zh-CN" altLang="en-US" sz="2400" b="1" dirty="0">
                <a:latin typeface="Arial" charset="0"/>
                <a:ea typeface="宋体" charset="0"/>
                <a:cs typeface="宋体" charset="0"/>
              </a:rPr>
              <a:t>抛物线公式</a:t>
            </a:r>
            <a:r>
              <a:rPr kumimoji="0" lang="zh-CN" altLang="en-US" sz="2400" dirty="0">
                <a:latin typeface="Arial" charset="0"/>
                <a:ea typeface="宋体" charset="0"/>
                <a:cs typeface="宋体" charset="0"/>
              </a:rPr>
              <a:t>计算积分</a:t>
            </a:r>
            <a:r>
              <a:rPr kumimoji="0" lang="en-US" altLang="zh-CN" sz="2400" dirty="0">
                <a:latin typeface="Arial" charset="0"/>
                <a:ea typeface="宋体" charset="0"/>
                <a:cs typeface="宋体" charset="0"/>
              </a:rPr>
              <a:t>:</a:t>
            </a:r>
            <a:endParaRPr kumimoji="0" lang="en-US" altLang="zh-CN" sz="2400" dirty="0">
              <a:solidFill>
                <a:schemeClr val="bg1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82984" name="Text Box 8">
            <a:extLst>
              <a:ext uri="{FF2B5EF4-FFF2-40B4-BE49-F238E27FC236}">
                <a16:creationId xmlns:a16="http://schemas.microsoft.com/office/drawing/2014/main" id="{85CBE10F-C711-F04B-87A8-1F21541CC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630738"/>
            <a:ext cx="46085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charset="0"/>
              <a:buNone/>
              <a:defRPr/>
            </a:pPr>
            <a:r>
              <a:rPr kumimoji="0" lang="zh-CN" altLang="en-US" sz="2400" dirty="0">
                <a:latin typeface="Arial" charset="0"/>
                <a:ea typeface="宋体" charset="0"/>
                <a:cs typeface="宋体" charset="0"/>
              </a:rPr>
              <a:t>原积分的准确值</a:t>
            </a:r>
            <a:r>
              <a:rPr kumimoji="0" lang="en-US" altLang="zh-CN" sz="3200" dirty="0">
                <a:latin typeface="Arial" charset="0"/>
                <a:ea typeface="宋体" charset="0"/>
                <a:cs typeface="宋体" charset="0"/>
              </a:rPr>
              <a:t> </a:t>
            </a:r>
            <a:endParaRPr kumimoji="0" lang="en-US" altLang="zh-CN" sz="3200" dirty="0">
              <a:solidFill>
                <a:schemeClr val="bg1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82985" name="Text Box 9">
            <a:extLst>
              <a:ext uri="{FF2B5EF4-FFF2-40B4-BE49-F238E27FC236}">
                <a16:creationId xmlns:a16="http://schemas.microsoft.com/office/drawing/2014/main" id="{12B558F2-5F5B-104A-8F4D-23A9E178C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846638"/>
            <a:ext cx="1439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charset="0"/>
              <a:buNone/>
              <a:defRPr/>
            </a:pPr>
            <a:endParaRPr kumimoji="0" lang="en-US" altLang="zh-CN" sz="3200">
              <a:solidFill>
                <a:schemeClr val="bg1"/>
              </a:solidFill>
              <a:latin typeface="Arial" charset="0"/>
              <a:ea typeface="宋体" charset="0"/>
              <a:cs typeface="宋体" charset="0"/>
            </a:endParaRPr>
          </a:p>
        </p:txBody>
      </p:sp>
      <p:graphicFrame>
        <p:nvGraphicFramePr>
          <p:cNvPr id="382986" name="Object 10">
            <a:extLst>
              <a:ext uri="{FF2B5EF4-FFF2-40B4-BE49-F238E27FC236}">
                <a16:creationId xmlns:a16="http://schemas.microsoft.com/office/drawing/2014/main" id="{75BD2853-7357-2841-ABEE-8DADB02DD795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108449494"/>
              </p:ext>
            </p:extLst>
          </p:nvPr>
        </p:nvGraphicFramePr>
        <p:xfrm>
          <a:off x="2411413" y="5062538"/>
          <a:ext cx="4392612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564800" imgH="9652000" progId="Equation.3">
                  <p:embed/>
                </p:oleObj>
              </mc:Choice>
              <mc:Fallback>
                <p:oleObj name="Equation" r:id="rId8" imgW="48564800" imgH="9652000" progId="Equation.3">
                  <p:embed/>
                  <p:pic>
                    <p:nvPicPr>
                      <p:cNvPr id="382986" name="Object 10">
                        <a:extLst>
                          <a:ext uri="{FF2B5EF4-FFF2-40B4-BE49-F238E27FC236}">
                            <a16:creationId xmlns:a16="http://schemas.microsoft.com/office/drawing/2014/main" id="{75BD2853-7357-2841-ABEE-8DADB02DD7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062538"/>
                        <a:ext cx="4392612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7">
            <a:extLst>
              <a:ext uri="{FF2B5EF4-FFF2-40B4-BE49-F238E27FC236}">
                <a16:creationId xmlns:a16="http://schemas.microsoft.com/office/drawing/2014/main" id="{009A934C-4E42-DCCE-DE19-A77A4D583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361" y="6196432"/>
            <a:ext cx="6929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charset="0"/>
              <a:buNone/>
              <a:defRPr/>
            </a:pPr>
            <a:r>
              <a:rPr kumimoji="0" lang="zh-CN" altLang="en-CN" sz="2400" b="1" dirty="0">
                <a:solidFill>
                  <a:srgbClr val="FF0000"/>
                </a:solidFill>
                <a:latin typeface="Arial" charset="0"/>
                <a:ea typeface="宋体" charset="0"/>
                <a:cs typeface="宋体" charset="0"/>
              </a:rPr>
              <a:t>拓展</a:t>
            </a:r>
            <a:r>
              <a:rPr kumimoji="0" lang="zh-CN" altLang="en-US" sz="2400" b="1" dirty="0">
                <a:latin typeface="Arial" charset="0"/>
                <a:ea typeface="宋体" charset="0"/>
                <a:cs typeface="宋体" charset="0"/>
              </a:rPr>
              <a:t>：请用</a:t>
            </a:r>
            <a:r>
              <a:rPr kumimoji="0" lang="en-US" altLang="zh-CN" sz="2400" b="1" dirty="0">
                <a:latin typeface="Arial" charset="0"/>
                <a:ea typeface="宋体" charset="0"/>
                <a:cs typeface="宋体" charset="0"/>
              </a:rPr>
              <a:t>n=3,4,5</a:t>
            </a:r>
            <a:r>
              <a:rPr kumimoji="0" lang="zh-CN" altLang="en-US" sz="2400" b="1" dirty="0">
                <a:latin typeface="Arial" charset="0"/>
                <a:ea typeface="宋体" charset="0"/>
                <a:cs typeface="宋体" charset="0"/>
              </a:rPr>
              <a:t>的牛顿科特斯公式来计算</a:t>
            </a:r>
            <a:endParaRPr kumimoji="0" lang="en-US" altLang="zh-CN" sz="2400" dirty="0">
              <a:latin typeface="Arial" charset="0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8339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8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2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2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82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38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78" grpId="0" build="p"/>
      <p:bldP spid="382981" grpId="0"/>
      <p:bldP spid="382984" grpId="0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CDE48D7-00DC-7F41-89C5-21D1232D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2B23377-E775-AF47-B719-B401C78C4E69}" type="slidenum">
              <a:rPr lang="en-US" altLang="zh-CN" sz="1400">
                <a:ea typeface="宋体" panose="02010600030101010101" pitchFamily="2" charset="-122"/>
              </a:rPr>
              <a:pPr eaLnBrk="1" hangingPunct="1"/>
              <a:t>28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DAECE94D-A706-8543-8D1A-4EDEF2FFB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981075"/>
            <a:ext cx="7772400" cy="936625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2400">
                <a:ea typeface="MS PGothic" charset="0"/>
              </a:rPr>
              <a:t>牛顿</a:t>
            </a:r>
            <a:r>
              <a:rPr lang="en-US" altLang="zh-CN" sz="2400">
                <a:ea typeface="MS PGothic" charset="0"/>
              </a:rPr>
              <a:t>―</a:t>
            </a:r>
            <a:r>
              <a:rPr lang="zh-CN" altLang="en-US" sz="2400">
                <a:ea typeface="MS PGothic" charset="0"/>
              </a:rPr>
              <a:t>柯特斯求积公式的</a:t>
            </a:r>
            <a:r>
              <a:rPr lang="zh-CN" altLang="en-US" sz="2400">
                <a:solidFill>
                  <a:srgbClr val="0000FF"/>
                </a:solidFill>
                <a:ea typeface="MS PGothic" charset="0"/>
              </a:rPr>
              <a:t>余项</a:t>
            </a:r>
            <a:r>
              <a:rPr lang="zh-CN" altLang="en-US" sz="2400">
                <a:ea typeface="MS PGothic" charset="0"/>
              </a:rPr>
              <a:t>为</a:t>
            </a:r>
            <a:r>
              <a:rPr lang="en-US" altLang="zh-CN" sz="2400">
                <a:ea typeface="MS PGothic" charset="0"/>
              </a:rPr>
              <a:t> </a:t>
            </a:r>
            <a:r>
              <a:rPr lang="en-US" altLang="zh-CN">
                <a:ea typeface="MS PGothic" charset="0"/>
              </a:rPr>
              <a:t>            </a:t>
            </a:r>
          </a:p>
        </p:txBody>
      </p:sp>
      <p:sp>
        <p:nvSpPr>
          <p:cNvPr id="385029" name="Text Box 5">
            <a:extLst>
              <a:ext uri="{FF2B5EF4-FFF2-40B4-BE49-F238E27FC236}">
                <a16:creationId xmlns:a16="http://schemas.microsoft.com/office/drawing/2014/main" id="{C04024B9-4855-C64E-9483-B5D1AAEA9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789363"/>
            <a:ext cx="8137525" cy="149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易知</a:t>
            </a:r>
            <a:r>
              <a:rPr kumimoji="0"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kumimoji="0"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牛顿</a:t>
            </a:r>
            <a:r>
              <a:rPr kumimoji="0"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―</a:t>
            </a:r>
            <a:r>
              <a:rPr kumimoji="0"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柯特斯求积公式对任何不高于</a:t>
            </a:r>
            <a:r>
              <a:rPr kumimoji="0" lang="en-US" altLang="zh-CN" sz="2400" b="1" i="1" dirty="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kumimoji="0"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次的多项式是</a:t>
            </a:r>
            <a:endParaRPr kumimoji="0"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kumimoji="0"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准确成立的。这是因为</a:t>
            </a:r>
            <a:r>
              <a:rPr kumimoji="0"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kumimoji="0" lang="en-US" altLang="zh-CN" sz="2400" b="1" i="1" dirty="0"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baseline="30000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baseline="30000" dirty="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kumimoji="0" lang="en-US" altLang="zh-CN" sz="2400" b="1" baseline="30000" dirty="0">
                <a:latin typeface="Arial" panose="020B0604020202020204" pitchFamily="34" charset="0"/>
                <a:ea typeface="宋体" panose="02010600030101010101" pitchFamily="2" charset="-122"/>
              </a:rPr>
              <a:t>+1)</a:t>
            </a:r>
            <a:r>
              <a:rPr kumimoji="0"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dirty="0" err="1">
                <a:latin typeface="Arial" panose="020B0604020202020204" pitchFamily="34" charset="0"/>
                <a:ea typeface="宋体" panose="02010600030101010101" pitchFamily="2" charset="-122"/>
              </a:rPr>
              <a:t>ξ</a:t>
            </a:r>
            <a:r>
              <a:rPr kumimoji="0"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)≡0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None/>
            </a:pPr>
            <a:r>
              <a:rPr kumimoji="0"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kumimoji="0"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故</a:t>
            </a:r>
            <a:r>
              <a:rPr kumimoji="0"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</a:t>
            </a:r>
            <a:r>
              <a:rPr kumimoji="0" lang="en-US" altLang="zh-CN" sz="2400" b="1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kumimoji="0" lang="en-US" altLang="zh-CN" sz="2400" b="1" i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kumimoji="0"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dirty="0"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)≡0</a:t>
            </a:r>
            <a:endParaRPr kumimoji="0"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6C2D568-923D-5B4D-BA28-36236A623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661025"/>
            <a:ext cx="7561262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zh-CN" altLang="en-US" sz="2400" b="1">
                <a:latin typeface="黑体" charset="0"/>
                <a:ea typeface="黑体" charset="0"/>
                <a:cs typeface="黑体" charset="0"/>
              </a:rPr>
              <a:t>牛顿</a:t>
            </a:r>
            <a:r>
              <a:rPr lang="en-US" altLang="zh-CN" sz="2400" b="1">
                <a:latin typeface="黑体" charset="0"/>
                <a:ea typeface="黑体" charset="0"/>
                <a:cs typeface="黑体" charset="0"/>
              </a:rPr>
              <a:t>―</a:t>
            </a:r>
            <a:r>
              <a:rPr lang="zh-CN" altLang="en-US" sz="2400" b="1">
                <a:latin typeface="黑体" charset="0"/>
                <a:ea typeface="黑体" charset="0"/>
                <a:cs typeface="黑体" charset="0"/>
              </a:rPr>
              <a:t>柯特斯求积公式的代数精确度至少为</a:t>
            </a:r>
            <a:r>
              <a:rPr lang="en-US" altLang="zh-CN" sz="2400" b="1">
                <a:latin typeface="黑体" charset="0"/>
                <a:ea typeface="黑体" charset="0"/>
                <a:cs typeface="黑体" charset="0"/>
              </a:rPr>
              <a:t>n</a:t>
            </a:r>
            <a:endParaRPr lang="en-US" altLang="zh-CN" sz="2400">
              <a:ea typeface="宋体" charset="0"/>
              <a:cs typeface="宋体" charset="0"/>
            </a:endParaRPr>
          </a:p>
        </p:txBody>
      </p:sp>
      <p:graphicFrame>
        <p:nvGraphicFramePr>
          <p:cNvPr id="46086" name="Object 3">
            <a:extLst>
              <a:ext uri="{FF2B5EF4-FFF2-40B4-BE49-F238E27FC236}">
                <a16:creationId xmlns:a16="http://schemas.microsoft.com/office/drawing/2014/main" id="{A4728613-C3FB-7D4D-A33B-B9FE4EE9BF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5438" y="1484313"/>
          <a:ext cx="6010275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82900" imgH="965200" progId="Equation.3">
                  <p:embed/>
                </p:oleObj>
              </mc:Choice>
              <mc:Fallback>
                <p:oleObj name="Equation" r:id="rId2" imgW="2882900" imgH="965200" progId="Equation.3">
                  <p:embed/>
                  <p:pic>
                    <p:nvPicPr>
                      <p:cNvPr id="46086" name="Object 3">
                        <a:extLst>
                          <a:ext uri="{FF2B5EF4-FFF2-40B4-BE49-F238E27FC236}">
                            <a16:creationId xmlns:a16="http://schemas.microsoft.com/office/drawing/2014/main" id="{A4728613-C3FB-7D4D-A33B-B9FE4EE9BF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1484313"/>
                        <a:ext cx="6010275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rocess 9">
            <a:extLst>
              <a:ext uri="{FF2B5EF4-FFF2-40B4-BE49-F238E27FC236}">
                <a16:creationId xmlns:a16="http://schemas.microsoft.com/office/drawing/2014/main" id="{3A3B7FE6-2D58-744D-AEF6-97172446F607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E41A57-19A4-6A45-B23F-ED755DB69F1E}"/>
              </a:ext>
            </a:extLst>
          </p:cNvPr>
          <p:cNvSpPr/>
          <p:nvPr/>
        </p:nvSpPr>
        <p:spPr>
          <a:xfrm>
            <a:off x="468709" y="206118"/>
            <a:ext cx="78370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误差估计</a:t>
            </a:r>
            <a:endParaRPr lang="en-CN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0092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9" grpId="0"/>
      <p:bldP spid="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3" name="Rectangle 3">
            <a:extLst>
              <a:ext uri="{FF2B5EF4-FFF2-40B4-BE49-F238E27FC236}">
                <a16:creationId xmlns:a16="http://schemas.microsoft.com/office/drawing/2014/main" id="{29921F84-7B7F-3D4D-8814-7796BB036F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765175"/>
            <a:ext cx="8675687" cy="11509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当阶数</a:t>
            </a:r>
            <a:r>
              <a:rPr lang="en-US" altLang="zh-CN" sz="2800" b="1" dirty="0">
                <a:solidFill>
                  <a:srgbClr val="CC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CC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为偶数时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,Newton-Cotes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公式</a:t>
            </a:r>
            <a:r>
              <a:rPr lang="zh-CN" altLang="en-US" sz="2800" b="1" dirty="0">
                <a:solidFill>
                  <a:srgbClr val="66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至少具有</a:t>
            </a:r>
            <a:r>
              <a:rPr lang="en-US" altLang="zh-CN" sz="2800" b="1" dirty="0">
                <a:solidFill>
                  <a:srgbClr val="66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n+1</a:t>
            </a:r>
            <a:r>
              <a:rPr lang="zh-CN" altLang="en-US" sz="2800" b="1" dirty="0">
                <a:solidFill>
                  <a:srgbClr val="66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次代数精度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.</a:t>
            </a:r>
          </a:p>
        </p:txBody>
      </p:sp>
      <p:sp>
        <p:nvSpPr>
          <p:cNvPr id="578564" name="Text Box 4">
            <a:extLst>
              <a:ext uri="{FF2B5EF4-FFF2-40B4-BE49-F238E27FC236}">
                <a16:creationId xmlns:a16="http://schemas.microsoft.com/office/drawing/2014/main" id="{EBBFA909-137F-D54A-A6DC-3D584D6AC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905000"/>
            <a:ext cx="76327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证明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只需验证当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为偶数时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,Newton-Cotes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公式对</a:t>
            </a:r>
            <a:r>
              <a:rPr lang="en-US" altLang="zh-CN" b="1" i="1" dirty="0">
                <a:latin typeface="SimSun" panose="02010600030101010101" pitchFamily="2" charset="-122"/>
                <a:ea typeface="SimSun" panose="02010600030101010101" pitchFamily="2" charset="-122"/>
              </a:rPr>
              <a:t>f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b="1" i="1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)=</a:t>
            </a:r>
            <a:r>
              <a:rPr lang="en-US" altLang="zh-CN" b="1" i="1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en-US" altLang="zh-CN" b="1" baseline="30000" dirty="0">
                <a:latin typeface="SimSun" panose="02010600030101010101" pitchFamily="2" charset="-122"/>
                <a:ea typeface="SimSun" panose="02010600030101010101" pitchFamily="2" charset="-122"/>
              </a:rPr>
              <a:t>n+1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的余项为零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.</a:t>
            </a:r>
          </a:p>
        </p:txBody>
      </p:sp>
      <p:sp>
        <p:nvSpPr>
          <p:cNvPr id="578565" name="Text Box 5">
            <a:extLst>
              <a:ext uri="{FF2B5EF4-FFF2-40B4-BE49-F238E27FC236}">
                <a16:creationId xmlns:a16="http://schemas.microsoft.com/office/drawing/2014/main" id="{8D010026-C3C5-3A4C-8093-681C935BA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984500"/>
            <a:ext cx="7921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由于</a:t>
            </a:r>
            <a:r>
              <a:rPr lang="en-US" altLang="zh-CN" b="1" i="1" dirty="0">
                <a:latin typeface="SimSun" panose="02010600030101010101" pitchFamily="2" charset="-122"/>
                <a:ea typeface="SimSun" panose="02010600030101010101" pitchFamily="2" charset="-122"/>
              </a:rPr>
              <a:t>f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b="1" i="1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)=</a:t>
            </a:r>
            <a:r>
              <a:rPr lang="en-US" altLang="zh-CN" b="1" i="1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en-US" altLang="zh-CN" b="1" baseline="30000" dirty="0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en-US" altLang="zh-CN" b="1" i="1" baseline="30000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en-US" altLang="zh-CN" b="1" baseline="30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所以</a:t>
            </a:r>
            <a:r>
              <a:rPr lang="en-US" altLang="zh-CN" b="1" i="1" dirty="0">
                <a:latin typeface="SimSun" panose="02010600030101010101" pitchFamily="2" charset="-122"/>
                <a:ea typeface="SimSun" panose="02010600030101010101" pitchFamily="2" charset="-122"/>
              </a:rPr>
              <a:t>f</a:t>
            </a:r>
            <a:r>
              <a:rPr lang="en-US" altLang="zh-CN" b="1" baseline="30000" dirty="0">
                <a:latin typeface="SimSun" panose="02010600030101010101" pitchFamily="2" charset="-122"/>
                <a:ea typeface="SimSun" panose="02010600030101010101" pitchFamily="2" charset="-122"/>
              </a:rPr>
              <a:t>(n+1)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b="1" i="1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)=(n+1)!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。此时</a:t>
            </a:r>
            <a:endParaRPr lang="en-US" altLang="zh-CN" b="1" baseline="30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78566" name="Text Box 6">
            <a:extLst>
              <a:ext uri="{FF2B5EF4-FFF2-40B4-BE49-F238E27FC236}">
                <a16:creationId xmlns:a16="http://schemas.microsoft.com/office/drawing/2014/main" id="{8FBB973C-0054-7145-83BE-9095476F3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849687"/>
            <a:ext cx="1512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altLang="zh-CN" sz="2400"/>
          </a:p>
        </p:txBody>
      </p:sp>
      <p:sp>
        <p:nvSpPr>
          <p:cNvPr id="578567" name="Rectangle 7">
            <a:extLst>
              <a:ext uri="{FF2B5EF4-FFF2-40B4-BE49-F238E27FC236}">
                <a16:creationId xmlns:a16="http://schemas.microsoft.com/office/drawing/2014/main" id="{22596159-2268-EE4E-A5DE-B613C3EED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578568" name="Object 8">
            <a:extLst>
              <a:ext uri="{FF2B5EF4-FFF2-40B4-BE49-F238E27FC236}">
                <a16:creationId xmlns:a16="http://schemas.microsoft.com/office/drawing/2014/main" id="{3164DF18-ABE3-3941-9BB8-05013973C2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148624"/>
              </p:ext>
            </p:extLst>
          </p:nvPr>
        </p:nvGraphicFramePr>
        <p:xfrm>
          <a:off x="2266950" y="3459162"/>
          <a:ext cx="34575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744400" imgH="10528300" progId="Equation.3">
                  <p:embed/>
                </p:oleObj>
              </mc:Choice>
              <mc:Fallback>
                <p:oleObj name="公式" r:id="rId2" imgW="37744400" imgH="10528300" progId="Equation.3">
                  <p:embed/>
                  <p:pic>
                    <p:nvPicPr>
                      <p:cNvPr id="578568" name="Object 8">
                        <a:extLst>
                          <a:ext uri="{FF2B5EF4-FFF2-40B4-BE49-F238E27FC236}">
                            <a16:creationId xmlns:a16="http://schemas.microsoft.com/office/drawing/2014/main" id="{3164DF18-ABE3-3941-9BB8-05013973C2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3459162"/>
                        <a:ext cx="34575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8569" name="Text Box 9">
            <a:extLst>
              <a:ext uri="{FF2B5EF4-FFF2-40B4-BE49-F238E27FC236}">
                <a16:creationId xmlns:a16="http://schemas.microsoft.com/office/drawing/2014/main" id="{9DA4F360-211C-2546-888A-F3A202D8C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352925"/>
            <a:ext cx="8281987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引进变换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t=</a:t>
            </a:r>
            <a:r>
              <a:rPr lang="en-US" altLang="zh-CN" b="1" dirty="0" err="1">
                <a:latin typeface="SimSun" panose="02010600030101010101" pitchFamily="2" charset="-122"/>
                <a:ea typeface="SimSun" panose="02010600030101010101" pitchFamily="2" charset="-122"/>
              </a:rPr>
              <a:t>u+n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/2,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因为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为偶数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故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n/2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为整数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于是有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78570" name="Rectangle 10">
            <a:extLst>
              <a:ext uri="{FF2B5EF4-FFF2-40B4-BE49-F238E27FC236}">
                <a16:creationId xmlns:a16="http://schemas.microsoft.com/office/drawing/2014/main" id="{12A074C8-B5EB-E344-A322-18C76770D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578571" name="Rectangle 11">
            <a:extLst>
              <a:ext uri="{FF2B5EF4-FFF2-40B4-BE49-F238E27FC236}">
                <a16:creationId xmlns:a16="http://schemas.microsoft.com/office/drawing/2014/main" id="{711D8832-1BA2-4F47-B60A-BC055F85F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578572" name="Object 12">
            <a:extLst>
              <a:ext uri="{FF2B5EF4-FFF2-40B4-BE49-F238E27FC236}">
                <a16:creationId xmlns:a16="http://schemas.microsoft.com/office/drawing/2014/main" id="{AF9D47AA-8C9C-5A4E-AD78-04594E3137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218088"/>
              </p:ext>
            </p:extLst>
          </p:nvPr>
        </p:nvGraphicFramePr>
        <p:xfrm>
          <a:off x="2268538" y="4994275"/>
          <a:ext cx="43195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104300" imgH="10820400" progId="Equation.3">
                  <p:embed/>
                </p:oleObj>
              </mc:Choice>
              <mc:Fallback>
                <p:oleObj name="Equation" r:id="rId4" imgW="47104300" imgH="10820400" progId="Equation.3">
                  <p:embed/>
                  <p:pic>
                    <p:nvPicPr>
                      <p:cNvPr id="578572" name="Object 12">
                        <a:extLst>
                          <a:ext uri="{FF2B5EF4-FFF2-40B4-BE49-F238E27FC236}">
                            <a16:creationId xmlns:a16="http://schemas.microsoft.com/office/drawing/2014/main" id="{AF9D47AA-8C9C-5A4E-AD78-04594E3137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994275"/>
                        <a:ext cx="4319587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8573" name="Text Box 13">
            <a:extLst>
              <a:ext uri="{FF2B5EF4-FFF2-40B4-BE49-F238E27FC236}">
                <a16:creationId xmlns:a16="http://schemas.microsoft.com/office/drawing/2014/main" id="{AC2F1C1B-865F-2C4B-8116-D8AE1F395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49" y="5937250"/>
            <a:ext cx="85693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9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据此可断定</a:t>
            </a:r>
            <a:r>
              <a:rPr lang="en-US" altLang="zh-CN" b="1" i="1" dirty="0">
                <a:solidFill>
                  <a:srgbClr val="00009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R</a:t>
            </a:r>
            <a:r>
              <a:rPr lang="en-US" altLang="zh-CN" b="1" dirty="0">
                <a:solidFill>
                  <a:srgbClr val="00009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9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</a:t>
            </a:r>
            <a:r>
              <a:rPr lang="en-US" altLang="zh-CN" b="1" dirty="0">
                <a:solidFill>
                  <a:srgbClr val="00009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)=0,</a:t>
            </a:r>
            <a:r>
              <a:rPr lang="zh-CN" altLang="en-US" b="1" dirty="0">
                <a:solidFill>
                  <a:srgbClr val="800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因为上述被积函数是个奇函数</a:t>
            </a:r>
            <a:r>
              <a:rPr lang="en-US" altLang="zh-CN" b="1" dirty="0">
                <a:solidFill>
                  <a:srgbClr val="800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83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2" name="Text Box 4">
            <a:extLst>
              <a:ext uri="{FF2B5EF4-FFF2-40B4-BE49-F238E27FC236}">
                <a16:creationId xmlns:a16="http://schemas.microsoft.com/office/drawing/2014/main" id="{B592D8DA-3B32-1D4F-9DD3-BC9ABBA51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04813"/>
            <a:ext cx="784701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just" eaLnBrk="1" hangingPunct="1">
              <a:spcBef>
                <a:spcPct val="20000"/>
              </a:spcBef>
              <a:defRPr/>
            </a:pPr>
            <a:r>
              <a:rPr kumimoji="0" lang="zh-CN" altLang="en-US" b="1" dirty="0">
                <a:solidFill>
                  <a:srgbClr val="3333CC"/>
                </a:solidFill>
                <a:latin typeface="Arial" charset="0"/>
                <a:ea typeface="宋体" charset="0"/>
                <a:cs typeface="宋体" charset="0"/>
              </a:rPr>
              <a:t>定理</a:t>
            </a:r>
            <a:r>
              <a:rPr kumimoji="0" lang="en-US" altLang="zh-CN" b="1" dirty="0">
                <a:solidFill>
                  <a:srgbClr val="3333CC"/>
                </a:solidFill>
                <a:latin typeface="Arial" charset="0"/>
                <a:ea typeface="宋体" charset="0"/>
                <a:cs typeface="宋体" charset="0"/>
              </a:rPr>
              <a:t>1</a:t>
            </a:r>
            <a:r>
              <a:rPr kumimoji="0" lang="en-US" altLang="zh-CN" b="1" dirty="0">
                <a:latin typeface="Arial" charset="0"/>
                <a:ea typeface="宋体" charset="0"/>
                <a:cs typeface="宋体" charset="0"/>
              </a:rPr>
              <a:t> (</a:t>
            </a:r>
            <a:r>
              <a:rPr kumimoji="0" lang="zh-CN" altLang="en-US" b="1" dirty="0">
                <a:solidFill>
                  <a:srgbClr val="3333CC"/>
                </a:solidFill>
                <a:latin typeface="Arial" charset="0"/>
                <a:ea typeface="宋体" charset="0"/>
                <a:cs typeface="宋体" charset="0"/>
              </a:rPr>
              <a:t>梯形公式的误差</a:t>
            </a:r>
            <a:r>
              <a:rPr kumimoji="0" lang="en-US" altLang="zh-CN" b="1" dirty="0">
                <a:latin typeface="Arial" charset="0"/>
                <a:ea typeface="宋体" charset="0"/>
                <a:cs typeface="宋体" charset="0"/>
              </a:rPr>
              <a:t>)</a:t>
            </a:r>
            <a:r>
              <a:rPr kumimoji="0" lang="zh-CN" altLang="en-US" b="1" dirty="0">
                <a:latin typeface="Arial" charset="0"/>
                <a:ea typeface="宋体" charset="0"/>
                <a:cs typeface="宋体" charset="0"/>
              </a:rPr>
              <a:t>设</a:t>
            </a:r>
            <a:r>
              <a:rPr kumimoji="0" lang="en-US" altLang="zh-CN" b="1" dirty="0">
                <a:latin typeface="Arial" charset="0"/>
                <a:ea typeface="宋体" charset="0"/>
                <a:cs typeface="宋体" charset="0"/>
              </a:rPr>
              <a:t>f(x)</a:t>
            </a:r>
            <a:r>
              <a:rPr kumimoji="0" lang="zh-CN" altLang="en-US" b="1" dirty="0">
                <a:latin typeface="Arial" charset="0"/>
                <a:ea typeface="宋体" charset="0"/>
                <a:cs typeface="宋体" charset="0"/>
              </a:rPr>
              <a:t>在区间［</a:t>
            </a:r>
            <a:r>
              <a:rPr kumimoji="0" lang="en-US" altLang="zh-CN" b="1" dirty="0">
                <a:latin typeface="Arial" charset="0"/>
                <a:ea typeface="宋体" charset="0"/>
                <a:cs typeface="宋体" charset="0"/>
              </a:rPr>
              <a:t>a, b</a:t>
            </a:r>
            <a:r>
              <a:rPr kumimoji="0" lang="zh-CN" altLang="en-US" b="1" dirty="0">
                <a:latin typeface="Arial" charset="0"/>
                <a:ea typeface="宋体" charset="0"/>
                <a:cs typeface="宋体" charset="0"/>
              </a:rPr>
              <a:t>］上具有连续的二阶导数</a:t>
            </a:r>
            <a:r>
              <a:rPr kumimoji="0" lang="en-US" altLang="zh-CN" b="1" dirty="0">
                <a:latin typeface="Arial" charset="0"/>
                <a:ea typeface="宋体" charset="0"/>
                <a:cs typeface="宋体" charset="0"/>
              </a:rPr>
              <a:t>,</a:t>
            </a:r>
            <a:r>
              <a:rPr kumimoji="0" lang="zh-CN" altLang="en-US" b="1" dirty="0">
                <a:latin typeface="Arial" charset="0"/>
                <a:ea typeface="宋体" charset="0"/>
                <a:cs typeface="宋体" charset="0"/>
              </a:rPr>
              <a:t>则梯形求积公式的误差为</a:t>
            </a:r>
            <a:endParaRPr kumimoji="0" lang="en-US" altLang="zh-CN" b="1" dirty="0">
              <a:solidFill>
                <a:schemeClr val="bg1"/>
              </a:solidFill>
              <a:latin typeface="Arial" charset="0"/>
              <a:ea typeface="宋体" charset="0"/>
              <a:cs typeface="宋体" charset="0"/>
            </a:endParaRPr>
          </a:p>
        </p:txBody>
      </p:sp>
      <p:graphicFrame>
        <p:nvGraphicFramePr>
          <p:cNvPr id="386053" name="Object 5">
            <a:extLst>
              <a:ext uri="{FF2B5EF4-FFF2-40B4-BE49-F238E27FC236}">
                <a16:creationId xmlns:a16="http://schemas.microsoft.com/office/drawing/2014/main" id="{C99EDD7A-E20F-484E-A695-532D1C584F3A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587143238"/>
              </p:ext>
            </p:extLst>
          </p:nvPr>
        </p:nvGraphicFramePr>
        <p:xfrm>
          <a:off x="2300288" y="1371600"/>
          <a:ext cx="497363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4000" imgH="419100" progId="Equation.3">
                  <p:embed/>
                </p:oleObj>
              </mc:Choice>
              <mc:Fallback>
                <p:oleObj name="Equation" r:id="rId2" imgW="2794000" imgH="419100" progId="Equation.3">
                  <p:embed/>
                  <p:pic>
                    <p:nvPicPr>
                      <p:cNvPr id="386053" name="Object 5">
                        <a:extLst>
                          <a:ext uri="{FF2B5EF4-FFF2-40B4-BE49-F238E27FC236}">
                            <a16:creationId xmlns:a16="http://schemas.microsoft.com/office/drawing/2014/main" id="{C99EDD7A-E20F-484E-A695-532D1C584F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88" y="1371600"/>
                        <a:ext cx="4973637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A2F1AC4A-9AC8-0448-AB48-A69EB01D3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554413"/>
            <a:ext cx="40386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由于</a:t>
            </a:r>
            <a:r>
              <a:rPr lang="en-US" altLang="zh-CN" sz="2400">
                <a:ea typeface="宋体" panose="02010600030101010101" pitchFamily="2" charset="-122"/>
              </a:rPr>
              <a:t>      </a:t>
            </a:r>
            <a:r>
              <a:rPr lang="en-US" altLang="zh-CN" sz="2400" i="1">
                <a:ea typeface="宋体" panose="02010600030101010101" pitchFamily="2" charset="-122"/>
              </a:rPr>
              <a:t>ω</a:t>
            </a:r>
            <a:r>
              <a:rPr lang="en-US" altLang="zh-CN" sz="2400" baseline="-25000">
                <a:ea typeface="宋体" panose="02010600030101010101" pitchFamily="2" charset="-122"/>
              </a:rPr>
              <a:t>1</a:t>
            </a:r>
            <a:r>
              <a:rPr lang="en-US" altLang="zh-CN" sz="2400">
                <a:ea typeface="宋体" panose="02010600030101010101" pitchFamily="2" charset="-122"/>
              </a:rPr>
              <a:t>(</a:t>
            </a:r>
            <a:r>
              <a:rPr lang="en-US" altLang="zh-CN" sz="2400" i="1">
                <a:ea typeface="宋体" panose="02010600030101010101" pitchFamily="2" charset="-122"/>
              </a:rPr>
              <a:t>x</a:t>
            </a:r>
            <a:r>
              <a:rPr lang="en-US" altLang="zh-CN" sz="2400">
                <a:ea typeface="宋体" panose="02010600030101010101" pitchFamily="2" charset="-122"/>
              </a:rPr>
              <a:t>)=(</a:t>
            </a:r>
            <a:r>
              <a:rPr lang="en-US" altLang="zh-CN" sz="2400" i="1">
                <a:ea typeface="宋体" panose="02010600030101010101" pitchFamily="2" charset="-122"/>
              </a:rPr>
              <a:t>x</a:t>
            </a:r>
            <a:r>
              <a:rPr lang="en-US" altLang="zh-CN" sz="2400">
                <a:ea typeface="宋体" panose="02010600030101010101" pitchFamily="2" charset="-122"/>
              </a:rPr>
              <a:t>-</a:t>
            </a:r>
            <a:r>
              <a:rPr lang="en-US" altLang="zh-CN" sz="2400" i="1">
                <a:ea typeface="宋体" panose="02010600030101010101" pitchFamily="2" charset="-122"/>
              </a:rPr>
              <a:t>a</a:t>
            </a:r>
            <a:r>
              <a:rPr lang="en-US" altLang="zh-CN" sz="2400">
                <a:ea typeface="宋体" panose="02010600030101010101" pitchFamily="2" charset="-122"/>
              </a:rPr>
              <a:t>)(</a:t>
            </a:r>
            <a:r>
              <a:rPr lang="en-US" altLang="zh-CN" sz="2400" i="1">
                <a:ea typeface="宋体" panose="02010600030101010101" pitchFamily="2" charset="-122"/>
              </a:rPr>
              <a:t>x</a:t>
            </a:r>
            <a:r>
              <a:rPr lang="en-US" altLang="zh-CN" sz="2400">
                <a:ea typeface="宋体" panose="02010600030101010101" pitchFamily="2" charset="-122"/>
              </a:rPr>
              <a:t>-</a:t>
            </a:r>
            <a:r>
              <a:rPr lang="en-US" altLang="zh-CN" sz="2400" i="1">
                <a:ea typeface="宋体" panose="02010600030101010101" pitchFamily="2" charset="-122"/>
              </a:rPr>
              <a:t>b</a:t>
            </a:r>
            <a:r>
              <a:rPr lang="en-US" altLang="zh-CN" sz="2400"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2E19A870-4366-994B-BAAC-5CF79D2955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2690813"/>
          <a:ext cx="47180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317400" imgH="9067800" progId="Equation.DSMT4">
                  <p:embed/>
                </p:oleObj>
              </mc:Choice>
              <mc:Fallback>
                <p:oleObj name="Equation" r:id="rId4" imgW="50317400" imgH="9067800" progId="Equation.DSMT4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2E19A870-4366-994B-BAAC-5CF79D2955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690813"/>
                        <a:ext cx="471805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>
            <a:extLst>
              <a:ext uri="{FF2B5EF4-FFF2-40B4-BE49-F238E27FC236}">
                <a16:creationId xmlns:a16="http://schemas.microsoft.com/office/drawing/2014/main" id="{87DC8321-4C8A-5F4D-BE04-DE942B1F7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114550"/>
            <a:ext cx="5562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梯形公式的余项为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1B7A56FC-2119-F54B-AFC6-813BEF67B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130675"/>
            <a:ext cx="81375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ω</a:t>
            </a:r>
            <a:r>
              <a: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1(</a:t>
            </a:r>
            <a:r>
              <a:rPr kumimoji="0"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kumimoji="0"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在区间</a:t>
            </a:r>
            <a:r>
              <a: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0"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, </a:t>
            </a:r>
            <a:r>
              <a:rPr kumimoji="0"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kumimoji="0"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内不变号</a:t>
            </a:r>
            <a:r>
              <a: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kumimoji="0"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″(</a:t>
            </a:r>
            <a:r>
              <a:rPr kumimoji="0" lang="en-US" altLang="zh-CN" sz="2400" i="1" dirty="0" err="1">
                <a:latin typeface="Arial" panose="020B0604020202020204" pitchFamily="34" charset="0"/>
                <a:ea typeface="宋体" panose="02010600030101010101" pitchFamily="2" charset="-122"/>
              </a:rPr>
              <a:t>ξ</a:t>
            </a:r>
            <a:r>
              <a:rPr kumimoji="0"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kumimoji="0"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kumimoji="0"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kumimoji="0"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的函数且在［</a:t>
            </a:r>
            <a:r>
              <a:rPr kumimoji="0" lang="en-US" altLang="zh-CN" sz="2400" i="1" dirty="0" err="1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kumimoji="0"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kumimoji="0" lang="en-US" altLang="zh-CN" sz="2400" i="1" dirty="0" err="1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kumimoji="0"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］上连续</a:t>
            </a:r>
            <a:r>
              <a: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kumimoji="0"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故根据积分第二中值定理知</a:t>
            </a:r>
            <a:r>
              <a: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kumimoji="0"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存在某一</a:t>
            </a:r>
            <a:r>
              <a:rPr kumimoji="0" lang="en-US" altLang="zh-CN" sz="2400" i="1" dirty="0" err="1">
                <a:latin typeface="Arial" panose="020B0604020202020204" pitchFamily="34" charset="0"/>
                <a:ea typeface="宋体" panose="02010600030101010101" pitchFamily="2" charset="-122"/>
              </a:rPr>
              <a:t>η</a:t>
            </a:r>
            <a:r>
              <a: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∈(</a:t>
            </a:r>
            <a:r>
              <a:rPr kumimoji="0"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, </a:t>
            </a:r>
            <a:r>
              <a:rPr kumimoji="0" lang="en-US" altLang="zh-CN" sz="2400" i="1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kumimoji="0"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使</a:t>
            </a:r>
            <a:endParaRPr kumimoji="0"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34B6FA07-9E49-BE45-A55F-32A4EFB10B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138738"/>
          <a:ext cx="4752975" cy="167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1498500" imgH="18135600" progId="Equation.3">
                  <p:embed/>
                </p:oleObj>
              </mc:Choice>
              <mc:Fallback>
                <p:oleObj name="Equation" r:id="rId6" imgW="51498500" imgH="18135600" progId="Equation.3">
                  <p:embed/>
                  <p:pic>
                    <p:nvPicPr>
                      <p:cNvPr id="12" name="Object 7">
                        <a:extLst>
                          <a:ext uri="{FF2B5EF4-FFF2-40B4-BE49-F238E27FC236}">
                            <a16:creationId xmlns:a16="http://schemas.microsoft.com/office/drawing/2014/main" id="{34B6FA07-9E49-BE45-A55F-32A4EFB10B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138738"/>
                        <a:ext cx="4752975" cy="167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88148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78725DD-A9E7-C144-917C-F898C0A75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0"/>
            <a:ext cx="365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1800" b="1">
                <a:ea typeface="宋体" panose="02010600030101010101" pitchFamily="2" charset="-122"/>
              </a:rPr>
              <a:t>§1  Newton-Cotes Formulae</a:t>
            </a:r>
          </a:p>
        </p:txBody>
      </p:sp>
      <p:grpSp>
        <p:nvGrpSpPr>
          <p:cNvPr id="49154" name="Group 9">
            <a:extLst>
              <a:ext uri="{FF2B5EF4-FFF2-40B4-BE49-F238E27FC236}">
                <a16:creationId xmlns:a16="http://schemas.microsoft.com/office/drawing/2014/main" id="{3F753748-2A95-DE44-8C9A-913136FCD8E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52400"/>
            <a:ext cx="3429000" cy="650875"/>
            <a:chOff x="288" y="192"/>
            <a:chExt cx="2160" cy="410"/>
          </a:xfrm>
        </p:grpSpPr>
        <p:graphicFrame>
          <p:nvGraphicFramePr>
            <p:cNvPr id="49176" name="Object 7">
              <a:extLst>
                <a:ext uri="{FF2B5EF4-FFF2-40B4-BE49-F238E27FC236}">
                  <a16:creationId xmlns:a16="http://schemas.microsoft.com/office/drawing/2014/main" id="{E62EDF81-CFE4-9B4E-8C05-03DB4BB605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192"/>
            <a:ext cx="1536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8676600" imgH="8483600" progId="Equation.3">
                    <p:embed/>
                  </p:oleObj>
                </mc:Choice>
                <mc:Fallback>
                  <p:oleObj name="Equation" r:id="rId4" imgW="28676600" imgH="8483600" progId="Equation.3">
                    <p:embed/>
                    <p:pic>
                      <p:nvPicPr>
                        <p:cNvPr id="49176" name="Object 7">
                          <a:extLst>
                            <a:ext uri="{FF2B5EF4-FFF2-40B4-BE49-F238E27FC236}">
                              <a16:creationId xmlns:a16="http://schemas.microsoft.com/office/drawing/2014/main" id="{E62EDF81-CFE4-9B4E-8C05-03DB4BB605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92"/>
                          <a:ext cx="1536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8" name="Text Box 8">
              <a:extLst>
                <a:ext uri="{FF2B5EF4-FFF2-40B4-BE49-F238E27FC236}">
                  <a16:creationId xmlns:a16="http://schemas.microsoft.com/office/drawing/2014/main" id="{A80D7C0D-C51E-BB43-8197-00C1DE31A9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65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i="1">
                  <a:solidFill>
                    <a:schemeClr val="accent2"/>
                  </a:solidFill>
                </a:rPr>
                <a:t>n</a:t>
              </a:r>
              <a:r>
                <a:rPr lang="en-US" altLang="zh-CN" sz="2400" b="1">
                  <a:solidFill>
                    <a:schemeClr val="accent2"/>
                  </a:solidFill>
                </a:rPr>
                <a:t> = 1:</a:t>
              </a:r>
              <a:endParaRPr lang="en-US" altLang="zh-CN" sz="2400" b="1" i="1">
                <a:solidFill>
                  <a:schemeClr val="accent2"/>
                </a:solidFill>
              </a:endParaRPr>
            </a:p>
          </p:txBody>
        </p:sp>
      </p:grpSp>
      <p:grpSp>
        <p:nvGrpSpPr>
          <p:cNvPr id="49155" name="Group 12">
            <a:extLst>
              <a:ext uri="{FF2B5EF4-FFF2-40B4-BE49-F238E27FC236}">
                <a16:creationId xmlns:a16="http://schemas.microsoft.com/office/drawing/2014/main" id="{EB3B30F4-6596-9F40-ABFF-0097B9D3D4D6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762000"/>
            <a:ext cx="3657600" cy="838200"/>
            <a:chOff x="864" y="624"/>
            <a:chExt cx="2304" cy="528"/>
          </a:xfrm>
        </p:grpSpPr>
        <p:sp>
          <p:nvSpPr>
            <p:cNvPr id="35851" name="AutoShape 11" descr="再生纸">
              <a:extLst>
                <a:ext uri="{FF2B5EF4-FFF2-40B4-BE49-F238E27FC236}">
                  <a16:creationId xmlns:a16="http://schemas.microsoft.com/office/drawing/2014/main" id="{65B2A8BA-EB4F-FC4E-A2B7-E10393B06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624"/>
              <a:ext cx="2304" cy="528"/>
            </a:xfrm>
            <a:prstGeom prst="bevel">
              <a:avLst>
                <a:gd name="adj" fmla="val 7199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graphicFrame>
          <p:nvGraphicFramePr>
            <p:cNvPr id="49175" name="Object 10">
              <a:extLst>
                <a:ext uri="{FF2B5EF4-FFF2-40B4-BE49-F238E27FC236}">
                  <a16:creationId xmlns:a16="http://schemas.microsoft.com/office/drawing/2014/main" id="{904D5CFF-AAA5-C04C-A038-C86B6226DB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672"/>
            <a:ext cx="2111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5351700" imgH="8775700" progId="Equation.3">
                    <p:embed/>
                  </p:oleObj>
                </mc:Choice>
                <mc:Fallback>
                  <p:oleObj name="Equation" r:id="rId7" imgW="45351700" imgH="8775700" progId="Equation.3">
                    <p:embed/>
                    <p:pic>
                      <p:nvPicPr>
                        <p:cNvPr id="49175" name="Object 10">
                          <a:extLst>
                            <a:ext uri="{FF2B5EF4-FFF2-40B4-BE49-F238E27FC236}">
                              <a16:creationId xmlns:a16="http://schemas.microsoft.com/office/drawing/2014/main" id="{904D5CFF-AAA5-C04C-A038-C86B6226DB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672"/>
                          <a:ext cx="2111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854" name="Object 14">
            <a:extLst>
              <a:ext uri="{FF2B5EF4-FFF2-40B4-BE49-F238E27FC236}">
                <a16:creationId xmlns:a16="http://schemas.microsoft.com/office/drawing/2014/main" id="{785987C5-DC67-FB49-9C3B-D022A7E2D1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1600200"/>
          <a:ext cx="36576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856900" imgH="9359900" progId="Equation.3">
                  <p:embed/>
                </p:oleObj>
              </mc:Choice>
              <mc:Fallback>
                <p:oleObj name="Equation" r:id="rId9" imgW="48856900" imgH="9359900" progId="Equation.3">
                  <p:embed/>
                  <p:pic>
                    <p:nvPicPr>
                      <p:cNvPr id="35854" name="Object 14">
                        <a:extLst>
                          <a:ext uri="{FF2B5EF4-FFF2-40B4-BE49-F238E27FC236}">
                            <a16:creationId xmlns:a16="http://schemas.microsoft.com/office/drawing/2014/main" id="{785987C5-DC67-FB49-9C3B-D022A7E2D1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600200"/>
                        <a:ext cx="3657600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6" name="Object 16">
            <a:extLst>
              <a:ext uri="{FF2B5EF4-FFF2-40B4-BE49-F238E27FC236}">
                <a16:creationId xmlns:a16="http://schemas.microsoft.com/office/drawing/2014/main" id="{0EB8CCCC-4E1E-C341-AFAA-A3E3678391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209800"/>
          <a:ext cx="4516438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6756300" imgH="8483600" progId="Equation.3">
                  <p:embed/>
                </p:oleObj>
              </mc:Choice>
              <mc:Fallback>
                <p:oleObj name="Equation" r:id="rId11" imgW="56756300" imgH="8483600" progId="Equation.3">
                  <p:embed/>
                  <p:pic>
                    <p:nvPicPr>
                      <p:cNvPr id="35856" name="Object 16">
                        <a:extLst>
                          <a:ext uri="{FF2B5EF4-FFF2-40B4-BE49-F238E27FC236}">
                            <a16:creationId xmlns:a16="http://schemas.microsoft.com/office/drawing/2014/main" id="{0EB8CCCC-4E1E-C341-AFAA-A3E3678391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209800"/>
                        <a:ext cx="4516438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7" name="Text Box 17">
            <a:extLst>
              <a:ext uri="{FF2B5EF4-FFF2-40B4-BE49-F238E27FC236}">
                <a16:creationId xmlns:a16="http://schemas.microsoft.com/office/drawing/2014/main" id="{7C9259D6-AA55-CA4C-A1BE-5B7D539CF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1430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  <a:ea typeface="宋体" charset="0"/>
                <a:cs typeface="宋体" charset="0"/>
              </a:rPr>
              <a:t>代数精度</a:t>
            </a:r>
            <a:r>
              <a:rPr lang="en-US" altLang="zh-CN" sz="2400" b="1">
                <a:solidFill>
                  <a:schemeClr val="accent2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2400" b="1" i="1">
                <a:solidFill>
                  <a:schemeClr val="accent2"/>
                </a:solidFill>
                <a:ea typeface="宋体" charset="0"/>
                <a:cs typeface="宋体" charset="0"/>
              </a:rPr>
              <a:t>= </a:t>
            </a:r>
            <a:r>
              <a:rPr lang="en-US" altLang="zh-CN" sz="2400" b="1">
                <a:solidFill>
                  <a:schemeClr val="accent2"/>
                </a:solidFill>
                <a:ea typeface="宋体" charset="0"/>
                <a:cs typeface="宋体" charset="0"/>
              </a:rPr>
              <a:t>1</a:t>
            </a:r>
          </a:p>
        </p:txBody>
      </p:sp>
      <p:grpSp>
        <p:nvGrpSpPr>
          <p:cNvPr id="35862" name="Group 22">
            <a:extLst>
              <a:ext uri="{FF2B5EF4-FFF2-40B4-BE49-F238E27FC236}">
                <a16:creationId xmlns:a16="http://schemas.microsoft.com/office/drawing/2014/main" id="{0ADF2C67-287F-1447-ADC6-A61A30A6BC4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895600"/>
            <a:ext cx="4695825" cy="746125"/>
            <a:chOff x="336" y="2064"/>
            <a:chExt cx="2958" cy="470"/>
          </a:xfrm>
        </p:grpSpPr>
        <p:sp>
          <p:nvSpPr>
            <p:cNvPr id="35860" name="Text Box 20">
              <a:extLst>
                <a:ext uri="{FF2B5EF4-FFF2-40B4-BE49-F238E27FC236}">
                  <a16:creationId xmlns:a16="http://schemas.microsoft.com/office/drawing/2014/main" id="{446BFD4A-C436-C848-A88C-F24DDEE8A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137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i="1">
                  <a:solidFill>
                    <a:schemeClr val="accent2"/>
                  </a:solidFill>
                </a:rPr>
                <a:t>n</a:t>
              </a:r>
              <a:r>
                <a:rPr lang="en-US" altLang="zh-CN" sz="2400" b="1">
                  <a:solidFill>
                    <a:schemeClr val="accent2"/>
                  </a:solidFill>
                </a:rPr>
                <a:t> = 2:</a:t>
              </a:r>
              <a:endParaRPr lang="en-US" altLang="zh-CN" sz="2400" b="1" i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49173" name="Object 21">
              <a:extLst>
                <a:ext uri="{FF2B5EF4-FFF2-40B4-BE49-F238E27FC236}">
                  <a16:creationId xmlns:a16="http://schemas.microsoft.com/office/drawing/2014/main" id="{FF9E2099-2E73-CA4E-8DEB-4033A28E4C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2064"/>
            <a:ext cx="2382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2710100" imgH="8775700" progId="Equation.3">
                    <p:embed/>
                  </p:oleObj>
                </mc:Choice>
                <mc:Fallback>
                  <p:oleObj name="Equation" r:id="rId13" imgW="42710100" imgH="8775700" progId="Equation.3">
                    <p:embed/>
                    <p:pic>
                      <p:nvPicPr>
                        <p:cNvPr id="49173" name="Object 21">
                          <a:extLst>
                            <a:ext uri="{FF2B5EF4-FFF2-40B4-BE49-F238E27FC236}">
                              <a16:creationId xmlns:a16="http://schemas.microsoft.com/office/drawing/2014/main" id="{FF9E2099-2E73-CA4E-8DEB-4033A28E4C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064"/>
                          <a:ext cx="2382" cy="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865" name="Group 25">
            <a:extLst>
              <a:ext uri="{FF2B5EF4-FFF2-40B4-BE49-F238E27FC236}">
                <a16:creationId xmlns:a16="http://schemas.microsoft.com/office/drawing/2014/main" id="{46C7A898-F0D1-204D-B9FD-5B35C1A26B6C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581400"/>
            <a:ext cx="4876800" cy="914400"/>
            <a:chOff x="912" y="2592"/>
            <a:chExt cx="3072" cy="576"/>
          </a:xfrm>
        </p:grpSpPr>
        <p:sp>
          <p:nvSpPr>
            <p:cNvPr id="35864" name="AutoShape 24" descr="再生纸">
              <a:extLst>
                <a:ext uri="{FF2B5EF4-FFF2-40B4-BE49-F238E27FC236}">
                  <a16:creationId xmlns:a16="http://schemas.microsoft.com/office/drawing/2014/main" id="{E693ADC6-A249-C544-846C-CB0C34B09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592"/>
              <a:ext cx="3072" cy="576"/>
            </a:xfrm>
            <a:prstGeom prst="bevel">
              <a:avLst>
                <a:gd name="adj" fmla="val 6250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graphicFrame>
          <p:nvGraphicFramePr>
            <p:cNvPr id="49171" name="Object 23">
              <a:extLst>
                <a:ext uri="{FF2B5EF4-FFF2-40B4-BE49-F238E27FC236}">
                  <a16:creationId xmlns:a16="http://schemas.microsoft.com/office/drawing/2014/main" id="{5814B906-25DA-C443-A2BC-C57A3F2021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2640"/>
            <a:ext cx="2965" cy="4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59690000" imgH="8775700" progId="Equation.3">
                    <p:embed/>
                  </p:oleObj>
                </mc:Choice>
                <mc:Fallback>
                  <p:oleObj name="Equation" r:id="rId15" imgW="59690000" imgH="8775700" progId="Equation.3">
                    <p:embed/>
                    <p:pic>
                      <p:nvPicPr>
                        <p:cNvPr id="49171" name="Object 23">
                          <a:extLst>
                            <a:ext uri="{FF2B5EF4-FFF2-40B4-BE49-F238E27FC236}">
                              <a16:creationId xmlns:a16="http://schemas.microsoft.com/office/drawing/2014/main" id="{5814B906-25DA-C443-A2BC-C57A3F2021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640"/>
                          <a:ext cx="2965" cy="4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67" name="Text Box 27">
            <a:extLst>
              <a:ext uri="{FF2B5EF4-FFF2-40B4-BE49-F238E27FC236}">
                <a16:creationId xmlns:a16="http://schemas.microsoft.com/office/drawing/2014/main" id="{ECB2201D-E34D-BA42-966E-8C167BCBE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39624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  <a:ea typeface="宋体" charset="0"/>
                <a:cs typeface="宋体" charset="0"/>
              </a:rPr>
              <a:t>代数精度</a:t>
            </a:r>
            <a:r>
              <a:rPr lang="en-US" altLang="zh-CN" sz="2400" b="1">
                <a:solidFill>
                  <a:schemeClr val="accent2"/>
                </a:solidFill>
                <a:ea typeface="宋体" charset="0"/>
                <a:cs typeface="宋体" charset="0"/>
              </a:rPr>
              <a:t> </a:t>
            </a:r>
            <a:r>
              <a:rPr lang="en-US" altLang="zh-CN" sz="2400" b="1" i="1">
                <a:solidFill>
                  <a:srgbClr val="FF0000"/>
                </a:solidFill>
                <a:ea typeface="宋体" charset="0"/>
                <a:cs typeface="宋体" charset="0"/>
              </a:rPr>
              <a:t>= </a:t>
            </a:r>
            <a:r>
              <a:rPr lang="en-US" altLang="zh-CN" sz="2400" b="1">
                <a:solidFill>
                  <a:srgbClr val="FF0000"/>
                </a:solidFill>
                <a:ea typeface="宋体" charset="0"/>
                <a:cs typeface="宋体" charset="0"/>
              </a:rPr>
              <a:t>3</a:t>
            </a:r>
          </a:p>
        </p:txBody>
      </p:sp>
      <p:graphicFrame>
        <p:nvGraphicFramePr>
          <p:cNvPr id="35868" name="Object 28">
            <a:extLst>
              <a:ext uri="{FF2B5EF4-FFF2-40B4-BE49-F238E27FC236}">
                <a16:creationId xmlns:a16="http://schemas.microsoft.com/office/drawing/2014/main" id="{37AD2AD5-E625-C840-A8A2-BB8AF16221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4495800"/>
          <a:ext cx="5562600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7297300" imgH="8775700" progId="Equation.3">
                  <p:embed/>
                </p:oleObj>
              </mc:Choice>
              <mc:Fallback>
                <p:oleObj name="Equation" r:id="rId17" imgW="67297300" imgH="8775700" progId="Equation.3">
                  <p:embed/>
                  <p:pic>
                    <p:nvPicPr>
                      <p:cNvPr id="35868" name="Object 28">
                        <a:extLst>
                          <a:ext uri="{FF2B5EF4-FFF2-40B4-BE49-F238E27FC236}">
                            <a16:creationId xmlns:a16="http://schemas.microsoft.com/office/drawing/2014/main" id="{37AD2AD5-E625-C840-A8A2-BB8AF16221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5562600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73" name="Group 33">
            <a:extLst>
              <a:ext uri="{FF2B5EF4-FFF2-40B4-BE49-F238E27FC236}">
                <a16:creationId xmlns:a16="http://schemas.microsoft.com/office/drawing/2014/main" id="{8711E9CF-AAE2-4746-AEF3-AB365D79891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5181600"/>
            <a:ext cx="7924800" cy="611188"/>
            <a:chOff x="336" y="3264"/>
            <a:chExt cx="4992" cy="385"/>
          </a:xfrm>
        </p:grpSpPr>
        <p:sp>
          <p:nvSpPr>
            <p:cNvPr id="35870" name="Text Box 30">
              <a:extLst>
                <a:ext uri="{FF2B5EF4-FFF2-40B4-BE49-F238E27FC236}">
                  <a16:creationId xmlns:a16="http://schemas.microsoft.com/office/drawing/2014/main" id="{23556C8A-C137-5242-A9C5-C312D700D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312"/>
              <a:ext cx="36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>
                  <a:solidFill>
                    <a:schemeClr val="accent2"/>
                  </a:solidFill>
                </a:rPr>
                <a:t>n</a:t>
              </a:r>
              <a:r>
                <a:rPr lang="en-US" altLang="zh-CN" sz="2400" b="1">
                  <a:solidFill>
                    <a:schemeClr val="accent2"/>
                  </a:solidFill>
                </a:rPr>
                <a:t> = 3: Simpson</a:t>
              </a:r>
              <a:r>
                <a:rPr lang="zh-CN" altLang="en-US" sz="2400" b="1">
                  <a:solidFill>
                    <a:schemeClr val="accent2"/>
                  </a:solidFill>
                </a:rPr>
                <a:t>’</a:t>
              </a:r>
              <a:r>
                <a:rPr lang="en-US" altLang="zh-CN" sz="2400" b="1">
                  <a:solidFill>
                    <a:schemeClr val="accent2"/>
                  </a:solidFill>
                </a:rPr>
                <a:t>s 3/8-Rule, </a:t>
              </a:r>
              <a:r>
                <a:rPr lang="zh-CN" altLang="en-US" sz="2400" b="1">
                  <a:solidFill>
                    <a:schemeClr val="accent2"/>
                  </a:solidFill>
                </a:rPr>
                <a:t>代数精度</a:t>
              </a:r>
              <a:r>
                <a:rPr lang="en-US" altLang="zh-CN" sz="2400" b="1">
                  <a:solidFill>
                    <a:schemeClr val="accent2"/>
                  </a:solidFill>
                </a:rPr>
                <a:t> </a:t>
              </a:r>
              <a:r>
                <a:rPr lang="en-US" altLang="zh-CN" sz="2400" b="1" i="1">
                  <a:solidFill>
                    <a:schemeClr val="accent2"/>
                  </a:solidFill>
                </a:rPr>
                <a:t>= </a:t>
              </a:r>
              <a:r>
                <a:rPr lang="en-US" altLang="zh-CN" sz="2400" b="1">
                  <a:solidFill>
                    <a:schemeClr val="accent2"/>
                  </a:solidFill>
                </a:rPr>
                <a:t>3,</a:t>
              </a:r>
            </a:p>
          </p:txBody>
        </p:sp>
        <p:graphicFrame>
          <p:nvGraphicFramePr>
            <p:cNvPr id="49169" name="Object 32">
              <a:extLst>
                <a:ext uri="{FF2B5EF4-FFF2-40B4-BE49-F238E27FC236}">
                  <a16:creationId xmlns:a16="http://schemas.microsoft.com/office/drawing/2014/main" id="{231AB16C-5A60-9645-8A41-229F2CBDBE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2" y="3264"/>
            <a:ext cx="1536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2473900" imgH="8775700" progId="Equation.3">
                    <p:embed/>
                  </p:oleObj>
                </mc:Choice>
                <mc:Fallback>
                  <p:oleObj name="Equation" r:id="rId19" imgW="32473900" imgH="8775700" progId="Equation.3">
                    <p:embed/>
                    <p:pic>
                      <p:nvPicPr>
                        <p:cNvPr id="49169" name="Object 32">
                          <a:extLst>
                            <a:ext uri="{FF2B5EF4-FFF2-40B4-BE49-F238E27FC236}">
                              <a16:creationId xmlns:a16="http://schemas.microsoft.com/office/drawing/2014/main" id="{231AB16C-5A60-9645-8A41-229F2CBDBE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3264"/>
                          <a:ext cx="1536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878" name="Group 38">
            <a:extLst>
              <a:ext uri="{FF2B5EF4-FFF2-40B4-BE49-F238E27FC236}">
                <a16:creationId xmlns:a16="http://schemas.microsoft.com/office/drawing/2014/main" id="{2329C239-BEC4-DF4C-BF15-D2D11B81B965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5791200"/>
            <a:ext cx="6996113" cy="620713"/>
            <a:chOff x="336" y="3648"/>
            <a:chExt cx="4407" cy="391"/>
          </a:xfrm>
        </p:grpSpPr>
        <p:sp>
          <p:nvSpPr>
            <p:cNvPr id="35875" name="Text Box 35">
              <a:extLst>
                <a:ext uri="{FF2B5EF4-FFF2-40B4-BE49-F238E27FC236}">
                  <a16:creationId xmlns:a16="http://schemas.microsoft.com/office/drawing/2014/main" id="{47B4B1FA-062E-4649-BBC2-65C8D182B9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696"/>
              <a:ext cx="28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i="1">
                  <a:solidFill>
                    <a:schemeClr val="accent2"/>
                  </a:solidFill>
                  <a:ea typeface="宋体" charset="0"/>
                  <a:cs typeface="宋体" charset="0"/>
                </a:rPr>
                <a:t>n</a:t>
              </a:r>
              <a:r>
                <a:rPr lang="en-US" altLang="zh-CN" sz="2400" b="1">
                  <a:solidFill>
                    <a:schemeClr val="accent2"/>
                  </a:solidFill>
                  <a:ea typeface="宋体" charset="0"/>
                  <a:cs typeface="宋体" charset="0"/>
                </a:rPr>
                <a:t> = 4: </a:t>
              </a:r>
              <a:r>
                <a:rPr lang="en-US" altLang="zh-CN" sz="2400" b="1">
                  <a:solidFill>
                    <a:srgbClr val="FF0000"/>
                  </a:solidFill>
                  <a:ea typeface="宋体" charset="0"/>
                  <a:cs typeface="宋体" charset="0"/>
                </a:rPr>
                <a:t>Cotes Rule</a:t>
              </a:r>
              <a:r>
                <a:rPr lang="en-US" altLang="zh-CN" sz="2400" b="1">
                  <a:solidFill>
                    <a:schemeClr val="accent2"/>
                  </a:solidFill>
                  <a:ea typeface="宋体" charset="0"/>
                  <a:cs typeface="宋体" charset="0"/>
                </a:rPr>
                <a:t>, </a:t>
              </a:r>
              <a:r>
                <a:rPr lang="zh-CN" altLang="en-US" sz="2400" b="1">
                  <a:solidFill>
                    <a:schemeClr val="accent2"/>
                  </a:solidFill>
                  <a:ea typeface="宋体" charset="0"/>
                  <a:cs typeface="宋体" charset="0"/>
                </a:rPr>
                <a:t>代数精度</a:t>
              </a:r>
              <a:r>
                <a:rPr lang="en-US" altLang="zh-CN" sz="2400" b="1">
                  <a:solidFill>
                    <a:schemeClr val="accent2"/>
                  </a:solidFill>
                  <a:ea typeface="宋体" charset="0"/>
                  <a:cs typeface="宋体" charset="0"/>
                </a:rPr>
                <a:t> </a:t>
              </a:r>
              <a:r>
                <a:rPr lang="en-US" altLang="zh-CN" sz="2400" b="1" i="1">
                  <a:solidFill>
                    <a:srgbClr val="FF0000"/>
                  </a:solidFill>
                  <a:ea typeface="宋体" charset="0"/>
                  <a:cs typeface="宋体" charset="0"/>
                </a:rPr>
                <a:t>= </a:t>
              </a:r>
              <a:r>
                <a:rPr lang="en-US" altLang="zh-CN" sz="2400" b="1">
                  <a:solidFill>
                    <a:srgbClr val="FF0000"/>
                  </a:solidFill>
                  <a:ea typeface="宋体" charset="0"/>
                  <a:cs typeface="宋体" charset="0"/>
                </a:rPr>
                <a:t>5</a:t>
              </a:r>
              <a:r>
                <a:rPr lang="en-US" altLang="zh-CN" sz="2400" b="1">
                  <a:solidFill>
                    <a:schemeClr val="accent2"/>
                  </a:solidFill>
                  <a:ea typeface="宋体" charset="0"/>
                  <a:cs typeface="宋体" charset="0"/>
                </a:rPr>
                <a:t>,</a:t>
              </a:r>
            </a:p>
          </p:txBody>
        </p:sp>
        <p:graphicFrame>
          <p:nvGraphicFramePr>
            <p:cNvPr id="49167" name="Object 37">
              <a:extLst>
                <a:ext uri="{FF2B5EF4-FFF2-40B4-BE49-F238E27FC236}">
                  <a16:creationId xmlns:a16="http://schemas.microsoft.com/office/drawing/2014/main" id="{89122A72-2F39-1542-AB58-189B3DFDC9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72" y="3648"/>
            <a:ext cx="1671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4226500" imgH="8775700" progId="Equation.3">
                    <p:embed/>
                  </p:oleObj>
                </mc:Choice>
                <mc:Fallback>
                  <p:oleObj name="Equation" r:id="rId21" imgW="34226500" imgH="8775700" progId="Equation.3">
                    <p:embed/>
                    <p:pic>
                      <p:nvPicPr>
                        <p:cNvPr id="49167" name="Object 37">
                          <a:extLst>
                            <a:ext uri="{FF2B5EF4-FFF2-40B4-BE49-F238E27FC236}">
                              <a16:creationId xmlns:a16="http://schemas.microsoft.com/office/drawing/2014/main" id="{89122A72-2F39-1542-AB58-189B3DFDC9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648"/>
                          <a:ext cx="1671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ectangle 2">
            <a:extLst>
              <a:ext uri="{FF2B5EF4-FFF2-40B4-BE49-F238E27FC236}">
                <a16:creationId xmlns:a16="http://schemas.microsoft.com/office/drawing/2014/main" id="{B3F6E3D2-0ADA-3E4F-A313-6833E1996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6453188"/>
            <a:ext cx="7561263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US" altLang="zh-CN" sz="2400" b="1">
                <a:latin typeface="黑体" charset="0"/>
                <a:ea typeface="黑体" charset="0"/>
                <a:cs typeface="黑体" charset="0"/>
              </a:rPr>
              <a:t>n</a:t>
            </a:r>
            <a:r>
              <a:rPr lang="zh-CN" altLang="en-US" sz="2400" b="1">
                <a:latin typeface="黑体" charset="0"/>
                <a:ea typeface="黑体" charset="0"/>
                <a:cs typeface="黑体" charset="0"/>
              </a:rPr>
              <a:t>越大，代数精确度越高？</a:t>
            </a:r>
            <a:endParaRPr lang="en-US" altLang="zh-CN" sz="2400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43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58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8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7" grpId="0" autoUpdateAnimBg="0"/>
      <p:bldP spid="35867" grpId="0" autoUpdateAnimBg="0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7" name="Rectangle 3">
            <a:extLst>
              <a:ext uri="{FF2B5EF4-FFF2-40B4-BE49-F238E27FC236}">
                <a16:creationId xmlns:a16="http://schemas.microsoft.com/office/drawing/2014/main" id="{05B05405-3A96-2C4A-8C32-F1C2120437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57338"/>
            <a:ext cx="7772400" cy="45386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/>
              <a:t>   </a:t>
            </a:r>
            <a:r>
              <a:rPr lang="zh-CN" altLang="en-US" sz="2800" b="1"/>
              <a:t>现在讨论</a:t>
            </a:r>
            <a:r>
              <a:rPr lang="zh-CN" altLang="en-US" sz="2800" b="1">
                <a:solidFill>
                  <a:srgbClr val="000099"/>
                </a:solidFill>
              </a:rPr>
              <a:t>舍入误差</a:t>
            </a:r>
            <a:r>
              <a:rPr lang="zh-CN" altLang="en-US" sz="2800" b="1"/>
              <a:t>对计算结果产生的影响</a:t>
            </a:r>
            <a:r>
              <a:rPr lang="en-US" altLang="zh-CN" sz="2800" b="1"/>
              <a:t>.</a:t>
            </a:r>
            <a:r>
              <a:rPr lang="zh-CN" altLang="en-US" sz="2800" b="1"/>
              <a:t>设</a:t>
            </a:r>
            <a:endParaRPr lang="en-US" altLang="zh-CN" sz="2800" b="1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/>
              <a:t>用公式</a:t>
            </a:r>
            <a:r>
              <a:rPr lang="en-US" altLang="zh-CN" sz="2800" b="1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/>
              <a:t>                                     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/>
              <a:t>近似计算积分</a:t>
            </a:r>
            <a:r>
              <a:rPr lang="en-US" altLang="zh-CN" sz="2800" b="1"/>
              <a:t>        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/>
              <a:t>时</a:t>
            </a:r>
            <a:r>
              <a:rPr lang="en-US" altLang="zh-CN" sz="2800" b="1"/>
              <a:t>,</a:t>
            </a:r>
            <a:r>
              <a:rPr lang="zh-CN" altLang="en-US" sz="2800" b="1"/>
              <a:t>其中计算函数值</a:t>
            </a:r>
            <a:r>
              <a:rPr lang="en-US" altLang="zh-CN" sz="2800" b="1" i="1">
                <a:solidFill>
                  <a:srgbClr val="A50021"/>
                </a:solidFill>
              </a:rPr>
              <a:t>f</a:t>
            </a:r>
            <a:r>
              <a:rPr lang="en-US" altLang="zh-CN" sz="2800" b="1">
                <a:solidFill>
                  <a:srgbClr val="A50021"/>
                </a:solidFill>
              </a:rPr>
              <a:t>(</a:t>
            </a:r>
            <a:r>
              <a:rPr lang="en-US" altLang="zh-CN" sz="2800" b="1" i="1">
                <a:solidFill>
                  <a:srgbClr val="A50021"/>
                </a:solidFill>
              </a:rPr>
              <a:t>x</a:t>
            </a:r>
            <a:r>
              <a:rPr lang="en-US" altLang="zh-CN" sz="2800" b="1" baseline="-25000">
                <a:solidFill>
                  <a:srgbClr val="A50021"/>
                </a:solidFill>
              </a:rPr>
              <a:t>j</a:t>
            </a:r>
            <a:r>
              <a:rPr lang="en-US" altLang="zh-CN" sz="2800" b="1">
                <a:solidFill>
                  <a:srgbClr val="A50021"/>
                </a:solidFill>
              </a:rPr>
              <a:t>)</a:t>
            </a:r>
            <a:r>
              <a:rPr lang="zh-CN" altLang="en-US" sz="2800" b="1">
                <a:solidFill>
                  <a:srgbClr val="A50021"/>
                </a:solidFill>
              </a:rPr>
              <a:t>有误差</a:t>
            </a:r>
            <a:r>
              <a:rPr lang="el-GR" altLang="zh-CN" sz="2800" b="1">
                <a:solidFill>
                  <a:srgbClr val="A50021"/>
                </a:solidFill>
              </a:rPr>
              <a:t>ε</a:t>
            </a:r>
            <a:r>
              <a:rPr lang="en-US" altLang="zh-CN" sz="2800" b="1" baseline="-25000">
                <a:solidFill>
                  <a:srgbClr val="A50021"/>
                </a:solidFill>
              </a:rPr>
              <a:t>j</a:t>
            </a:r>
            <a:r>
              <a:rPr lang="en-US" altLang="zh-CN" sz="2800" b="1" baseline="-25000"/>
              <a:t> </a:t>
            </a:r>
            <a:r>
              <a:rPr lang="en-US" altLang="zh-CN" sz="2800" b="1"/>
              <a:t>(j=0,1,2,…,n).</a:t>
            </a:r>
            <a:r>
              <a:rPr lang="zh-CN" altLang="en-US" sz="2800" b="1"/>
              <a:t>设</a:t>
            </a:r>
            <a:endParaRPr lang="en-US" altLang="zh-CN" sz="2800" b="1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/>
              <a:t>计算</a:t>
            </a:r>
            <a:r>
              <a:rPr lang="en-US" altLang="zh-CN" sz="2800" b="1">
                <a:solidFill>
                  <a:srgbClr val="A50021"/>
                </a:solidFill>
              </a:rPr>
              <a:t>C</a:t>
            </a:r>
            <a:r>
              <a:rPr lang="en-US" altLang="zh-CN" sz="2800" b="1" baseline="-25000">
                <a:solidFill>
                  <a:srgbClr val="A50021"/>
                </a:solidFill>
              </a:rPr>
              <a:t>j</a:t>
            </a:r>
            <a:r>
              <a:rPr lang="en-US" altLang="zh-CN" sz="2800" b="1" baseline="30000">
                <a:solidFill>
                  <a:srgbClr val="A50021"/>
                </a:solidFill>
              </a:rPr>
              <a:t>(n)</a:t>
            </a:r>
            <a:r>
              <a:rPr lang="zh-CN" altLang="en-US" sz="2800" b="1">
                <a:solidFill>
                  <a:srgbClr val="A50021"/>
                </a:solidFill>
              </a:rPr>
              <a:t>没有误差</a:t>
            </a:r>
            <a:r>
              <a:rPr lang="en-US" altLang="zh-CN" sz="2800" b="1">
                <a:solidFill>
                  <a:srgbClr val="A50021"/>
                </a:solidFill>
              </a:rPr>
              <a:t>,</a:t>
            </a:r>
            <a:r>
              <a:rPr lang="zh-CN" altLang="en-US" sz="2800" b="1">
                <a:solidFill>
                  <a:srgbClr val="FF0000"/>
                </a:solidFill>
              </a:rPr>
              <a:t>中间计算过程中的舍入误差也</a:t>
            </a:r>
            <a:endParaRPr lang="en-US" altLang="zh-CN" sz="2800" b="1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不考虑</a:t>
            </a:r>
            <a:r>
              <a:rPr lang="en-US" altLang="zh-CN" sz="2800" b="1"/>
              <a:t>,</a:t>
            </a:r>
            <a:r>
              <a:rPr lang="zh-CN" altLang="en-US" sz="2800" b="1"/>
              <a:t>则在式</a:t>
            </a:r>
            <a:r>
              <a:rPr lang="en-US" altLang="zh-CN" sz="2800" b="1"/>
              <a:t>(10 )</a:t>
            </a:r>
            <a:r>
              <a:rPr lang="zh-CN" altLang="en-US" sz="2800" b="1"/>
              <a:t>的计算中</a:t>
            </a:r>
            <a:r>
              <a:rPr lang="en-US" altLang="zh-CN" sz="2800" b="1"/>
              <a:t>,</a:t>
            </a:r>
            <a:r>
              <a:rPr lang="zh-CN" altLang="en-US" sz="2800" b="1"/>
              <a:t>由</a:t>
            </a:r>
            <a:r>
              <a:rPr lang="el-GR" altLang="zh-CN" sz="2800" b="1"/>
              <a:t>ε</a:t>
            </a:r>
            <a:r>
              <a:rPr lang="en-US" altLang="zh-CN" sz="2800" b="1" baseline="-25000"/>
              <a:t>j</a:t>
            </a:r>
            <a:r>
              <a:rPr lang="zh-CN" altLang="en-US" sz="2800" b="1"/>
              <a:t>引起的误差为</a:t>
            </a:r>
            <a:endParaRPr lang="zh-CN" altLang="el-GR" sz="2800" b="1"/>
          </a:p>
        </p:txBody>
      </p:sp>
      <p:sp>
        <p:nvSpPr>
          <p:cNvPr id="579588" name="Rectangle 4">
            <a:extLst>
              <a:ext uri="{FF2B5EF4-FFF2-40B4-BE49-F238E27FC236}">
                <a16:creationId xmlns:a16="http://schemas.microsoft.com/office/drawing/2014/main" id="{0A8697B2-5847-C045-8412-DF672C1E5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579589" name="Rectangle 5">
            <a:extLst>
              <a:ext uri="{FF2B5EF4-FFF2-40B4-BE49-F238E27FC236}">
                <a16:creationId xmlns:a16="http://schemas.microsoft.com/office/drawing/2014/main" id="{E836150E-51F9-F946-85CB-50B760C2B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579590" name="Object 6">
            <a:extLst>
              <a:ext uri="{FF2B5EF4-FFF2-40B4-BE49-F238E27FC236}">
                <a16:creationId xmlns:a16="http://schemas.microsoft.com/office/drawing/2014/main" id="{F09FDA6C-167D-2F4C-9027-33FF1F293C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2205038"/>
          <a:ext cx="352901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665400" imgH="10236200" progId="Equation.3">
                  <p:embed/>
                </p:oleObj>
              </mc:Choice>
              <mc:Fallback>
                <p:oleObj name="公式" r:id="rId2" imgW="40665400" imgH="10236200" progId="Equation.3">
                  <p:embed/>
                  <p:pic>
                    <p:nvPicPr>
                      <p:cNvPr id="579590" name="Object 6">
                        <a:extLst>
                          <a:ext uri="{FF2B5EF4-FFF2-40B4-BE49-F238E27FC236}">
                            <a16:creationId xmlns:a16="http://schemas.microsoft.com/office/drawing/2014/main" id="{F09FDA6C-167D-2F4C-9027-33FF1F293C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205038"/>
                        <a:ext cx="3529013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9591" name="Rectangle 7">
            <a:extLst>
              <a:ext uri="{FF2B5EF4-FFF2-40B4-BE49-F238E27FC236}">
                <a16:creationId xmlns:a16="http://schemas.microsoft.com/office/drawing/2014/main" id="{000A1619-303B-BE46-9262-3B1C3FBB8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579592" name="Object 8">
            <a:extLst>
              <a:ext uri="{FF2B5EF4-FFF2-40B4-BE49-F238E27FC236}">
                <a16:creationId xmlns:a16="http://schemas.microsoft.com/office/drawing/2014/main" id="{8B882573-FFDC-EC49-B2E3-EA463812B5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3284538"/>
          <a:ext cx="2449512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98200" imgH="11112500" progId="Equation.3">
                  <p:embed/>
                </p:oleObj>
              </mc:Choice>
              <mc:Fallback>
                <p:oleObj name="Equation" r:id="rId4" imgW="23698200" imgH="11112500" progId="Equation.3">
                  <p:embed/>
                  <p:pic>
                    <p:nvPicPr>
                      <p:cNvPr id="579592" name="Object 8">
                        <a:extLst>
                          <a:ext uri="{FF2B5EF4-FFF2-40B4-BE49-F238E27FC236}">
                            <a16:creationId xmlns:a16="http://schemas.microsoft.com/office/drawing/2014/main" id="{8B882573-FFDC-EC49-B2E3-EA463812B5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284538"/>
                        <a:ext cx="2449512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9593" name="Text Box 9">
            <a:extLst>
              <a:ext uri="{FF2B5EF4-FFF2-40B4-BE49-F238E27FC236}">
                <a16:creationId xmlns:a16="http://schemas.microsoft.com/office/drawing/2014/main" id="{79DA311A-3C15-2942-8A14-EC70D99FB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2349500"/>
            <a:ext cx="719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Times New Roman" charset="0"/>
                <a:ea typeface="楷体_GB2312" charset="0"/>
                <a:cs typeface="楷体_GB2312" charset="0"/>
              </a:rPr>
              <a:t>(10)</a:t>
            </a: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1E9E0C92-E3EA-B945-80D9-9E7B9ED8FEAD}"/>
              </a:ext>
            </a:extLst>
          </p:cNvPr>
          <p:cNvSpPr/>
          <p:nvPr/>
        </p:nvSpPr>
        <p:spPr>
          <a:xfrm>
            <a:off x="330743" y="8686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endParaRPr lang="en-C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A596A9-CFE6-AA41-9FA8-9A3A4F8A61CB}"/>
              </a:ext>
            </a:extLst>
          </p:cNvPr>
          <p:cNvSpPr/>
          <p:nvPr/>
        </p:nvSpPr>
        <p:spPr>
          <a:xfrm>
            <a:off x="468709" y="206118"/>
            <a:ext cx="78370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Newton-Cotes</a:t>
            </a:r>
            <a:r>
              <a:rPr lang="zh-CN" altLang="en-US" sz="40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  <a:cs typeface="MS PGothic" charset="0"/>
              </a:rPr>
              <a:t>公式的数值稳定性</a:t>
            </a:r>
            <a:endParaRPr lang="en-CN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68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>
            <a:extLst>
              <a:ext uri="{FF2B5EF4-FFF2-40B4-BE49-F238E27FC236}">
                <a16:creationId xmlns:a16="http://schemas.microsoft.com/office/drawing/2014/main" id="{0ED4A824-5627-D14C-AB44-DA3A3BA7D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51204" name="Object 3">
            <a:extLst>
              <a:ext uri="{FF2B5EF4-FFF2-40B4-BE49-F238E27FC236}">
                <a16:creationId xmlns:a16="http://schemas.microsoft.com/office/drawing/2014/main" id="{1018F0E5-ADD4-4E49-9E6A-69E921071A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765175"/>
          <a:ext cx="6192837" cy="172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5780900" imgH="21069300" progId="Equation.3">
                  <p:embed/>
                </p:oleObj>
              </mc:Choice>
              <mc:Fallback>
                <p:oleObj name="公式" r:id="rId2" imgW="75780900" imgH="21069300" progId="Equation.3">
                  <p:embed/>
                  <p:pic>
                    <p:nvPicPr>
                      <p:cNvPr id="51204" name="Object 3">
                        <a:extLst>
                          <a:ext uri="{FF2B5EF4-FFF2-40B4-BE49-F238E27FC236}">
                            <a16:creationId xmlns:a16="http://schemas.microsoft.com/office/drawing/2014/main" id="{1018F0E5-ADD4-4E49-9E6A-69E921071A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765175"/>
                        <a:ext cx="6192837" cy="172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0612" name="Text Box 4">
            <a:extLst>
              <a:ext uri="{FF2B5EF4-FFF2-40B4-BE49-F238E27FC236}">
                <a16:creationId xmlns:a16="http://schemas.microsoft.com/office/drawing/2014/main" id="{A9673931-E44A-3A42-9FF0-F7D68E96F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349500"/>
            <a:ext cx="5834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/>
              <a:t>如果</a:t>
            </a:r>
            <a:r>
              <a:rPr lang="en-US" altLang="zh-CN"/>
              <a:t>C</a:t>
            </a:r>
            <a:r>
              <a:rPr lang="en-US" altLang="zh-CN" baseline="-25000"/>
              <a:t>j</a:t>
            </a:r>
            <a:r>
              <a:rPr lang="en-US" altLang="zh-CN" baseline="30000"/>
              <a:t>(n)</a:t>
            </a:r>
            <a:r>
              <a:rPr lang="zh-CN" altLang="en-US"/>
              <a:t>都是正数</a:t>
            </a:r>
            <a:r>
              <a:rPr lang="en-US" altLang="zh-CN"/>
              <a:t>,</a:t>
            </a:r>
            <a:r>
              <a:rPr lang="zh-CN" altLang="en-US"/>
              <a:t>并设</a:t>
            </a:r>
            <a:endParaRPr lang="en-US" altLang="zh-CN" baseline="30000"/>
          </a:p>
        </p:txBody>
      </p:sp>
      <p:sp>
        <p:nvSpPr>
          <p:cNvPr id="580613" name="Rectangle 5">
            <a:extLst>
              <a:ext uri="{FF2B5EF4-FFF2-40B4-BE49-F238E27FC236}">
                <a16:creationId xmlns:a16="http://schemas.microsoft.com/office/drawing/2014/main" id="{C48554FF-DF68-E045-9859-A828785AC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580614" name="Object 6">
            <a:extLst>
              <a:ext uri="{FF2B5EF4-FFF2-40B4-BE49-F238E27FC236}">
                <a16:creationId xmlns:a16="http://schemas.microsoft.com/office/drawing/2014/main" id="{BDFBFB16-2C60-3C46-A2F7-14E3DC0216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2349500"/>
          <a:ext cx="18002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529800" imgH="8191500" progId="Equation.3">
                  <p:embed/>
                </p:oleObj>
              </mc:Choice>
              <mc:Fallback>
                <p:oleObj name="公式" r:id="rId4" imgW="22529800" imgH="8191500" progId="Equation.3">
                  <p:embed/>
                  <p:pic>
                    <p:nvPicPr>
                      <p:cNvPr id="580614" name="Object 6">
                        <a:extLst>
                          <a:ext uri="{FF2B5EF4-FFF2-40B4-BE49-F238E27FC236}">
                            <a16:creationId xmlns:a16="http://schemas.microsoft.com/office/drawing/2014/main" id="{BDFBFB16-2C60-3C46-A2F7-14E3DC0216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349500"/>
                        <a:ext cx="18002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0615" name="Text Box 7">
            <a:extLst>
              <a:ext uri="{FF2B5EF4-FFF2-40B4-BE49-F238E27FC236}">
                <a16:creationId xmlns:a16="http://schemas.microsoft.com/office/drawing/2014/main" id="{E7ED2990-8B2B-1543-A3B0-724F7D540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997200"/>
            <a:ext cx="446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altLang="zh-CN" sz="2400"/>
          </a:p>
        </p:txBody>
      </p:sp>
      <p:sp>
        <p:nvSpPr>
          <p:cNvPr id="580616" name="Rectangle 8">
            <a:extLst>
              <a:ext uri="{FF2B5EF4-FFF2-40B4-BE49-F238E27FC236}">
                <a16:creationId xmlns:a16="http://schemas.microsoft.com/office/drawing/2014/main" id="{456EE745-6CAA-5F47-8010-2D0B36C9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580617" name="Object 9">
            <a:extLst>
              <a:ext uri="{FF2B5EF4-FFF2-40B4-BE49-F238E27FC236}">
                <a16:creationId xmlns:a16="http://schemas.microsoft.com/office/drawing/2014/main" id="{73C3B603-3CBD-5C40-AF83-2AC843DD44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2852738"/>
          <a:ext cx="460851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8272700" imgH="10236200" progId="Equation.3">
                  <p:embed/>
                </p:oleObj>
              </mc:Choice>
              <mc:Fallback>
                <p:oleObj name="公式" r:id="rId6" imgW="48272700" imgH="10236200" progId="Equation.3">
                  <p:embed/>
                  <p:pic>
                    <p:nvPicPr>
                      <p:cNvPr id="580617" name="Object 9">
                        <a:extLst>
                          <a:ext uri="{FF2B5EF4-FFF2-40B4-BE49-F238E27FC236}">
                            <a16:creationId xmlns:a16="http://schemas.microsoft.com/office/drawing/2014/main" id="{73C3B603-3CBD-5C40-AF83-2AC843DD44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852738"/>
                        <a:ext cx="4608513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0618" name="Text Box 10">
            <a:extLst>
              <a:ext uri="{FF2B5EF4-FFF2-40B4-BE49-F238E27FC236}">
                <a16:creationId xmlns:a16="http://schemas.microsoft.com/office/drawing/2014/main" id="{AE731AC5-6CC2-B647-A109-5384B9A21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860800"/>
            <a:ext cx="7704138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故</a:t>
            </a:r>
            <a:r>
              <a:rPr lang="en-US" altLang="zh-CN" i="1">
                <a:solidFill>
                  <a:srgbClr val="FF0066"/>
                </a:solidFill>
              </a:rPr>
              <a:t>e</a:t>
            </a:r>
            <a:r>
              <a:rPr lang="en-US" altLang="zh-CN" i="1" baseline="-25000">
                <a:solidFill>
                  <a:srgbClr val="FF0066"/>
                </a:solidFill>
              </a:rPr>
              <a:t>n</a:t>
            </a:r>
            <a:r>
              <a:rPr lang="zh-CN" altLang="en-US">
                <a:solidFill>
                  <a:srgbClr val="FF0066"/>
                </a:solidFill>
              </a:rPr>
              <a:t>是有界的</a:t>
            </a:r>
            <a:r>
              <a:rPr lang="en-US" altLang="zh-CN">
                <a:solidFill>
                  <a:srgbClr val="FF0066"/>
                </a:solidFill>
              </a:rPr>
              <a:t>,</a:t>
            </a:r>
            <a:r>
              <a:rPr lang="zh-CN" altLang="en-US"/>
              <a:t>即由</a:t>
            </a:r>
            <a:r>
              <a:rPr lang="el-GR" altLang="zh-CN" i="1"/>
              <a:t>ε</a:t>
            </a:r>
            <a:r>
              <a:rPr lang="en-US" altLang="zh-CN" i="1" baseline="-25000"/>
              <a:t>j</a:t>
            </a:r>
            <a:r>
              <a:rPr lang="zh-CN" altLang="en-US"/>
              <a:t>引起的误差受到控制</a:t>
            </a:r>
            <a:r>
              <a:rPr lang="en-US" altLang="zh-CN"/>
              <a:t>,</a:t>
            </a:r>
            <a:r>
              <a:rPr lang="zh-CN" altLang="en-US">
                <a:solidFill>
                  <a:srgbClr val="FF00FF"/>
                </a:solidFill>
              </a:rPr>
              <a:t>不超过</a:t>
            </a:r>
            <a:r>
              <a:rPr lang="el-GR" altLang="zh-CN" i="1">
                <a:solidFill>
                  <a:srgbClr val="FF00FF"/>
                </a:solidFill>
              </a:rPr>
              <a:t>ε</a:t>
            </a:r>
            <a:r>
              <a:rPr lang="zh-CN" altLang="en-US">
                <a:solidFill>
                  <a:srgbClr val="FF00FF"/>
                </a:solidFill>
              </a:rPr>
              <a:t>的</a:t>
            </a:r>
            <a:r>
              <a:rPr lang="en-US" altLang="zh-CN">
                <a:solidFill>
                  <a:srgbClr val="FF00FF"/>
                </a:solidFill>
              </a:rPr>
              <a:t>(</a:t>
            </a:r>
            <a:r>
              <a:rPr lang="en-US" altLang="zh-CN" i="1">
                <a:solidFill>
                  <a:srgbClr val="FF00FF"/>
                </a:solidFill>
              </a:rPr>
              <a:t>b</a:t>
            </a:r>
            <a:r>
              <a:rPr lang="en-US" altLang="zh-CN">
                <a:solidFill>
                  <a:srgbClr val="FF00FF"/>
                </a:solidFill>
              </a:rPr>
              <a:t>-</a:t>
            </a:r>
            <a:r>
              <a:rPr lang="en-US" altLang="zh-CN" i="1">
                <a:solidFill>
                  <a:srgbClr val="FF00FF"/>
                </a:solidFill>
              </a:rPr>
              <a:t>a</a:t>
            </a:r>
            <a:r>
              <a:rPr lang="en-US" altLang="zh-CN">
                <a:solidFill>
                  <a:srgbClr val="FF00FF"/>
                </a:solidFill>
              </a:rPr>
              <a:t>)</a:t>
            </a:r>
            <a:r>
              <a:rPr lang="zh-CN" altLang="en-US">
                <a:solidFill>
                  <a:srgbClr val="FF00FF"/>
                </a:solidFill>
              </a:rPr>
              <a:t>倍</a:t>
            </a:r>
            <a:r>
              <a:rPr lang="en-US" altLang="zh-CN"/>
              <a:t>,</a:t>
            </a:r>
            <a:r>
              <a:rPr lang="zh-CN" altLang="en-US"/>
              <a:t>保证了</a:t>
            </a:r>
            <a:r>
              <a:rPr lang="zh-CN" altLang="en-US">
                <a:solidFill>
                  <a:srgbClr val="CC0000"/>
                </a:solidFill>
              </a:rPr>
              <a:t>数值计算的稳定性</a:t>
            </a:r>
            <a:r>
              <a:rPr lang="en-US" altLang="zh-CN"/>
              <a:t>.</a:t>
            </a:r>
            <a:r>
              <a:rPr lang="zh-CN" altLang="en-US"/>
              <a:t>而当</a:t>
            </a:r>
            <a:r>
              <a:rPr lang="en-US" altLang="zh-CN">
                <a:solidFill>
                  <a:srgbClr val="FF0066"/>
                </a:solidFill>
              </a:rPr>
              <a:t>n&gt;7</a:t>
            </a:r>
            <a:r>
              <a:rPr lang="zh-CN" altLang="en-US"/>
              <a:t>时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 i="1" baseline="-25000"/>
              <a:t>j</a:t>
            </a:r>
            <a:r>
              <a:rPr lang="en-US" altLang="zh-CN" baseline="30000"/>
              <a:t>(</a:t>
            </a:r>
            <a:r>
              <a:rPr lang="en-US" altLang="zh-CN" i="1" baseline="30000"/>
              <a:t>n</a:t>
            </a:r>
            <a:r>
              <a:rPr lang="en-US" altLang="zh-CN" baseline="30000"/>
              <a:t>)</a:t>
            </a:r>
            <a:r>
              <a:rPr lang="zh-CN" altLang="en-US"/>
              <a:t>将出现</a:t>
            </a:r>
            <a:r>
              <a:rPr lang="zh-CN" altLang="en-US">
                <a:solidFill>
                  <a:srgbClr val="0000CC"/>
                </a:solidFill>
              </a:rPr>
              <a:t>负数</a:t>
            </a:r>
            <a:r>
              <a:rPr lang="en-US" altLang="zh-CN"/>
              <a:t>,</a:t>
            </a:r>
          </a:p>
        </p:txBody>
      </p:sp>
      <p:sp>
        <p:nvSpPr>
          <p:cNvPr id="580619" name="Rectangle 11">
            <a:extLst>
              <a:ext uri="{FF2B5EF4-FFF2-40B4-BE49-F238E27FC236}">
                <a16:creationId xmlns:a16="http://schemas.microsoft.com/office/drawing/2014/main" id="{09E61090-4D58-4B41-AAF9-F20C7AA8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latin typeface="Times New Roman" charset="0"/>
              <a:ea typeface="MS PGothic" charset="0"/>
              <a:cs typeface="MS PGothic" charset="0"/>
            </a:endParaRPr>
          </a:p>
        </p:txBody>
      </p:sp>
      <p:graphicFrame>
        <p:nvGraphicFramePr>
          <p:cNvPr id="580620" name="Object 12">
            <a:extLst>
              <a:ext uri="{FF2B5EF4-FFF2-40B4-BE49-F238E27FC236}">
                <a16:creationId xmlns:a16="http://schemas.microsoft.com/office/drawing/2014/main" id="{05D9F6D9-2776-F14C-B4F5-B57EBB344A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4652963"/>
          <a:ext cx="94456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169900" imgH="10236200" progId="Equation.3">
                  <p:embed/>
                </p:oleObj>
              </mc:Choice>
              <mc:Fallback>
                <p:oleObj name="Equation" r:id="rId8" imgW="13169900" imgH="10236200" progId="Equation.3">
                  <p:embed/>
                  <p:pic>
                    <p:nvPicPr>
                      <p:cNvPr id="580620" name="Object 12">
                        <a:extLst>
                          <a:ext uri="{FF2B5EF4-FFF2-40B4-BE49-F238E27FC236}">
                            <a16:creationId xmlns:a16="http://schemas.microsoft.com/office/drawing/2014/main" id="{05D9F6D9-2776-F14C-B4F5-B57EBB344A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652963"/>
                        <a:ext cx="944563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0621" name="Text Box 13">
            <a:extLst>
              <a:ext uri="{FF2B5EF4-FFF2-40B4-BE49-F238E27FC236}">
                <a16:creationId xmlns:a16="http://schemas.microsoft.com/office/drawing/2014/main" id="{48909D5F-989D-E047-B983-508C16ACC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373688"/>
            <a:ext cx="76327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>
                <a:solidFill>
                  <a:srgbClr val="0000CC"/>
                </a:solidFill>
              </a:rPr>
              <a:t>保证数值稳定性</a:t>
            </a:r>
            <a:r>
              <a:rPr lang="en-US" altLang="zh-CN"/>
              <a:t>. </a:t>
            </a:r>
            <a:r>
              <a:rPr lang="zh-CN" altLang="en-US"/>
              <a:t>因此高阶公式不宜采用</a:t>
            </a:r>
            <a:r>
              <a:rPr lang="en-US" altLang="zh-CN"/>
              <a:t>,</a:t>
            </a:r>
            <a:r>
              <a:rPr lang="zh-CN" altLang="en-US"/>
              <a:t>有实用价值的仅仅是几种</a:t>
            </a:r>
            <a:r>
              <a:rPr lang="zh-CN" altLang="en-US">
                <a:solidFill>
                  <a:srgbClr val="006666"/>
                </a:solidFill>
              </a:rPr>
              <a:t>低阶的求积公式</a:t>
            </a:r>
            <a:r>
              <a:rPr lang="en-US" altLang="zh-CN"/>
              <a:t>.</a:t>
            </a:r>
          </a:p>
        </p:txBody>
      </p:sp>
      <p:sp>
        <p:nvSpPr>
          <p:cNvPr id="580622" name="Text Box 14">
            <a:extLst>
              <a:ext uri="{FF2B5EF4-FFF2-40B4-BE49-F238E27FC236}">
                <a16:creationId xmlns:a16="http://schemas.microsoft.com/office/drawing/2014/main" id="{D7605CA0-2667-0C43-BA0E-B1AE8B605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4797425"/>
            <a:ext cx="34559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>
                <a:ea typeface="宋体" charset="0"/>
                <a:cs typeface="宋体" charset="0"/>
              </a:rPr>
              <a:t>将随</a:t>
            </a:r>
            <a:r>
              <a:rPr lang="en-US" altLang="zh-CN">
                <a:ea typeface="宋体" charset="0"/>
                <a:cs typeface="宋体" charset="0"/>
              </a:rPr>
              <a:t>n</a:t>
            </a:r>
            <a:r>
              <a:rPr lang="zh-CN" altLang="en-US">
                <a:ea typeface="宋体" charset="0"/>
                <a:cs typeface="宋体" charset="0"/>
              </a:rPr>
              <a:t>增大</a:t>
            </a:r>
            <a:r>
              <a:rPr lang="en-US" altLang="zh-CN">
                <a:ea typeface="宋体" charset="0"/>
                <a:cs typeface="宋体" charset="0"/>
              </a:rPr>
              <a:t>,</a:t>
            </a:r>
            <a:r>
              <a:rPr lang="zh-CN" altLang="en-US">
                <a:ea typeface="宋体" charset="0"/>
                <a:cs typeface="宋体" charset="0"/>
              </a:rPr>
              <a:t>因而</a:t>
            </a:r>
            <a:r>
              <a:rPr lang="zh-CN" altLang="en-US">
                <a:solidFill>
                  <a:srgbClr val="0000CC"/>
                </a:solidFill>
                <a:ea typeface="宋体" charset="0"/>
                <a:cs typeface="宋体" charset="0"/>
              </a:rPr>
              <a:t>不能</a:t>
            </a:r>
            <a:endParaRPr lang="en-US" altLang="zh-CN">
              <a:solidFill>
                <a:srgbClr val="0000CC"/>
              </a:solidFill>
              <a:ea typeface="宋体" charset="0"/>
              <a:cs typeface="宋体" charset="0"/>
            </a:endParaRPr>
          </a:p>
        </p:txBody>
      </p:sp>
      <p:sp>
        <p:nvSpPr>
          <p:cNvPr id="580623" name="Text Box 15">
            <a:extLst>
              <a:ext uri="{FF2B5EF4-FFF2-40B4-BE49-F238E27FC236}">
                <a16:creationId xmlns:a16="http://schemas.microsoft.com/office/drawing/2014/main" id="{5527E9A7-FFD2-A543-866B-B45FC4786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2349500"/>
            <a:ext cx="1008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/>
              <a:t>则有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98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13369</TotalTime>
  <Words>1747</Words>
  <Application>Microsoft Macintosh PowerPoint</Application>
  <PresentationFormat>On-screen Show (4:3)</PresentationFormat>
  <Paragraphs>225</Paragraphs>
  <Slides>33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黑体</vt:lpstr>
      <vt:lpstr>宋体</vt:lpstr>
      <vt:lpstr>宋体</vt:lpstr>
      <vt:lpstr>Arial</vt:lpstr>
      <vt:lpstr>Calibri</vt:lpstr>
      <vt:lpstr>Cambria Math</vt:lpstr>
      <vt:lpstr>Times New Roman</vt:lpstr>
      <vt:lpstr>Wingdings</vt:lpstr>
      <vt:lpstr>Office Theme</vt:lpstr>
      <vt:lpstr>Equation</vt:lpstr>
      <vt:lpstr>Image</vt:lpstr>
      <vt:lpstr>公式</vt:lpstr>
      <vt:lpstr>数值积分 Numerical Integration</vt:lpstr>
      <vt:lpstr>实际问题求解流程</vt:lpstr>
      <vt:lpstr>课程大纲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Xueming Liu</cp:lastModifiedBy>
  <cp:revision>1807</cp:revision>
  <dcterms:created xsi:type="dcterms:W3CDTF">2006-08-16T00:00:00Z</dcterms:created>
  <dcterms:modified xsi:type="dcterms:W3CDTF">2023-03-20T03:00:46Z</dcterms:modified>
</cp:coreProperties>
</file>