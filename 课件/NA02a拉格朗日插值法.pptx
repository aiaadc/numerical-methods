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media/audio2.bin" ContentType="audio/unknown"/>
  <Override PartName="/ppt/media/audio3.bin" ContentType="audio/unknown"/>
  <Override PartName="/ppt/media/audio4.bin" ContentType="audio/unknown"/>
  <Override PartName="/ppt/media/audio5.bin" ContentType="audio/unknown"/>
  <Override PartName="/ppt/media/audio6.bin" ContentType="audio/unknown"/>
  <Override PartName="/ppt/media/audio7.bin" ContentType="audio/unknown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68" r:id="rId2"/>
    <p:sldId id="354" r:id="rId3"/>
    <p:sldId id="352" r:id="rId4"/>
    <p:sldId id="356" r:id="rId5"/>
    <p:sldId id="357" r:id="rId6"/>
    <p:sldId id="358" r:id="rId7"/>
    <p:sldId id="353" r:id="rId8"/>
    <p:sldId id="359" r:id="rId9"/>
    <p:sldId id="360" r:id="rId10"/>
    <p:sldId id="361" r:id="rId11"/>
    <p:sldId id="364" r:id="rId12"/>
    <p:sldId id="366" r:id="rId13"/>
    <p:sldId id="362" r:id="rId14"/>
    <p:sldId id="390" r:id="rId15"/>
    <p:sldId id="380" r:id="rId16"/>
    <p:sldId id="299" r:id="rId17"/>
    <p:sldId id="300" r:id="rId18"/>
    <p:sldId id="301" r:id="rId19"/>
    <p:sldId id="397" r:id="rId20"/>
    <p:sldId id="398" r:id="rId21"/>
    <p:sldId id="302" r:id="rId22"/>
    <p:sldId id="303" r:id="rId23"/>
    <p:sldId id="321" r:id="rId24"/>
    <p:sldId id="396" r:id="rId25"/>
    <p:sldId id="399" r:id="rId26"/>
    <p:sldId id="351" r:id="rId27"/>
    <p:sldId id="345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812"/>
    <p:restoredTop sz="90532"/>
  </p:normalViewPr>
  <p:slideViewPr>
    <p:cSldViewPr>
      <p:cViewPr varScale="1">
        <p:scale>
          <a:sx n="99" d="100"/>
          <a:sy n="99" d="100"/>
        </p:scale>
        <p:origin x="1072" y="1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16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410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800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360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794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291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22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51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802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167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947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484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192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853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假设迭代格式xk+1=g(xk)收敛</a:t>
            </a:r>
            <a:r>
              <a:rPr lang="zh-CN" altLang="en-US" dirty="0"/>
              <a:t>，那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009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sz="1200" kern="1200" dirty="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rPr>
              <a:t>次数越高而插值结果越偏离原函数的现象称为龙格现象</a:t>
            </a:r>
            <a:endParaRPr kumimoji="1" lang="en-US" altLang="zh-TW" sz="1200" kern="1200" dirty="0">
              <a:solidFill>
                <a:schemeClr val="tx1"/>
              </a:solidFill>
              <a:latin typeface="Times New Roman" charset="0"/>
              <a:ea typeface="宋体" charset="0"/>
              <a:cs typeface="宋体" charset="0"/>
            </a:endParaRPr>
          </a:p>
          <a:p>
            <a:r>
              <a:rPr kumimoji="1" lang="zh-TW" altLang="en-US" sz="12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rPr>
              <a:t>它的插值函数在两个端点处发生剧烈的波动，造成较大的误差。究其原因，是舍入误差造成的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8FF8F6-F894-2F4E-B10E-7F998A3CAD64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6858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365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  <a:p>
            <a:r>
              <a:rPr lang="en-CN" dirty="0"/>
              <a:t>请大家登陆网络教学平台</a:t>
            </a:r>
            <a:r>
              <a:rPr lang="zh-CN" altLang="en-US" dirty="0"/>
              <a:t>，进行进一步学习并完成作业。</a:t>
            </a:r>
            <a:endParaRPr lang="en-US" altLang="zh-CN" dirty="0"/>
          </a:p>
          <a:p>
            <a:r>
              <a:rPr lang="en-US" dirty="0"/>
              <a:t>http://1731la.portal.chaoxing.com/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467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  <a:p>
            <a:r>
              <a:rPr lang="en-CN" dirty="0"/>
              <a:t>请大家登陆网络教学平台</a:t>
            </a:r>
            <a:r>
              <a:rPr lang="zh-CN" altLang="en-US" dirty="0"/>
              <a:t>，进行进一步学习并完成作业。</a:t>
            </a:r>
            <a:endParaRPr lang="en-US" altLang="zh-CN" dirty="0"/>
          </a:p>
          <a:p>
            <a:r>
              <a:rPr lang="en-US" dirty="0"/>
              <a:t>http://1731la.portal.chaoxing.com/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4688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951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0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0.png"/><Relationship Id="rId5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0.png"/><Relationship Id="rId5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6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18.png"/><Relationship Id="rId10" Type="http://schemas.openxmlformats.org/officeDocument/2006/relationships/image" Target="../media/image37.png"/><Relationship Id="rId4" Type="http://schemas.openxmlformats.org/officeDocument/2006/relationships/image" Target="../media/image17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25.png"/><Relationship Id="rId10" Type="http://schemas.openxmlformats.org/officeDocument/2006/relationships/image" Target="../media/image23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5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33.emf"/><Relationship Id="rId2" Type="http://schemas.openxmlformats.org/officeDocument/2006/relationships/image" Target="../media/image29.jpe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oleObject" Target="../embeddings/oleObject4.bin"/><Relationship Id="rId15" Type="http://schemas.openxmlformats.org/officeDocument/2006/relationships/image" Target="../media/image58.png"/><Relationship Id="rId10" Type="http://schemas.openxmlformats.org/officeDocument/2006/relationships/image" Target="../media/image32.e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.bin"/><Relationship Id="rId14" Type="http://schemas.openxmlformats.org/officeDocument/2006/relationships/image" Target="../media/image34.e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.bin"/><Relationship Id="rId18" Type="http://schemas.openxmlformats.org/officeDocument/2006/relationships/image" Target="../media/image40.wmf"/><Relationship Id="rId26" Type="http://schemas.openxmlformats.org/officeDocument/2006/relationships/image" Target="../media/image44.wmf"/><Relationship Id="rId39" Type="http://schemas.openxmlformats.org/officeDocument/2006/relationships/oleObject" Target="../embeddings/oleObject20.bin"/><Relationship Id="rId21" Type="http://schemas.openxmlformats.org/officeDocument/2006/relationships/oleObject" Target="../embeddings/oleObject11.bin"/><Relationship Id="rId34" Type="http://schemas.openxmlformats.org/officeDocument/2006/relationships/image" Target="../media/image48.wmf"/><Relationship Id="rId42" Type="http://schemas.openxmlformats.org/officeDocument/2006/relationships/image" Target="../media/image52.wmf"/><Relationship Id="rId47" Type="http://schemas.openxmlformats.org/officeDocument/2006/relationships/image" Target="../media/image55.wmf"/><Relationship Id="rId7" Type="http://schemas.openxmlformats.org/officeDocument/2006/relationships/audio" Target="../media/audio6.bin"/><Relationship Id="rId2" Type="http://schemas.openxmlformats.org/officeDocument/2006/relationships/audio" Target="../media/audio1.wav"/><Relationship Id="rId16" Type="http://schemas.openxmlformats.org/officeDocument/2006/relationships/image" Target="../media/image39.wmf"/><Relationship Id="rId29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5.bin"/><Relationship Id="rId11" Type="http://schemas.openxmlformats.org/officeDocument/2006/relationships/image" Target="../media/image36.wmf"/><Relationship Id="rId24" Type="http://schemas.openxmlformats.org/officeDocument/2006/relationships/image" Target="../media/image43.wmf"/><Relationship Id="rId32" Type="http://schemas.openxmlformats.org/officeDocument/2006/relationships/image" Target="../media/image47.wmf"/><Relationship Id="rId37" Type="http://schemas.openxmlformats.org/officeDocument/2006/relationships/oleObject" Target="../embeddings/oleObject19.bin"/><Relationship Id="rId40" Type="http://schemas.openxmlformats.org/officeDocument/2006/relationships/image" Target="../media/image51.wmf"/><Relationship Id="rId45" Type="http://schemas.openxmlformats.org/officeDocument/2006/relationships/image" Target="../media/image54.jpeg"/><Relationship Id="rId5" Type="http://schemas.openxmlformats.org/officeDocument/2006/relationships/audio" Target="../media/audio4.bin"/><Relationship Id="rId15" Type="http://schemas.openxmlformats.org/officeDocument/2006/relationships/oleObject" Target="../embeddings/oleObject8.bin"/><Relationship Id="rId23" Type="http://schemas.openxmlformats.org/officeDocument/2006/relationships/oleObject" Target="../embeddings/oleObject12.bin"/><Relationship Id="rId28" Type="http://schemas.openxmlformats.org/officeDocument/2006/relationships/image" Target="../media/image45.wmf"/><Relationship Id="rId36" Type="http://schemas.openxmlformats.org/officeDocument/2006/relationships/image" Target="../media/image49.wmf"/><Relationship Id="rId10" Type="http://schemas.openxmlformats.org/officeDocument/2006/relationships/oleObject" Target="../embeddings/oleObject6.bin"/><Relationship Id="rId19" Type="http://schemas.openxmlformats.org/officeDocument/2006/relationships/oleObject" Target="../embeddings/oleObject10.bin"/><Relationship Id="rId31" Type="http://schemas.openxmlformats.org/officeDocument/2006/relationships/oleObject" Target="../embeddings/oleObject16.bin"/><Relationship Id="rId44" Type="http://schemas.openxmlformats.org/officeDocument/2006/relationships/image" Target="../media/image53.wmf"/><Relationship Id="rId4" Type="http://schemas.openxmlformats.org/officeDocument/2006/relationships/audio" Target="../media/audio3.bin"/><Relationship Id="rId9" Type="http://schemas.openxmlformats.org/officeDocument/2006/relationships/image" Target="../media/image35.wmf"/><Relationship Id="rId14" Type="http://schemas.openxmlformats.org/officeDocument/2006/relationships/image" Target="../media/image38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14.bin"/><Relationship Id="rId30" Type="http://schemas.openxmlformats.org/officeDocument/2006/relationships/image" Target="../media/image46.wmf"/><Relationship Id="rId35" Type="http://schemas.openxmlformats.org/officeDocument/2006/relationships/oleObject" Target="../embeddings/oleObject18.bin"/><Relationship Id="rId43" Type="http://schemas.openxmlformats.org/officeDocument/2006/relationships/oleObject" Target="../embeddings/oleObject22.bin"/><Relationship Id="rId8" Type="http://schemas.openxmlformats.org/officeDocument/2006/relationships/audio" Target="../media/audio7.bin"/><Relationship Id="rId3" Type="http://schemas.openxmlformats.org/officeDocument/2006/relationships/audio" Target="../media/audio2.bin"/><Relationship Id="rId12" Type="http://schemas.openxmlformats.org/officeDocument/2006/relationships/image" Target="../media/image37.jpeg"/><Relationship Id="rId17" Type="http://schemas.openxmlformats.org/officeDocument/2006/relationships/oleObject" Target="../embeddings/oleObject9.bin"/><Relationship Id="rId25" Type="http://schemas.openxmlformats.org/officeDocument/2006/relationships/oleObject" Target="../embeddings/oleObject13.bin"/><Relationship Id="rId33" Type="http://schemas.openxmlformats.org/officeDocument/2006/relationships/oleObject" Target="../embeddings/oleObject17.bin"/><Relationship Id="rId38" Type="http://schemas.openxmlformats.org/officeDocument/2006/relationships/image" Target="../media/image50.wmf"/><Relationship Id="rId46" Type="http://schemas.openxmlformats.org/officeDocument/2006/relationships/oleObject" Target="../embeddings/oleObject23.bin"/><Relationship Id="rId20" Type="http://schemas.openxmlformats.org/officeDocument/2006/relationships/image" Target="../media/image41.wmf"/><Relationship Id="rId41" Type="http://schemas.openxmlformats.org/officeDocument/2006/relationships/oleObject" Target="../embeddings/oleObject2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59.wmf"/><Relationship Id="rId2" Type="http://schemas.openxmlformats.org/officeDocument/2006/relationships/audio" Target="../media/audio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58.wmf"/><Relationship Id="rId4" Type="http://schemas.openxmlformats.org/officeDocument/2006/relationships/image" Target="../media/image54.jpeg"/><Relationship Id="rId9" Type="http://schemas.openxmlformats.org/officeDocument/2006/relationships/oleObject" Target="../embeddings/oleObject2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wmf"/><Relationship Id="rId7" Type="http://schemas.openxmlformats.org/officeDocument/2006/relationships/image" Target="../media/image64.png"/><Relationship Id="rId12" Type="http://schemas.openxmlformats.org/officeDocument/2006/relationships/image" Target="../media/image67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oleObject" Target="../embeddings/oleObject30.bin"/><Relationship Id="rId5" Type="http://schemas.openxmlformats.org/officeDocument/2006/relationships/image" Target="../media/image62.png"/><Relationship Id="rId10" Type="http://schemas.openxmlformats.org/officeDocument/2006/relationships/image" Target="../media/image66.wmf"/><Relationship Id="rId4" Type="http://schemas.openxmlformats.org/officeDocument/2006/relationships/image" Target="../media/image61.png"/><Relationship Id="rId9" Type="http://schemas.openxmlformats.org/officeDocument/2006/relationships/oleObject" Target="../embeddings/oleObject29.bin"/><Relationship Id="rId1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7.wmf"/><Relationship Id="rId3" Type="http://schemas.openxmlformats.org/officeDocument/2006/relationships/oleObject" Target="../embeddings/oleObject28.bin"/><Relationship Id="rId7" Type="http://schemas.openxmlformats.org/officeDocument/2006/relationships/image" Target="../media/image63.png"/><Relationship Id="rId12" Type="http://schemas.openxmlformats.org/officeDocument/2006/relationships/oleObject" Target="../embeddings/oleObject30.bin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6.wmf"/><Relationship Id="rId5" Type="http://schemas.openxmlformats.org/officeDocument/2006/relationships/image" Target="../media/image61.png"/><Relationship Id="rId10" Type="http://schemas.openxmlformats.org/officeDocument/2006/relationships/oleObject" Target="../embeddings/oleObject29.bin"/><Relationship Id="rId4" Type="http://schemas.openxmlformats.org/officeDocument/2006/relationships/image" Target="../media/image60.wmf"/><Relationship Id="rId9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35.bin"/><Relationship Id="rId18" Type="http://schemas.openxmlformats.org/officeDocument/2006/relationships/oleObject" Target="../embeddings/oleObject37.bin"/><Relationship Id="rId26" Type="http://schemas.openxmlformats.org/officeDocument/2006/relationships/oleObject" Target="../embeddings/oleObject41.bin"/><Relationship Id="rId3" Type="http://schemas.openxmlformats.org/officeDocument/2006/relationships/audio" Target="../media/audio1.wav"/><Relationship Id="rId21" Type="http://schemas.openxmlformats.org/officeDocument/2006/relationships/image" Target="../media/image76.emf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72.wmf"/><Relationship Id="rId17" Type="http://schemas.openxmlformats.org/officeDocument/2006/relationships/image" Target="../media/image74.wmf"/><Relationship Id="rId25" Type="http://schemas.openxmlformats.org/officeDocument/2006/relationships/image" Target="../media/image78.wmf"/><Relationship Id="rId2" Type="http://schemas.openxmlformats.org/officeDocument/2006/relationships/audio" Target="../media/audio2.bin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29" Type="http://schemas.openxmlformats.org/officeDocument/2006/relationships/image" Target="../media/image8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34.bin"/><Relationship Id="rId24" Type="http://schemas.openxmlformats.org/officeDocument/2006/relationships/oleObject" Target="../embeddings/oleObject40.bin"/><Relationship Id="rId5" Type="http://schemas.openxmlformats.org/officeDocument/2006/relationships/oleObject" Target="../embeddings/oleObject31.bin"/><Relationship Id="rId15" Type="http://schemas.openxmlformats.org/officeDocument/2006/relationships/image" Target="../media/image54.jpeg"/><Relationship Id="rId23" Type="http://schemas.openxmlformats.org/officeDocument/2006/relationships/image" Target="../media/image77.emf"/><Relationship Id="rId28" Type="http://schemas.openxmlformats.org/officeDocument/2006/relationships/oleObject" Target="../embeddings/oleObject42.bin"/><Relationship Id="rId10" Type="http://schemas.openxmlformats.org/officeDocument/2006/relationships/image" Target="../media/image71.wmf"/><Relationship Id="rId19" Type="http://schemas.openxmlformats.org/officeDocument/2006/relationships/image" Target="../media/image75.emf"/><Relationship Id="rId4" Type="http://schemas.openxmlformats.org/officeDocument/2006/relationships/audio" Target="../media/audio7.bin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73.wmf"/><Relationship Id="rId22" Type="http://schemas.openxmlformats.org/officeDocument/2006/relationships/oleObject" Target="../embeddings/oleObject39.bin"/><Relationship Id="rId27" Type="http://schemas.openxmlformats.org/officeDocument/2006/relationships/image" Target="../media/image7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83.wmf"/><Relationship Id="rId3" Type="http://schemas.openxmlformats.org/officeDocument/2006/relationships/audio" Target="../media/audio7.bin"/><Relationship Id="rId7" Type="http://schemas.openxmlformats.org/officeDocument/2006/relationships/image" Target="../media/image54.jpeg"/><Relationship Id="rId12" Type="http://schemas.openxmlformats.org/officeDocument/2006/relationships/oleObject" Target="../embeddings/oleObject45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4.bin"/><Relationship Id="rId11" Type="http://schemas.openxmlformats.org/officeDocument/2006/relationships/image" Target="../media/image82.wmf"/><Relationship Id="rId5" Type="http://schemas.openxmlformats.org/officeDocument/2006/relationships/audio" Target="../media/audio1.wav"/><Relationship Id="rId10" Type="http://schemas.openxmlformats.org/officeDocument/2006/relationships/oleObject" Target="../embeddings/oleObject44.bin"/><Relationship Id="rId4" Type="http://schemas.openxmlformats.org/officeDocument/2006/relationships/audio" Target="../media/audio2.bin"/><Relationship Id="rId9" Type="http://schemas.openxmlformats.org/officeDocument/2006/relationships/image" Target="../media/image81.wmf"/><Relationship Id="rId14" Type="http://schemas.openxmlformats.org/officeDocument/2006/relationships/image" Target="../media/image84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7.jpe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e54y1y7ac?from=search&amp;seid=2139956431251479208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9373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拉格朗日插值法</a:t>
            </a:r>
            <a:endParaRPr lang="en-US" sz="6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031" y="3651231"/>
            <a:ext cx="6477000" cy="2148102"/>
          </a:xfrm>
        </p:spPr>
        <p:txBody>
          <a:bodyPr>
            <a:normAutofit/>
          </a:bodyPr>
          <a:lstStyle/>
          <a:p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人工智能与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自动化学院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刘雪明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i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xm_liu@hust.edu.cn</a:t>
            </a:r>
            <a:endParaRPr lang="en-US" sz="2800" b="1" i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C9CC3-A950-934A-B9E2-43A3708EEC93}"/>
              </a:ext>
            </a:extLst>
          </p:cNvPr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&gt;&gt;</a:t>
            </a:r>
            <a:r>
              <a:rPr lang="en-US" altLang="en-CN" sz="22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</a:t>
            </a:r>
            <a:endParaRPr lang="en-US" altLang="en-CN" sz="22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747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问题的引出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（超分辨率显示）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C6CE48FE-14C8-F540-AD6F-73AB4D053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2590800"/>
            <a:ext cx="10096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">
            <a:extLst>
              <a:ext uri="{FF2B5EF4-FFF2-40B4-BE49-F238E27FC236}">
                <a16:creationId xmlns:a16="http://schemas.microsoft.com/office/drawing/2014/main" id="{17DB6BFD-BE1D-E644-A8A7-BB20E887B28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35965" y="2057400"/>
            <a:ext cx="2159635" cy="2156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52DF07-8C2C-514F-8F06-5B77F5D9BEFF}"/>
              </a:ext>
            </a:extLst>
          </p:cNvPr>
          <p:cNvSpPr txBox="1"/>
          <p:nvPr/>
        </p:nvSpPr>
        <p:spPr>
          <a:xfrm>
            <a:off x="1752600" y="5105400"/>
            <a:ext cx="6705600" cy="954107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zh-CN" altLang="en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低分辨率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图像放大后像素点之间的</a:t>
            </a:r>
            <a:r>
              <a:rPr lang="zh-CN" altLang="en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缺失值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如何填充？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11E1C3-B3A5-BC47-B68D-E7CF659CA01B}"/>
              </a:ext>
            </a:extLst>
          </p:cNvPr>
          <p:cNvSpPr txBox="1"/>
          <p:nvPr/>
        </p:nvSpPr>
        <p:spPr>
          <a:xfrm>
            <a:off x="6248400" y="6179012"/>
            <a:ext cx="20574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</a:t>
            </a:r>
            <a:r>
              <a:rPr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endParaRPr lang="en-US" altLang="zh-CN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2" name="图片 4">
            <a:extLst>
              <a:ext uri="{FF2B5EF4-FFF2-40B4-BE49-F238E27FC236}">
                <a16:creationId xmlns:a16="http://schemas.microsoft.com/office/drawing/2014/main" id="{8326B877-D875-C342-9022-629271EC8B9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4445" r="23333" b="10000"/>
          <a:stretch/>
        </p:blipFill>
        <p:spPr>
          <a:xfrm>
            <a:off x="381000" y="5105400"/>
            <a:ext cx="925958" cy="1398000"/>
          </a:xfrm>
          <a:prstGeom prst="rect">
            <a:avLst/>
          </a:prstGeom>
        </p:spPr>
      </p:pic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5D124B75-07E2-6E42-960A-67F23D5CF9E8}"/>
              </a:ext>
            </a:extLst>
          </p:cNvPr>
          <p:cNvCxnSpPr>
            <a:cxnSpLocks/>
          </p:cNvCxnSpPr>
          <p:nvPr/>
        </p:nvCxnSpPr>
        <p:spPr>
          <a:xfrm>
            <a:off x="4191000" y="6096000"/>
            <a:ext cx="1981200" cy="442670"/>
          </a:xfrm>
          <a:prstGeom prst="bentConnector3">
            <a:avLst>
              <a:gd name="adj1" fmla="val 3050"/>
            </a:avLst>
          </a:prstGeom>
          <a:ln w="1047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B7CC7EC-0E0B-4D4E-B53D-E32707978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1192" y="1221740"/>
            <a:ext cx="360680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1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插值（</a:t>
            </a:r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Interpolation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5" name="Content Placeholder 3">
            <a:extLst>
              <a:ext uri="{FF2B5EF4-FFF2-40B4-BE49-F238E27FC236}">
                <a16:creationId xmlns:a16="http://schemas.microsoft.com/office/drawing/2014/main" id="{D43A02DA-AD99-1647-8960-585C677F7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33" r="-22733"/>
          <a:stretch>
            <a:fillRect/>
          </a:stretch>
        </p:blipFill>
        <p:spPr bwMode="auto">
          <a:xfrm>
            <a:off x="-914400" y="3074988"/>
            <a:ext cx="6324600" cy="347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24C7B6-3779-474B-9C2A-7E8F60156F23}"/>
                  </a:ext>
                </a:extLst>
              </p:cNvPr>
              <p:cNvSpPr txBox="1"/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给定离散</a:t>
                </a:r>
                <a:r>
                  <a:rPr lang="zh-CN" altLang="en-CN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…,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，构造一条函数曲线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穿过</a:t>
                </a: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这些数据点</a:t>
                </a:r>
                <a:endParaRPr lang="en-US" altLang="zh-CN" sz="28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24C7B6-3779-474B-9C2A-7E8F60156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blipFill>
                <a:blip r:embed="rId4"/>
                <a:stretch>
                  <a:fillRect l="-1378" t="-7895" r="-1531" b="-171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56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插值（</a:t>
            </a:r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Interpolation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381B02D1-C92B-7F47-A335-B70A6B268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33" r="-22733"/>
          <a:stretch>
            <a:fillRect/>
          </a:stretch>
        </p:blipFill>
        <p:spPr bwMode="auto">
          <a:xfrm>
            <a:off x="-990600" y="2982912"/>
            <a:ext cx="6629400" cy="364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127529-BADC-DA4B-9DD3-BF22DBE8905A}"/>
              </a:ext>
            </a:extLst>
          </p:cNvPr>
          <p:cNvSpPr txBox="1"/>
          <p:nvPr/>
        </p:nvSpPr>
        <p:spPr>
          <a:xfrm>
            <a:off x="525651" y="23622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zh-CN" altLang="en-CN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最近邻常数</a:t>
            </a: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</a:t>
            </a:r>
            <a:endParaRPr lang="en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9" name="图片 5">
            <a:extLst>
              <a:ext uri="{FF2B5EF4-FFF2-40B4-BE49-F238E27FC236}">
                <a16:creationId xmlns:a16="http://schemas.microsoft.com/office/drawing/2014/main" id="{4981F991-5B08-574B-B9B2-3E588A2DEDB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213257" y="2953200"/>
            <a:ext cx="3600000" cy="36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5E2B9A-337D-AD47-8F34-5CB2CF326E41}"/>
              </a:ext>
            </a:extLst>
          </p:cNvPr>
          <p:cNvSpPr txBox="1"/>
          <p:nvPr/>
        </p:nvSpPr>
        <p:spPr>
          <a:xfrm>
            <a:off x="5189349" y="2362200"/>
            <a:ext cx="3192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插值效果：</a:t>
            </a:r>
            <a:endParaRPr lang="en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291887-70FD-2B46-893A-7A24B364AC37}"/>
                  </a:ext>
                </a:extLst>
              </p:cNvPr>
              <p:cNvSpPr txBox="1"/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给定离散</a:t>
                </a:r>
                <a:r>
                  <a:rPr lang="zh-CN" altLang="en-CN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…,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，构造一条函数曲线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穿过</a:t>
                </a: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这些数据点</a:t>
                </a:r>
                <a:endParaRPr lang="en-US" altLang="zh-CN" sz="28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291887-70FD-2B46-893A-7A24B364A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blipFill>
                <a:blip r:embed="rId5"/>
                <a:stretch>
                  <a:fillRect l="-1378" t="-7895" r="-1531" b="-171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93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插值（</a:t>
            </a:r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Interpolation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27529-BADC-DA4B-9DD3-BF22DBE8905A}"/>
              </a:ext>
            </a:extLst>
          </p:cNvPr>
          <p:cNvSpPr txBox="1"/>
          <p:nvPr/>
        </p:nvSpPr>
        <p:spPr>
          <a:xfrm>
            <a:off x="525651" y="23622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、线性插值</a:t>
            </a:r>
            <a:endParaRPr lang="en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D6A0F20F-96AA-E449-A7C0-F58C00E69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33" r="-22733"/>
          <a:stretch>
            <a:fillRect/>
          </a:stretch>
        </p:blipFill>
        <p:spPr bwMode="auto">
          <a:xfrm>
            <a:off x="-1039813" y="3209010"/>
            <a:ext cx="6602413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29">
            <a:extLst>
              <a:ext uri="{FF2B5EF4-FFF2-40B4-BE49-F238E27FC236}">
                <a16:creationId xmlns:a16="http://schemas.microsoft.com/office/drawing/2014/main" id="{6DB5B37D-7911-D044-8588-E1C18ECA966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029400"/>
            <a:ext cx="3600000" cy="3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E61FAB-0F64-E14D-A142-4293C4494F99}"/>
              </a:ext>
            </a:extLst>
          </p:cNvPr>
          <p:cNvSpPr txBox="1"/>
          <p:nvPr/>
        </p:nvSpPr>
        <p:spPr>
          <a:xfrm>
            <a:off x="5189349" y="2362200"/>
            <a:ext cx="3192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插值效果：</a:t>
            </a:r>
            <a:endParaRPr lang="en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9815CD-C9C9-1E44-9080-B2AB4710F357}"/>
                  </a:ext>
                </a:extLst>
              </p:cNvPr>
              <p:cNvSpPr txBox="1"/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给定离散</a:t>
                </a:r>
                <a:r>
                  <a:rPr lang="zh-CN" altLang="en-CN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…,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，构造一条函数曲线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穿过</a:t>
                </a: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这些数据点</a:t>
                </a:r>
                <a:endParaRPr lang="en-US" altLang="zh-CN" sz="28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9815CD-C9C9-1E44-9080-B2AB4710F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blipFill>
                <a:blip r:embed="rId5"/>
                <a:stretch>
                  <a:fillRect l="-1378" t="-7895" r="-1531" b="-171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09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插值（</a:t>
            </a:r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Interpolation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1E6722-8250-D24D-9471-B5F10218251B}"/>
                  </a:ext>
                </a:extLst>
              </p:cNvPr>
              <p:cNvSpPr txBox="1"/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给定离散</a:t>
                </a:r>
                <a:r>
                  <a:rPr lang="zh-CN" altLang="en-CN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…,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，构造一条函数曲线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穿过</a:t>
                </a: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这些数据点</a:t>
                </a:r>
                <a:endParaRPr lang="en-US" altLang="zh-CN" sz="28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1E6722-8250-D24D-9471-B5F102182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75546"/>
                <a:ext cx="8279857" cy="954107"/>
              </a:xfrm>
              <a:prstGeom prst="rect">
                <a:avLst/>
              </a:prstGeom>
              <a:blipFill>
                <a:blip r:embed="rId3"/>
                <a:stretch>
                  <a:fillRect l="-1378" t="-7895" r="-1531" b="-171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4127529-BADC-DA4B-9DD3-BF22DBE8905A}"/>
              </a:ext>
            </a:extLst>
          </p:cNvPr>
          <p:cNvSpPr txBox="1"/>
          <p:nvPr/>
        </p:nvSpPr>
        <p:spPr>
          <a:xfrm>
            <a:off x="525651" y="23622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CN" sz="28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E61FAB-0F64-E14D-A142-4293C4494F99}"/>
              </a:ext>
            </a:extLst>
          </p:cNvPr>
          <p:cNvSpPr txBox="1"/>
          <p:nvPr/>
        </p:nvSpPr>
        <p:spPr>
          <a:xfrm>
            <a:off x="5189349" y="2362200"/>
            <a:ext cx="3192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插值效果：</a:t>
            </a:r>
            <a:endParaRPr lang="en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11E7DFAC-9041-6641-86A3-2932A6A4F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33" r="-22733"/>
          <a:stretch>
            <a:fillRect/>
          </a:stretch>
        </p:blipFill>
        <p:spPr bwMode="auto">
          <a:xfrm>
            <a:off x="-990600" y="3045089"/>
            <a:ext cx="6527800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6">
            <a:extLst>
              <a:ext uri="{FF2B5EF4-FFF2-40B4-BE49-F238E27FC236}">
                <a16:creationId xmlns:a16="http://schemas.microsoft.com/office/drawing/2014/main" id="{425CFDA1-60D1-B044-8A6B-F62EB0DF9E3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349" y="3017967"/>
            <a:ext cx="3600000" cy="36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417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B6F22D-1151-D848-97E9-D28D089879E5}"/>
                  </a:ext>
                </a:extLst>
              </p:cNvPr>
              <p:cNvSpPr txBox="1"/>
              <p:nvPr/>
            </p:nvSpPr>
            <p:spPr>
              <a:xfrm>
                <a:off x="254543" y="1390471"/>
                <a:ext cx="8558713" cy="1251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𝟏</m:t>
                    </m:r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个不重合的离散</a:t>
                </a:r>
                <a:r>
                  <a:rPr lang="zh-CN" altLang="en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的集合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次多项式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𝟎</m:t>
                        </m:r>
                      </m:sub>
                    </m:sSub>
                    <m:r>
                      <a:rPr lang="en-US" altLang="zh-CN" sz="2400" b="1" i="1" dirty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𝒙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+…+</m:t>
                    </m:r>
                    <m:sSub>
                      <m:sSub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𝒊</m:t>
                        </m:r>
                      </m:sub>
                    </m:sSub>
                  </m:oMath>
                </a14:m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algn="just"/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   其中，</a:t>
                </a:r>
                <a:r>
                  <a:rPr lang="en-US" altLang="zh-CN" sz="2400" b="1" dirty="0">
                    <a:ea typeface="SimSu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𝒊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𝟎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𝟏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𝟐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…, 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𝒏</m:t>
                    </m:r>
                  </m:oMath>
                </a14:m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B6F22D-1151-D848-97E9-D28D08987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43" y="1390471"/>
                <a:ext cx="8558713" cy="1251946"/>
              </a:xfrm>
              <a:prstGeom prst="rect">
                <a:avLst/>
              </a:prstGeom>
              <a:blipFill>
                <a:blip r:embed="rId3"/>
                <a:stretch>
                  <a:fillRect l="-1037" t="-2020" r="-1037" b="-90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4EB3B0-4330-184B-8F05-C8A3A23F61E1}"/>
                  </a:ext>
                </a:extLst>
              </p:cNvPr>
              <p:cNvSpPr txBox="1"/>
              <p:nvPr/>
            </p:nvSpPr>
            <p:spPr>
              <a:xfrm>
                <a:off x="304800" y="2891135"/>
                <a:ext cx="7848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ü"/>
                </a:pP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直接法求解插值多项式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𝒙</m:t>
                        </m:r>
                      </m:e>
                    </m:d>
                  </m:oMath>
                </a14:m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4EB3B0-4330-184B-8F05-C8A3A23F6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891135"/>
                <a:ext cx="7848599" cy="461665"/>
              </a:xfrm>
              <a:prstGeom prst="rect">
                <a:avLst/>
              </a:prstGeom>
              <a:blipFill>
                <a:blip r:embed="rId4"/>
                <a:stretch>
                  <a:fillRect l="-1133" t="-13514" b="-297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47827656-76FE-1849-9FFC-7530801A7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992" y="3498850"/>
            <a:ext cx="5865813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5C205E8E-0131-0F4B-B910-80A8B34AB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693" y="6160808"/>
            <a:ext cx="4370107" cy="461665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TW" altLang="en-US" sz="24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范德蒙德</a:t>
            </a:r>
            <a:r>
              <a:rPr lang="zh-CN" altLang="en-US" sz="24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400" dirty="0" err="1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Vandermonde</a:t>
            </a:r>
            <a:r>
              <a:rPr lang="zh-CN" altLang="en-US" sz="24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）矩阵</a:t>
            </a:r>
            <a:endParaRPr lang="en-US" altLang="zh-CN" sz="2400" dirty="0">
              <a:solidFill>
                <a:schemeClr val="tx2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3A2EA5A-767B-064E-B003-57503E3173E0}"/>
              </a:ext>
            </a:extLst>
          </p:cNvPr>
          <p:cNvSpPr/>
          <p:nvPr/>
        </p:nvSpPr>
        <p:spPr>
          <a:xfrm>
            <a:off x="1600992" y="3429000"/>
            <a:ext cx="3656808" cy="2362200"/>
          </a:xfrm>
          <a:prstGeom prst="roundRect">
            <a:avLst/>
          </a:prstGeom>
          <a:noFill/>
          <a:ln w="41275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4A8D1D40-8463-FE45-B909-8463BFB8440A}"/>
              </a:ext>
            </a:extLst>
          </p:cNvPr>
          <p:cNvSpPr/>
          <p:nvPr/>
        </p:nvSpPr>
        <p:spPr>
          <a:xfrm>
            <a:off x="3276600" y="5791200"/>
            <a:ext cx="381000" cy="369608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3">
                <a:extLst>
                  <a:ext uri="{FF2B5EF4-FFF2-40B4-BE49-F238E27FC236}">
                    <a16:creationId xmlns:a16="http://schemas.microsoft.com/office/drawing/2014/main" id="{87C9F4C6-E804-A242-B5F9-8EC43A0CB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03806" y="6156342"/>
                <a:ext cx="1520994" cy="461665"/>
              </a:xfrm>
              <a:prstGeom prst="rect">
                <a:avLst/>
              </a:prstGeom>
              <a:noFill/>
              <a:ln w="38100">
                <a:solidFill>
                  <a:srgbClr val="00206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zh-TW" altLang="en-US" sz="2400" dirty="0">
                    <a:solidFill>
                      <a:schemeClr val="tx2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秩为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CN" sz="2400" dirty="0">
                  <a:solidFill>
                    <a:schemeClr val="tx2"/>
                  </a:solidFill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0" name="Rectangle 3">
                <a:extLst>
                  <a:ext uri="{FF2B5EF4-FFF2-40B4-BE49-F238E27FC236}">
                    <a16:creationId xmlns:a16="http://schemas.microsoft.com/office/drawing/2014/main" id="{87C9F4C6-E804-A242-B5F9-8EC43A0CBC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3806" y="6156342"/>
                <a:ext cx="1520994" cy="461665"/>
              </a:xfrm>
              <a:prstGeom prst="rect">
                <a:avLst/>
              </a:prstGeom>
              <a:blipFill>
                <a:blip r:embed="rId6"/>
                <a:stretch>
                  <a:fillRect l="-4839" t="-7500" b="-20000"/>
                </a:stretch>
              </a:blipFill>
              <a:ln w="38100">
                <a:solidFill>
                  <a:srgbClr val="00206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08B29AE4-D9C6-114E-9C06-C7A396E1EAD0}"/>
              </a:ext>
            </a:extLst>
          </p:cNvPr>
          <p:cNvSpPr/>
          <p:nvPr/>
        </p:nvSpPr>
        <p:spPr>
          <a:xfrm>
            <a:off x="5257800" y="2662535"/>
            <a:ext cx="1415772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有</a:t>
            </a:r>
            <a:r>
              <a:rPr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唯一解</a:t>
            </a:r>
            <a:endParaRPr lang="en-CN" sz="2400" b="1" dirty="0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FF83911C-4C61-554A-A270-518BD91217F3}"/>
              </a:ext>
            </a:extLst>
          </p:cNvPr>
          <p:cNvSpPr/>
          <p:nvPr/>
        </p:nvSpPr>
        <p:spPr>
          <a:xfrm>
            <a:off x="5638800" y="6387174"/>
            <a:ext cx="680877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05E960-7780-4F43-8EC7-D497A5280446}"/>
              </a:ext>
            </a:extLst>
          </p:cNvPr>
          <p:cNvSpPr/>
          <p:nvPr/>
        </p:nvSpPr>
        <p:spPr>
          <a:xfrm>
            <a:off x="5410200" y="3498850"/>
            <a:ext cx="569038" cy="2139950"/>
          </a:xfrm>
          <a:prstGeom prst="rect">
            <a:avLst/>
          </a:prstGeom>
          <a:solidFill>
            <a:schemeClr val="accent3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9603122B-CEE6-9248-9253-A6CE67EC6A23}"/>
              </a:ext>
            </a:extLst>
          </p:cNvPr>
          <p:cNvSpPr/>
          <p:nvPr/>
        </p:nvSpPr>
        <p:spPr>
          <a:xfrm rot="10800000">
            <a:off x="5504219" y="3135591"/>
            <a:ext cx="381000" cy="369608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9831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4" grpId="0" animBg="1"/>
      <p:bldP spid="15" grpId="0" animBg="1"/>
      <p:bldP spid="20" grpId="0" animBg="1"/>
      <p:bldP spid="16" grpId="0" animBg="1"/>
      <p:bldP spid="17" grpId="0" animBg="1"/>
      <p:bldP spid="21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83EEDD-5840-FA4E-AD96-5B2619D04572}"/>
                  </a:ext>
                </a:extLst>
              </p:cNvPr>
              <p:cNvSpPr txBox="1"/>
              <p:nvPr/>
            </p:nvSpPr>
            <p:spPr>
              <a:xfrm>
                <a:off x="254543" y="1390471"/>
                <a:ext cx="855871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给定离散</a:t>
                </a:r>
                <a:r>
                  <a:rPr lang="zh-CN" altLang="en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  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  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  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，构造一条多项式（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？次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）</a:t>
                </a:r>
                <a:r>
                  <a:rPr lang="zh-CN" altLang="en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曲线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穿过这些数据点</a:t>
                </a:r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83EEDD-5840-FA4E-AD96-5B2619D04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43" y="1390471"/>
                <a:ext cx="8558713" cy="830997"/>
              </a:xfrm>
              <a:prstGeom prst="rect">
                <a:avLst/>
              </a:prstGeom>
              <a:blipFill>
                <a:blip r:embed="rId3"/>
                <a:stretch>
                  <a:fillRect l="-1037" t="-7576" r="-1037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>
            <a:extLst>
              <a:ext uri="{FF2B5EF4-FFF2-40B4-BE49-F238E27FC236}">
                <a16:creationId xmlns:a16="http://schemas.microsoft.com/office/drawing/2014/main" id="{A673D0BF-DD4B-C647-A2CF-AEB4A81AE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776538"/>
            <a:ext cx="4876800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6727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83EEDD-5840-FA4E-AD96-5B2619D04572}"/>
                  </a:ext>
                </a:extLst>
              </p:cNvPr>
              <p:cNvSpPr txBox="1"/>
              <p:nvPr/>
            </p:nvSpPr>
            <p:spPr>
              <a:xfrm>
                <a:off x="254543" y="1390471"/>
                <a:ext cx="855871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给定离散</a:t>
                </a:r>
                <a:r>
                  <a:rPr lang="zh-CN" altLang="en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点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集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  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  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  </m:t>
                        </m:r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，构造一条多项式（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3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次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）</a:t>
                </a:r>
                <a:r>
                  <a:rPr lang="zh-CN" altLang="en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曲线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穿过这些数据点</a:t>
                </a:r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83EEDD-5840-FA4E-AD96-5B2619D04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43" y="1390471"/>
                <a:ext cx="8558713" cy="830997"/>
              </a:xfrm>
              <a:prstGeom prst="rect">
                <a:avLst/>
              </a:prstGeom>
              <a:blipFill>
                <a:blip r:embed="rId3"/>
                <a:stretch>
                  <a:fillRect l="-1037" t="-7576" r="-1037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>
            <a:extLst>
              <a:ext uri="{FF2B5EF4-FFF2-40B4-BE49-F238E27FC236}">
                <a16:creationId xmlns:a16="http://schemas.microsoft.com/office/drawing/2014/main" id="{A673D0BF-DD4B-C647-A2CF-AEB4A81AE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776538"/>
            <a:ext cx="4876800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0755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D6F2827F-5F97-4876-9522-7D8A60DF6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2782" y="1047959"/>
            <a:ext cx="91440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1" dirty="0">
                <a:solidFill>
                  <a:srgbClr val="002060"/>
                </a:solidFill>
                <a:latin typeface="Arial" panose="020B0604020202020204" pitchFamily="34" charset="0"/>
              </a:rPr>
              <a:t>解题思路：构造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  <a:r>
              <a:rPr lang="zh-CN" alt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条</a:t>
            </a:r>
            <a:r>
              <a:rPr lang="zh-CN" altLang="en-US" sz="2400" i="1" dirty="0">
                <a:solidFill>
                  <a:srgbClr val="002060"/>
                </a:solidFill>
                <a:latin typeface="Arial" panose="020B0604020202020204" pitchFamily="34" charset="0"/>
              </a:rPr>
              <a:t>曲线分别穿过其中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个</a:t>
            </a:r>
            <a:r>
              <a:rPr lang="zh-CN" altLang="en-US" sz="2400" i="1" dirty="0">
                <a:solidFill>
                  <a:srgbClr val="002060"/>
                </a:solidFill>
                <a:latin typeface="Arial" panose="020B0604020202020204" pitchFamily="34" charset="0"/>
              </a:rPr>
              <a:t>数据点后叠加</a:t>
            </a:r>
            <a:endParaRPr lang="en-US" altLang="zh-CN" sz="2400" i="1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5FF5C69-5633-4157-9867-C908FB8948DF}"/>
                  </a:ext>
                </a:extLst>
              </p:cNvPr>
              <p:cNvSpPr txBox="1"/>
              <p:nvPr/>
            </p:nvSpPr>
            <p:spPr>
              <a:xfrm>
                <a:off x="0" y="1967557"/>
                <a:ext cx="9448800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1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，构造</a:t>
                </a:r>
                <a:r>
                  <a:rPr lang="en-US" altLang="zh-CN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1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条曲线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(x)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穿过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28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28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8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e>
                    </m:d>
                  </m:oMath>
                </a14:m>
                <a:endParaRPr lang="zh-CN" altLang="en-US" sz="2400" b="1" dirty="0">
                  <a:solidFill>
                    <a:schemeClr val="tx1"/>
                  </a:solidFill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5FF5C69-5633-4157-9867-C908FB894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67557"/>
                <a:ext cx="9448800" cy="530915"/>
              </a:xfrm>
              <a:prstGeom prst="rect">
                <a:avLst/>
              </a:prstGeom>
              <a:blipFill>
                <a:blip r:embed="rId3"/>
                <a:stretch>
                  <a:fillRect l="-1478" t="-16667" b="-2857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3">
            <a:extLst>
              <a:ext uri="{FF2B5EF4-FFF2-40B4-BE49-F238E27FC236}">
                <a16:creationId xmlns:a16="http://schemas.microsoft.com/office/drawing/2014/main" id="{DB8E66EB-19DD-4BB9-8D31-FDE43B861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25800"/>
            <a:ext cx="3886200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4B2396-BC9F-4324-A958-C0AF47C83553}"/>
                  </a:ext>
                </a:extLst>
              </p:cNvPr>
              <p:cNvSpPr txBox="1"/>
              <p:nvPr/>
            </p:nvSpPr>
            <p:spPr>
              <a:xfrm>
                <a:off x="4004003" y="4298399"/>
                <a:ext cx="5139997" cy="78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800" b="1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CN" sz="2800" b="1" dirty="0">
                        <a:solidFill>
                          <a:schemeClr val="tx1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altLang="zh-CN" sz="2800" b="1" dirty="0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CN" sz="3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sz="3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4B2396-BC9F-4324-A958-C0AF47C83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003" y="4298399"/>
                <a:ext cx="5139997" cy="784510"/>
              </a:xfrm>
              <a:prstGeom prst="rect">
                <a:avLst/>
              </a:prstGeom>
              <a:blipFill>
                <a:blip r:embed="rId5"/>
                <a:stretch>
                  <a:fillRect l="-2469" t="-3175" r="-1728" b="-1587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132">
            <a:extLst>
              <a:ext uri="{FF2B5EF4-FFF2-40B4-BE49-F238E27FC236}">
                <a16:creationId xmlns:a16="http://schemas.microsoft.com/office/drawing/2014/main" id="{5B3A1983-FC39-4F3B-BE8E-2FA8CDFB02C9}"/>
              </a:ext>
            </a:extLst>
          </p:cNvPr>
          <p:cNvSpPr>
            <a:spLocks/>
          </p:cNvSpPr>
          <p:nvPr/>
        </p:nvSpPr>
        <p:spPr bwMode="auto">
          <a:xfrm rot="16200000">
            <a:off x="7263219" y="3810908"/>
            <a:ext cx="254000" cy="3124200"/>
          </a:xfrm>
          <a:prstGeom prst="leftBrace">
            <a:avLst>
              <a:gd name="adj1" fmla="val 3331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60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578A9B-3A45-4620-8615-DE23C5EC7027}"/>
                  </a:ext>
                </a:extLst>
              </p:cNvPr>
              <p:cNvSpPr txBox="1"/>
              <p:nvPr/>
            </p:nvSpPr>
            <p:spPr>
              <a:xfrm>
                <a:off x="6020453" y="5644311"/>
                <a:ext cx="2739533" cy="75648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b="1" dirty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altLang="zh-CN" sz="2800" b="1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1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800" b="1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sz="2800" b="1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8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800" b="1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28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b="1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sz="28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578A9B-3A45-4620-8615-DE23C5EC7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453" y="5644311"/>
                <a:ext cx="2739533" cy="756489"/>
              </a:xfrm>
              <a:prstGeom prst="rect">
                <a:avLst/>
              </a:prstGeom>
              <a:blipFill>
                <a:blip r:embed="rId6"/>
                <a:stretch>
                  <a:fillRect l="-5093" t="-77049" r="-3241" b="-11311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2F4A430-C21C-48DD-AEDD-4FC5CCAD3428}"/>
                  </a:ext>
                </a:extLst>
              </p:cNvPr>
              <p:cNvSpPr/>
              <p:nvPr/>
            </p:nvSpPr>
            <p:spPr>
              <a:xfrm>
                <a:off x="3581400" y="2747031"/>
                <a:ext cx="5684098" cy="530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8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m:t>(</m:t>
                    </m:r>
                    <m:r>
                      <m:rPr>
                        <m:nor/>
                      </m:rPr>
                      <a:rPr lang="en-US" altLang="zh-CN" sz="28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m:t>x</m:t>
                    </m:r>
                    <m:r>
                      <m:rPr>
                        <m:nor/>
                      </m:rPr>
                      <a:rPr lang="en-US" altLang="zh-CN" sz="28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=C</a:t>
                </a:r>
                <a14:m>
                  <m:oMath xmlns:m="http://schemas.openxmlformats.org/officeDocument/2006/math">
                    <m:r>
                      <a:rPr lang="en-US" altLang="zh-CN" sz="2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b="1" dirty="0">
                  <a:solidFill>
                    <a:schemeClr val="tx1"/>
                  </a:solidFill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2F4A430-C21C-48DD-AEDD-4FC5CCAD34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747031"/>
                <a:ext cx="5684098" cy="530915"/>
              </a:xfrm>
              <a:prstGeom prst="rect">
                <a:avLst/>
              </a:prstGeom>
              <a:blipFill>
                <a:blip r:embed="rId7"/>
                <a:stretch>
                  <a:fillRect l="-670" t="-13953" b="-2790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2">
                <a:extLst>
                  <a:ext uri="{FF2B5EF4-FFF2-40B4-BE49-F238E27FC236}">
                    <a16:creationId xmlns:a16="http://schemas.microsoft.com/office/drawing/2014/main" id="{CFC9C1DF-053D-4925-8DEB-9CC3137DE2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4001" y="3106258"/>
                <a:ext cx="5905500" cy="914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曲线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穿过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，求得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2" name="内容占位符 2">
                <a:extLst>
                  <a:ext uri="{FF2B5EF4-FFF2-40B4-BE49-F238E27FC236}">
                    <a16:creationId xmlns:a16="http://schemas.microsoft.com/office/drawing/2014/main" id="{CFC9C1DF-053D-4925-8DEB-9CC3137DE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4001" y="3106258"/>
                <a:ext cx="5905500" cy="914803"/>
              </a:xfrm>
              <a:prstGeom prst="rect">
                <a:avLst/>
              </a:prstGeom>
              <a:blipFill>
                <a:blip r:embed="rId8"/>
                <a:stretch>
                  <a:fillRect l="-1288" b="-1369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11F679C-C97C-8144-B29E-979F1C879FDB}"/>
              </a:ext>
            </a:extLst>
          </p:cNvPr>
          <p:cNvSpPr txBox="1"/>
          <p:nvPr/>
        </p:nvSpPr>
        <p:spPr>
          <a:xfrm>
            <a:off x="3352800" y="1542251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？次多项式</a:t>
            </a:r>
            <a:endParaRPr lang="en-CN" sz="24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F1D4D4-963F-A24F-A2B9-F5010D3194DB}"/>
              </a:ext>
            </a:extLst>
          </p:cNvPr>
          <p:cNvSpPr/>
          <p:nvPr/>
        </p:nvSpPr>
        <p:spPr>
          <a:xfrm>
            <a:off x="2476500" y="1846629"/>
            <a:ext cx="1028700" cy="651843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794D12-7221-E542-9885-A9BD725352F8}"/>
              </a:ext>
            </a:extLst>
          </p:cNvPr>
          <p:cNvSpPr txBox="1"/>
          <p:nvPr/>
        </p:nvSpPr>
        <p:spPr>
          <a:xfrm>
            <a:off x="3505200" y="1547493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次多项式</a:t>
            </a:r>
            <a:endParaRPr lang="en-CN" sz="24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075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 animBg="1"/>
      <p:bldP spid="9" grpId="0" animBg="1"/>
      <p:bldP spid="11" grpId="0"/>
      <p:bldP spid="12" grpId="0"/>
      <p:bldP spid="10" grpId="0"/>
      <p:bldP spid="10" grpId="1"/>
      <p:bldP spid="13" grpId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867194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BA82B64-0804-43E7-9F28-DB8207F4A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1933575"/>
            <a:ext cx="2895600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FD0C5AAE-D261-435D-AABC-B19D3A16B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58975"/>
            <a:ext cx="2836862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6958BE-BAEA-43DC-8FDC-60D1C30FD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863" y="1889125"/>
            <a:ext cx="2836862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21">
            <a:extLst>
              <a:ext uri="{FF2B5EF4-FFF2-40B4-BE49-F238E27FC236}">
                <a16:creationId xmlns:a16="http://schemas.microsoft.com/office/drawing/2014/main" id="{0120FF5F-DBB1-4B83-BF95-721E7DD7058D}"/>
              </a:ext>
            </a:extLst>
          </p:cNvPr>
          <p:cNvGrpSpPr>
            <a:grpSpLocks/>
          </p:cNvGrpSpPr>
          <p:nvPr/>
        </p:nvGrpSpPr>
        <p:grpSpPr bwMode="auto">
          <a:xfrm>
            <a:off x="1434462" y="4510622"/>
            <a:ext cx="1665744" cy="1307418"/>
            <a:chOff x="1676400" y="3706005"/>
            <a:chExt cx="1447800" cy="1246995"/>
          </a:xfrm>
        </p:grpSpPr>
        <p:sp>
          <p:nvSpPr>
            <p:cNvPr id="12" name="Frame 10">
              <a:extLst>
                <a:ext uri="{FF2B5EF4-FFF2-40B4-BE49-F238E27FC236}">
                  <a16:creationId xmlns:a16="http://schemas.microsoft.com/office/drawing/2014/main" id="{332ABFAD-4270-4537-9293-BBB712456A32}"/>
                </a:ext>
              </a:extLst>
            </p:cNvPr>
            <p:cNvSpPr/>
            <p:nvPr/>
          </p:nvSpPr>
          <p:spPr bwMode="auto">
            <a:xfrm>
              <a:off x="1676400" y="3706005"/>
              <a:ext cx="1447800" cy="984397"/>
            </a:xfrm>
            <a:prstGeom prst="frame">
              <a:avLst>
                <a:gd name="adj1" fmla="val 895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CN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4" name="Down Arrow 12">
              <a:extLst>
                <a:ext uri="{FF2B5EF4-FFF2-40B4-BE49-F238E27FC236}">
                  <a16:creationId xmlns:a16="http://schemas.microsoft.com/office/drawing/2014/main" id="{CCDA29BF-C49B-49E6-AA17-17F79EC8C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4690955"/>
              <a:ext cx="228600" cy="262045"/>
            </a:xfrm>
            <a:prstGeom prst="downArrow">
              <a:avLst>
                <a:gd name="adj1" fmla="val 50000"/>
                <a:gd name="adj2" fmla="val 50002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8B2EC74C-DC90-4F34-8F6B-C560328CDF23}"/>
                  </a:ext>
                </a:extLst>
              </p:cNvPr>
              <p:cNvSpPr/>
              <p:nvPr/>
            </p:nvSpPr>
            <p:spPr>
              <a:xfrm>
                <a:off x="-338522" y="4375434"/>
                <a:ext cx="3897230" cy="14947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)=</m:t>
                      </m:r>
                      <m:sSub>
                        <m:sSubPr>
                          <m:ctrlPr>
                            <a:rPr lang="en-US" altLang="zh-CN" sz="20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∏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0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endParaRPr lang="zh-CN" altLang="en-US" sz="2000" b="1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8B2EC74C-DC90-4F34-8F6B-C560328CD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8522" y="4375434"/>
                <a:ext cx="3897230" cy="1494705"/>
              </a:xfrm>
              <a:prstGeom prst="rect">
                <a:avLst/>
              </a:prstGeom>
              <a:blipFill>
                <a:blip r:embed="rId6"/>
                <a:stretch>
                  <a:fillRect t="-64706" b="-60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16714F9-3D08-4757-8974-97EEA9674F1D}"/>
                  </a:ext>
                </a:extLst>
              </p:cNvPr>
              <p:cNvSpPr/>
              <p:nvPr/>
            </p:nvSpPr>
            <p:spPr>
              <a:xfrm>
                <a:off x="1883386" y="5879068"/>
                <a:ext cx="75847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16714F9-3D08-4757-8974-97EEA9674F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386" y="5879068"/>
                <a:ext cx="758477" cy="369332"/>
              </a:xfrm>
              <a:prstGeom prst="rect">
                <a:avLst/>
              </a:prstGeom>
              <a:blipFill>
                <a:blip r:embed="rId7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12BCD2BB-0009-4137-80F4-0F003279B057}"/>
                  </a:ext>
                </a:extLst>
              </p:cNvPr>
              <p:cNvSpPr/>
              <p:nvPr/>
            </p:nvSpPr>
            <p:spPr>
              <a:xfrm>
                <a:off x="4875845" y="5878380"/>
                <a:ext cx="75847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12BCD2BB-0009-4137-80F4-0F003279B0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845" y="5878380"/>
                <a:ext cx="758477" cy="369332"/>
              </a:xfrm>
              <a:prstGeom prst="rect">
                <a:avLst/>
              </a:prstGeom>
              <a:blipFill>
                <a:blip r:embed="rId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48C21D02-80D5-498C-860A-A1284434ED41}"/>
                  </a:ext>
                </a:extLst>
              </p:cNvPr>
              <p:cNvSpPr/>
              <p:nvPr/>
            </p:nvSpPr>
            <p:spPr>
              <a:xfrm>
                <a:off x="7775748" y="5863181"/>
                <a:ext cx="758477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48C21D02-80D5-498C-860A-A1284434ED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748" y="5863181"/>
                <a:ext cx="758477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21">
            <a:extLst>
              <a:ext uri="{FF2B5EF4-FFF2-40B4-BE49-F238E27FC236}">
                <a16:creationId xmlns:a16="http://schemas.microsoft.com/office/drawing/2014/main" id="{72B17021-8BFD-4CF6-9FBF-BE126399AEEE}"/>
              </a:ext>
            </a:extLst>
          </p:cNvPr>
          <p:cNvGrpSpPr>
            <a:grpSpLocks/>
          </p:cNvGrpSpPr>
          <p:nvPr/>
        </p:nvGrpSpPr>
        <p:grpSpPr bwMode="auto">
          <a:xfrm>
            <a:off x="4386870" y="4510622"/>
            <a:ext cx="1665744" cy="1307418"/>
            <a:chOff x="1676400" y="3706005"/>
            <a:chExt cx="1447800" cy="1246995"/>
          </a:xfrm>
        </p:grpSpPr>
        <p:sp>
          <p:nvSpPr>
            <p:cNvPr id="45" name="Frame 10">
              <a:extLst>
                <a:ext uri="{FF2B5EF4-FFF2-40B4-BE49-F238E27FC236}">
                  <a16:creationId xmlns:a16="http://schemas.microsoft.com/office/drawing/2014/main" id="{23076E87-E024-48B5-896A-DCDD20B6F86B}"/>
                </a:ext>
              </a:extLst>
            </p:cNvPr>
            <p:cNvSpPr/>
            <p:nvPr/>
          </p:nvSpPr>
          <p:spPr bwMode="auto">
            <a:xfrm>
              <a:off x="1676400" y="3706005"/>
              <a:ext cx="1447800" cy="984397"/>
            </a:xfrm>
            <a:prstGeom prst="frame">
              <a:avLst>
                <a:gd name="adj1" fmla="val 895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CN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46" name="Down Arrow 12">
              <a:extLst>
                <a:ext uri="{FF2B5EF4-FFF2-40B4-BE49-F238E27FC236}">
                  <a16:creationId xmlns:a16="http://schemas.microsoft.com/office/drawing/2014/main" id="{E2752C22-8E7D-471A-8751-60F78C8F5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4690955"/>
              <a:ext cx="228600" cy="262045"/>
            </a:xfrm>
            <a:prstGeom prst="downArrow">
              <a:avLst>
                <a:gd name="adj1" fmla="val 50000"/>
                <a:gd name="adj2" fmla="val 50002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7" name="Group 21">
            <a:extLst>
              <a:ext uri="{FF2B5EF4-FFF2-40B4-BE49-F238E27FC236}">
                <a16:creationId xmlns:a16="http://schemas.microsoft.com/office/drawing/2014/main" id="{418E4850-8122-46E7-A0BB-0B3173B4851C}"/>
              </a:ext>
            </a:extLst>
          </p:cNvPr>
          <p:cNvGrpSpPr>
            <a:grpSpLocks/>
          </p:cNvGrpSpPr>
          <p:nvPr/>
        </p:nvGrpSpPr>
        <p:grpSpPr bwMode="auto">
          <a:xfrm>
            <a:off x="7276120" y="4510622"/>
            <a:ext cx="1665744" cy="1307418"/>
            <a:chOff x="1676400" y="3706005"/>
            <a:chExt cx="1447800" cy="1246995"/>
          </a:xfrm>
        </p:grpSpPr>
        <p:sp>
          <p:nvSpPr>
            <p:cNvPr id="48" name="Frame 10">
              <a:extLst>
                <a:ext uri="{FF2B5EF4-FFF2-40B4-BE49-F238E27FC236}">
                  <a16:creationId xmlns:a16="http://schemas.microsoft.com/office/drawing/2014/main" id="{B68B63FB-25F8-445C-84DB-5E4AA957BDB5}"/>
                </a:ext>
              </a:extLst>
            </p:cNvPr>
            <p:cNvSpPr/>
            <p:nvPr/>
          </p:nvSpPr>
          <p:spPr bwMode="auto">
            <a:xfrm>
              <a:off x="1676400" y="3706005"/>
              <a:ext cx="1447800" cy="984397"/>
            </a:xfrm>
            <a:prstGeom prst="frame">
              <a:avLst>
                <a:gd name="adj1" fmla="val 895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CN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49" name="Down Arrow 12">
              <a:extLst>
                <a:ext uri="{FF2B5EF4-FFF2-40B4-BE49-F238E27FC236}">
                  <a16:creationId xmlns:a16="http://schemas.microsoft.com/office/drawing/2014/main" id="{BC614917-30C8-4D0C-993C-34E05D4D9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4690955"/>
              <a:ext cx="228600" cy="262045"/>
            </a:xfrm>
            <a:prstGeom prst="downArrow">
              <a:avLst>
                <a:gd name="adj1" fmla="val 50000"/>
                <a:gd name="adj2" fmla="val 50002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689908A-EAF9-43CC-ADB2-C9BA2A5DAC83}"/>
                  </a:ext>
                </a:extLst>
              </p:cNvPr>
              <p:cNvSpPr txBox="1"/>
              <p:nvPr/>
            </p:nvSpPr>
            <p:spPr>
              <a:xfrm>
                <a:off x="205240" y="1145485"/>
                <a:ext cx="9448800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002060"/>
                    </a:solidFill>
                  </a:rPr>
                  <a:t>2</a:t>
                </a:r>
                <a:r>
                  <a:rPr lang="zh-CN" altLang="en-US" sz="2800" b="1" dirty="0">
                    <a:solidFill>
                      <a:srgbClr val="002060"/>
                    </a:solidFill>
                  </a:rPr>
                  <a:t>，类似地，构造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dirty="0">
                    <a:solidFill>
                      <a:srgbClr val="002060"/>
                    </a:solidFill>
                  </a:rPr>
                  <a:t>(x)</a:t>
                </a:r>
                <a:r>
                  <a:rPr lang="zh-CN" altLang="en-US" sz="2400" b="1" dirty="0">
                    <a:solidFill>
                      <a:srgbClr val="002060"/>
                    </a:solidFill>
                  </a:rPr>
                  <a:t>，</a:t>
                </a:r>
                <a:r>
                  <a:rPr lang="en-US" altLang="zh-CN" sz="2400" b="1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dirty="0">
                    <a:solidFill>
                      <a:srgbClr val="002060"/>
                    </a:solidFill>
                  </a:rPr>
                  <a:t>(x)</a:t>
                </a:r>
                <a:r>
                  <a:rPr lang="zh-CN" altLang="en-US" sz="2400" b="1" dirty="0">
                    <a:solidFill>
                      <a:srgbClr val="002060"/>
                    </a:solidFill>
                  </a:rPr>
                  <a:t>和</a:t>
                </a:r>
                <a:r>
                  <a:rPr lang="en-US" altLang="zh-CN" sz="2400" b="1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dirty="0">
                    <a:solidFill>
                      <a:srgbClr val="002060"/>
                    </a:solidFill>
                  </a:rPr>
                  <a:t>(x)</a:t>
                </a:r>
                <a:endParaRPr lang="zh-CN" alt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689908A-EAF9-43CC-ADB2-C9BA2A5DA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40" y="1145485"/>
                <a:ext cx="9448800" cy="530915"/>
              </a:xfrm>
              <a:prstGeom prst="rect">
                <a:avLst/>
              </a:prstGeom>
              <a:blipFill>
                <a:blip r:embed="rId10"/>
                <a:stretch>
                  <a:fillRect l="-1342" t="-16667" b="-309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736FC5F-4961-4B5E-887F-C236E03FBEC1}"/>
                  </a:ext>
                </a:extLst>
              </p:cNvPr>
              <p:cNvSpPr/>
              <p:nvPr/>
            </p:nvSpPr>
            <p:spPr>
              <a:xfrm>
                <a:off x="2561568" y="4478867"/>
                <a:ext cx="3897230" cy="14947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)=</m:t>
                      </m:r>
                      <m:sSub>
                        <m:sSubPr>
                          <m:ctrlPr>
                            <a:rPr lang="en-US" altLang="zh-CN" sz="20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∏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0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endParaRPr lang="zh-CN" altLang="en-US" sz="2000" b="1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736FC5F-4961-4B5E-887F-C236E03FBE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568" y="4478867"/>
                <a:ext cx="3897230" cy="1494705"/>
              </a:xfrm>
              <a:prstGeom prst="rect">
                <a:avLst/>
              </a:prstGeom>
              <a:blipFill>
                <a:blip r:embed="rId11"/>
                <a:stretch>
                  <a:fillRect t="-63866" b="-60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6B47E8F1-A776-44A6-A0D5-406F1D51113B}"/>
                  </a:ext>
                </a:extLst>
              </p:cNvPr>
              <p:cNvSpPr/>
              <p:nvPr/>
            </p:nvSpPr>
            <p:spPr>
              <a:xfrm>
                <a:off x="5530469" y="4375434"/>
                <a:ext cx="3897230" cy="14947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CN" sz="2000" b="1" dirty="0">
                          <a:solidFill>
                            <a:srgbClr val="002060"/>
                          </a:solidFill>
                        </a:rPr>
                        <m:t>)=</m:t>
                      </m:r>
                      <m:sSub>
                        <m:sSubPr>
                          <m:ctrlPr>
                            <a:rPr lang="en-US" altLang="zh-CN" sz="20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∏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0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endParaRPr lang="zh-CN" altLang="en-US" sz="2000" b="1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6B47E8F1-A776-44A6-A0D5-406F1D5111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469" y="4375434"/>
                <a:ext cx="3897230" cy="1494705"/>
              </a:xfrm>
              <a:prstGeom prst="rect">
                <a:avLst/>
              </a:prstGeom>
              <a:blipFill>
                <a:blip r:embed="rId12"/>
                <a:stretch>
                  <a:fillRect t="-64706" b="-605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92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 animBg="1"/>
      <p:bldP spid="38" grpId="0" animBg="1"/>
      <p:bldP spid="43" grpId="0" animBg="1"/>
      <p:bldP spid="29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多项式插值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D0E35783-53A6-4900-A9F7-B564AD857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57400"/>
            <a:ext cx="3683000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A5E801A-2FBF-49F7-9FEC-A2B5B073A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120900"/>
            <a:ext cx="367030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ight Arrow 5">
            <a:extLst>
              <a:ext uri="{FF2B5EF4-FFF2-40B4-BE49-F238E27FC236}">
                <a16:creationId xmlns:a16="http://schemas.microsoft.com/office/drawing/2014/main" id="{8796D367-8B0E-45EB-BBB4-175B71B05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048000"/>
            <a:ext cx="381000" cy="52705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0DCD41B-E896-40A2-9D55-122761E8E45F}"/>
                  </a:ext>
                </a:extLst>
              </p:cNvPr>
              <p:cNvSpPr txBox="1"/>
              <p:nvPr/>
            </p:nvSpPr>
            <p:spPr>
              <a:xfrm>
                <a:off x="330743" y="1374085"/>
                <a:ext cx="8584657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3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，将四条曲线累加得到插值多项式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zh-C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b="1" dirty="0">
                  <a:solidFill>
                    <a:schemeClr val="tx1"/>
                  </a:solidFill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0DCD41B-E896-40A2-9D55-122761E8E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43" y="1374085"/>
                <a:ext cx="8584657" cy="530915"/>
              </a:xfrm>
              <a:prstGeom prst="rect">
                <a:avLst/>
              </a:prstGeom>
              <a:blipFill>
                <a:blip r:embed="rId5"/>
                <a:stretch>
                  <a:fillRect l="-1475" t="-13953" b="-2790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3A36DD8-7D49-45B4-AB55-9A3C96B4AAF2}"/>
                  </a:ext>
                </a:extLst>
              </p:cNvPr>
              <p:cNvSpPr txBox="1"/>
              <p:nvPr/>
            </p:nvSpPr>
            <p:spPr>
              <a:xfrm>
                <a:off x="1271086" y="5148729"/>
                <a:ext cx="6577514" cy="490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) +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) +</m:t>
                    </m:r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) +</m:t>
                    </m:r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dirty="0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3A36DD8-7D49-45B4-AB55-9A3C96B4A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086" y="5148729"/>
                <a:ext cx="6577514" cy="490071"/>
              </a:xfrm>
              <a:prstGeom prst="rect">
                <a:avLst/>
              </a:prstGeom>
              <a:blipFill>
                <a:blip r:embed="rId6"/>
                <a:stretch>
                  <a:fillRect l="-385" t="-112500" b="-17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3BBB4864-5B85-F046-A913-B9FB76930A3A}"/>
              </a:ext>
            </a:extLst>
          </p:cNvPr>
          <p:cNvSpPr txBox="1">
            <a:spLocks/>
          </p:cNvSpPr>
          <p:nvPr/>
        </p:nvSpPr>
        <p:spPr>
          <a:xfrm>
            <a:off x="1307480" y="5893558"/>
            <a:ext cx="3544539" cy="8439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N" sz="3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拉格朗日插值法</a:t>
            </a:r>
            <a:endParaRPr lang="en-US" sz="38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EB8FF0-17CB-154E-97DE-7A8E36FECCAB}"/>
              </a:ext>
            </a:extLst>
          </p:cNvPr>
          <p:cNvSpPr/>
          <p:nvPr/>
        </p:nvSpPr>
        <p:spPr>
          <a:xfrm>
            <a:off x="6324600" y="6123852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拉格朗日基函数</a:t>
            </a:r>
            <a:endParaRPr lang="en-CN" sz="2800" dirty="0">
              <a:solidFill>
                <a:srgbClr val="0000FF"/>
              </a:solidFill>
            </a:endParaRPr>
          </a:p>
        </p:txBody>
      </p:sp>
      <p:grpSp>
        <p:nvGrpSpPr>
          <p:cNvPr id="12" name="Group 21">
            <a:extLst>
              <a:ext uri="{FF2B5EF4-FFF2-40B4-BE49-F238E27FC236}">
                <a16:creationId xmlns:a16="http://schemas.microsoft.com/office/drawing/2014/main" id="{F6F81ECC-DEED-3B48-B321-A558BC26B65D}"/>
              </a:ext>
            </a:extLst>
          </p:cNvPr>
          <p:cNvGrpSpPr>
            <a:grpSpLocks/>
          </p:cNvGrpSpPr>
          <p:nvPr/>
        </p:nvGrpSpPr>
        <p:grpSpPr bwMode="auto">
          <a:xfrm>
            <a:off x="7018850" y="5148730"/>
            <a:ext cx="625463" cy="975122"/>
            <a:chOff x="1676400" y="3706005"/>
            <a:chExt cx="1447800" cy="1969345"/>
          </a:xfrm>
        </p:grpSpPr>
        <p:sp>
          <p:nvSpPr>
            <p:cNvPr id="13" name="Frame 10">
              <a:extLst>
                <a:ext uri="{FF2B5EF4-FFF2-40B4-BE49-F238E27FC236}">
                  <a16:creationId xmlns:a16="http://schemas.microsoft.com/office/drawing/2014/main" id="{E61A6A8F-6D80-F247-8FB2-CAB901209EB7}"/>
                </a:ext>
              </a:extLst>
            </p:cNvPr>
            <p:cNvSpPr/>
            <p:nvPr/>
          </p:nvSpPr>
          <p:spPr bwMode="auto">
            <a:xfrm>
              <a:off x="1676400" y="3706005"/>
              <a:ext cx="1447800" cy="984397"/>
            </a:xfrm>
            <a:prstGeom prst="frame">
              <a:avLst>
                <a:gd name="adj1" fmla="val 895"/>
              </a:avLst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CN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4" name="Down Arrow 12">
              <a:extLst>
                <a:ext uri="{FF2B5EF4-FFF2-40B4-BE49-F238E27FC236}">
                  <a16:creationId xmlns:a16="http://schemas.microsoft.com/office/drawing/2014/main" id="{A8390479-CE34-E544-9721-1BE68151C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5998" y="4690954"/>
              <a:ext cx="328604" cy="984396"/>
            </a:xfrm>
            <a:prstGeom prst="downArrow">
              <a:avLst>
                <a:gd name="adj1" fmla="val 50000"/>
                <a:gd name="adj2" fmla="val 50002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8529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  <p:bldP spid="10" grpId="0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拉格朗日插值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89" name="Rectangle 34">
            <a:extLst>
              <a:ext uri="{FF2B5EF4-FFF2-40B4-BE49-F238E27FC236}">
                <a16:creationId xmlns:a16="http://schemas.microsoft.com/office/drawing/2014/main" id="{2D6DE5EE-A042-6E46-8E6E-2A329AE37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03" y="1219200"/>
            <a:ext cx="31758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</a:rPr>
              <a:t>拉格朗日基函数</a:t>
            </a:r>
            <a:endParaRPr lang="zh-CN" altLang="zh-CN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92" name="Process 191">
            <a:extLst>
              <a:ext uri="{FF2B5EF4-FFF2-40B4-BE49-F238E27FC236}">
                <a16:creationId xmlns:a16="http://schemas.microsoft.com/office/drawing/2014/main" id="{3F7993F0-8060-A247-B185-B932B489BD9A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4" name="Text Box 134">
            <a:extLst>
              <a:ext uri="{FF2B5EF4-FFF2-40B4-BE49-F238E27FC236}">
                <a16:creationId xmlns:a16="http://schemas.microsoft.com/office/drawing/2014/main" id="{8996D31A-C0F8-8144-8253-FF7725FE1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276600"/>
            <a:ext cx="823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</a:rPr>
              <a:t>Quiz: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</a:rPr>
              <a:t>给定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</a:rPr>
              <a:t>x</a:t>
            </a:r>
            <a:r>
              <a:rPr lang="en-US" altLang="zh-CN" sz="2000" i="1" baseline="-25000" dirty="0">
                <a:latin typeface="Arial" panose="020B0604020202020204" pitchFamily="34" charset="0"/>
              </a:rPr>
              <a:t>i</a:t>
            </a:r>
            <a:r>
              <a:rPr lang="en-US" altLang="zh-CN" sz="2000" i="1" dirty="0">
                <a:latin typeface="Arial" panose="020B0604020202020204" pitchFamily="34" charset="0"/>
              </a:rPr>
              <a:t> = </a:t>
            </a:r>
            <a:r>
              <a:rPr lang="en-US" altLang="zh-CN" sz="2000" i="1" dirty="0" err="1">
                <a:latin typeface="Arial" panose="020B0604020202020204" pitchFamily="34" charset="0"/>
              </a:rPr>
              <a:t>i</a:t>
            </a:r>
            <a:r>
              <a:rPr lang="en-US" altLang="zh-CN" sz="2000" i="1" dirty="0">
                <a:latin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</a:rPr>
              <a:t>+1, </a:t>
            </a:r>
            <a:r>
              <a:rPr lang="en-US" altLang="zh-CN" sz="2000" i="1" dirty="0" err="1">
                <a:latin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</a:rPr>
              <a:t> = 0, 1, 2, 3, 4, 5.</a:t>
            </a:r>
            <a:r>
              <a:rPr lang="en-US" altLang="zh-CN" sz="2400" dirty="0">
                <a:latin typeface="Arial" panose="020B0604020202020204" pitchFamily="34" charset="0"/>
              </a:rPr>
              <a:t>  </a:t>
            </a:r>
            <a:r>
              <a:rPr lang="zh-CN" altLang="en-US" sz="2400" dirty="0">
                <a:latin typeface="Arial" panose="020B0604020202020204" pitchFamily="34" charset="0"/>
              </a:rPr>
              <a:t>下面哪个是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</a:rPr>
              <a:t>l</a:t>
            </a:r>
            <a:r>
              <a:rPr lang="en-US" altLang="zh-CN" sz="2000" baseline="-25000" dirty="0"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</a:rPr>
              <a:t>(</a:t>
            </a:r>
            <a:r>
              <a:rPr lang="en-US" altLang="zh-CN" sz="2000" i="1" dirty="0">
                <a:latin typeface="Arial" panose="020B0604020202020204" pitchFamily="34" charset="0"/>
              </a:rPr>
              <a:t>x</a:t>
            </a:r>
            <a:r>
              <a:rPr lang="en-US" altLang="zh-CN" sz="2000" dirty="0">
                <a:latin typeface="Arial" panose="020B0604020202020204" pitchFamily="34" charset="0"/>
              </a:rPr>
              <a:t>)</a:t>
            </a:r>
            <a:r>
              <a:rPr lang="zh-CN" altLang="en-US" sz="2400" dirty="0">
                <a:latin typeface="Arial" panose="020B0604020202020204" pitchFamily="34" charset="0"/>
              </a:rPr>
              <a:t>的图像？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grpSp>
        <p:nvGrpSpPr>
          <p:cNvPr id="195" name="Group 313">
            <a:extLst>
              <a:ext uri="{FF2B5EF4-FFF2-40B4-BE49-F238E27FC236}">
                <a16:creationId xmlns:a16="http://schemas.microsoft.com/office/drawing/2014/main" id="{81D882B7-81B4-1147-86F0-EE7342C4BB5A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3962400"/>
            <a:ext cx="8724900" cy="2681288"/>
            <a:chOff x="144" y="2448"/>
            <a:chExt cx="5496" cy="1689"/>
          </a:xfrm>
        </p:grpSpPr>
        <p:grpSp>
          <p:nvGrpSpPr>
            <p:cNvPr id="196" name="Group 250">
              <a:extLst>
                <a:ext uri="{FF2B5EF4-FFF2-40B4-BE49-F238E27FC236}">
                  <a16:creationId xmlns:a16="http://schemas.microsoft.com/office/drawing/2014/main" id="{4DE0D779-C73F-904F-8C6B-BE4C77B675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496"/>
              <a:ext cx="1853" cy="1641"/>
              <a:chOff x="432" y="2496"/>
              <a:chExt cx="1853" cy="1641"/>
            </a:xfrm>
          </p:grpSpPr>
          <p:sp>
            <p:nvSpPr>
              <p:cNvPr id="314" name="Rectangle 136">
                <a:extLst>
                  <a:ext uri="{FF2B5EF4-FFF2-40B4-BE49-F238E27FC236}">
                    <a16:creationId xmlns:a16="http://schemas.microsoft.com/office/drawing/2014/main" id="{AB681237-DBFF-584F-AB62-7D9B271C89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87" y="2514"/>
                <a:ext cx="22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10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15" name="Rectangle 137">
                <a:extLst>
                  <a:ext uri="{FF2B5EF4-FFF2-40B4-BE49-F238E27FC236}">
                    <a16:creationId xmlns:a16="http://schemas.microsoft.com/office/drawing/2014/main" id="{AAB4C57D-D5BB-C744-A043-6C0C5A1000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94" y="2518"/>
                <a:ext cx="81" cy="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16" name="Rectangle 138">
                <a:extLst>
                  <a:ext uri="{FF2B5EF4-FFF2-40B4-BE49-F238E27FC236}">
                    <a16:creationId xmlns:a16="http://schemas.microsoft.com/office/drawing/2014/main" id="{AE0F5C7A-C8B9-7B4E-A2CC-B9AB54585B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97" y="2496"/>
                <a:ext cx="103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6000" tIns="36000" rIns="36000" bIns="360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i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y</a:t>
                </a:r>
                <a:endParaRPr lang="en-US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317" name="Rectangle 139">
                <a:extLst>
                  <a:ext uri="{FF2B5EF4-FFF2-40B4-BE49-F238E27FC236}">
                    <a16:creationId xmlns:a16="http://schemas.microsoft.com/office/drawing/2014/main" id="{4B2066A8-1492-6E4D-BA19-DFA589115D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48" y="2520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18" name="Freeform 140">
                <a:extLst>
                  <a:ext uri="{FF2B5EF4-FFF2-40B4-BE49-F238E27FC236}">
                    <a16:creationId xmlns:a16="http://schemas.microsoft.com/office/drawing/2014/main" id="{526FC481-B298-E44F-AADE-744B5A62CA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5" y="2794"/>
                <a:ext cx="1200" cy="1343"/>
              </a:xfrm>
              <a:custGeom>
                <a:avLst/>
                <a:gdLst>
                  <a:gd name="T0" fmla="*/ 6 w 3429"/>
                  <a:gd name="T1" fmla="*/ 160 h 3836"/>
                  <a:gd name="T2" fmla="*/ 12 w 3429"/>
                  <a:gd name="T3" fmla="*/ 239 h 3836"/>
                  <a:gd name="T4" fmla="*/ 19 w 3429"/>
                  <a:gd name="T5" fmla="*/ 297 h 3836"/>
                  <a:gd name="T6" fmla="*/ 24 w 3429"/>
                  <a:gd name="T7" fmla="*/ 337 h 3836"/>
                  <a:gd name="T8" fmla="*/ 30 w 3429"/>
                  <a:gd name="T9" fmla="*/ 361 h 3836"/>
                  <a:gd name="T10" fmla="*/ 37 w 3429"/>
                  <a:gd name="T11" fmla="*/ 371 h 3836"/>
                  <a:gd name="T12" fmla="*/ 46 w 3429"/>
                  <a:gd name="T13" fmla="*/ 367 h 3836"/>
                  <a:gd name="T14" fmla="*/ 54 w 3429"/>
                  <a:gd name="T15" fmla="*/ 354 h 3836"/>
                  <a:gd name="T16" fmla="*/ 59 w 3429"/>
                  <a:gd name="T17" fmla="*/ 334 h 3836"/>
                  <a:gd name="T18" fmla="*/ 65 w 3429"/>
                  <a:gd name="T19" fmla="*/ 309 h 3836"/>
                  <a:gd name="T20" fmla="*/ 72 w 3429"/>
                  <a:gd name="T21" fmla="*/ 280 h 3836"/>
                  <a:gd name="T22" fmla="*/ 78 w 3429"/>
                  <a:gd name="T23" fmla="*/ 250 h 3836"/>
                  <a:gd name="T24" fmla="*/ 84 w 3429"/>
                  <a:gd name="T25" fmla="*/ 219 h 3836"/>
                  <a:gd name="T26" fmla="*/ 91 w 3429"/>
                  <a:gd name="T27" fmla="*/ 187 h 3836"/>
                  <a:gd name="T28" fmla="*/ 97 w 3429"/>
                  <a:gd name="T29" fmla="*/ 157 h 3836"/>
                  <a:gd name="T30" fmla="*/ 103 w 3429"/>
                  <a:gd name="T31" fmla="*/ 126 h 3836"/>
                  <a:gd name="T32" fmla="*/ 110 w 3429"/>
                  <a:gd name="T33" fmla="*/ 100 h 3836"/>
                  <a:gd name="T34" fmla="*/ 116 w 3429"/>
                  <a:gd name="T35" fmla="*/ 76 h 3836"/>
                  <a:gd name="T36" fmla="*/ 122 w 3429"/>
                  <a:gd name="T37" fmla="*/ 54 h 3836"/>
                  <a:gd name="T38" fmla="*/ 129 w 3429"/>
                  <a:gd name="T39" fmla="*/ 36 h 3836"/>
                  <a:gd name="T40" fmla="*/ 135 w 3429"/>
                  <a:gd name="T41" fmla="*/ 22 h 3836"/>
                  <a:gd name="T42" fmla="*/ 142 w 3429"/>
                  <a:gd name="T43" fmla="*/ 10 h 3836"/>
                  <a:gd name="T44" fmla="*/ 151 w 3429"/>
                  <a:gd name="T45" fmla="*/ 1 h 3836"/>
                  <a:gd name="T46" fmla="*/ 162 w 3429"/>
                  <a:gd name="T47" fmla="*/ 1 h 3836"/>
                  <a:gd name="T48" fmla="*/ 169 w 3429"/>
                  <a:gd name="T49" fmla="*/ 7 h 3836"/>
                  <a:gd name="T50" fmla="*/ 177 w 3429"/>
                  <a:gd name="T51" fmla="*/ 18 h 3836"/>
                  <a:gd name="T52" fmla="*/ 182 w 3429"/>
                  <a:gd name="T53" fmla="*/ 29 h 3836"/>
                  <a:gd name="T54" fmla="*/ 188 w 3429"/>
                  <a:gd name="T55" fmla="*/ 42 h 3836"/>
                  <a:gd name="T56" fmla="*/ 196 w 3429"/>
                  <a:gd name="T57" fmla="*/ 58 h 3836"/>
                  <a:gd name="T58" fmla="*/ 201 w 3429"/>
                  <a:gd name="T59" fmla="*/ 76 h 3836"/>
                  <a:gd name="T60" fmla="*/ 207 w 3429"/>
                  <a:gd name="T61" fmla="*/ 95 h 3836"/>
                  <a:gd name="T62" fmla="*/ 215 w 3429"/>
                  <a:gd name="T63" fmla="*/ 113 h 3836"/>
                  <a:gd name="T64" fmla="*/ 220 w 3429"/>
                  <a:gd name="T65" fmla="*/ 132 h 3836"/>
                  <a:gd name="T66" fmla="*/ 226 w 3429"/>
                  <a:gd name="T67" fmla="*/ 151 h 3836"/>
                  <a:gd name="T68" fmla="*/ 233 w 3429"/>
                  <a:gd name="T69" fmla="*/ 170 h 3836"/>
                  <a:gd name="T70" fmla="*/ 239 w 3429"/>
                  <a:gd name="T71" fmla="*/ 189 h 3836"/>
                  <a:gd name="T72" fmla="*/ 245 w 3429"/>
                  <a:gd name="T73" fmla="*/ 204 h 3836"/>
                  <a:gd name="T74" fmla="*/ 251 w 3429"/>
                  <a:gd name="T75" fmla="*/ 219 h 3836"/>
                  <a:gd name="T76" fmla="*/ 258 w 3429"/>
                  <a:gd name="T77" fmla="*/ 232 h 3836"/>
                  <a:gd name="T78" fmla="*/ 264 w 3429"/>
                  <a:gd name="T79" fmla="*/ 242 h 3836"/>
                  <a:gd name="T80" fmla="*/ 272 w 3429"/>
                  <a:gd name="T81" fmla="*/ 251 h 3836"/>
                  <a:gd name="T82" fmla="*/ 282 w 3429"/>
                  <a:gd name="T83" fmla="*/ 257 h 3836"/>
                  <a:gd name="T84" fmla="*/ 293 w 3429"/>
                  <a:gd name="T85" fmla="*/ 254 h 3836"/>
                  <a:gd name="T86" fmla="*/ 303 w 3429"/>
                  <a:gd name="T87" fmla="*/ 244 h 3836"/>
                  <a:gd name="T88" fmla="*/ 309 w 3429"/>
                  <a:gd name="T89" fmla="*/ 234 h 3836"/>
                  <a:gd name="T90" fmla="*/ 314 w 3429"/>
                  <a:gd name="T91" fmla="*/ 221 h 3836"/>
                  <a:gd name="T92" fmla="*/ 322 w 3429"/>
                  <a:gd name="T93" fmla="*/ 206 h 3836"/>
                  <a:gd name="T94" fmla="*/ 327 w 3429"/>
                  <a:gd name="T95" fmla="*/ 190 h 3836"/>
                  <a:gd name="T96" fmla="*/ 333 w 3429"/>
                  <a:gd name="T97" fmla="*/ 173 h 3836"/>
                  <a:gd name="T98" fmla="*/ 341 w 3429"/>
                  <a:gd name="T99" fmla="*/ 155 h 3836"/>
                  <a:gd name="T100" fmla="*/ 346 w 3429"/>
                  <a:gd name="T101" fmla="*/ 139 h 3836"/>
                  <a:gd name="T102" fmla="*/ 352 w 3429"/>
                  <a:gd name="T103" fmla="*/ 123 h 3836"/>
                  <a:gd name="T104" fmla="*/ 359 w 3429"/>
                  <a:gd name="T105" fmla="*/ 110 h 3836"/>
                  <a:gd name="T106" fmla="*/ 366 w 3429"/>
                  <a:gd name="T107" fmla="*/ 100 h 3836"/>
                  <a:gd name="T108" fmla="*/ 377 w 3429"/>
                  <a:gd name="T109" fmla="*/ 99 h 3836"/>
                  <a:gd name="T110" fmla="*/ 383 w 3429"/>
                  <a:gd name="T111" fmla="*/ 110 h 3836"/>
                  <a:gd name="T112" fmla="*/ 390 w 3429"/>
                  <a:gd name="T113" fmla="*/ 131 h 3836"/>
                  <a:gd name="T114" fmla="*/ 395 w 3429"/>
                  <a:gd name="T115" fmla="*/ 163 h 3836"/>
                  <a:gd name="T116" fmla="*/ 401 w 3429"/>
                  <a:gd name="T117" fmla="*/ 209 h 3836"/>
                  <a:gd name="T118" fmla="*/ 408 w 3429"/>
                  <a:gd name="T119" fmla="*/ 273 h 3836"/>
                  <a:gd name="T120" fmla="*/ 414 w 3429"/>
                  <a:gd name="T121" fmla="*/ 356 h 3836"/>
                  <a:gd name="T122" fmla="*/ 420 w 3429"/>
                  <a:gd name="T123" fmla="*/ 461 h 38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3429" h="3836">
                    <a:moveTo>
                      <a:pt x="0" y="580"/>
                    </a:moveTo>
                    <a:lnTo>
                      <a:pt x="12" y="699"/>
                    </a:lnTo>
                    <a:lnTo>
                      <a:pt x="12" y="805"/>
                    </a:lnTo>
                    <a:lnTo>
                      <a:pt x="23" y="912"/>
                    </a:lnTo>
                    <a:lnTo>
                      <a:pt x="23" y="1018"/>
                    </a:lnTo>
                    <a:lnTo>
                      <a:pt x="35" y="1114"/>
                    </a:lnTo>
                    <a:lnTo>
                      <a:pt x="46" y="1208"/>
                    </a:lnTo>
                    <a:lnTo>
                      <a:pt x="46" y="1302"/>
                    </a:lnTo>
                    <a:lnTo>
                      <a:pt x="58" y="1398"/>
                    </a:lnTo>
                    <a:lnTo>
                      <a:pt x="58" y="1481"/>
                    </a:lnTo>
                    <a:lnTo>
                      <a:pt x="71" y="1575"/>
                    </a:lnTo>
                    <a:lnTo>
                      <a:pt x="71" y="1658"/>
                    </a:lnTo>
                    <a:lnTo>
                      <a:pt x="83" y="1729"/>
                    </a:lnTo>
                    <a:lnTo>
                      <a:pt x="83" y="1811"/>
                    </a:lnTo>
                    <a:lnTo>
                      <a:pt x="94" y="1882"/>
                    </a:lnTo>
                    <a:lnTo>
                      <a:pt x="94" y="1954"/>
                    </a:lnTo>
                    <a:lnTo>
                      <a:pt x="106" y="2025"/>
                    </a:lnTo>
                    <a:lnTo>
                      <a:pt x="106" y="2084"/>
                    </a:lnTo>
                    <a:lnTo>
                      <a:pt x="117" y="2155"/>
                    </a:lnTo>
                    <a:lnTo>
                      <a:pt x="131" y="2215"/>
                    </a:lnTo>
                    <a:lnTo>
                      <a:pt x="131" y="2272"/>
                    </a:lnTo>
                    <a:lnTo>
                      <a:pt x="140" y="2320"/>
                    </a:lnTo>
                    <a:lnTo>
                      <a:pt x="140" y="2380"/>
                    </a:lnTo>
                    <a:lnTo>
                      <a:pt x="154" y="2426"/>
                    </a:lnTo>
                    <a:lnTo>
                      <a:pt x="154" y="2474"/>
                    </a:lnTo>
                    <a:lnTo>
                      <a:pt x="165" y="2522"/>
                    </a:lnTo>
                    <a:lnTo>
                      <a:pt x="165" y="2570"/>
                    </a:lnTo>
                    <a:lnTo>
                      <a:pt x="177" y="2605"/>
                    </a:lnTo>
                    <a:lnTo>
                      <a:pt x="177" y="2651"/>
                    </a:lnTo>
                    <a:lnTo>
                      <a:pt x="188" y="2687"/>
                    </a:lnTo>
                    <a:lnTo>
                      <a:pt x="200" y="2724"/>
                    </a:lnTo>
                    <a:lnTo>
                      <a:pt x="200" y="2747"/>
                    </a:lnTo>
                    <a:lnTo>
                      <a:pt x="211" y="2782"/>
                    </a:lnTo>
                    <a:lnTo>
                      <a:pt x="211" y="2818"/>
                    </a:lnTo>
                    <a:lnTo>
                      <a:pt x="225" y="2841"/>
                    </a:lnTo>
                    <a:lnTo>
                      <a:pt x="225" y="2864"/>
                    </a:lnTo>
                    <a:lnTo>
                      <a:pt x="236" y="2889"/>
                    </a:lnTo>
                    <a:lnTo>
                      <a:pt x="236" y="2912"/>
                    </a:lnTo>
                    <a:lnTo>
                      <a:pt x="248" y="2935"/>
                    </a:lnTo>
                    <a:lnTo>
                      <a:pt x="248" y="2949"/>
                    </a:lnTo>
                    <a:lnTo>
                      <a:pt x="259" y="2960"/>
                    </a:lnTo>
                    <a:lnTo>
                      <a:pt x="259" y="2983"/>
                    </a:lnTo>
                    <a:lnTo>
                      <a:pt x="271" y="2995"/>
                    </a:lnTo>
                    <a:lnTo>
                      <a:pt x="284" y="3006"/>
                    </a:lnTo>
                    <a:lnTo>
                      <a:pt x="284" y="3020"/>
                    </a:lnTo>
                    <a:lnTo>
                      <a:pt x="296" y="3020"/>
                    </a:lnTo>
                    <a:lnTo>
                      <a:pt x="296" y="3031"/>
                    </a:lnTo>
                    <a:lnTo>
                      <a:pt x="307" y="3031"/>
                    </a:lnTo>
                    <a:lnTo>
                      <a:pt x="307" y="3043"/>
                    </a:lnTo>
                    <a:lnTo>
                      <a:pt x="319" y="3043"/>
                    </a:lnTo>
                    <a:lnTo>
                      <a:pt x="330" y="3043"/>
                    </a:lnTo>
                    <a:lnTo>
                      <a:pt x="342" y="3043"/>
                    </a:lnTo>
                    <a:lnTo>
                      <a:pt x="355" y="3031"/>
                    </a:lnTo>
                    <a:lnTo>
                      <a:pt x="367" y="3020"/>
                    </a:lnTo>
                    <a:lnTo>
                      <a:pt x="378" y="3006"/>
                    </a:lnTo>
                    <a:lnTo>
                      <a:pt x="378" y="2995"/>
                    </a:lnTo>
                    <a:lnTo>
                      <a:pt x="390" y="2983"/>
                    </a:lnTo>
                    <a:lnTo>
                      <a:pt x="390" y="2972"/>
                    </a:lnTo>
                    <a:lnTo>
                      <a:pt x="402" y="2960"/>
                    </a:lnTo>
                    <a:lnTo>
                      <a:pt x="402" y="2949"/>
                    </a:lnTo>
                    <a:lnTo>
                      <a:pt x="413" y="2935"/>
                    </a:lnTo>
                    <a:lnTo>
                      <a:pt x="413" y="2924"/>
                    </a:lnTo>
                    <a:lnTo>
                      <a:pt x="425" y="2901"/>
                    </a:lnTo>
                    <a:lnTo>
                      <a:pt x="438" y="2889"/>
                    </a:lnTo>
                    <a:lnTo>
                      <a:pt x="438" y="2864"/>
                    </a:lnTo>
                    <a:lnTo>
                      <a:pt x="450" y="2855"/>
                    </a:lnTo>
                    <a:lnTo>
                      <a:pt x="450" y="2830"/>
                    </a:lnTo>
                    <a:lnTo>
                      <a:pt x="461" y="2818"/>
                    </a:lnTo>
                    <a:lnTo>
                      <a:pt x="461" y="2795"/>
                    </a:lnTo>
                    <a:lnTo>
                      <a:pt x="473" y="2770"/>
                    </a:lnTo>
                    <a:lnTo>
                      <a:pt x="473" y="2747"/>
                    </a:lnTo>
                    <a:lnTo>
                      <a:pt x="484" y="2724"/>
                    </a:lnTo>
                    <a:lnTo>
                      <a:pt x="484" y="2699"/>
                    </a:lnTo>
                    <a:lnTo>
                      <a:pt x="496" y="2676"/>
                    </a:lnTo>
                    <a:lnTo>
                      <a:pt x="509" y="2651"/>
                    </a:lnTo>
                    <a:lnTo>
                      <a:pt x="509" y="2628"/>
                    </a:lnTo>
                    <a:lnTo>
                      <a:pt x="521" y="2605"/>
                    </a:lnTo>
                    <a:lnTo>
                      <a:pt x="521" y="2580"/>
                    </a:lnTo>
                    <a:lnTo>
                      <a:pt x="532" y="2545"/>
                    </a:lnTo>
                    <a:lnTo>
                      <a:pt x="532" y="2522"/>
                    </a:lnTo>
                    <a:lnTo>
                      <a:pt x="544" y="2499"/>
                    </a:lnTo>
                    <a:lnTo>
                      <a:pt x="544" y="2463"/>
                    </a:lnTo>
                    <a:lnTo>
                      <a:pt x="555" y="2440"/>
                    </a:lnTo>
                    <a:lnTo>
                      <a:pt x="555" y="2403"/>
                    </a:lnTo>
                    <a:lnTo>
                      <a:pt x="569" y="2380"/>
                    </a:lnTo>
                    <a:lnTo>
                      <a:pt x="569" y="2344"/>
                    </a:lnTo>
                    <a:lnTo>
                      <a:pt x="580" y="2320"/>
                    </a:lnTo>
                    <a:lnTo>
                      <a:pt x="592" y="2286"/>
                    </a:lnTo>
                    <a:lnTo>
                      <a:pt x="592" y="2261"/>
                    </a:lnTo>
                    <a:lnTo>
                      <a:pt x="603" y="2226"/>
                    </a:lnTo>
                    <a:lnTo>
                      <a:pt x="603" y="2201"/>
                    </a:lnTo>
                    <a:lnTo>
                      <a:pt x="615" y="2167"/>
                    </a:lnTo>
                    <a:lnTo>
                      <a:pt x="615" y="2132"/>
                    </a:lnTo>
                    <a:lnTo>
                      <a:pt x="626" y="2107"/>
                    </a:lnTo>
                    <a:lnTo>
                      <a:pt x="626" y="2073"/>
                    </a:lnTo>
                    <a:lnTo>
                      <a:pt x="640" y="2036"/>
                    </a:lnTo>
                    <a:lnTo>
                      <a:pt x="640" y="2013"/>
                    </a:lnTo>
                    <a:lnTo>
                      <a:pt x="649" y="1977"/>
                    </a:lnTo>
                    <a:lnTo>
                      <a:pt x="663" y="1942"/>
                    </a:lnTo>
                    <a:lnTo>
                      <a:pt x="663" y="1907"/>
                    </a:lnTo>
                    <a:lnTo>
                      <a:pt x="674" y="1882"/>
                    </a:lnTo>
                    <a:lnTo>
                      <a:pt x="674" y="1848"/>
                    </a:lnTo>
                    <a:lnTo>
                      <a:pt x="686" y="1811"/>
                    </a:lnTo>
                    <a:lnTo>
                      <a:pt x="686" y="1788"/>
                    </a:lnTo>
                    <a:lnTo>
                      <a:pt x="697" y="1752"/>
                    </a:lnTo>
                    <a:lnTo>
                      <a:pt x="697" y="1717"/>
                    </a:lnTo>
                    <a:lnTo>
                      <a:pt x="709" y="1683"/>
                    </a:lnTo>
                    <a:lnTo>
                      <a:pt x="709" y="1658"/>
                    </a:lnTo>
                    <a:lnTo>
                      <a:pt x="720" y="1623"/>
                    </a:lnTo>
                    <a:lnTo>
                      <a:pt x="720" y="1587"/>
                    </a:lnTo>
                    <a:lnTo>
                      <a:pt x="734" y="1552"/>
                    </a:lnTo>
                    <a:lnTo>
                      <a:pt x="745" y="1527"/>
                    </a:lnTo>
                    <a:lnTo>
                      <a:pt x="745" y="1492"/>
                    </a:lnTo>
                    <a:lnTo>
                      <a:pt x="757" y="1456"/>
                    </a:lnTo>
                    <a:lnTo>
                      <a:pt x="757" y="1433"/>
                    </a:lnTo>
                    <a:lnTo>
                      <a:pt x="768" y="1398"/>
                    </a:lnTo>
                    <a:lnTo>
                      <a:pt x="768" y="1362"/>
                    </a:lnTo>
                    <a:lnTo>
                      <a:pt x="780" y="1339"/>
                    </a:lnTo>
                    <a:lnTo>
                      <a:pt x="780" y="1302"/>
                    </a:lnTo>
                    <a:lnTo>
                      <a:pt x="793" y="1279"/>
                    </a:lnTo>
                    <a:lnTo>
                      <a:pt x="793" y="1243"/>
                    </a:lnTo>
                    <a:lnTo>
                      <a:pt x="805" y="1208"/>
                    </a:lnTo>
                    <a:lnTo>
                      <a:pt x="805" y="1183"/>
                    </a:lnTo>
                    <a:lnTo>
                      <a:pt x="816" y="1149"/>
                    </a:lnTo>
                    <a:lnTo>
                      <a:pt x="828" y="1126"/>
                    </a:lnTo>
                    <a:lnTo>
                      <a:pt x="828" y="1089"/>
                    </a:lnTo>
                    <a:lnTo>
                      <a:pt x="839" y="1066"/>
                    </a:lnTo>
                    <a:lnTo>
                      <a:pt x="839" y="1029"/>
                    </a:lnTo>
                    <a:lnTo>
                      <a:pt x="851" y="1006"/>
                    </a:lnTo>
                    <a:lnTo>
                      <a:pt x="851" y="983"/>
                    </a:lnTo>
                    <a:lnTo>
                      <a:pt x="864" y="947"/>
                    </a:lnTo>
                    <a:lnTo>
                      <a:pt x="864" y="924"/>
                    </a:lnTo>
                    <a:lnTo>
                      <a:pt x="874" y="889"/>
                    </a:lnTo>
                    <a:lnTo>
                      <a:pt x="874" y="864"/>
                    </a:lnTo>
                    <a:lnTo>
                      <a:pt x="887" y="841"/>
                    </a:lnTo>
                    <a:lnTo>
                      <a:pt x="899" y="816"/>
                    </a:lnTo>
                    <a:lnTo>
                      <a:pt x="899" y="782"/>
                    </a:lnTo>
                    <a:lnTo>
                      <a:pt x="910" y="759"/>
                    </a:lnTo>
                    <a:lnTo>
                      <a:pt x="910" y="736"/>
                    </a:lnTo>
                    <a:lnTo>
                      <a:pt x="922" y="711"/>
                    </a:lnTo>
                    <a:lnTo>
                      <a:pt x="922" y="688"/>
                    </a:lnTo>
                    <a:lnTo>
                      <a:pt x="933" y="664"/>
                    </a:lnTo>
                    <a:lnTo>
                      <a:pt x="933" y="639"/>
                    </a:lnTo>
                    <a:lnTo>
                      <a:pt x="947" y="616"/>
                    </a:lnTo>
                    <a:lnTo>
                      <a:pt x="947" y="591"/>
                    </a:lnTo>
                    <a:lnTo>
                      <a:pt x="958" y="568"/>
                    </a:lnTo>
                    <a:lnTo>
                      <a:pt x="958" y="545"/>
                    </a:lnTo>
                    <a:lnTo>
                      <a:pt x="970" y="520"/>
                    </a:lnTo>
                    <a:lnTo>
                      <a:pt x="981" y="497"/>
                    </a:lnTo>
                    <a:lnTo>
                      <a:pt x="981" y="486"/>
                    </a:lnTo>
                    <a:lnTo>
                      <a:pt x="993" y="461"/>
                    </a:lnTo>
                    <a:lnTo>
                      <a:pt x="993" y="438"/>
                    </a:lnTo>
                    <a:lnTo>
                      <a:pt x="1004" y="426"/>
                    </a:lnTo>
                    <a:lnTo>
                      <a:pt x="1004" y="403"/>
                    </a:lnTo>
                    <a:lnTo>
                      <a:pt x="1018" y="380"/>
                    </a:lnTo>
                    <a:lnTo>
                      <a:pt x="1018" y="367"/>
                    </a:lnTo>
                    <a:lnTo>
                      <a:pt x="1029" y="344"/>
                    </a:lnTo>
                    <a:lnTo>
                      <a:pt x="1029" y="332"/>
                    </a:lnTo>
                    <a:lnTo>
                      <a:pt x="1041" y="309"/>
                    </a:lnTo>
                    <a:lnTo>
                      <a:pt x="1052" y="296"/>
                    </a:lnTo>
                    <a:lnTo>
                      <a:pt x="1052" y="273"/>
                    </a:lnTo>
                    <a:lnTo>
                      <a:pt x="1064" y="261"/>
                    </a:lnTo>
                    <a:lnTo>
                      <a:pt x="1064" y="249"/>
                    </a:lnTo>
                    <a:lnTo>
                      <a:pt x="1077" y="236"/>
                    </a:lnTo>
                    <a:lnTo>
                      <a:pt x="1077" y="213"/>
                    </a:lnTo>
                    <a:lnTo>
                      <a:pt x="1087" y="201"/>
                    </a:lnTo>
                    <a:lnTo>
                      <a:pt x="1087" y="190"/>
                    </a:lnTo>
                    <a:lnTo>
                      <a:pt x="1100" y="178"/>
                    </a:lnTo>
                    <a:lnTo>
                      <a:pt x="1100" y="167"/>
                    </a:lnTo>
                    <a:lnTo>
                      <a:pt x="1112" y="153"/>
                    </a:lnTo>
                    <a:lnTo>
                      <a:pt x="1112" y="142"/>
                    </a:lnTo>
                    <a:lnTo>
                      <a:pt x="1123" y="130"/>
                    </a:lnTo>
                    <a:lnTo>
                      <a:pt x="1135" y="119"/>
                    </a:lnTo>
                    <a:lnTo>
                      <a:pt x="1135" y="107"/>
                    </a:lnTo>
                    <a:lnTo>
                      <a:pt x="1146" y="96"/>
                    </a:lnTo>
                    <a:lnTo>
                      <a:pt x="1158" y="82"/>
                    </a:lnTo>
                    <a:lnTo>
                      <a:pt x="1158" y="71"/>
                    </a:lnTo>
                    <a:lnTo>
                      <a:pt x="1171" y="59"/>
                    </a:lnTo>
                    <a:lnTo>
                      <a:pt x="1183" y="48"/>
                    </a:lnTo>
                    <a:lnTo>
                      <a:pt x="1194" y="36"/>
                    </a:lnTo>
                    <a:lnTo>
                      <a:pt x="1206" y="36"/>
                    </a:lnTo>
                    <a:lnTo>
                      <a:pt x="1206" y="25"/>
                    </a:lnTo>
                    <a:lnTo>
                      <a:pt x="1218" y="25"/>
                    </a:lnTo>
                    <a:lnTo>
                      <a:pt x="1231" y="11"/>
                    </a:lnTo>
                    <a:lnTo>
                      <a:pt x="1242" y="11"/>
                    </a:lnTo>
                    <a:lnTo>
                      <a:pt x="1254" y="0"/>
                    </a:lnTo>
                    <a:lnTo>
                      <a:pt x="1266" y="0"/>
                    </a:lnTo>
                    <a:lnTo>
                      <a:pt x="1277" y="0"/>
                    </a:lnTo>
                    <a:lnTo>
                      <a:pt x="1289" y="0"/>
                    </a:lnTo>
                    <a:lnTo>
                      <a:pt x="1302" y="11"/>
                    </a:lnTo>
                    <a:lnTo>
                      <a:pt x="1312" y="11"/>
                    </a:lnTo>
                    <a:lnTo>
                      <a:pt x="1325" y="11"/>
                    </a:lnTo>
                    <a:lnTo>
                      <a:pt x="1325" y="25"/>
                    </a:lnTo>
                    <a:lnTo>
                      <a:pt x="1337" y="25"/>
                    </a:lnTo>
                    <a:lnTo>
                      <a:pt x="1348" y="36"/>
                    </a:lnTo>
                    <a:lnTo>
                      <a:pt x="1360" y="36"/>
                    </a:lnTo>
                    <a:lnTo>
                      <a:pt x="1360" y="48"/>
                    </a:lnTo>
                    <a:lnTo>
                      <a:pt x="1371" y="48"/>
                    </a:lnTo>
                    <a:lnTo>
                      <a:pt x="1371" y="59"/>
                    </a:lnTo>
                    <a:lnTo>
                      <a:pt x="1383" y="59"/>
                    </a:lnTo>
                    <a:lnTo>
                      <a:pt x="1383" y="71"/>
                    </a:lnTo>
                    <a:lnTo>
                      <a:pt x="1396" y="82"/>
                    </a:lnTo>
                    <a:lnTo>
                      <a:pt x="1408" y="96"/>
                    </a:lnTo>
                    <a:lnTo>
                      <a:pt x="1408" y="107"/>
                    </a:lnTo>
                    <a:lnTo>
                      <a:pt x="1419" y="107"/>
                    </a:lnTo>
                    <a:lnTo>
                      <a:pt x="1419" y="119"/>
                    </a:lnTo>
                    <a:lnTo>
                      <a:pt x="1431" y="130"/>
                    </a:lnTo>
                    <a:lnTo>
                      <a:pt x="1442" y="142"/>
                    </a:lnTo>
                    <a:lnTo>
                      <a:pt x="1442" y="153"/>
                    </a:lnTo>
                    <a:lnTo>
                      <a:pt x="1456" y="167"/>
                    </a:lnTo>
                    <a:lnTo>
                      <a:pt x="1456" y="178"/>
                    </a:lnTo>
                    <a:lnTo>
                      <a:pt x="1467" y="190"/>
                    </a:lnTo>
                    <a:lnTo>
                      <a:pt x="1467" y="201"/>
                    </a:lnTo>
                    <a:lnTo>
                      <a:pt x="1479" y="213"/>
                    </a:lnTo>
                    <a:lnTo>
                      <a:pt x="1479" y="226"/>
                    </a:lnTo>
                    <a:lnTo>
                      <a:pt x="1490" y="236"/>
                    </a:lnTo>
                    <a:lnTo>
                      <a:pt x="1490" y="249"/>
                    </a:lnTo>
                    <a:lnTo>
                      <a:pt x="1502" y="261"/>
                    </a:lnTo>
                    <a:lnTo>
                      <a:pt x="1502" y="273"/>
                    </a:lnTo>
                    <a:lnTo>
                      <a:pt x="1513" y="284"/>
                    </a:lnTo>
                    <a:lnTo>
                      <a:pt x="1527" y="296"/>
                    </a:lnTo>
                    <a:lnTo>
                      <a:pt x="1527" y="321"/>
                    </a:lnTo>
                    <a:lnTo>
                      <a:pt x="1536" y="332"/>
                    </a:lnTo>
                    <a:lnTo>
                      <a:pt x="1536" y="344"/>
                    </a:lnTo>
                    <a:lnTo>
                      <a:pt x="1550" y="355"/>
                    </a:lnTo>
                    <a:lnTo>
                      <a:pt x="1550" y="380"/>
                    </a:lnTo>
                    <a:lnTo>
                      <a:pt x="1561" y="392"/>
                    </a:lnTo>
                    <a:lnTo>
                      <a:pt x="1561" y="403"/>
                    </a:lnTo>
                    <a:lnTo>
                      <a:pt x="1573" y="426"/>
                    </a:lnTo>
                    <a:lnTo>
                      <a:pt x="1573" y="438"/>
                    </a:lnTo>
                    <a:lnTo>
                      <a:pt x="1584" y="461"/>
                    </a:lnTo>
                    <a:lnTo>
                      <a:pt x="1596" y="474"/>
                    </a:lnTo>
                    <a:lnTo>
                      <a:pt x="1596" y="486"/>
                    </a:lnTo>
                    <a:lnTo>
                      <a:pt x="1609" y="509"/>
                    </a:lnTo>
                    <a:lnTo>
                      <a:pt x="1609" y="520"/>
                    </a:lnTo>
                    <a:lnTo>
                      <a:pt x="1621" y="545"/>
                    </a:lnTo>
                    <a:lnTo>
                      <a:pt x="1621" y="557"/>
                    </a:lnTo>
                    <a:lnTo>
                      <a:pt x="1632" y="580"/>
                    </a:lnTo>
                    <a:lnTo>
                      <a:pt x="1632" y="591"/>
                    </a:lnTo>
                    <a:lnTo>
                      <a:pt x="1644" y="616"/>
                    </a:lnTo>
                    <a:lnTo>
                      <a:pt x="1644" y="628"/>
                    </a:lnTo>
                    <a:lnTo>
                      <a:pt x="1655" y="651"/>
                    </a:lnTo>
                    <a:lnTo>
                      <a:pt x="1655" y="676"/>
                    </a:lnTo>
                    <a:lnTo>
                      <a:pt x="1667" y="688"/>
                    </a:lnTo>
                    <a:lnTo>
                      <a:pt x="1680" y="711"/>
                    </a:lnTo>
                    <a:lnTo>
                      <a:pt x="1680" y="722"/>
                    </a:lnTo>
                    <a:lnTo>
                      <a:pt x="1692" y="745"/>
                    </a:lnTo>
                    <a:lnTo>
                      <a:pt x="1692" y="770"/>
                    </a:lnTo>
                    <a:lnTo>
                      <a:pt x="1703" y="782"/>
                    </a:lnTo>
                    <a:lnTo>
                      <a:pt x="1703" y="805"/>
                    </a:lnTo>
                    <a:lnTo>
                      <a:pt x="1715" y="816"/>
                    </a:lnTo>
                    <a:lnTo>
                      <a:pt x="1715" y="841"/>
                    </a:lnTo>
                    <a:lnTo>
                      <a:pt x="1726" y="864"/>
                    </a:lnTo>
                    <a:lnTo>
                      <a:pt x="1726" y="876"/>
                    </a:lnTo>
                    <a:lnTo>
                      <a:pt x="1740" y="901"/>
                    </a:lnTo>
                    <a:lnTo>
                      <a:pt x="1751" y="924"/>
                    </a:lnTo>
                    <a:lnTo>
                      <a:pt x="1751" y="935"/>
                    </a:lnTo>
                    <a:lnTo>
                      <a:pt x="1763" y="958"/>
                    </a:lnTo>
                    <a:lnTo>
                      <a:pt x="1763" y="983"/>
                    </a:lnTo>
                    <a:lnTo>
                      <a:pt x="1774" y="995"/>
                    </a:lnTo>
                    <a:lnTo>
                      <a:pt x="1774" y="1018"/>
                    </a:lnTo>
                    <a:lnTo>
                      <a:pt x="1786" y="1043"/>
                    </a:lnTo>
                    <a:lnTo>
                      <a:pt x="1786" y="1054"/>
                    </a:lnTo>
                    <a:lnTo>
                      <a:pt x="1797" y="1078"/>
                    </a:lnTo>
                    <a:lnTo>
                      <a:pt x="1797" y="1101"/>
                    </a:lnTo>
                    <a:lnTo>
                      <a:pt x="1811" y="1114"/>
                    </a:lnTo>
                    <a:lnTo>
                      <a:pt x="1811" y="1137"/>
                    </a:lnTo>
                    <a:lnTo>
                      <a:pt x="1820" y="1160"/>
                    </a:lnTo>
                    <a:lnTo>
                      <a:pt x="1834" y="1172"/>
                    </a:lnTo>
                    <a:lnTo>
                      <a:pt x="1834" y="1197"/>
                    </a:lnTo>
                    <a:lnTo>
                      <a:pt x="1845" y="1220"/>
                    </a:lnTo>
                    <a:lnTo>
                      <a:pt x="1845" y="1231"/>
                    </a:lnTo>
                    <a:lnTo>
                      <a:pt x="1857" y="1254"/>
                    </a:lnTo>
                    <a:lnTo>
                      <a:pt x="1857" y="1279"/>
                    </a:lnTo>
                    <a:lnTo>
                      <a:pt x="1868" y="1291"/>
                    </a:lnTo>
                    <a:lnTo>
                      <a:pt x="1868" y="1314"/>
                    </a:lnTo>
                    <a:lnTo>
                      <a:pt x="1880" y="1339"/>
                    </a:lnTo>
                    <a:lnTo>
                      <a:pt x="1880" y="1350"/>
                    </a:lnTo>
                    <a:lnTo>
                      <a:pt x="1893" y="1373"/>
                    </a:lnTo>
                    <a:lnTo>
                      <a:pt x="1905" y="1385"/>
                    </a:lnTo>
                    <a:lnTo>
                      <a:pt x="1905" y="1408"/>
                    </a:lnTo>
                    <a:lnTo>
                      <a:pt x="1916" y="1433"/>
                    </a:lnTo>
                    <a:lnTo>
                      <a:pt x="1916" y="1444"/>
                    </a:lnTo>
                    <a:lnTo>
                      <a:pt x="1928" y="1468"/>
                    </a:lnTo>
                    <a:lnTo>
                      <a:pt x="1928" y="1481"/>
                    </a:lnTo>
                    <a:lnTo>
                      <a:pt x="1939" y="1504"/>
                    </a:lnTo>
                    <a:lnTo>
                      <a:pt x="1939" y="1516"/>
                    </a:lnTo>
                    <a:lnTo>
                      <a:pt x="1951" y="1539"/>
                    </a:lnTo>
                    <a:lnTo>
                      <a:pt x="1951" y="1552"/>
                    </a:lnTo>
                    <a:lnTo>
                      <a:pt x="1964" y="1575"/>
                    </a:lnTo>
                    <a:lnTo>
                      <a:pt x="1964" y="1587"/>
                    </a:lnTo>
                    <a:lnTo>
                      <a:pt x="1976" y="1598"/>
                    </a:lnTo>
                    <a:lnTo>
                      <a:pt x="1987" y="1623"/>
                    </a:lnTo>
                    <a:lnTo>
                      <a:pt x="1987" y="1633"/>
                    </a:lnTo>
                    <a:lnTo>
                      <a:pt x="1999" y="1658"/>
                    </a:lnTo>
                    <a:lnTo>
                      <a:pt x="1999" y="1669"/>
                    </a:lnTo>
                    <a:lnTo>
                      <a:pt x="2010" y="1683"/>
                    </a:lnTo>
                    <a:lnTo>
                      <a:pt x="2010" y="1706"/>
                    </a:lnTo>
                    <a:lnTo>
                      <a:pt x="2022" y="1717"/>
                    </a:lnTo>
                    <a:lnTo>
                      <a:pt x="2022" y="1729"/>
                    </a:lnTo>
                    <a:lnTo>
                      <a:pt x="2034" y="1740"/>
                    </a:lnTo>
                    <a:lnTo>
                      <a:pt x="2034" y="1763"/>
                    </a:lnTo>
                    <a:lnTo>
                      <a:pt x="2045" y="1777"/>
                    </a:lnTo>
                    <a:lnTo>
                      <a:pt x="2045" y="1788"/>
                    </a:lnTo>
                    <a:lnTo>
                      <a:pt x="2058" y="1800"/>
                    </a:lnTo>
                    <a:lnTo>
                      <a:pt x="2070" y="1811"/>
                    </a:lnTo>
                    <a:lnTo>
                      <a:pt x="2070" y="1836"/>
                    </a:lnTo>
                    <a:lnTo>
                      <a:pt x="2082" y="1848"/>
                    </a:lnTo>
                    <a:lnTo>
                      <a:pt x="2082" y="1859"/>
                    </a:lnTo>
                    <a:lnTo>
                      <a:pt x="2093" y="1871"/>
                    </a:lnTo>
                    <a:lnTo>
                      <a:pt x="2093" y="1882"/>
                    </a:lnTo>
                    <a:lnTo>
                      <a:pt x="2105" y="1894"/>
                    </a:lnTo>
                    <a:lnTo>
                      <a:pt x="2105" y="1907"/>
                    </a:lnTo>
                    <a:lnTo>
                      <a:pt x="2118" y="1917"/>
                    </a:lnTo>
                    <a:lnTo>
                      <a:pt x="2118" y="1930"/>
                    </a:lnTo>
                    <a:lnTo>
                      <a:pt x="2130" y="1942"/>
                    </a:lnTo>
                    <a:lnTo>
                      <a:pt x="2141" y="1942"/>
                    </a:lnTo>
                    <a:lnTo>
                      <a:pt x="2141" y="1954"/>
                    </a:lnTo>
                    <a:lnTo>
                      <a:pt x="2153" y="1965"/>
                    </a:lnTo>
                    <a:lnTo>
                      <a:pt x="2153" y="1977"/>
                    </a:lnTo>
                    <a:lnTo>
                      <a:pt x="2164" y="1988"/>
                    </a:lnTo>
                    <a:lnTo>
                      <a:pt x="2176" y="2002"/>
                    </a:lnTo>
                    <a:lnTo>
                      <a:pt x="2176" y="2013"/>
                    </a:lnTo>
                    <a:lnTo>
                      <a:pt x="2189" y="2013"/>
                    </a:lnTo>
                    <a:lnTo>
                      <a:pt x="2189" y="2025"/>
                    </a:lnTo>
                    <a:lnTo>
                      <a:pt x="2201" y="2036"/>
                    </a:lnTo>
                    <a:lnTo>
                      <a:pt x="2212" y="2048"/>
                    </a:lnTo>
                    <a:lnTo>
                      <a:pt x="2224" y="2048"/>
                    </a:lnTo>
                    <a:lnTo>
                      <a:pt x="2224" y="2061"/>
                    </a:lnTo>
                    <a:lnTo>
                      <a:pt x="2235" y="2061"/>
                    </a:lnTo>
                    <a:lnTo>
                      <a:pt x="2247" y="2073"/>
                    </a:lnTo>
                    <a:lnTo>
                      <a:pt x="2258" y="2084"/>
                    </a:lnTo>
                    <a:lnTo>
                      <a:pt x="2272" y="2084"/>
                    </a:lnTo>
                    <a:lnTo>
                      <a:pt x="2283" y="2084"/>
                    </a:lnTo>
                    <a:lnTo>
                      <a:pt x="2295" y="2096"/>
                    </a:lnTo>
                    <a:lnTo>
                      <a:pt x="2306" y="2096"/>
                    </a:lnTo>
                    <a:lnTo>
                      <a:pt x="2318" y="2096"/>
                    </a:lnTo>
                    <a:lnTo>
                      <a:pt x="2329" y="2096"/>
                    </a:lnTo>
                    <a:lnTo>
                      <a:pt x="2343" y="2096"/>
                    </a:lnTo>
                    <a:lnTo>
                      <a:pt x="2354" y="2084"/>
                    </a:lnTo>
                    <a:lnTo>
                      <a:pt x="2366" y="2084"/>
                    </a:lnTo>
                    <a:lnTo>
                      <a:pt x="2377" y="2084"/>
                    </a:lnTo>
                    <a:lnTo>
                      <a:pt x="2377" y="2073"/>
                    </a:lnTo>
                    <a:lnTo>
                      <a:pt x="2389" y="2073"/>
                    </a:lnTo>
                    <a:lnTo>
                      <a:pt x="2402" y="2061"/>
                    </a:lnTo>
                    <a:lnTo>
                      <a:pt x="2414" y="2048"/>
                    </a:lnTo>
                    <a:lnTo>
                      <a:pt x="2425" y="2036"/>
                    </a:lnTo>
                    <a:lnTo>
                      <a:pt x="2437" y="2025"/>
                    </a:lnTo>
                    <a:lnTo>
                      <a:pt x="2448" y="2025"/>
                    </a:lnTo>
                    <a:lnTo>
                      <a:pt x="2448" y="2013"/>
                    </a:lnTo>
                    <a:lnTo>
                      <a:pt x="2460" y="2002"/>
                    </a:lnTo>
                    <a:lnTo>
                      <a:pt x="2473" y="1988"/>
                    </a:lnTo>
                    <a:lnTo>
                      <a:pt x="2473" y="1977"/>
                    </a:lnTo>
                    <a:lnTo>
                      <a:pt x="2483" y="1965"/>
                    </a:lnTo>
                    <a:lnTo>
                      <a:pt x="2483" y="1954"/>
                    </a:lnTo>
                    <a:lnTo>
                      <a:pt x="2496" y="1954"/>
                    </a:lnTo>
                    <a:lnTo>
                      <a:pt x="2496" y="1942"/>
                    </a:lnTo>
                    <a:lnTo>
                      <a:pt x="2508" y="1930"/>
                    </a:lnTo>
                    <a:lnTo>
                      <a:pt x="2508" y="1917"/>
                    </a:lnTo>
                    <a:lnTo>
                      <a:pt x="2519" y="1907"/>
                    </a:lnTo>
                    <a:lnTo>
                      <a:pt x="2531" y="1894"/>
                    </a:lnTo>
                    <a:lnTo>
                      <a:pt x="2531" y="1882"/>
                    </a:lnTo>
                    <a:lnTo>
                      <a:pt x="2542" y="1871"/>
                    </a:lnTo>
                    <a:lnTo>
                      <a:pt x="2542" y="1859"/>
                    </a:lnTo>
                    <a:lnTo>
                      <a:pt x="2556" y="1848"/>
                    </a:lnTo>
                    <a:lnTo>
                      <a:pt x="2556" y="1836"/>
                    </a:lnTo>
                    <a:lnTo>
                      <a:pt x="2567" y="1811"/>
                    </a:lnTo>
                    <a:lnTo>
                      <a:pt x="2567" y="1800"/>
                    </a:lnTo>
                    <a:lnTo>
                      <a:pt x="2579" y="1788"/>
                    </a:lnTo>
                    <a:lnTo>
                      <a:pt x="2579" y="1777"/>
                    </a:lnTo>
                    <a:lnTo>
                      <a:pt x="2590" y="1763"/>
                    </a:lnTo>
                    <a:lnTo>
                      <a:pt x="2602" y="1740"/>
                    </a:lnTo>
                    <a:lnTo>
                      <a:pt x="2602" y="1729"/>
                    </a:lnTo>
                    <a:lnTo>
                      <a:pt x="2613" y="1717"/>
                    </a:lnTo>
                    <a:lnTo>
                      <a:pt x="2613" y="1706"/>
                    </a:lnTo>
                    <a:lnTo>
                      <a:pt x="2627" y="1683"/>
                    </a:lnTo>
                    <a:lnTo>
                      <a:pt x="2627" y="1669"/>
                    </a:lnTo>
                    <a:lnTo>
                      <a:pt x="2638" y="1658"/>
                    </a:lnTo>
                    <a:lnTo>
                      <a:pt x="2638" y="1633"/>
                    </a:lnTo>
                    <a:lnTo>
                      <a:pt x="2650" y="1623"/>
                    </a:lnTo>
                    <a:lnTo>
                      <a:pt x="2650" y="1598"/>
                    </a:lnTo>
                    <a:lnTo>
                      <a:pt x="2661" y="1587"/>
                    </a:lnTo>
                    <a:lnTo>
                      <a:pt x="2661" y="1575"/>
                    </a:lnTo>
                    <a:lnTo>
                      <a:pt x="2673" y="1552"/>
                    </a:lnTo>
                    <a:lnTo>
                      <a:pt x="2684" y="1539"/>
                    </a:lnTo>
                    <a:lnTo>
                      <a:pt x="2684" y="1516"/>
                    </a:lnTo>
                    <a:lnTo>
                      <a:pt x="2698" y="1504"/>
                    </a:lnTo>
                    <a:lnTo>
                      <a:pt x="2698" y="1481"/>
                    </a:lnTo>
                    <a:lnTo>
                      <a:pt x="2707" y="1468"/>
                    </a:lnTo>
                    <a:lnTo>
                      <a:pt x="2707" y="1444"/>
                    </a:lnTo>
                    <a:lnTo>
                      <a:pt x="2721" y="1433"/>
                    </a:lnTo>
                    <a:lnTo>
                      <a:pt x="2721" y="1408"/>
                    </a:lnTo>
                    <a:lnTo>
                      <a:pt x="2732" y="1398"/>
                    </a:lnTo>
                    <a:lnTo>
                      <a:pt x="2732" y="1373"/>
                    </a:lnTo>
                    <a:lnTo>
                      <a:pt x="2744" y="1362"/>
                    </a:lnTo>
                    <a:lnTo>
                      <a:pt x="2744" y="1339"/>
                    </a:lnTo>
                    <a:lnTo>
                      <a:pt x="2755" y="1327"/>
                    </a:lnTo>
                    <a:lnTo>
                      <a:pt x="2767" y="1302"/>
                    </a:lnTo>
                    <a:lnTo>
                      <a:pt x="2767" y="1291"/>
                    </a:lnTo>
                    <a:lnTo>
                      <a:pt x="2780" y="1268"/>
                    </a:lnTo>
                    <a:lnTo>
                      <a:pt x="2780" y="1254"/>
                    </a:lnTo>
                    <a:lnTo>
                      <a:pt x="2792" y="1231"/>
                    </a:lnTo>
                    <a:lnTo>
                      <a:pt x="2792" y="1220"/>
                    </a:lnTo>
                    <a:lnTo>
                      <a:pt x="2803" y="1197"/>
                    </a:lnTo>
                    <a:lnTo>
                      <a:pt x="2803" y="1183"/>
                    </a:lnTo>
                    <a:lnTo>
                      <a:pt x="2815" y="1160"/>
                    </a:lnTo>
                    <a:lnTo>
                      <a:pt x="2815" y="1149"/>
                    </a:lnTo>
                    <a:lnTo>
                      <a:pt x="2826" y="1137"/>
                    </a:lnTo>
                    <a:lnTo>
                      <a:pt x="2838" y="1114"/>
                    </a:lnTo>
                    <a:lnTo>
                      <a:pt x="2838" y="1101"/>
                    </a:lnTo>
                    <a:lnTo>
                      <a:pt x="2851" y="1078"/>
                    </a:lnTo>
                    <a:lnTo>
                      <a:pt x="2851" y="1066"/>
                    </a:lnTo>
                    <a:lnTo>
                      <a:pt x="2863" y="1054"/>
                    </a:lnTo>
                    <a:lnTo>
                      <a:pt x="2863" y="1029"/>
                    </a:lnTo>
                    <a:lnTo>
                      <a:pt x="2874" y="1018"/>
                    </a:lnTo>
                    <a:lnTo>
                      <a:pt x="2874" y="1006"/>
                    </a:lnTo>
                    <a:lnTo>
                      <a:pt x="2886" y="995"/>
                    </a:lnTo>
                    <a:lnTo>
                      <a:pt x="2886" y="970"/>
                    </a:lnTo>
                    <a:lnTo>
                      <a:pt x="2898" y="958"/>
                    </a:lnTo>
                    <a:lnTo>
                      <a:pt x="2898" y="947"/>
                    </a:lnTo>
                    <a:lnTo>
                      <a:pt x="2909" y="935"/>
                    </a:lnTo>
                    <a:lnTo>
                      <a:pt x="2922" y="924"/>
                    </a:lnTo>
                    <a:lnTo>
                      <a:pt x="2922" y="912"/>
                    </a:lnTo>
                    <a:lnTo>
                      <a:pt x="2934" y="901"/>
                    </a:lnTo>
                    <a:lnTo>
                      <a:pt x="2934" y="889"/>
                    </a:lnTo>
                    <a:lnTo>
                      <a:pt x="2946" y="876"/>
                    </a:lnTo>
                    <a:lnTo>
                      <a:pt x="2946" y="864"/>
                    </a:lnTo>
                    <a:lnTo>
                      <a:pt x="2957" y="853"/>
                    </a:lnTo>
                    <a:lnTo>
                      <a:pt x="2969" y="841"/>
                    </a:lnTo>
                    <a:lnTo>
                      <a:pt x="2969" y="830"/>
                    </a:lnTo>
                    <a:lnTo>
                      <a:pt x="2980" y="830"/>
                    </a:lnTo>
                    <a:lnTo>
                      <a:pt x="2992" y="816"/>
                    </a:lnTo>
                    <a:lnTo>
                      <a:pt x="3005" y="805"/>
                    </a:lnTo>
                    <a:lnTo>
                      <a:pt x="3017" y="805"/>
                    </a:lnTo>
                    <a:lnTo>
                      <a:pt x="3017" y="793"/>
                    </a:lnTo>
                    <a:lnTo>
                      <a:pt x="3028" y="793"/>
                    </a:lnTo>
                    <a:lnTo>
                      <a:pt x="3040" y="793"/>
                    </a:lnTo>
                    <a:lnTo>
                      <a:pt x="3051" y="793"/>
                    </a:lnTo>
                    <a:lnTo>
                      <a:pt x="3065" y="805"/>
                    </a:lnTo>
                    <a:lnTo>
                      <a:pt x="3076" y="805"/>
                    </a:lnTo>
                    <a:lnTo>
                      <a:pt x="3088" y="816"/>
                    </a:lnTo>
                    <a:lnTo>
                      <a:pt x="3088" y="830"/>
                    </a:lnTo>
                    <a:lnTo>
                      <a:pt x="3099" y="830"/>
                    </a:lnTo>
                    <a:lnTo>
                      <a:pt x="3099" y="841"/>
                    </a:lnTo>
                    <a:lnTo>
                      <a:pt x="3111" y="853"/>
                    </a:lnTo>
                    <a:lnTo>
                      <a:pt x="3111" y="864"/>
                    </a:lnTo>
                    <a:lnTo>
                      <a:pt x="3122" y="876"/>
                    </a:lnTo>
                    <a:lnTo>
                      <a:pt x="3122" y="901"/>
                    </a:lnTo>
                    <a:lnTo>
                      <a:pt x="3136" y="912"/>
                    </a:lnTo>
                    <a:lnTo>
                      <a:pt x="3147" y="924"/>
                    </a:lnTo>
                    <a:lnTo>
                      <a:pt x="3147" y="947"/>
                    </a:lnTo>
                    <a:lnTo>
                      <a:pt x="3159" y="970"/>
                    </a:lnTo>
                    <a:lnTo>
                      <a:pt x="3159" y="983"/>
                    </a:lnTo>
                    <a:lnTo>
                      <a:pt x="3170" y="1006"/>
                    </a:lnTo>
                    <a:lnTo>
                      <a:pt x="3170" y="1029"/>
                    </a:lnTo>
                    <a:lnTo>
                      <a:pt x="3182" y="1066"/>
                    </a:lnTo>
                    <a:lnTo>
                      <a:pt x="3182" y="1089"/>
                    </a:lnTo>
                    <a:lnTo>
                      <a:pt x="3193" y="1114"/>
                    </a:lnTo>
                    <a:lnTo>
                      <a:pt x="3193" y="1149"/>
                    </a:lnTo>
                    <a:lnTo>
                      <a:pt x="3205" y="1183"/>
                    </a:lnTo>
                    <a:lnTo>
                      <a:pt x="3205" y="1208"/>
                    </a:lnTo>
                    <a:lnTo>
                      <a:pt x="3218" y="1243"/>
                    </a:lnTo>
                    <a:lnTo>
                      <a:pt x="3230" y="1291"/>
                    </a:lnTo>
                    <a:lnTo>
                      <a:pt x="3230" y="1327"/>
                    </a:lnTo>
                    <a:lnTo>
                      <a:pt x="3241" y="1362"/>
                    </a:lnTo>
                    <a:lnTo>
                      <a:pt x="3241" y="1408"/>
                    </a:lnTo>
                    <a:lnTo>
                      <a:pt x="3253" y="1456"/>
                    </a:lnTo>
                    <a:lnTo>
                      <a:pt x="3253" y="1504"/>
                    </a:lnTo>
                    <a:lnTo>
                      <a:pt x="3264" y="1552"/>
                    </a:lnTo>
                    <a:lnTo>
                      <a:pt x="3264" y="1598"/>
                    </a:lnTo>
                    <a:lnTo>
                      <a:pt x="3276" y="1658"/>
                    </a:lnTo>
                    <a:lnTo>
                      <a:pt x="3276" y="1706"/>
                    </a:lnTo>
                    <a:lnTo>
                      <a:pt x="3289" y="1763"/>
                    </a:lnTo>
                    <a:lnTo>
                      <a:pt x="3289" y="1823"/>
                    </a:lnTo>
                    <a:lnTo>
                      <a:pt x="3301" y="1882"/>
                    </a:lnTo>
                    <a:lnTo>
                      <a:pt x="3312" y="1954"/>
                    </a:lnTo>
                    <a:lnTo>
                      <a:pt x="3312" y="2013"/>
                    </a:lnTo>
                    <a:lnTo>
                      <a:pt x="3324" y="2084"/>
                    </a:lnTo>
                    <a:lnTo>
                      <a:pt x="3324" y="2155"/>
                    </a:lnTo>
                    <a:lnTo>
                      <a:pt x="3335" y="2226"/>
                    </a:lnTo>
                    <a:lnTo>
                      <a:pt x="3335" y="2309"/>
                    </a:lnTo>
                    <a:lnTo>
                      <a:pt x="3347" y="2380"/>
                    </a:lnTo>
                    <a:lnTo>
                      <a:pt x="3347" y="2463"/>
                    </a:lnTo>
                    <a:lnTo>
                      <a:pt x="3360" y="2545"/>
                    </a:lnTo>
                    <a:lnTo>
                      <a:pt x="3360" y="2628"/>
                    </a:lnTo>
                    <a:lnTo>
                      <a:pt x="3370" y="2724"/>
                    </a:lnTo>
                    <a:lnTo>
                      <a:pt x="3383" y="2805"/>
                    </a:lnTo>
                    <a:lnTo>
                      <a:pt x="3383" y="2901"/>
                    </a:lnTo>
                    <a:lnTo>
                      <a:pt x="3395" y="3006"/>
                    </a:lnTo>
                    <a:lnTo>
                      <a:pt x="3395" y="3102"/>
                    </a:lnTo>
                    <a:lnTo>
                      <a:pt x="3406" y="3208"/>
                    </a:lnTo>
                    <a:lnTo>
                      <a:pt x="3406" y="3316"/>
                    </a:lnTo>
                    <a:lnTo>
                      <a:pt x="3418" y="3421"/>
                    </a:lnTo>
                    <a:lnTo>
                      <a:pt x="3418" y="3529"/>
                    </a:lnTo>
                    <a:lnTo>
                      <a:pt x="3429" y="3646"/>
                    </a:lnTo>
                    <a:lnTo>
                      <a:pt x="3429" y="3765"/>
                    </a:lnTo>
                    <a:lnTo>
                      <a:pt x="3429" y="3836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9" name="Line 141">
                <a:extLst>
                  <a:ext uri="{FF2B5EF4-FFF2-40B4-BE49-F238E27FC236}">
                    <a16:creationId xmlns:a16="http://schemas.microsoft.com/office/drawing/2014/main" id="{0A0597A3-2383-1346-B79E-AB05525BF95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32" y="3374"/>
                <a:ext cx="179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arrow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0" name="Line 142">
                <a:extLst>
                  <a:ext uri="{FF2B5EF4-FFF2-40B4-BE49-F238E27FC236}">
                    <a16:creationId xmlns:a16="http://schemas.microsoft.com/office/drawing/2014/main" id="{620C3CC2-C564-6548-9A3B-697648881A8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56" y="2525"/>
                <a:ext cx="1" cy="141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arrow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1" name="Rectangle 143">
                <a:extLst>
                  <a:ext uri="{FF2B5EF4-FFF2-40B4-BE49-F238E27FC236}">
                    <a16:creationId xmlns:a16="http://schemas.microsoft.com/office/drawing/2014/main" id="{96FE6E75-4F79-034B-A8DB-99D0F653E6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0" y="3391"/>
                <a:ext cx="89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2" name="Rectangle 144">
                <a:extLst>
                  <a:ext uri="{FF2B5EF4-FFF2-40B4-BE49-F238E27FC236}">
                    <a16:creationId xmlns:a16="http://schemas.microsoft.com/office/drawing/2014/main" id="{E51F6867-EA40-BC49-8FC2-CD1C7AF80E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0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3" name="Rectangle 145">
                <a:extLst>
                  <a:ext uri="{FF2B5EF4-FFF2-40B4-BE49-F238E27FC236}">
                    <a16:creationId xmlns:a16="http://schemas.microsoft.com/office/drawing/2014/main" id="{9FB2B4A0-37E7-4346-A02B-11132D8075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28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4" name="Rectangle 146">
                <a:extLst>
                  <a:ext uri="{FF2B5EF4-FFF2-40B4-BE49-F238E27FC236}">
                    <a16:creationId xmlns:a16="http://schemas.microsoft.com/office/drawing/2014/main" id="{7C182DC2-098D-5E46-BDD0-A0F403DF4E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56" y="3052"/>
                <a:ext cx="73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5" name="Rectangle 147">
                <a:extLst>
                  <a:ext uri="{FF2B5EF4-FFF2-40B4-BE49-F238E27FC236}">
                    <a16:creationId xmlns:a16="http://schemas.microsoft.com/office/drawing/2014/main" id="{AB76BFDB-9B0E-2944-9788-5575F9BDBD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56" y="3054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6" name="Rectangle 148">
                <a:extLst>
                  <a:ext uri="{FF2B5EF4-FFF2-40B4-BE49-F238E27FC236}">
                    <a16:creationId xmlns:a16="http://schemas.microsoft.com/office/drawing/2014/main" id="{32CF8F82-0E21-8D4F-A43B-EBA9128FF8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78" y="3054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7" name="Rectangle 149">
                <a:extLst>
                  <a:ext uri="{FF2B5EF4-FFF2-40B4-BE49-F238E27FC236}">
                    <a16:creationId xmlns:a16="http://schemas.microsoft.com/office/drawing/2014/main" id="{E4BEF67A-E298-4147-986A-D6D598EB82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56" y="3618"/>
                <a:ext cx="73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8" name="Rectangle 150">
                <a:extLst>
                  <a:ext uri="{FF2B5EF4-FFF2-40B4-BE49-F238E27FC236}">
                    <a16:creationId xmlns:a16="http://schemas.microsoft.com/office/drawing/2014/main" id="{39B5ABC7-F8D9-0C4E-92A9-3CDB737972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56" y="3621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9" name="Rectangle 151">
                <a:extLst>
                  <a:ext uri="{FF2B5EF4-FFF2-40B4-BE49-F238E27FC236}">
                    <a16:creationId xmlns:a16="http://schemas.microsoft.com/office/drawing/2014/main" id="{072DE457-B847-294A-A035-68441D69F4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78" y="362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0" name="Rectangle 152">
                <a:extLst>
                  <a:ext uri="{FF2B5EF4-FFF2-40B4-BE49-F238E27FC236}">
                    <a16:creationId xmlns:a16="http://schemas.microsoft.com/office/drawing/2014/main" id="{748A428B-4BF6-DD48-9CDA-B494A655E0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56" y="2770"/>
                <a:ext cx="73" cy="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1" name="Rectangle 153">
                <a:extLst>
                  <a:ext uri="{FF2B5EF4-FFF2-40B4-BE49-F238E27FC236}">
                    <a16:creationId xmlns:a16="http://schemas.microsoft.com/office/drawing/2014/main" id="{70E75B96-8E5F-1B4A-95CC-A3B6F67A22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56" y="2772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2" name="Rectangle 154">
                <a:extLst>
                  <a:ext uri="{FF2B5EF4-FFF2-40B4-BE49-F238E27FC236}">
                    <a16:creationId xmlns:a16="http://schemas.microsoft.com/office/drawing/2014/main" id="{B2BD6179-4C74-9347-8FE5-FF36FEAAA7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78" y="2772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3" name="Rectangle 155">
                <a:extLst>
                  <a:ext uri="{FF2B5EF4-FFF2-40B4-BE49-F238E27FC236}">
                    <a16:creationId xmlns:a16="http://schemas.microsoft.com/office/drawing/2014/main" id="{ADA496BA-B069-D947-9511-37F3B8824F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0" y="2770"/>
                <a:ext cx="89" cy="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4" name="Rectangle 156">
                <a:extLst>
                  <a:ext uri="{FF2B5EF4-FFF2-40B4-BE49-F238E27FC236}">
                    <a16:creationId xmlns:a16="http://schemas.microsoft.com/office/drawing/2014/main" id="{63879EDD-E5A2-8948-A380-D444757AC7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0" y="2772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5" name="Rectangle 157">
                <a:extLst>
                  <a:ext uri="{FF2B5EF4-FFF2-40B4-BE49-F238E27FC236}">
                    <a16:creationId xmlns:a16="http://schemas.microsoft.com/office/drawing/2014/main" id="{ECA409DF-D49D-4848-88EA-00DF0FFEC1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28" y="2772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6" name="Rectangle 158">
                <a:extLst>
                  <a:ext uri="{FF2B5EF4-FFF2-40B4-BE49-F238E27FC236}">
                    <a16:creationId xmlns:a16="http://schemas.microsoft.com/office/drawing/2014/main" id="{EA78D2F9-C75C-EA46-B987-A1E44CB965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45" y="3052"/>
                <a:ext cx="143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7" name="Rectangle 159">
                <a:extLst>
                  <a:ext uri="{FF2B5EF4-FFF2-40B4-BE49-F238E27FC236}">
                    <a16:creationId xmlns:a16="http://schemas.microsoft.com/office/drawing/2014/main" id="{38A21378-91A9-5E4E-87DC-B22650C4DE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45" y="3054"/>
                <a:ext cx="12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0.5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8" name="Rectangle 160">
                <a:extLst>
                  <a:ext uri="{FF2B5EF4-FFF2-40B4-BE49-F238E27FC236}">
                    <a16:creationId xmlns:a16="http://schemas.microsoft.com/office/drawing/2014/main" id="{7E81BE4A-8FDB-1B4B-9671-7BAC48D6E3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38" y="3054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9" name="Rectangle 161">
                <a:extLst>
                  <a:ext uri="{FF2B5EF4-FFF2-40B4-BE49-F238E27FC236}">
                    <a16:creationId xmlns:a16="http://schemas.microsoft.com/office/drawing/2014/main" id="{289B3C8D-0E6B-1941-89A0-EC01F814CA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24" y="3618"/>
                <a:ext cx="164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0" name="Rectangle 162">
                <a:extLst>
                  <a:ext uri="{FF2B5EF4-FFF2-40B4-BE49-F238E27FC236}">
                    <a16:creationId xmlns:a16="http://schemas.microsoft.com/office/drawing/2014/main" id="{08A02E38-EDA3-914A-8E25-F2E610DE0F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24" y="3621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1" name="Rectangle 163">
                <a:extLst>
                  <a:ext uri="{FF2B5EF4-FFF2-40B4-BE49-F238E27FC236}">
                    <a16:creationId xmlns:a16="http://schemas.microsoft.com/office/drawing/2014/main" id="{3C5E2438-FFF6-FD4F-ACFF-82DB757B23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46" y="3621"/>
                <a:ext cx="12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0.5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2" name="Rectangle 164">
                <a:extLst>
                  <a:ext uri="{FF2B5EF4-FFF2-40B4-BE49-F238E27FC236}">
                    <a16:creationId xmlns:a16="http://schemas.microsoft.com/office/drawing/2014/main" id="{6018B073-5CB3-0340-B4E2-182BB87E1A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40" y="362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3" name="Line 165">
                <a:extLst>
                  <a:ext uri="{FF2B5EF4-FFF2-40B4-BE49-F238E27FC236}">
                    <a16:creationId xmlns:a16="http://schemas.microsoft.com/office/drawing/2014/main" id="{D1C26A1E-6ECC-B840-A316-1F642B049A9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80" y="3357"/>
                <a:ext cx="1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4" name="Line 166">
                <a:extLst>
                  <a:ext uri="{FF2B5EF4-FFF2-40B4-BE49-F238E27FC236}">
                    <a16:creationId xmlns:a16="http://schemas.microsoft.com/office/drawing/2014/main" id="{9A5A4FC3-E9BD-934D-BE65-3DD785A0538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02" y="3357"/>
                <a:ext cx="1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5" name="Line 167">
                <a:extLst>
                  <a:ext uri="{FF2B5EF4-FFF2-40B4-BE49-F238E27FC236}">
                    <a16:creationId xmlns:a16="http://schemas.microsoft.com/office/drawing/2014/main" id="{5469E5F0-F1D0-EE44-AD8D-A735C3A6153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331" y="3357"/>
                <a:ext cx="0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6" name="Line 168">
                <a:extLst>
                  <a:ext uri="{FF2B5EF4-FFF2-40B4-BE49-F238E27FC236}">
                    <a16:creationId xmlns:a16="http://schemas.microsoft.com/office/drawing/2014/main" id="{95A49DD7-53AB-2F49-BA8B-F422A8B2CD8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554" y="3357"/>
                <a:ext cx="0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7" name="Line 169">
                <a:extLst>
                  <a:ext uri="{FF2B5EF4-FFF2-40B4-BE49-F238E27FC236}">
                    <a16:creationId xmlns:a16="http://schemas.microsoft.com/office/drawing/2014/main" id="{0C1F3EAD-2012-3843-A947-113F2A53E4C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778" y="3357"/>
                <a:ext cx="0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" name="Line 170">
                <a:extLst>
                  <a:ext uri="{FF2B5EF4-FFF2-40B4-BE49-F238E27FC236}">
                    <a16:creationId xmlns:a16="http://schemas.microsoft.com/office/drawing/2014/main" id="{E1877FF9-14E5-A640-9103-61E2514FCD3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001" y="3357"/>
                <a:ext cx="1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" name="Rectangle 171">
                <a:extLst>
                  <a:ext uri="{FF2B5EF4-FFF2-40B4-BE49-F238E27FC236}">
                    <a16:creationId xmlns:a16="http://schemas.microsoft.com/office/drawing/2014/main" id="{5C422BC7-5D8A-C448-A784-D26EE52AC6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46" y="3391"/>
                <a:ext cx="89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0" name="Rectangle 172">
                <a:extLst>
                  <a:ext uri="{FF2B5EF4-FFF2-40B4-BE49-F238E27FC236}">
                    <a16:creationId xmlns:a16="http://schemas.microsoft.com/office/drawing/2014/main" id="{6E02163F-AEDE-6F4F-B5D4-A4BC48898A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46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1" name="Rectangle 173">
                <a:extLst>
                  <a:ext uri="{FF2B5EF4-FFF2-40B4-BE49-F238E27FC236}">
                    <a16:creationId xmlns:a16="http://schemas.microsoft.com/office/drawing/2014/main" id="{97242F98-5DFB-7A48-8119-0E2DD0A8C9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83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2" name="Rectangle 174">
                <a:extLst>
                  <a:ext uri="{FF2B5EF4-FFF2-40B4-BE49-F238E27FC236}">
                    <a16:creationId xmlns:a16="http://schemas.microsoft.com/office/drawing/2014/main" id="{556792CE-9A24-F544-814A-AE1DBE5CC7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2" y="3391"/>
                <a:ext cx="9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3" name="Rectangle 175">
                <a:extLst>
                  <a:ext uri="{FF2B5EF4-FFF2-40B4-BE49-F238E27FC236}">
                    <a16:creationId xmlns:a16="http://schemas.microsoft.com/office/drawing/2014/main" id="{3E12CF96-ED4E-C14F-802E-9643003100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2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2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4" name="Rectangle 176">
                <a:extLst>
                  <a:ext uri="{FF2B5EF4-FFF2-40B4-BE49-F238E27FC236}">
                    <a16:creationId xmlns:a16="http://schemas.microsoft.com/office/drawing/2014/main" id="{057EC55D-5E2B-EC4C-ABFE-970F41505D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40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5" name="Rectangle 177">
                <a:extLst>
                  <a:ext uri="{FF2B5EF4-FFF2-40B4-BE49-F238E27FC236}">
                    <a16:creationId xmlns:a16="http://schemas.microsoft.com/office/drawing/2014/main" id="{BB1C6ABB-EA1D-7C42-A666-164B1C13B8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9" y="3391"/>
                <a:ext cx="88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6" name="Rectangle 178">
                <a:extLst>
                  <a:ext uri="{FF2B5EF4-FFF2-40B4-BE49-F238E27FC236}">
                    <a16:creationId xmlns:a16="http://schemas.microsoft.com/office/drawing/2014/main" id="{0C209F58-D31E-B24A-A94C-6DA89B6E49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9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3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7" name="Rectangle 179">
                <a:extLst>
                  <a:ext uri="{FF2B5EF4-FFF2-40B4-BE49-F238E27FC236}">
                    <a16:creationId xmlns:a16="http://schemas.microsoft.com/office/drawing/2014/main" id="{B6DE7F04-A9AA-7E41-B317-CA2E51BDE3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56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8" name="Rectangle 180">
                <a:extLst>
                  <a:ext uri="{FF2B5EF4-FFF2-40B4-BE49-F238E27FC236}">
                    <a16:creationId xmlns:a16="http://schemas.microsoft.com/office/drawing/2014/main" id="{A452AEDC-02ED-F647-9177-F1CE42F5D3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29" y="3391"/>
                <a:ext cx="9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9" name="Rectangle 181">
                <a:extLst>
                  <a:ext uri="{FF2B5EF4-FFF2-40B4-BE49-F238E27FC236}">
                    <a16:creationId xmlns:a16="http://schemas.microsoft.com/office/drawing/2014/main" id="{553FD268-671E-D345-B960-FB5D4BA4A6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29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4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0" name="Rectangle 182">
                <a:extLst>
                  <a:ext uri="{FF2B5EF4-FFF2-40B4-BE49-F238E27FC236}">
                    <a16:creationId xmlns:a16="http://schemas.microsoft.com/office/drawing/2014/main" id="{B5F623F5-3806-7147-840B-F504157994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67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1" name="Rectangle 183">
                <a:extLst>
                  <a:ext uri="{FF2B5EF4-FFF2-40B4-BE49-F238E27FC236}">
                    <a16:creationId xmlns:a16="http://schemas.microsoft.com/office/drawing/2014/main" id="{72453ED0-7479-894A-9E53-DD8B11F30D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78" y="3391"/>
                <a:ext cx="89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2" name="Rectangle 184">
                <a:extLst>
                  <a:ext uri="{FF2B5EF4-FFF2-40B4-BE49-F238E27FC236}">
                    <a16:creationId xmlns:a16="http://schemas.microsoft.com/office/drawing/2014/main" id="{F3F798D5-F62F-CA49-BB2A-E498DCF2FD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78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5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3" name="Rectangle 185">
                <a:extLst>
                  <a:ext uri="{FF2B5EF4-FFF2-40B4-BE49-F238E27FC236}">
                    <a16:creationId xmlns:a16="http://schemas.microsoft.com/office/drawing/2014/main" id="{16B235E5-F085-FD42-89A9-DADAE23F20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15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4" name="Rectangle 186">
                <a:extLst>
                  <a:ext uri="{FF2B5EF4-FFF2-40B4-BE49-F238E27FC236}">
                    <a16:creationId xmlns:a16="http://schemas.microsoft.com/office/drawing/2014/main" id="{A33D838E-56FE-3A49-9EF0-8EABDAF730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68" y="3391"/>
                <a:ext cx="9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5" name="Rectangle 187">
                <a:extLst>
                  <a:ext uri="{FF2B5EF4-FFF2-40B4-BE49-F238E27FC236}">
                    <a16:creationId xmlns:a16="http://schemas.microsoft.com/office/drawing/2014/main" id="{35D06E79-C8FE-8246-8FA1-C611A485D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68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6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6" name="Rectangle 188">
                <a:extLst>
                  <a:ext uri="{FF2B5EF4-FFF2-40B4-BE49-F238E27FC236}">
                    <a16:creationId xmlns:a16="http://schemas.microsoft.com/office/drawing/2014/main" id="{D0A070AA-9177-2445-96BB-24754C5F65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06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7" name="Rectangle 189">
                <a:extLst>
                  <a:ext uri="{FF2B5EF4-FFF2-40B4-BE49-F238E27FC236}">
                    <a16:creationId xmlns:a16="http://schemas.microsoft.com/office/drawing/2014/main" id="{2A2E0ACC-8B16-6741-B5B3-85F7C986CF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75" y="3369"/>
                <a:ext cx="110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6000" tIns="36000" rIns="36000" bIns="360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i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x</a:t>
                </a:r>
                <a:endParaRPr lang="en-US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368" name="Rectangle 190">
                <a:extLst>
                  <a:ext uri="{FF2B5EF4-FFF2-40B4-BE49-F238E27FC236}">
                    <a16:creationId xmlns:a16="http://schemas.microsoft.com/office/drawing/2014/main" id="{9F031ED7-C36E-8247-9169-3F74E171D5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09" y="3394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97" name="Group 191">
              <a:extLst>
                <a:ext uri="{FF2B5EF4-FFF2-40B4-BE49-F238E27FC236}">
                  <a16:creationId xmlns:a16="http://schemas.microsoft.com/office/drawing/2014/main" id="{91927FBC-AAF7-F541-87CF-9546C452E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496"/>
              <a:ext cx="1853" cy="1442"/>
              <a:chOff x="1872" y="1584"/>
              <a:chExt cx="1853" cy="1442"/>
            </a:xfrm>
          </p:grpSpPr>
          <p:sp>
            <p:nvSpPr>
              <p:cNvPr id="256" name="Rectangle 192">
                <a:extLst>
                  <a:ext uri="{FF2B5EF4-FFF2-40B4-BE49-F238E27FC236}">
                    <a16:creationId xmlns:a16="http://schemas.microsoft.com/office/drawing/2014/main" id="{8E956ED5-D5A9-1F45-9415-8C10B533EA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27" y="1602"/>
                <a:ext cx="22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10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7" name="Rectangle 193">
                <a:extLst>
                  <a:ext uri="{FF2B5EF4-FFF2-40B4-BE49-F238E27FC236}">
                    <a16:creationId xmlns:a16="http://schemas.microsoft.com/office/drawing/2014/main" id="{9301301D-1699-7E4D-AB28-40AE64F3B1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34" y="1606"/>
                <a:ext cx="81" cy="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8" name="Rectangle 194">
                <a:extLst>
                  <a:ext uri="{FF2B5EF4-FFF2-40B4-BE49-F238E27FC236}">
                    <a16:creationId xmlns:a16="http://schemas.microsoft.com/office/drawing/2014/main" id="{81BF6ABA-75FE-574E-A883-485C041CD9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37" y="1584"/>
                <a:ext cx="103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6000" tIns="36000" rIns="36000" bIns="360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i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y</a:t>
                </a:r>
                <a:endParaRPr lang="en-US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259" name="Rectangle 195">
                <a:extLst>
                  <a:ext uri="{FF2B5EF4-FFF2-40B4-BE49-F238E27FC236}">
                    <a16:creationId xmlns:a16="http://schemas.microsoft.com/office/drawing/2014/main" id="{DAAC8927-3A2B-5E44-B0AA-45144993A3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88" y="1608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0" name="Line 196">
                <a:extLst>
                  <a:ext uri="{FF2B5EF4-FFF2-40B4-BE49-F238E27FC236}">
                    <a16:creationId xmlns:a16="http://schemas.microsoft.com/office/drawing/2014/main" id="{9189475F-6F2F-5542-B18D-E716BBF41EC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72" y="2462"/>
                <a:ext cx="179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arrow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" name="Line 197">
                <a:extLst>
                  <a:ext uri="{FF2B5EF4-FFF2-40B4-BE49-F238E27FC236}">
                    <a16:creationId xmlns:a16="http://schemas.microsoft.com/office/drawing/2014/main" id="{CB19D36A-3E87-2B45-8F7F-E0633995F78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096" y="1613"/>
                <a:ext cx="1" cy="141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arrow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" name="Rectangle 198">
                <a:extLst>
                  <a:ext uri="{FF2B5EF4-FFF2-40B4-BE49-F238E27FC236}">
                    <a16:creationId xmlns:a16="http://schemas.microsoft.com/office/drawing/2014/main" id="{0095F0FB-091E-4A45-BDC9-487F483E03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30" y="2479"/>
                <a:ext cx="89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3" name="Rectangle 199">
                <a:extLst>
                  <a:ext uri="{FF2B5EF4-FFF2-40B4-BE49-F238E27FC236}">
                    <a16:creationId xmlns:a16="http://schemas.microsoft.com/office/drawing/2014/main" id="{FA475F1A-2B57-A248-8E13-BC7E90A11C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30" y="2481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4" name="Rectangle 200">
                <a:extLst>
                  <a:ext uri="{FF2B5EF4-FFF2-40B4-BE49-F238E27FC236}">
                    <a16:creationId xmlns:a16="http://schemas.microsoft.com/office/drawing/2014/main" id="{8D094F74-E8E5-4241-ACFE-4CEC381C01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68" y="248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5" name="Rectangle 201">
                <a:extLst>
                  <a:ext uri="{FF2B5EF4-FFF2-40B4-BE49-F238E27FC236}">
                    <a16:creationId xmlns:a16="http://schemas.microsoft.com/office/drawing/2014/main" id="{2C24405B-8DB8-1D44-B8B8-7F8E509DB4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96" y="2140"/>
                <a:ext cx="73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6" name="Rectangle 202">
                <a:extLst>
                  <a:ext uri="{FF2B5EF4-FFF2-40B4-BE49-F238E27FC236}">
                    <a16:creationId xmlns:a16="http://schemas.microsoft.com/office/drawing/2014/main" id="{EA438C0B-4C95-764E-ABF9-5B73E089B3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96" y="2142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7" name="Rectangle 203">
                <a:extLst>
                  <a:ext uri="{FF2B5EF4-FFF2-40B4-BE49-F238E27FC236}">
                    <a16:creationId xmlns:a16="http://schemas.microsoft.com/office/drawing/2014/main" id="{70198CCA-1635-2B49-B4F7-332882FE17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18" y="2142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8" name="Rectangle 204">
                <a:extLst>
                  <a:ext uri="{FF2B5EF4-FFF2-40B4-BE49-F238E27FC236}">
                    <a16:creationId xmlns:a16="http://schemas.microsoft.com/office/drawing/2014/main" id="{0D1686F2-133F-CC40-A71A-A554E181C9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96" y="2706"/>
                <a:ext cx="73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9" name="Rectangle 205">
                <a:extLst>
                  <a:ext uri="{FF2B5EF4-FFF2-40B4-BE49-F238E27FC236}">
                    <a16:creationId xmlns:a16="http://schemas.microsoft.com/office/drawing/2014/main" id="{F8840042-FC33-EB48-95BA-25A74E77B4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96" y="2709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70" name="Rectangle 206">
                <a:extLst>
                  <a:ext uri="{FF2B5EF4-FFF2-40B4-BE49-F238E27FC236}">
                    <a16:creationId xmlns:a16="http://schemas.microsoft.com/office/drawing/2014/main" id="{854C1F15-C7FB-7F47-86D1-03F926ED8B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18" y="2709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71" name="Rectangle 207">
                <a:extLst>
                  <a:ext uri="{FF2B5EF4-FFF2-40B4-BE49-F238E27FC236}">
                    <a16:creationId xmlns:a16="http://schemas.microsoft.com/office/drawing/2014/main" id="{D2F2E820-BE5A-054D-A162-C9DBA1AF22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96" y="1858"/>
                <a:ext cx="73" cy="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72" name="Rectangle 208">
                <a:extLst>
                  <a:ext uri="{FF2B5EF4-FFF2-40B4-BE49-F238E27FC236}">
                    <a16:creationId xmlns:a16="http://schemas.microsoft.com/office/drawing/2014/main" id="{DDA4652B-4D93-7640-8055-685F25A029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96" y="1860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73" name="Rectangle 209">
                <a:extLst>
                  <a:ext uri="{FF2B5EF4-FFF2-40B4-BE49-F238E27FC236}">
                    <a16:creationId xmlns:a16="http://schemas.microsoft.com/office/drawing/2014/main" id="{291747D9-C8E0-A441-B34B-538FC817EF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18" y="1860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74" name="Rectangle 210">
                <a:extLst>
                  <a:ext uri="{FF2B5EF4-FFF2-40B4-BE49-F238E27FC236}">
                    <a16:creationId xmlns:a16="http://schemas.microsoft.com/office/drawing/2014/main" id="{1D606452-6087-0744-81FD-E5A7D384D1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30" y="1858"/>
                <a:ext cx="89" cy="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75" name="Rectangle 211">
                <a:extLst>
                  <a:ext uri="{FF2B5EF4-FFF2-40B4-BE49-F238E27FC236}">
                    <a16:creationId xmlns:a16="http://schemas.microsoft.com/office/drawing/2014/main" id="{55AED042-8FA5-F34A-AC78-D17C34D78E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30" y="1860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76" name="Rectangle 212">
                <a:extLst>
                  <a:ext uri="{FF2B5EF4-FFF2-40B4-BE49-F238E27FC236}">
                    <a16:creationId xmlns:a16="http://schemas.microsoft.com/office/drawing/2014/main" id="{44D92EE0-70C6-BA42-88DC-5C43D0D016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68" y="1860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77" name="Rectangle 213">
                <a:extLst>
                  <a:ext uri="{FF2B5EF4-FFF2-40B4-BE49-F238E27FC236}">
                    <a16:creationId xmlns:a16="http://schemas.microsoft.com/office/drawing/2014/main" id="{52583360-C460-874C-BFC6-2138F72F02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85" y="2140"/>
                <a:ext cx="143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78" name="Rectangle 214">
                <a:extLst>
                  <a:ext uri="{FF2B5EF4-FFF2-40B4-BE49-F238E27FC236}">
                    <a16:creationId xmlns:a16="http://schemas.microsoft.com/office/drawing/2014/main" id="{87394046-D368-E749-B249-3DBA788FC3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85" y="2142"/>
                <a:ext cx="12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0.5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79" name="Rectangle 215">
                <a:extLst>
                  <a:ext uri="{FF2B5EF4-FFF2-40B4-BE49-F238E27FC236}">
                    <a16:creationId xmlns:a16="http://schemas.microsoft.com/office/drawing/2014/main" id="{084E9186-A88D-1340-836D-78B7DF0CEB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78" y="2142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0" name="Rectangle 216">
                <a:extLst>
                  <a:ext uri="{FF2B5EF4-FFF2-40B4-BE49-F238E27FC236}">
                    <a16:creationId xmlns:a16="http://schemas.microsoft.com/office/drawing/2014/main" id="{6AA362AF-4C23-3749-A65F-72FC405D2A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64" y="2706"/>
                <a:ext cx="164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1" name="Rectangle 217">
                <a:extLst>
                  <a:ext uri="{FF2B5EF4-FFF2-40B4-BE49-F238E27FC236}">
                    <a16:creationId xmlns:a16="http://schemas.microsoft.com/office/drawing/2014/main" id="{08D181BC-D177-CB46-A8D1-E67E1C657A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64" y="2709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2" name="Rectangle 218">
                <a:extLst>
                  <a:ext uri="{FF2B5EF4-FFF2-40B4-BE49-F238E27FC236}">
                    <a16:creationId xmlns:a16="http://schemas.microsoft.com/office/drawing/2014/main" id="{C2433E7F-EDE3-044F-B714-14FE63A583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86" y="2709"/>
                <a:ext cx="12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0.5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3" name="Rectangle 219">
                <a:extLst>
                  <a:ext uri="{FF2B5EF4-FFF2-40B4-BE49-F238E27FC236}">
                    <a16:creationId xmlns:a16="http://schemas.microsoft.com/office/drawing/2014/main" id="{8F1D7F11-155F-CC48-A7A2-5B499438B7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80" y="2709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4" name="Line 220">
                <a:extLst>
                  <a:ext uri="{FF2B5EF4-FFF2-40B4-BE49-F238E27FC236}">
                    <a16:creationId xmlns:a16="http://schemas.microsoft.com/office/drawing/2014/main" id="{E4E115EA-455B-8A43-9B1C-D1E1078A61E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320" y="2445"/>
                <a:ext cx="1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5" name="Line 221">
                <a:extLst>
                  <a:ext uri="{FF2B5EF4-FFF2-40B4-BE49-F238E27FC236}">
                    <a16:creationId xmlns:a16="http://schemas.microsoft.com/office/drawing/2014/main" id="{CA8EB49B-7E50-7A43-A30F-38D79C62015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542" y="2445"/>
                <a:ext cx="1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" name="Line 222">
                <a:extLst>
                  <a:ext uri="{FF2B5EF4-FFF2-40B4-BE49-F238E27FC236}">
                    <a16:creationId xmlns:a16="http://schemas.microsoft.com/office/drawing/2014/main" id="{E985C8BB-EA5F-E44A-8BA8-1BC444B6071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771" y="2445"/>
                <a:ext cx="0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" name="Line 223">
                <a:extLst>
                  <a:ext uri="{FF2B5EF4-FFF2-40B4-BE49-F238E27FC236}">
                    <a16:creationId xmlns:a16="http://schemas.microsoft.com/office/drawing/2014/main" id="{429E1451-B7E4-1A49-95B3-F14B878B133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994" y="2445"/>
                <a:ext cx="0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" name="Line 224">
                <a:extLst>
                  <a:ext uri="{FF2B5EF4-FFF2-40B4-BE49-F238E27FC236}">
                    <a16:creationId xmlns:a16="http://schemas.microsoft.com/office/drawing/2014/main" id="{A494BA74-B2B5-4849-98B8-FC89C3194D1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218" y="2445"/>
                <a:ext cx="0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" name="Line 225">
                <a:extLst>
                  <a:ext uri="{FF2B5EF4-FFF2-40B4-BE49-F238E27FC236}">
                    <a16:creationId xmlns:a16="http://schemas.microsoft.com/office/drawing/2014/main" id="{949CE67C-662F-CC4E-A594-A11FF271CF7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441" y="2445"/>
                <a:ext cx="1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" name="Rectangle 226">
                <a:extLst>
                  <a:ext uri="{FF2B5EF4-FFF2-40B4-BE49-F238E27FC236}">
                    <a16:creationId xmlns:a16="http://schemas.microsoft.com/office/drawing/2014/main" id="{E121F694-395D-1647-B9D4-7FBD5F0130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86" y="2479"/>
                <a:ext cx="89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" name="Rectangle 227">
                <a:extLst>
                  <a:ext uri="{FF2B5EF4-FFF2-40B4-BE49-F238E27FC236}">
                    <a16:creationId xmlns:a16="http://schemas.microsoft.com/office/drawing/2014/main" id="{C05EA3E9-6C8E-D841-9D45-8688862BD1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86" y="2481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2" name="Rectangle 228">
                <a:extLst>
                  <a:ext uri="{FF2B5EF4-FFF2-40B4-BE49-F238E27FC236}">
                    <a16:creationId xmlns:a16="http://schemas.microsoft.com/office/drawing/2014/main" id="{658EAC96-880A-6242-AA13-3A701B5D81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23" y="248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3" name="Rectangle 229">
                <a:extLst>
                  <a:ext uri="{FF2B5EF4-FFF2-40B4-BE49-F238E27FC236}">
                    <a16:creationId xmlns:a16="http://schemas.microsoft.com/office/drawing/2014/main" id="{11BDBEDA-1C12-074C-9649-36A8A626A5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2" y="2479"/>
                <a:ext cx="9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4" name="Rectangle 230">
                <a:extLst>
                  <a:ext uri="{FF2B5EF4-FFF2-40B4-BE49-F238E27FC236}">
                    <a16:creationId xmlns:a16="http://schemas.microsoft.com/office/drawing/2014/main" id="{FF25D13D-AAB2-9E4A-B324-9D2AEEC6ED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2" y="2481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2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5" name="Rectangle 231">
                <a:extLst>
                  <a:ext uri="{FF2B5EF4-FFF2-40B4-BE49-F238E27FC236}">
                    <a16:creationId xmlns:a16="http://schemas.microsoft.com/office/drawing/2014/main" id="{7A63D37A-0C29-B74D-B733-B85C3E52AF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80" y="248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6" name="Rectangle 232">
                <a:extLst>
                  <a:ext uri="{FF2B5EF4-FFF2-40B4-BE49-F238E27FC236}">
                    <a16:creationId xmlns:a16="http://schemas.microsoft.com/office/drawing/2014/main" id="{3BAD2D17-FFC9-004C-8E68-E5D9534541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59" y="2479"/>
                <a:ext cx="88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" name="Rectangle 233">
                <a:extLst>
                  <a:ext uri="{FF2B5EF4-FFF2-40B4-BE49-F238E27FC236}">
                    <a16:creationId xmlns:a16="http://schemas.microsoft.com/office/drawing/2014/main" id="{DA0E6BCC-37D7-AF4A-BA59-FD09FCAC75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59" y="2481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3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8" name="Rectangle 234">
                <a:extLst>
                  <a:ext uri="{FF2B5EF4-FFF2-40B4-BE49-F238E27FC236}">
                    <a16:creationId xmlns:a16="http://schemas.microsoft.com/office/drawing/2014/main" id="{143116F5-B933-F544-B0DF-34AD92E800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96" y="248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9" name="Rectangle 235">
                <a:extLst>
                  <a:ext uri="{FF2B5EF4-FFF2-40B4-BE49-F238E27FC236}">
                    <a16:creationId xmlns:a16="http://schemas.microsoft.com/office/drawing/2014/main" id="{556D5735-05D8-1A40-8CC0-FCFF548F1B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69" y="2479"/>
                <a:ext cx="9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0" name="Rectangle 236">
                <a:extLst>
                  <a:ext uri="{FF2B5EF4-FFF2-40B4-BE49-F238E27FC236}">
                    <a16:creationId xmlns:a16="http://schemas.microsoft.com/office/drawing/2014/main" id="{D3A90DDA-DF23-C14D-B847-79EECCBAC7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69" y="2481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4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1" name="Rectangle 237">
                <a:extLst>
                  <a:ext uri="{FF2B5EF4-FFF2-40B4-BE49-F238E27FC236}">
                    <a16:creationId xmlns:a16="http://schemas.microsoft.com/office/drawing/2014/main" id="{328A8595-D8D3-CC4E-9D80-1D24477006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07" y="248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2" name="Rectangle 238">
                <a:extLst>
                  <a:ext uri="{FF2B5EF4-FFF2-40B4-BE49-F238E27FC236}">
                    <a16:creationId xmlns:a16="http://schemas.microsoft.com/office/drawing/2014/main" id="{F641052B-EDA4-3F49-963A-08D1F5FF3F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18" y="2479"/>
                <a:ext cx="89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3" name="Rectangle 239">
                <a:extLst>
                  <a:ext uri="{FF2B5EF4-FFF2-40B4-BE49-F238E27FC236}">
                    <a16:creationId xmlns:a16="http://schemas.microsoft.com/office/drawing/2014/main" id="{B62715E7-AE6C-4E40-951B-37C4F6A28A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18" y="2481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5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4" name="Rectangle 240">
                <a:extLst>
                  <a:ext uri="{FF2B5EF4-FFF2-40B4-BE49-F238E27FC236}">
                    <a16:creationId xmlns:a16="http://schemas.microsoft.com/office/drawing/2014/main" id="{7110A5C7-D36E-B141-AC3C-5E1163A945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55" y="248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5" name="Rectangle 241">
                <a:extLst>
                  <a:ext uri="{FF2B5EF4-FFF2-40B4-BE49-F238E27FC236}">
                    <a16:creationId xmlns:a16="http://schemas.microsoft.com/office/drawing/2014/main" id="{AC570A4F-4D2B-E842-8B2B-1DF6501700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8" y="2479"/>
                <a:ext cx="9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6" name="Rectangle 242">
                <a:extLst>
                  <a:ext uri="{FF2B5EF4-FFF2-40B4-BE49-F238E27FC236}">
                    <a16:creationId xmlns:a16="http://schemas.microsoft.com/office/drawing/2014/main" id="{49B70437-2A75-224C-8F1B-93A3217E5C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8" y="2481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6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7" name="Rectangle 243">
                <a:extLst>
                  <a:ext uri="{FF2B5EF4-FFF2-40B4-BE49-F238E27FC236}">
                    <a16:creationId xmlns:a16="http://schemas.microsoft.com/office/drawing/2014/main" id="{7179AD05-B90D-5E43-94DD-37E17A085C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46" y="248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8" name="Rectangle 244">
                <a:extLst>
                  <a:ext uri="{FF2B5EF4-FFF2-40B4-BE49-F238E27FC236}">
                    <a16:creationId xmlns:a16="http://schemas.microsoft.com/office/drawing/2014/main" id="{3E4AC0BD-F7E1-4646-874C-18C1CD10F7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15" y="2457"/>
                <a:ext cx="110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6000" tIns="36000" rIns="36000" bIns="360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i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x</a:t>
                </a:r>
                <a:endParaRPr lang="en-US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309" name="Rectangle 245">
                <a:extLst>
                  <a:ext uri="{FF2B5EF4-FFF2-40B4-BE49-F238E27FC236}">
                    <a16:creationId xmlns:a16="http://schemas.microsoft.com/office/drawing/2014/main" id="{D5439001-51A0-1B4F-8F8B-FCFE3B89A8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49" y="2482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10" name="Line 246">
                <a:extLst>
                  <a:ext uri="{FF2B5EF4-FFF2-40B4-BE49-F238E27FC236}">
                    <a16:creationId xmlns:a16="http://schemas.microsoft.com/office/drawing/2014/main" id="{2D6A690A-C916-394A-A440-C1D7EF6B3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4" y="1920"/>
                <a:ext cx="240" cy="54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" name="Line 247">
                <a:extLst>
                  <a:ext uri="{FF2B5EF4-FFF2-40B4-BE49-F238E27FC236}">
                    <a16:creationId xmlns:a16="http://schemas.microsoft.com/office/drawing/2014/main" id="{1E10718C-8313-8442-AEF5-9A22924A0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1920"/>
                <a:ext cx="215" cy="55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2" name="Line 248">
                <a:extLst>
                  <a:ext uri="{FF2B5EF4-FFF2-40B4-BE49-F238E27FC236}">
                    <a16:creationId xmlns:a16="http://schemas.microsoft.com/office/drawing/2014/main" id="{D01314E6-CAD7-3642-B4C8-04C1F79400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60" y="2459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3" name="Line 249">
                <a:extLst>
                  <a:ext uri="{FF2B5EF4-FFF2-40B4-BE49-F238E27FC236}">
                    <a16:creationId xmlns:a16="http://schemas.microsoft.com/office/drawing/2014/main" id="{5982FC4F-AD74-344A-BF86-D983CE3C7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459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8" name="Group 251">
              <a:extLst>
                <a:ext uri="{FF2B5EF4-FFF2-40B4-BE49-F238E27FC236}">
                  <a16:creationId xmlns:a16="http://schemas.microsoft.com/office/drawing/2014/main" id="{C58A9169-878A-984F-8E05-A3DEDFCE8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496"/>
              <a:ext cx="1848" cy="1442"/>
              <a:chOff x="2357" y="2496"/>
              <a:chExt cx="1848" cy="1442"/>
            </a:xfrm>
          </p:grpSpPr>
          <p:sp>
            <p:nvSpPr>
              <p:cNvPr id="202" name="Rectangle 252">
                <a:extLst>
                  <a:ext uri="{FF2B5EF4-FFF2-40B4-BE49-F238E27FC236}">
                    <a16:creationId xmlns:a16="http://schemas.microsoft.com/office/drawing/2014/main" id="{461CE238-26FF-774D-A8C9-B96AD35DCF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07" y="2514"/>
                <a:ext cx="22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10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3" name="Rectangle 253">
                <a:extLst>
                  <a:ext uri="{FF2B5EF4-FFF2-40B4-BE49-F238E27FC236}">
                    <a16:creationId xmlns:a16="http://schemas.microsoft.com/office/drawing/2014/main" id="{8A24BFEB-93FD-3F4F-BB69-A71DEAB247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14" y="2518"/>
                <a:ext cx="81" cy="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Rectangle 254">
                <a:extLst>
                  <a:ext uri="{FF2B5EF4-FFF2-40B4-BE49-F238E27FC236}">
                    <a16:creationId xmlns:a16="http://schemas.microsoft.com/office/drawing/2014/main" id="{6BC4E2D0-9B89-9C43-9A8A-BA318F61DF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17" y="2496"/>
                <a:ext cx="103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6000" tIns="36000" rIns="36000" bIns="360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i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y</a:t>
                </a:r>
                <a:endParaRPr lang="en-US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205" name="Rectangle 255">
                <a:extLst>
                  <a:ext uri="{FF2B5EF4-FFF2-40B4-BE49-F238E27FC236}">
                    <a16:creationId xmlns:a16="http://schemas.microsoft.com/office/drawing/2014/main" id="{7015140B-2D90-C34D-8218-0D3AABE90B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68" y="2520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Line 256">
                <a:extLst>
                  <a:ext uri="{FF2B5EF4-FFF2-40B4-BE49-F238E27FC236}">
                    <a16:creationId xmlns:a16="http://schemas.microsoft.com/office/drawing/2014/main" id="{930CF4B1-A8B1-C948-9179-1E5418D57B9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57" y="3374"/>
                <a:ext cx="179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arrow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" name="Line 257">
                <a:extLst>
                  <a:ext uri="{FF2B5EF4-FFF2-40B4-BE49-F238E27FC236}">
                    <a16:creationId xmlns:a16="http://schemas.microsoft.com/office/drawing/2014/main" id="{4E2AA2F6-7678-5445-B6E7-FACFC639FE6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576" y="2525"/>
                <a:ext cx="1" cy="141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arrow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" name="Rectangle 258">
                <a:extLst>
                  <a:ext uri="{FF2B5EF4-FFF2-40B4-BE49-F238E27FC236}">
                    <a16:creationId xmlns:a16="http://schemas.microsoft.com/office/drawing/2014/main" id="{E25C86CF-8A17-034B-A897-C6036B6E53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10" y="3391"/>
                <a:ext cx="89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9" name="Rectangle 259">
                <a:extLst>
                  <a:ext uri="{FF2B5EF4-FFF2-40B4-BE49-F238E27FC236}">
                    <a16:creationId xmlns:a16="http://schemas.microsoft.com/office/drawing/2014/main" id="{BCD9F282-8AE6-C047-A0F4-C463792E67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10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0" name="Rectangle 260">
                <a:extLst>
                  <a:ext uri="{FF2B5EF4-FFF2-40B4-BE49-F238E27FC236}">
                    <a16:creationId xmlns:a16="http://schemas.microsoft.com/office/drawing/2014/main" id="{527910AE-A24F-4F49-A6BD-BA7B3B79D4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8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1" name="Rectangle 261">
                <a:extLst>
                  <a:ext uri="{FF2B5EF4-FFF2-40B4-BE49-F238E27FC236}">
                    <a16:creationId xmlns:a16="http://schemas.microsoft.com/office/drawing/2014/main" id="{8DBC0FF2-573A-A84A-9186-287BA1CCCB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76" y="3052"/>
                <a:ext cx="73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2" name="Rectangle 262">
                <a:extLst>
                  <a:ext uri="{FF2B5EF4-FFF2-40B4-BE49-F238E27FC236}">
                    <a16:creationId xmlns:a16="http://schemas.microsoft.com/office/drawing/2014/main" id="{4FE7081C-DAC2-B143-95B6-11BBDCA187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76" y="3054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3" name="Rectangle 263">
                <a:extLst>
                  <a:ext uri="{FF2B5EF4-FFF2-40B4-BE49-F238E27FC236}">
                    <a16:creationId xmlns:a16="http://schemas.microsoft.com/office/drawing/2014/main" id="{A7E4DF4E-EE58-A043-AFEB-8555DDE11A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98" y="3054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4" name="Rectangle 264">
                <a:extLst>
                  <a:ext uri="{FF2B5EF4-FFF2-40B4-BE49-F238E27FC236}">
                    <a16:creationId xmlns:a16="http://schemas.microsoft.com/office/drawing/2014/main" id="{63A76B35-9BEB-7C4A-85E0-40B5134877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76" y="3618"/>
                <a:ext cx="73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5" name="Rectangle 265">
                <a:extLst>
                  <a:ext uri="{FF2B5EF4-FFF2-40B4-BE49-F238E27FC236}">
                    <a16:creationId xmlns:a16="http://schemas.microsoft.com/office/drawing/2014/main" id="{55EF918D-10FB-FD49-8FCE-5572BB2473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76" y="3621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6" name="Rectangle 266">
                <a:extLst>
                  <a:ext uri="{FF2B5EF4-FFF2-40B4-BE49-F238E27FC236}">
                    <a16:creationId xmlns:a16="http://schemas.microsoft.com/office/drawing/2014/main" id="{25BC49CE-B87E-E44F-A9CE-3ECF47992D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98" y="362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7" name="Rectangle 267">
                <a:extLst>
                  <a:ext uri="{FF2B5EF4-FFF2-40B4-BE49-F238E27FC236}">
                    <a16:creationId xmlns:a16="http://schemas.microsoft.com/office/drawing/2014/main" id="{5833D380-BBEF-464B-96CF-4309E2BFB2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76" y="2770"/>
                <a:ext cx="73" cy="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8" name="Rectangle 268">
                <a:extLst>
                  <a:ext uri="{FF2B5EF4-FFF2-40B4-BE49-F238E27FC236}">
                    <a16:creationId xmlns:a16="http://schemas.microsoft.com/office/drawing/2014/main" id="{93BA4C17-8A3D-AC46-A31C-F87D9C8684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76" y="2772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9" name="Rectangle 269">
                <a:extLst>
                  <a:ext uri="{FF2B5EF4-FFF2-40B4-BE49-F238E27FC236}">
                    <a16:creationId xmlns:a16="http://schemas.microsoft.com/office/drawing/2014/main" id="{8B8B7411-61A5-B241-9612-1B4524A16C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98" y="2772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0" name="Rectangle 270">
                <a:extLst>
                  <a:ext uri="{FF2B5EF4-FFF2-40B4-BE49-F238E27FC236}">
                    <a16:creationId xmlns:a16="http://schemas.microsoft.com/office/drawing/2014/main" id="{F7D437D4-6D58-1F4F-B45E-85BB6D3EA1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10" y="2770"/>
                <a:ext cx="89" cy="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1" name="Rectangle 271">
                <a:extLst>
                  <a:ext uri="{FF2B5EF4-FFF2-40B4-BE49-F238E27FC236}">
                    <a16:creationId xmlns:a16="http://schemas.microsoft.com/office/drawing/2014/main" id="{26888EE2-2B7C-8E43-A1ED-D62A9BA3BE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10" y="2772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2" name="Rectangle 272">
                <a:extLst>
                  <a:ext uri="{FF2B5EF4-FFF2-40B4-BE49-F238E27FC236}">
                    <a16:creationId xmlns:a16="http://schemas.microsoft.com/office/drawing/2014/main" id="{16315967-64F7-B54C-B3B5-F77410522D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8" y="2772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3" name="Rectangle 273">
                <a:extLst>
                  <a:ext uri="{FF2B5EF4-FFF2-40B4-BE49-F238E27FC236}">
                    <a16:creationId xmlns:a16="http://schemas.microsoft.com/office/drawing/2014/main" id="{669B61AD-0967-AC4B-90C1-F90333BFEF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65" y="3052"/>
                <a:ext cx="143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4" name="Rectangle 274">
                <a:extLst>
                  <a:ext uri="{FF2B5EF4-FFF2-40B4-BE49-F238E27FC236}">
                    <a16:creationId xmlns:a16="http://schemas.microsoft.com/office/drawing/2014/main" id="{69562FAB-8D5E-D046-9EE5-784392EF26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65" y="3054"/>
                <a:ext cx="12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0.5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5" name="Rectangle 275">
                <a:extLst>
                  <a:ext uri="{FF2B5EF4-FFF2-40B4-BE49-F238E27FC236}">
                    <a16:creationId xmlns:a16="http://schemas.microsoft.com/office/drawing/2014/main" id="{1CEFA7DF-BA1C-2042-AB9F-D8BD37D638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58" y="3054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6" name="Rectangle 276">
                <a:extLst>
                  <a:ext uri="{FF2B5EF4-FFF2-40B4-BE49-F238E27FC236}">
                    <a16:creationId xmlns:a16="http://schemas.microsoft.com/office/drawing/2014/main" id="{2E0962D8-D61C-614D-A09F-49E2614225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44" y="3618"/>
                <a:ext cx="164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7" name="Rectangle 277">
                <a:extLst>
                  <a:ext uri="{FF2B5EF4-FFF2-40B4-BE49-F238E27FC236}">
                    <a16:creationId xmlns:a16="http://schemas.microsoft.com/office/drawing/2014/main" id="{8DB48337-6A49-6F43-860F-F975637749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44" y="3621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-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8" name="Rectangle 278">
                <a:extLst>
                  <a:ext uri="{FF2B5EF4-FFF2-40B4-BE49-F238E27FC236}">
                    <a16:creationId xmlns:a16="http://schemas.microsoft.com/office/drawing/2014/main" id="{B2318F47-F2AC-8C45-AAA6-59536F730F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66" y="3621"/>
                <a:ext cx="12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0.5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9" name="Rectangle 279">
                <a:extLst>
                  <a:ext uri="{FF2B5EF4-FFF2-40B4-BE49-F238E27FC236}">
                    <a16:creationId xmlns:a16="http://schemas.microsoft.com/office/drawing/2014/main" id="{B2598F42-461B-8846-B87A-FFF9BFEC98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60" y="362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0" name="Line 280">
                <a:extLst>
                  <a:ext uri="{FF2B5EF4-FFF2-40B4-BE49-F238E27FC236}">
                    <a16:creationId xmlns:a16="http://schemas.microsoft.com/office/drawing/2014/main" id="{B8A14E8F-2C17-0645-8EB7-8F4B681EFA8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800" y="3357"/>
                <a:ext cx="1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1" name="Line 281">
                <a:extLst>
                  <a:ext uri="{FF2B5EF4-FFF2-40B4-BE49-F238E27FC236}">
                    <a16:creationId xmlns:a16="http://schemas.microsoft.com/office/drawing/2014/main" id="{47516B70-54B0-0640-99B2-06742414907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022" y="3357"/>
                <a:ext cx="1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" name="Line 282">
                <a:extLst>
                  <a:ext uri="{FF2B5EF4-FFF2-40B4-BE49-F238E27FC236}">
                    <a16:creationId xmlns:a16="http://schemas.microsoft.com/office/drawing/2014/main" id="{F29B2FC4-BB73-9041-BC5E-33E774C1979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251" y="3357"/>
                <a:ext cx="0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" name="Line 283">
                <a:extLst>
                  <a:ext uri="{FF2B5EF4-FFF2-40B4-BE49-F238E27FC236}">
                    <a16:creationId xmlns:a16="http://schemas.microsoft.com/office/drawing/2014/main" id="{02F4EDD0-9FB3-9344-BB0C-71F49D4FF02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474" y="3357"/>
                <a:ext cx="0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" name="Line 284">
                <a:extLst>
                  <a:ext uri="{FF2B5EF4-FFF2-40B4-BE49-F238E27FC236}">
                    <a16:creationId xmlns:a16="http://schemas.microsoft.com/office/drawing/2014/main" id="{3210AA3C-3DCC-8641-9C40-16E932857FF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698" y="3357"/>
                <a:ext cx="0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" name="Line 285">
                <a:extLst>
                  <a:ext uri="{FF2B5EF4-FFF2-40B4-BE49-F238E27FC236}">
                    <a16:creationId xmlns:a16="http://schemas.microsoft.com/office/drawing/2014/main" id="{1F023D8B-E9E0-4B47-A467-5FF108BBB2C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921" y="3357"/>
                <a:ext cx="1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" name="Rectangle 286">
                <a:extLst>
                  <a:ext uri="{FF2B5EF4-FFF2-40B4-BE49-F238E27FC236}">
                    <a16:creationId xmlns:a16="http://schemas.microsoft.com/office/drawing/2014/main" id="{43FB57AB-D34E-D340-B689-72BA0AFBE3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66" y="3391"/>
                <a:ext cx="89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7" name="Rectangle 287">
                <a:extLst>
                  <a:ext uri="{FF2B5EF4-FFF2-40B4-BE49-F238E27FC236}">
                    <a16:creationId xmlns:a16="http://schemas.microsoft.com/office/drawing/2014/main" id="{0D8888FF-A9FB-1E4A-8E02-45D901E15B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66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1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Rectangle 288">
                <a:extLst>
                  <a:ext uri="{FF2B5EF4-FFF2-40B4-BE49-F238E27FC236}">
                    <a16:creationId xmlns:a16="http://schemas.microsoft.com/office/drawing/2014/main" id="{873088F0-7BBC-FD46-8C70-189CE3AE5F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03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9" name="Rectangle 289">
                <a:extLst>
                  <a:ext uri="{FF2B5EF4-FFF2-40B4-BE49-F238E27FC236}">
                    <a16:creationId xmlns:a16="http://schemas.microsoft.com/office/drawing/2014/main" id="{A4C7751B-A3D0-BA4C-9690-6302FB21C2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22" y="3391"/>
                <a:ext cx="9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0" name="Rectangle 290">
                <a:extLst>
                  <a:ext uri="{FF2B5EF4-FFF2-40B4-BE49-F238E27FC236}">
                    <a16:creationId xmlns:a16="http://schemas.microsoft.com/office/drawing/2014/main" id="{F8C78AF3-3141-E143-82DE-C1CFDD71C1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22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2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1" name="Rectangle 291">
                <a:extLst>
                  <a:ext uri="{FF2B5EF4-FFF2-40B4-BE49-F238E27FC236}">
                    <a16:creationId xmlns:a16="http://schemas.microsoft.com/office/drawing/2014/main" id="{50A4354E-21F3-2346-B91A-41C78372F2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60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2" name="Rectangle 292">
                <a:extLst>
                  <a:ext uri="{FF2B5EF4-FFF2-40B4-BE49-F238E27FC236}">
                    <a16:creationId xmlns:a16="http://schemas.microsoft.com/office/drawing/2014/main" id="{A4D64C32-850A-8D46-9041-AE8850B4B2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39" y="3391"/>
                <a:ext cx="88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3" name="Rectangle 293">
                <a:extLst>
                  <a:ext uri="{FF2B5EF4-FFF2-40B4-BE49-F238E27FC236}">
                    <a16:creationId xmlns:a16="http://schemas.microsoft.com/office/drawing/2014/main" id="{28DE89FF-5F4F-7043-9113-9FFFADAB3E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39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3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4" name="Rectangle 294">
                <a:extLst>
                  <a:ext uri="{FF2B5EF4-FFF2-40B4-BE49-F238E27FC236}">
                    <a16:creationId xmlns:a16="http://schemas.microsoft.com/office/drawing/2014/main" id="{CB8461FC-7347-3F46-A635-8CDB140340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76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5" name="Rectangle 295">
                <a:extLst>
                  <a:ext uri="{FF2B5EF4-FFF2-40B4-BE49-F238E27FC236}">
                    <a16:creationId xmlns:a16="http://schemas.microsoft.com/office/drawing/2014/main" id="{399DFAD1-0A9C-1D42-92DD-A3BA6D8AED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49" y="3391"/>
                <a:ext cx="9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6" name="Rectangle 296">
                <a:extLst>
                  <a:ext uri="{FF2B5EF4-FFF2-40B4-BE49-F238E27FC236}">
                    <a16:creationId xmlns:a16="http://schemas.microsoft.com/office/drawing/2014/main" id="{A3CF5C63-E4BB-1A44-880C-E1B7D70B08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49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4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7" name="Rectangle 297">
                <a:extLst>
                  <a:ext uri="{FF2B5EF4-FFF2-40B4-BE49-F238E27FC236}">
                    <a16:creationId xmlns:a16="http://schemas.microsoft.com/office/drawing/2014/main" id="{54303411-FB36-BD4F-AA61-1419153F9A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87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8" name="Rectangle 298">
                <a:extLst>
                  <a:ext uri="{FF2B5EF4-FFF2-40B4-BE49-F238E27FC236}">
                    <a16:creationId xmlns:a16="http://schemas.microsoft.com/office/drawing/2014/main" id="{85D35E49-B660-FA41-B9C1-43065499A9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98" y="3391"/>
                <a:ext cx="89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9" name="Rectangle 299">
                <a:extLst>
                  <a:ext uri="{FF2B5EF4-FFF2-40B4-BE49-F238E27FC236}">
                    <a16:creationId xmlns:a16="http://schemas.microsoft.com/office/drawing/2014/main" id="{F91C17BC-2993-4C45-B19E-F86909D3BF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98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5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0" name="Rectangle 300">
                <a:extLst>
                  <a:ext uri="{FF2B5EF4-FFF2-40B4-BE49-F238E27FC236}">
                    <a16:creationId xmlns:a16="http://schemas.microsoft.com/office/drawing/2014/main" id="{BC1FADE5-596F-E644-A381-619679B313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35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1" name="Rectangle 301">
                <a:extLst>
                  <a:ext uri="{FF2B5EF4-FFF2-40B4-BE49-F238E27FC236}">
                    <a16:creationId xmlns:a16="http://schemas.microsoft.com/office/drawing/2014/main" id="{BB08C459-9D0C-534C-86AC-EFCE1C237E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88" y="3391"/>
                <a:ext cx="9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2" name="Rectangle 302">
                <a:extLst>
                  <a:ext uri="{FF2B5EF4-FFF2-40B4-BE49-F238E27FC236}">
                    <a16:creationId xmlns:a16="http://schemas.microsoft.com/office/drawing/2014/main" id="{96B3DEEF-67EA-1E47-8CCF-D1570616BE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88" y="3393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6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3" name="Rectangle 303">
                <a:extLst>
                  <a:ext uri="{FF2B5EF4-FFF2-40B4-BE49-F238E27FC236}">
                    <a16:creationId xmlns:a16="http://schemas.microsoft.com/office/drawing/2014/main" id="{894178E1-EAFD-7043-A260-A5E9B38DEE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26" y="33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4" name="Rectangle 304">
                <a:extLst>
                  <a:ext uri="{FF2B5EF4-FFF2-40B4-BE49-F238E27FC236}">
                    <a16:creationId xmlns:a16="http://schemas.microsoft.com/office/drawing/2014/main" id="{D39E2A80-026E-3248-AAFA-42910DB61C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95" y="3369"/>
                <a:ext cx="110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6000" tIns="36000" rIns="36000" bIns="360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i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x</a:t>
                </a:r>
                <a:endParaRPr lang="en-US" altLang="zh-CN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255" name="Rectangle 305">
                <a:extLst>
                  <a:ext uri="{FF2B5EF4-FFF2-40B4-BE49-F238E27FC236}">
                    <a16:creationId xmlns:a16="http://schemas.microsoft.com/office/drawing/2014/main" id="{56B98C9D-6035-574D-ACE5-3F3B1EA618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29" y="3394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 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9" name="Text Box 310">
              <a:extLst>
                <a:ext uri="{FF2B5EF4-FFF2-40B4-BE49-F238E27FC236}">
                  <a16:creationId xmlns:a16="http://schemas.microsoft.com/office/drawing/2014/main" id="{E8327F5C-4C0C-5A4F-AE1D-9DE43F7D7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448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2"/>
                  </a:solidFill>
                </a:rPr>
                <a:t>A</a:t>
              </a:r>
            </a:p>
          </p:txBody>
        </p:sp>
        <p:sp>
          <p:nvSpPr>
            <p:cNvPr id="200" name="Rectangle 311">
              <a:extLst>
                <a:ext uri="{FF2B5EF4-FFF2-40B4-BE49-F238E27FC236}">
                  <a16:creationId xmlns:a16="http://schemas.microsoft.com/office/drawing/2014/main" id="{34378292-5D2D-6843-B2E0-90AA3C78F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448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chemeClr val="accent2"/>
                  </a:solidFill>
                </a:rPr>
                <a:t>B</a:t>
              </a:r>
            </a:p>
          </p:txBody>
        </p:sp>
        <p:sp>
          <p:nvSpPr>
            <p:cNvPr id="201" name="Rectangle 312">
              <a:extLst>
                <a:ext uri="{FF2B5EF4-FFF2-40B4-BE49-F238E27FC236}">
                  <a16:creationId xmlns:a16="http://schemas.microsoft.com/office/drawing/2014/main" id="{27A9FF5C-B182-5B48-B11E-4C74D8CA1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448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chemeClr val="accent2"/>
                  </a:solidFill>
                </a:rPr>
                <a:t>C</a:t>
              </a:r>
            </a:p>
          </p:txBody>
        </p:sp>
      </p:grpSp>
      <p:sp>
        <p:nvSpPr>
          <p:cNvPr id="369" name="Text Box 314">
            <a:extLst>
              <a:ext uri="{FF2B5EF4-FFF2-40B4-BE49-F238E27FC236}">
                <a16:creationId xmlns:a16="http://schemas.microsoft.com/office/drawing/2014/main" id="{F6382B4A-4EBF-A640-B085-377651C6C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993" y="5969616"/>
            <a:ext cx="7096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5400" dirty="0">
                <a:solidFill>
                  <a:srgbClr val="FF3300"/>
                </a:solidFill>
                <a:sym typeface="Wingdings" panose="05000000000000000000" pitchFamily="2" charset="2"/>
              </a:rPr>
              <a:t></a:t>
            </a:r>
            <a:endParaRPr lang="en-US" altLang="zh-CN" sz="5400" dirty="0">
              <a:solidFill>
                <a:srgbClr val="FF3300"/>
              </a:solidFill>
            </a:endParaRPr>
          </a:p>
        </p:txBody>
      </p:sp>
      <p:sp>
        <p:nvSpPr>
          <p:cNvPr id="370" name="Freeform 140">
            <a:extLst>
              <a:ext uri="{FF2B5EF4-FFF2-40B4-BE49-F238E27FC236}">
                <a16:creationId xmlns:a16="http://schemas.microsoft.com/office/drawing/2014/main" id="{3036806C-EAB3-4E4B-8AF7-6685E080F4CB}"/>
              </a:ext>
            </a:extLst>
          </p:cNvPr>
          <p:cNvSpPr>
            <a:spLocks noChangeAspect="1"/>
          </p:cNvSpPr>
          <p:nvPr/>
        </p:nvSpPr>
        <p:spPr bwMode="auto">
          <a:xfrm>
            <a:off x="6300788" y="4513263"/>
            <a:ext cx="1905000" cy="2132012"/>
          </a:xfrm>
          <a:custGeom>
            <a:avLst/>
            <a:gdLst>
              <a:gd name="T0" fmla="*/ 14197778 w 3429"/>
              <a:gd name="T1" fmla="*/ 402191614 h 3836"/>
              <a:gd name="T2" fmla="*/ 29012222 w 3429"/>
              <a:gd name="T3" fmla="*/ 603596719 h 3836"/>
              <a:gd name="T4" fmla="*/ 47531111 w 3429"/>
              <a:gd name="T5" fmla="*/ 749398883 h 3836"/>
              <a:gd name="T6" fmla="*/ 61728333 w 3429"/>
              <a:gd name="T7" fmla="*/ 848556894 h 3836"/>
              <a:gd name="T8" fmla="*/ 76543333 w 3429"/>
              <a:gd name="T9" fmla="*/ 910955483 h 3836"/>
              <a:gd name="T10" fmla="*/ 94753333 w 3429"/>
              <a:gd name="T11" fmla="*/ 936285631 h 3836"/>
              <a:gd name="T12" fmla="*/ 116666667 w 3429"/>
              <a:gd name="T13" fmla="*/ 925164820 h 3836"/>
              <a:gd name="T14" fmla="*/ 135185000 w 3429"/>
              <a:gd name="T15" fmla="*/ 892420984 h 3836"/>
              <a:gd name="T16" fmla="*/ 149382778 w 3429"/>
              <a:gd name="T17" fmla="*/ 841452225 h 3836"/>
              <a:gd name="T18" fmla="*/ 164197778 w 3429"/>
              <a:gd name="T19" fmla="*/ 779053636 h 3836"/>
              <a:gd name="T20" fmla="*/ 182716111 w 3429"/>
              <a:gd name="T21" fmla="*/ 706152276 h 3836"/>
              <a:gd name="T22" fmla="*/ 197531111 w 3429"/>
              <a:gd name="T23" fmla="*/ 628926866 h 3836"/>
              <a:gd name="T24" fmla="*/ 211728333 w 3429"/>
              <a:gd name="T25" fmla="*/ 552318940 h 3836"/>
              <a:gd name="T26" fmla="*/ 229938333 w 3429"/>
              <a:gd name="T27" fmla="*/ 471694872 h 3836"/>
              <a:gd name="T28" fmla="*/ 244753333 w 3429"/>
              <a:gd name="T29" fmla="*/ 395086945 h 3836"/>
              <a:gd name="T30" fmla="*/ 258950556 w 3429"/>
              <a:gd name="T31" fmla="*/ 317861536 h 3836"/>
              <a:gd name="T32" fmla="*/ 277468889 w 3429"/>
              <a:gd name="T33" fmla="*/ 252064844 h 3836"/>
              <a:gd name="T34" fmla="*/ 292283889 w 3429"/>
              <a:gd name="T35" fmla="*/ 190284294 h 3836"/>
              <a:gd name="T36" fmla="*/ 306481667 w 3429"/>
              <a:gd name="T37" fmla="*/ 135299393 h 3836"/>
              <a:gd name="T38" fmla="*/ 324691111 w 3429"/>
              <a:gd name="T39" fmla="*/ 91435303 h 3836"/>
              <a:gd name="T40" fmla="*/ 339506111 w 3429"/>
              <a:gd name="T41" fmla="*/ 54984901 h 3836"/>
              <a:gd name="T42" fmla="*/ 357407222 w 3429"/>
              <a:gd name="T43" fmla="*/ 25330148 h 3836"/>
              <a:gd name="T44" fmla="*/ 379938333 w 3429"/>
              <a:gd name="T45" fmla="*/ 3398103 h 3836"/>
              <a:gd name="T46" fmla="*/ 408950556 w 3429"/>
              <a:gd name="T47" fmla="*/ 3398103 h 3836"/>
              <a:gd name="T48" fmla="*/ 426851667 w 3429"/>
              <a:gd name="T49" fmla="*/ 18225479 h 3836"/>
              <a:gd name="T50" fmla="*/ 445061667 w 3429"/>
              <a:gd name="T51" fmla="*/ 43864090 h 3836"/>
              <a:gd name="T52" fmla="*/ 459876667 w 3429"/>
              <a:gd name="T53" fmla="*/ 72901360 h 3836"/>
              <a:gd name="T54" fmla="*/ 474073889 w 3429"/>
              <a:gd name="T55" fmla="*/ 106262679 h 3836"/>
              <a:gd name="T56" fmla="*/ 492592778 w 3429"/>
              <a:gd name="T57" fmla="*/ 146420204 h 3836"/>
              <a:gd name="T58" fmla="*/ 507407222 w 3429"/>
              <a:gd name="T59" fmla="*/ 190284294 h 3836"/>
              <a:gd name="T60" fmla="*/ 522222222 w 3429"/>
              <a:gd name="T61" fmla="*/ 237855507 h 3836"/>
              <a:gd name="T62" fmla="*/ 540432222 w 3429"/>
              <a:gd name="T63" fmla="*/ 285426719 h 3836"/>
              <a:gd name="T64" fmla="*/ 554629444 w 3429"/>
              <a:gd name="T65" fmla="*/ 332997376 h 3836"/>
              <a:gd name="T66" fmla="*/ 569444444 w 3429"/>
              <a:gd name="T67" fmla="*/ 380259569 h 3836"/>
              <a:gd name="T68" fmla="*/ 587962778 w 3429"/>
              <a:gd name="T69" fmla="*/ 427830781 h 3836"/>
              <a:gd name="T70" fmla="*/ 602160556 w 3429"/>
              <a:gd name="T71" fmla="*/ 475401994 h 3836"/>
              <a:gd name="T72" fmla="*/ 616975556 w 3429"/>
              <a:gd name="T73" fmla="*/ 515559518 h 3836"/>
              <a:gd name="T74" fmla="*/ 631172778 w 3429"/>
              <a:gd name="T75" fmla="*/ 552318940 h 3836"/>
              <a:gd name="T76" fmla="*/ 649691111 w 3429"/>
              <a:gd name="T77" fmla="*/ 585062776 h 3836"/>
              <a:gd name="T78" fmla="*/ 664506111 w 3429"/>
              <a:gd name="T79" fmla="*/ 610701387 h 3836"/>
              <a:gd name="T80" fmla="*/ 686420000 w 3429"/>
              <a:gd name="T81" fmla="*/ 632633433 h 3836"/>
              <a:gd name="T82" fmla="*/ 711728333 w 3429"/>
              <a:gd name="T83" fmla="*/ 647460809 h 3836"/>
              <a:gd name="T84" fmla="*/ 737345556 w 3429"/>
              <a:gd name="T85" fmla="*/ 640356140 h 3836"/>
              <a:gd name="T86" fmla="*/ 763271667 w 3429"/>
              <a:gd name="T87" fmla="*/ 614099490 h 3836"/>
              <a:gd name="T88" fmla="*/ 777468889 w 3429"/>
              <a:gd name="T89" fmla="*/ 589078362 h 3836"/>
              <a:gd name="T90" fmla="*/ 792283889 w 3429"/>
              <a:gd name="T91" fmla="*/ 556025506 h 3836"/>
              <a:gd name="T92" fmla="*/ 810802222 w 3429"/>
              <a:gd name="T93" fmla="*/ 519884123 h 3836"/>
              <a:gd name="T94" fmla="*/ 825000000 w 3429"/>
              <a:gd name="T95" fmla="*/ 479417580 h 3836"/>
              <a:gd name="T96" fmla="*/ 839815000 w 3429"/>
              <a:gd name="T97" fmla="*/ 434935450 h 3836"/>
              <a:gd name="T98" fmla="*/ 858024444 w 3429"/>
              <a:gd name="T99" fmla="*/ 391689399 h 3836"/>
              <a:gd name="T100" fmla="*/ 872222222 w 3429"/>
              <a:gd name="T101" fmla="*/ 351222855 h 3836"/>
              <a:gd name="T102" fmla="*/ 887037222 w 3429"/>
              <a:gd name="T103" fmla="*/ 310756311 h 3836"/>
              <a:gd name="T104" fmla="*/ 905555556 w 3429"/>
              <a:gd name="T105" fmla="*/ 278321495 h 3836"/>
              <a:gd name="T106" fmla="*/ 923456667 w 3429"/>
              <a:gd name="T107" fmla="*/ 252064844 h 3836"/>
              <a:gd name="T108" fmla="*/ 949382778 w 3429"/>
              <a:gd name="T109" fmla="*/ 248666742 h 3836"/>
              <a:gd name="T110" fmla="*/ 963580000 w 3429"/>
              <a:gd name="T111" fmla="*/ 278321495 h 3836"/>
              <a:gd name="T112" fmla="*/ 982098889 w 3429"/>
              <a:gd name="T113" fmla="*/ 329290810 h 3836"/>
              <a:gd name="T114" fmla="*/ 996913333 w 3429"/>
              <a:gd name="T115" fmla="*/ 409914322 h 3836"/>
              <a:gd name="T116" fmla="*/ 1011111111 w 3429"/>
              <a:gd name="T117" fmla="*/ 526988792 h 3836"/>
              <a:gd name="T118" fmla="*/ 1029321111 w 3429"/>
              <a:gd name="T119" fmla="*/ 687618333 h 3836"/>
              <a:gd name="T120" fmla="*/ 1044135556 w 3429"/>
              <a:gd name="T121" fmla="*/ 896128106 h 3836"/>
              <a:gd name="T122" fmla="*/ 1058333333 w 3429"/>
              <a:gd name="T123" fmla="*/ 1163020327 h 38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3429" h="3836">
                <a:moveTo>
                  <a:pt x="0" y="580"/>
                </a:moveTo>
                <a:lnTo>
                  <a:pt x="12" y="699"/>
                </a:lnTo>
                <a:lnTo>
                  <a:pt x="12" y="805"/>
                </a:lnTo>
                <a:lnTo>
                  <a:pt x="23" y="912"/>
                </a:lnTo>
                <a:lnTo>
                  <a:pt x="23" y="1018"/>
                </a:lnTo>
                <a:lnTo>
                  <a:pt x="35" y="1114"/>
                </a:lnTo>
                <a:lnTo>
                  <a:pt x="46" y="1208"/>
                </a:lnTo>
                <a:lnTo>
                  <a:pt x="46" y="1302"/>
                </a:lnTo>
                <a:lnTo>
                  <a:pt x="58" y="1398"/>
                </a:lnTo>
                <a:lnTo>
                  <a:pt x="58" y="1481"/>
                </a:lnTo>
                <a:lnTo>
                  <a:pt x="71" y="1575"/>
                </a:lnTo>
                <a:lnTo>
                  <a:pt x="71" y="1658"/>
                </a:lnTo>
                <a:lnTo>
                  <a:pt x="83" y="1729"/>
                </a:lnTo>
                <a:lnTo>
                  <a:pt x="83" y="1811"/>
                </a:lnTo>
                <a:lnTo>
                  <a:pt x="94" y="1882"/>
                </a:lnTo>
                <a:lnTo>
                  <a:pt x="94" y="1954"/>
                </a:lnTo>
                <a:lnTo>
                  <a:pt x="106" y="2025"/>
                </a:lnTo>
                <a:lnTo>
                  <a:pt x="106" y="2084"/>
                </a:lnTo>
                <a:lnTo>
                  <a:pt x="117" y="2155"/>
                </a:lnTo>
                <a:lnTo>
                  <a:pt x="131" y="2215"/>
                </a:lnTo>
                <a:lnTo>
                  <a:pt x="131" y="2272"/>
                </a:lnTo>
                <a:lnTo>
                  <a:pt x="140" y="2320"/>
                </a:lnTo>
                <a:lnTo>
                  <a:pt x="140" y="2380"/>
                </a:lnTo>
                <a:lnTo>
                  <a:pt x="154" y="2426"/>
                </a:lnTo>
                <a:lnTo>
                  <a:pt x="154" y="2474"/>
                </a:lnTo>
                <a:lnTo>
                  <a:pt x="165" y="2522"/>
                </a:lnTo>
                <a:lnTo>
                  <a:pt x="165" y="2570"/>
                </a:lnTo>
                <a:lnTo>
                  <a:pt x="177" y="2605"/>
                </a:lnTo>
                <a:lnTo>
                  <a:pt x="177" y="2651"/>
                </a:lnTo>
                <a:lnTo>
                  <a:pt x="188" y="2687"/>
                </a:lnTo>
                <a:lnTo>
                  <a:pt x="200" y="2724"/>
                </a:lnTo>
                <a:lnTo>
                  <a:pt x="200" y="2747"/>
                </a:lnTo>
                <a:lnTo>
                  <a:pt x="211" y="2782"/>
                </a:lnTo>
                <a:lnTo>
                  <a:pt x="211" y="2818"/>
                </a:lnTo>
                <a:lnTo>
                  <a:pt x="225" y="2841"/>
                </a:lnTo>
                <a:lnTo>
                  <a:pt x="225" y="2864"/>
                </a:lnTo>
                <a:lnTo>
                  <a:pt x="236" y="2889"/>
                </a:lnTo>
                <a:lnTo>
                  <a:pt x="236" y="2912"/>
                </a:lnTo>
                <a:lnTo>
                  <a:pt x="248" y="2935"/>
                </a:lnTo>
                <a:lnTo>
                  <a:pt x="248" y="2949"/>
                </a:lnTo>
                <a:lnTo>
                  <a:pt x="259" y="2960"/>
                </a:lnTo>
                <a:lnTo>
                  <a:pt x="259" y="2983"/>
                </a:lnTo>
                <a:lnTo>
                  <a:pt x="271" y="2995"/>
                </a:lnTo>
                <a:lnTo>
                  <a:pt x="284" y="3006"/>
                </a:lnTo>
                <a:lnTo>
                  <a:pt x="284" y="3020"/>
                </a:lnTo>
                <a:lnTo>
                  <a:pt x="296" y="3020"/>
                </a:lnTo>
                <a:lnTo>
                  <a:pt x="296" y="3031"/>
                </a:lnTo>
                <a:lnTo>
                  <a:pt x="307" y="3031"/>
                </a:lnTo>
                <a:lnTo>
                  <a:pt x="307" y="3043"/>
                </a:lnTo>
                <a:lnTo>
                  <a:pt x="319" y="3043"/>
                </a:lnTo>
                <a:lnTo>
                  <a:pt x="330" y="3043"/>
                </a:lnTo>
                <a:lnTo>
                  <a:pt x="342" y="3043"/>
                </a:lnTo>
                <a:lnTo>
                  <a:pt x="355" y="3031"/>
                </a:lnTo>
                <a:lnTo>
                  <a:pt x="367" y="3020"/>
                </a:lnTo>
                <a:lnTo>
                  <a:pt x="378" y="3006"/>
                </a:lnTo>
                <a:lnTo>
                  <a:pt x="378" y="2995"/>
                </a:lnTo>
                <a:lnTo>
                  <a:pt x="390" y="2983"/>
                </a:lnTo>
                <a:lnTo>
                  <a:pt x="390" y="2972"/>
                </a:lnTo>
                <a:lnTo>
                  <a:pt x="402" y="2960"/>
                </a:lnTo>
                <a:lnTo>
                  <a:pt x="402" y="2949"/>
                </a:lnTo>
                <a:lnTo>
                  <a:pt x="413" y="2935"/>
                </a:lnTo>
                <a:lnTo>
                  <a:pt x="413" y="2924"/>
                </a:lnTo>
                <a:lnTo>
                  <a:pt x="425" y="2901"/>
                </a:lnTo>
                <a:lnTo>
                  <a:pt x="438" y="2889"/>
                </a:lnTo>
                <a:lnTo>
                  <a:pt x="438" y="2864"/>
                </a:lnTo>
                <a:lnTo>
                  <a:pt x="450" y="2855"/>
                </a:lnTo>
                <a:lnTo>
                  <a:pt x="450" y="2830"/>
                </a:lnTo>
                <a:lnTo>
                  <a:pt x="461" y="2818"/>
                </a:lnTo>
                <a:lnTo>
                  <a:pt x="461" y="2795"/>
                </a:lnTo>
                <a:lnTo>
                  <a:pt x="473" y="2770"/>
                </a:lnTo>
                <a:lnTo>
                  <a:pt x="473" y="2747"/>
                </a:lnTo>
                <a:lnTo>
                  <a:pt x="484" y="2724"/>
                </a:lnTo>
                <a:lnTo>
                  <a:pt x="484" y="2699"/>
                </a:lnTo>
                <a:lnTo>
                  <a:pt x="496" y="2676"/>
                </a:lnTo>
                <a:lnTo>
                  <a:pt x="509" y="2651"/>
                </a:lnTo>
                <a:lnTo>
                  <a:pt x="509" y="2628"/>
                </a:lnTo>
                <a:lnTo>
                  <a:pt x="521" y="2605"/>
                </a:lnTo>
                <a:lnTo>
                  <a:pt x="521" y="2580"/>
                </a:lnTo>
                <a:lnTo>
                  <a:pt x="532" y="2545"/>
                </a:lnTo>
                <a:lnTo>
                  <a:pt x="532" y="2522"/>
                </a:lnTo>
                <a:lnTo>
                  <a:pt x="544" y="2499"/>
                </a:lnTo>
                <a:lnTo>
                  <a:pt x="544" y="2463"/>
                </a:lnTo>
                <a:lnTo>
                  <a:pt x="555" y="2440"/>
                </a:lnTo>
                <a:lnTo>
                  <a:pt x="555" y="2403"/>
                </a:lnTo>
                <a:lnTo>
                  <a:pt x="569" y="2380"/>
                </a:lnTo>
                <a:lnTo>
                  <a:pt x="569" y="2344"/>
                </a:lnTo>
                <a:lnTo>
                  <a:pt x="580" y="2320"/>
                </a:lnTo>
                <a:lnTo>
                  <a:pt x="592" y="2286"/>
                </a:lnTo>
                <a:lnTo>
                  <a:pt x="592" y="2261"/>
                </a:lnTo>
                <a:lnTo>
                  <a:pt x="603" y="2226"/>
                </a:lnTo>
                <a:lnTo>
                  <a:pt x="603" y="2201"/>
                </a:lnTo>
                <a:lnTo>
                  <a:pt x="615" y="2167"/>
                </a:lnTo>
                <a:lnTo>
                  <a:pt x="615" y="2132"/>
                </a:lnTo>
                <a:lnTo>
                  <a:pt x="626" y="2107"/>
                </a:lnTo>
                <a:lnTo>
                  <a:pt x="626" y="2073"/>
                </a:lnTo>
                <a:lnTo>
                  <a:pt x="640" y="2036"/>
                </a:lnTo>
                <a:lnTo>
                  <a:pt x="640" y="2013"/>
                </a:lnTo>
                <a:lnTo>
                  <a:pt x="649" y="1977"/>
                </a:lnTo>
                <a:lnTo>
                  <a:pt x="663" y="1942"/>
                </a:lnTo>
                <a:lnTo>
                  <a:pt x="663" y="1907"/>
                </a:lnTo>
                <a:lnTo>
                  <a:pt x="674" y="1882"/>
                </a:lnTo>
                <a:lnTo>
                  <a:pt x="674" y="1848"/>
                </a:lnTo>
                <a:lnTo>
                  <a:pt x="686" y="1811"/>
                </a:lnTo>
                <a:lnTo>
                  <a:pt x="686" y="1788"/>
                </a:lnTo>
                <a:lnTo>
                  <a:pt x="697" y="1752"/>
                </a:lnTo>
                <a:lnTo>
                  <a:pt x="697" y="1717"/>
                </a:lnTo>
                <a:lnTo>
                  <a:pt x="709" y="1683"/>
                </a:lnTo>
                <a:lnTo>
                  <a:pt x="709" y="1658"/>
                </a:lnTo>
                <a:lnTo>
                  <a:pt x="720" y="1623"/>
                </a:lnTo>
                <a:lnTo>
                  <a:pt x="720" y="1587"/>
                </a:lnTo>
                <a:lnTo>
                  <a:pt x="734" y="1552"/>
                </a:lnTo>
                <a:lnTo>
                  <a:pt x="745" y="1527"/>
                </a:lnTo>
                <a:lnTo>
                  <a:pt x="745" y="1492"/>
                </a:lnTo>
                <a:lnTo>
                  <a:pt x="757" y="1456"/>
                </a:lnTo>
                <a:lnTo>
                  <a:pt x="757" y="1433"/>
                </a:lnTo>
                <a:lnTo>
                  <a:pt x="768" y="1398"/>
                </a:lnTo>
                <a:lnTo>
                  <a:pt x="768" y="1362"/>
                </a:lnTo>
                <a:lnTo>
                  <a:pt x="780" y="1339"/>
                </a:lnTo>
                <a:lnTo>
                  <a:pt x="780" y="1302"/>
                </a:lnTo>
                <a:lnTo>
                  <a:pt x="793" y="1279"/>
                </a:lnTo>
                <a:lnTo>
                  <a:pt x="793" y="1243"/>
                </a:lnTo>
                <a:lnTo>
                  <a:pt x="805" y="1208"/>
                </a:lnTo>
                <a:lnTo>
                  <a:pt x="805" y="1183"/>
                </a:lnTo>
                <a:lnTo>
                  <a:pt x="816" y="1149"/>
                </a:lnTo>
                <a:lnTo>
                  <a:pt x="828" y="1126"/>
                </a:lnTo>
                <a:lnTo>
                  <a:pt x="828" y="1089"/>
                </a:lnTo>
                <a:lnTo>
                  <a:pt x="839" y="1066"/>
                </a:lnTo>
                <a:lnTo>
                  <a:pt x="839" y="1029"/>
                </a:lnTo>
                <a:lnTo>
                  <a:pt x="851" y="1006"/>
                </a:lnTo>
                <a:lnTo>
                  <a:pt x="851" y="983"/>
                </a:lnTo>
                <a:lnTo>
                  <a:pt x="864" y="947"/>
                </a:lnTo>
                <a:lnTo>
                  <a:pt x="864" y="924"/>
                </a:lnTo>
                <a:lnTo>
                  <a:pt x="874" y="889"/>
                </a:lnTo>
                <a:lnTo>
                  <a:pt x="874" y="864"/>
                </a:lnTo>
                <a:lnTo>
                  <a:pt x="887" y="841"/>
                </a:lnTo>
                <a:lnTo>
                  <a:pt x="899" y="816"/>
                </a:lnTo>
                <a:lnTo>
                  <a:pt x="899" y="782"/>
                </a:lnTo>
                <a:lnTo>
                  <a:pt x="910" y="759"/>
                </a:lnTo>
                <a:lnTo>
                  <a:pt x="910" y="736"/>
                </a:lnTo>
                <a:lnTo>
                  <a:pt x="922" y="711"/>
                </a:lnTo>
                <a:lnTo>
                  <a:pt x="922" y="688"/>
                </a:lnTo>
                <a:lnTo>
                  <a:pt x="933" y="664"/>
                </a:lnTo>
                <a:lnTo>
                  <a:pt x="933" y="639"/>
                </a:lnTo>
                <a:lnTo>
                  <a:pt x="947" y="616"/>
                </a:lnTo>
                <a:lnTo>
                  <a:pt x="947" y="591"/>
                </a:lnTo>
                <a:lnTo>
                  <a:pt x="958" y="568"/>
                </a:lnTo>
                <a:lnTo>
                  <a:pt x="958" y="545"/>
                </a:lnTo>
                <a:lnTo>
                  <a:pt x="970" y="520"/>
                </a:lnTo>
                <a:lnTo>
                  <a:pt x="981" y="497"/>
                </a:lnTo>
                <a:lnTo>
                  <a:pt x="981" y="486"/>
                </a:lnTo>
                <a:lnTo>
                  <a:pt x="993" y="461"/>
                </a:lnTo>
                <a:lnTo>
                  <a:pt x="993" y="438"/>
                </a:lnTo>
                <a:lnTo>
                  <a:pt x="1004" y="426"/>
                </a:lnTo>
                <a:lnTo>
                  <a:pt x="1004" y="403"/>
                </a:lnTo>
                <a:lnTo>
                  <a:pt x="1018" y="380"/>
                </a:lnTo>
                <a:lnTo>
                  <a:pt x="1018" y="367"/>
                </a:lnTo>
                <a:lnTo>
                  <a:pt x="1029" y="344"/>
                </a:lnTo>
                <a:lnTo>
                  <a:pt x="1029" y="332"/>
                </a:lnTo>
                <a:lnTo>
                  <a:pt x="1041" y="309"/>
                </a:lnTo>
                <a:lnTo>
                  <a:pt x="1052" y="296"/>
                </a:lnTo>
                <a:lnTo>
                  <a:pt x="1052" y="273"/>
                </a:lnTo>
                <a:lnTo>
                  <a:pt x="1064" y="261"/>
                </a:lnTo>
                <a:lnTo>
                  <a:pt x="1064" y="249"/>
                </a:lnTo>
                <a:lnTo>
                  <a:pt x="1077" y="236"/>
                </a:lnTo>
                <a:lnTo>
                  <a:pt x="1077" y="213"/>
                </a:lnTo>
                <a:lnTo>
                  <a:pt x="1087" y="201"/>
                </a:lnTo>
                <a:lnTo>
                  <a:pt x="1087" y="190"/>
                </a:lnTo>
                <a:lnTo>
                  <a:pt x="1100" y="178"/>
                </a:lnTo>
                <a:lnTo>
                  <a:pt x="1100" y="167"/>
                </a:lnTo>
                <a:lnTo>
                  <a:pt x="1112" y="153"/>
                </a:lnTo>
                <a:lnTo>
                  <a:pt x="1112" y="142"/>
                </a:lnTo>
                <a:lnTo>
                  <a:pt x="1123" y="130"/>
                </a:lnTo>
                <a:lnTo>
                  <a:pt x="1135" y="119"/>
                </a:lnTo>
                <a:lnTo>
                  <a:pt x="1135" y="107"/>
                </a:lnTo>
                <a:lnTo>
                  <a:pt x="1146" y="96"/>
                </a:lnTo>
                <a:lnTo>
                  <a:pt x="1158" y="82"/>
                </a:lnTo>
                <a:lnTo>
                  <a:pt x="1158" y="71"/>
                </a:lnTo>
                <a:lnTo>
                  <a:pt x="1171" y="59"/>
                </a:lnTo>
                <a:lnTo>
                  <a:pt x="1183" y="48"/>
                </a:lnTo>
                <a:lnTo>
                  <a:pt x="1194" y="36"/>
                </a:lnTo>
                <a:lnTo>
                  <a:pt x="1206" y="36"/>
                </a:lnTo>
                <a:lnTo>
                  <a:pt x="1206" y="25"/>
                </a:lnTo>
                <a:lnTo>
                  <a:pt x="1218" y="25"/>
                </a:lnTo>
                <a:lnTo>
                  <a:pt x="1231" y="11"/>
                </a:lnTo>
                <a:lnTo>
                  <a:pt x="1242" y="11"/>
                </a:lnTo>
                <a:lnTo>
                  <a:pt x="1254" y="0"/>
                </a:lnTo>
                <a:lnTo>
                  <a:pt x="1266" y="0"/>
                </a:lnTo>
                <a:lnTo>
                  <a:pt x="1277" y="0"/>
                </a:lnTo>
                <a:lnTo>
                  <a:pt x="1289" y="0"/>
                </a:lnTo>
                <a:lnTo>
                  <a:pt x="1302" y="11"/>
                </a:lnTo>
                <a:lnTo>
                  <a:pt x="1312" y="11"/>
                </a:lnTo>
                <a:lnTo>
                  <a:pt x="1325" y="11"/>
                </a:lnTo>
                <a:lnTo>
                  <a:pt x="1325" y="25"/>
                </a:lnTo>
                <a:lnTo>
                  <a:pt x="1337" y="25"/>
                </a:lnTo>
                <a:lnTo>
                  <a:pt x="1348" y="36"/>
                </a:lnTo>
                <a:lnTo>
                  <a:pt x="1360" y="36"/>
                </a:lnTo>
                <a:lnTo>
                  <a:pt x="1360" y="48"/>
                </a:lnTo>
                <a:lnTo>
                  <a:pt x="1371" y="48"/>
                </a:lnTo>
                <a:lnTo>
                  <a:pt x="1371" y="59"/>
                </a:lnTo>
                <a:lnTo>
                  <a:pt x="1383" y="59"/>
                </a:lnTo>
                <a:lnTo>
                  <a:pt x="1383" y="71"/>
                </a:lnTo>
                <a:lnTo>
                  <a:pt x="1396" y="82"/>
                </a:lnTo>
                <a:lnTo>
                  <a:pt x="1408" y="96"/>
                </a:lnTo>
                <a:lnTo>
                  <a:pt x="1408" y="107"/>
                </a:lnTo>
                <a:lnTo>
                  <a:pt x="1419" y="107"/>
                </a:lnTo>
                <a:lnTo>
                  <a:pt x="1419" y="119"/>
                </a:lnTo>
                <a:lnTo>
                  <a:pt x="1431" y="130"/>
                </a:lnTo>
                <a:lnTo>
                  <a:pt x="1442" y="142"/>
                </a:lnTo>
                <a:lnTo>
                  <a:pt x="1442" y="153"/>
                </a:lnTo>
                <a:lnTo>
                  <a:pt x="1456" y="167"/>
                </a:lnTo>
                <a:lnTo>
                  <a:pt x="1456" y="178"/>
                </a:lnTo>
                <a:lnTo>
                  <a:pt x="1467" y="190"/>
                </a:lnTo>
                <a:lnTo>
                  <a:pt x="1467" y="201"/>
                </a:lnTo>
                <a:lnTo>
                  <a:pt x="1479" y="213"/>
                </a:lnTo>
                <a:lnTo>
                  <a:pt x="1479" y="226"/>
                </a:lnTo>
                <a:lnTo>
                  <a:pt x="1490" y="236"/>
                </a:lnTo>
                <a:lnTo>
                  <a:pt x="1490" y="249"/>
                </a:lnTo>
                <a:lnTo>
                  <a:pt x="1502" y="261"/>
                </a:lnTo>
                <a:lnTo>
                  <a:pt x="1502" y="273"/>
                </a:lnTo>
                <a:lnTo>
                  <a:pt x="1513" y="284"/>
                </a:lnTo>
                <a:lnTo>
                  <a:pt x="1527" y="296"/>
                </a:lnTo>
                <a:lnTo>
                  <a:pt x="1527" y="321"/>
                </a:lnTo>
                <a:lnTo>
                  <a:pt x="1536" y="332"/>
                </a:lnTo>
                <a:lnTo>
                  <a:pt x="1536" y="344"/>
                </a:lnTo>
                <a:lnTo>
                  <a:pt x="1550" y="355"/>
                </a:lnTo>
                <a:lnTo>
                  <a:pt x="1550" y="380"/>
                </a:lnTo>
                <a:lnTo>
                  <a:pt x="1561" y="392"/>
                </a:lnTo>
                <a:lnTo>
                  <a:pt x="1561" y="403"/>
                </a:lnTo>
                <a:lnTo>
                  <a:pt x="1573" y="426"/>
                </a:lnTo>
                <a:lnTo>
                  <a:pt x="1573" y="438"/>
                </a:lnTo>
                <a:lnTo>
                  <a:pt x="1584" y="461"/>
                </a:lnTo>
                <a:lnTo>
                  <a:pt x="1596" y="474"/>
                </a:lnTo>
                <a:lnTo>
                  <a:pt x="1596" y="486"/>
                </a:lnTo>
                <a:lnTo>
                  <a:pt x="1609" y="509"/>
                </a:lnTo>
                <a:lnTo>
                  <a:pt x="1609" y="520"/>
                </a:lnTo>
                <a:lnTo>
                  <a:pt x="1621" y="545"/>
                </a:lnTo>
                <a:lnTo>
                  <a:pt x="1621" y="557"/>
                </a:lnTo>
                <a:lnTo>
                  <a:pt x="1632" y="580"/>
                </a:lnTo>
                <a:lnTo>
                  <a:pt x="1632" y="591"/>
                </a:lnTo>
                <a:lnTo>
                  <a:pt x="1644" y="616"/>
                </a:lnTo>
                <a:lnTo>
                  <a:pt x="1644" y="628"/>
                </a:lnTo>
                <a:lnTo>
                  <a:pt x="1655" y="651"/>
                </a:lnTo>
                <a:lnTo>
                  <a:pt x="1655" y="676"/>
                </a:lnTo>
                <a:lnTo>
                  <a:pt x="1667" y="688"/>
                </a:lnTo>
                <a:lnTo>
                  <a:pt x="1680" y="711"/>
                </a:lnTo>
                <a:lnTo>
                  <a:pt x="1680" y="722"/>
                </a:lnTo>
                <a:lnTo>
                  <a:pt x="1692" y="745"/>
                </a:lnTo>
                <a:lnTo>
                  <a:pt x="1692" y="770"/>
                </a:lnTo>
                <a:lnTo>
                  <a:pt x="1703" y="782"/>
                </a:lnTo>
                <a:lnTo>
                  <a:pt x="1703" y="805"/>
                </a:lnTo>
                <a:lnTo>
                  <a:pt x="1715" y="816"/>
                </a:lnTo>
                <a:lnTo>
                  <a:pt x="1715" y="841"/>
                </a:lnTo>
                <a:lnTo>
                  <a:pt x="1726" y="864"/>
                </a:lnTo>
                <a:lnTo>
                  <a:pt x="1726" y="876"/>
                </a:lnTo>
                <a:lnTo>
                  <a:pt x="1740" y="901"/>
                </a:lnTo>
                <a:lnTo>
                  <a:pt x="1751" y="924"/>
                </a:lnTo>
                <a:lnTo>
                  <a:pt x="1751" y="935"/>
                </a:lnTo>
                <a:lnTo>
                  <a:pt x="1763" y="958"/>
                </a:lnTo>
                <a:lnTo>
                  <a:pt x="1763" y="983"/>
                </a:lnTo>
                <a:lnTo>
                  <a:pt x="1774" y="995"/>
                </a:lnTo>
                <a:lnTo>
                  <a:pt x="1774" y="1018"/>
                </a:lnTo>
                <a:lnTo>
                  <a:pt x="1786" y="1043"/>
                </a:lnTo>
                <a:lnTo>
                  <a:pt x="1786" y="1054"/>
                </a:lnTo>
                <a:lnTo>
                  <a:pt x="1797" y="1078"/>
                </a:lnTo>
                <a:lnTo>
                  <a:pt x="1797" y="1101"/>
                </a:lnTo>
                <a:lnTo>
                  <a:pt x="1811" y="1114"/>
                </a:lnTo>
                <a:lnTo>
                  <a:pt x="1811" y="1137"/>
                </a:lnTo>
                <a:lnTo>
                  <a:pt x="1820" y="1160"/>
                </a:lnTo>
                <a:lnTo>
                  <a:pt x="1834" y="1172"/>
                </a:lnTo>
                <a:lnTo>
                  <a:pt x="1834" y="1197"/>
                </a:lnTo>
                <a:lnTo>
                  <a:pt x="1845" y="1220"/>
                </a:lnTo>
                <a:lnTo>
                  <a:pt x="1845" y="1231"/>
                </a:lnTo>
                <a:lnTo>
                  <a:pt x="1857" y="1254"/>
                </a:lnTo>
                <a:lnTo>
                  <a:pt x="1857" y="1279"/>
                </a:lnTo>
                <a:lnTo>
                  <a:pt x="1868" y="1291"/>
                </a:lnTo>
                <a:lnTo>
                  <a:pt x="1868" y="1314"/>
                </a:lnTo>
                <a:lnTo>
                  <a:pt x="1880" y="1339"/>
                </a:lnTo>
                <a:lnTo>
                  <a:pt x="1880" y="1350"/>
                </a:lnTo>
                <a:lnTo>
                  <a:pt x="1893" y="1373"/>
                </a:lnTo>
                <a:lnTo>
                  <a:pt x="1905" y="1385"/>
                </a:lnTo>
                <a:lnTo>
                  <a:pt x="1905" y="1408"/>
                </a:lnTo>
                <a:lnTo>
                  <a:pt x="1916" y="1433"/>
                </a:lnTo>
                <a:lnTo>
                  <a:pt x="1916" y="1444"/>
                </a:lnTo>
                <a:lnTo>
                  <a:pt x="1928" y="1468"/>
                </a:lnTo>
                <a:lnTo>
                  <a:pt x="1928" y="1481"/>
                </a:lnTo>
                <a:lnTo>
                  <a:pt x="1939" y="1504"/>
                </a:lnTo>
                <a:lnTo>
                  <a:pt x="1939" y="1516"/>
                </a:lnTo>
                <a:lnTo>
                  <a:pt x="1951" y="1539"/>
                </a:lnTo>
                <a:lnTo>
                  <a:pt x="1951" y="1552"/>
                </a:lnTo>
                <a:lnTo>
                  <a:pt x="1964" y="1575"/>
                </a:lnTo>
                <a:lnTo>
                  <a:pt x="1964" y="1587"/>
                </a:lnTo>
                <a:lnTo>
                  <a:pt x="1976" y="1598"/>
                </a:lnTo>
                <a:lnTo>
                  <a:pt x="1987" y="1623"/>
                </a:lnTo>
                <a:lnTo>
                  <a:pt x="1987" y="1633"/>
                </a:lnTo>
                <a:lnTo>
                  <a:pt x="1999" y="1658"/>
                </a:lnTo>
                <a:lnTo>
                  <a:pt x="1999" y="1669"/>
                </a:lnTo>
                <a:lnTo>
                  <a:pt x="2010" y="1683"/>
                </a:lnTo>
                <a:lnTo>
                  <a:pt x="2010" y="1706"/>
                </a:lnTo>
                <a:lnTo>
                  <a:pt x="2022" y="1717"/>
                </a:lnTo>
                <a:lnTo>
                  <a:pt x="2022" y="1729"/>
                </a:lnTo>
                <a:lnTo>
                  <a:pt x="2034" y="1740"/>
                </a:lnTo>
                <a:lnTo>
                  <a:pt x="2034" y="1763"/>
                </a:lnTo>
                <a:lnTo>
                  <a:pt x="2045" y="1777"/>
                </a:lnTo>
                <a:lnTo>
                  <a:pt x="2045" y="1788"/>
                </a:lnTo>
                <a:lnTo>
                  <a:pt x="2058" y="1800"/>
                </a:lnTo>
                <a:lnTo>
                  <a:pt x="2070" y="1811"/>
                </a:lnTo>
                <a:lnTo>
                  <a:pt x="2070" y="1836"/>
                </a:lnTo>
                <a:lnTo>
                  <a:pt x="2082" y="1848"/>
                </a:lnTo>
                <a:lnTo>
                  <a:pt x="2082" y="1859"/>
                </a:lnTo>
                <a:lnTo>
                  <a:pt x="2093" y="1871"/>
                </a:lnTo>
                <a:lnTo>
                  <a:pt x="2093" y="1882"/>
                </a:lnTo>
                <a:lnTo>
                  <a:pt x="2105" y="1894"/>
                </a:lnTo>
                <a:lnTo>
                  <a:pt x="2105" y="1907"/>
                </a:lnTo>
                <a:lnTo>
                  <a:pt x="2118" y="1917"/>
                </a:lnTo>
                <a:lnTo>
                  <a:pt x="2118" y="1930"/>
                </a:lnTo>
                <a:lnTo>
                  <a:pt x="2130" y="1942"/>
                </a:lnTo>
                <a:lnTo>
                  <a:pt x="2141" y="1942"/>
                </a:lnTo>
                <a:lnTo>
                  <a:pt x="2141" y="1954"/>
                </a:lnTo>
                <a:lnTo>
                  <a:pt x="2153" y="1965"/>
                </a:lnTo>
                <a:lnTo>
                  <a:pt x="2153" y="1977"/>
                </a:lnTo>
                <a:lnTo>
                  <a:pt x="2164" y="1988"/>
                </a:lnTo>
                <a:lnTo>
                  <a:pt x="2176" y="2002"/>
                </a:lnTo>
                <a:lnTo>
                  <a:pt x="2176" y="2013"/>
                </a:lnTo>
                <a:lnTo>
                  <a:pt x="2189" y="2013"/>
                </a:lnTo>
                <a:lnTo>
                  <a:pt x="2189" y="2025"/>
                </a:lnTo>
                <a:lnTo>
                  <a:pt x="2201" y="2036"/>
                </a:lnTo>
                <a:lnTo>
                  <a:pt x="2212" y="2048"/>
                </a:lnTo>
                <a:lnTo>
                  <a:pt x="2224" y="2048"/>
                </a:lnTo>
                <a:lnTo>
                  <a:pt x="2224" y="2061"/>
                </a:lnTo>
                <a:lnTo>
                  <a:pt x="2235" y="2061"/>
                </a:lnTo>
                <a:lnTo>
                  <a:pt x="2247" y="2073"/>
                </a:lnTo>
                <a:lnTo>
                  <a:pt x="2258" y="2084"/>
                </a:lnTo>
                <a:lnTo>
                  <a:pt x="2272" y="2084"/>
                </a:lnTo>
                <a:lnTo>
                  <a:pt x="2283" y="2084"/>
                </a:lnTo>
                <a:lnTo>
                  <a:pt x="2295" y="2096"/>
                </a:lnTo>
                <a:lnTo>
                  <a:pt x="2306" y="2096"/>
                </a:lnTo>
                <a:lnTo>
                  <a:pt x="2318" y="2096"/>
                </a:lnTo>
                <a:lnTo>
                  <a:pt x="2329" y="2096"/>
                </a:lnTo>
                <a:lnTo>
                  <a:pt x="2343" y="2096"/>
                </a:lnTo>
                <a:lnTo>
                  <a:pt x="2354" y="2084"/>
                </a:lnTo>
                <a:lnTo>
                  <a:pt x="2366" y="2084"/>
                </a:lnTo>
                <a:lnTo>
                  <a:pt x="2377" y="2084"/>
                </a:lnTo>
                <a:lnTo>
                  <a:pt x="2377" y="2073"/>
                </a:lnTo>
                <a:lnTo>
                  <a:pt x="2389" y="2073"/>
                </a:lnTo>
                <a:lnTo>
                  <a:pt x="2402" y="2061"/>
                </a:lnTo>
                <a:lnTo>
                  <a:pt x="2414" y="2048"/>
                </a:lnTo>
                <a:lnTo>
                  <a:pt x="2425" y="2036"/>
                </a:lnTo>
                <a:lnTo>
                  <a:pt x="2437" y="2025"/>
                </a:lnTo>
                <a:lnTo>
                  <a:pt x="2448" y="2025"/>
                </a:lnTo>
                <a:lnTo>
                  <a:pt x="2448" y="2013"/>
                </a:lnTo>
                <a:lnTo>
                  <a:pt x="2460" y="2002"/>
                </a:lnTo>
                <a:lnTo>
                  <a:pt x="2473" y="1988"/>
                </a:lnTo>
                <a:lnTo>
                  <a:pt x="2473" y="1977"/>
                </a:lnTo>
                <a:lnTo>
                  <a:pt x="2483" y="1965"/>
                </a:lnTo>
                <a:lnTo>
                  <a:pt x="2483" y="1954"/>
                </a:lnTo>
                <a:lnTo>
                  <a:pt x="2496" y="1954"/>
                </a:lnTo>
                <a:lnTo>
                  <a:pt x="2496" y="1942"/>
                </a:lnTo>
                <a:lnTo>
                  <a:pt x="2508" y="1930"/>
                </a:lnTo>
                <a:lnTo>
                  <a:pt x="2508" y="1917"/>
                </a:lnTo>
                <a:lnTo>
                  <a:pt x="2519" y="1907"/>
                </a:lnTo>
                <a:lnTo>
                  <a:pt x="2531" y="1894"/>
                </a:lnTo>
                <a:lnTo>
                  <a:pt x="2531" y="1882"/>
                </a:lnTo>
                <a:lnTo>
                  <a:pt x="2542" y="1871"/>
                </a:lnTo>
                <a:lnTo>
                  <a:pt x="2542" y="1859"/>
                </a:lnTo>
                <a:lnTo>
                  <a:pt x="2556" y="1848"/>
                </a:lnTo>
                <a:lnTo>
                  <a:pt x="2556" y="1836"/>
                </a:lnTo>
                <a:lnTo>
                  <a:pt x="2567" y="1811"/>
                </a:lnTo>
                <a:lnTo>
                  <a:pt x="2567" y="1800"/>
                </a:lnTo>
                <a:lnTo>
                  <a:pt x="2579" y="1788"/>
                </a:lnTo>
                <a:lnTo>
                  <a:pt x="2579" y="1777"/>
                </a:lnTo>
                <a:lnTo>
                  <a:pt x="2590" y="1763"/>
                </a:lnTo>
                <a:lnTo>
                  <a:pt x="2602" y="1740"/>
                </a:lnTo>
                <a:lnTo>
                  <a:pt x="2602" y="1729"/>
                </a:lnTo>
                <a:lnTo>
                  <a:pt x="2613" y="1717"/>
                </a:lnTo>
                <a:lnTo>
                  <a:pt x="2613" y="1706"/>
                </a:lnTo>
                <a:lnTo>
                  <a:pt x="2627" y="1683"/>
                </a:lnTo>
                <a:lnTo>
                  <a:pt x="2627" y="1669"/>
                </a:lnTo>
                <a:lnTo>
                  <a:pt x="2638" y="1658"/>
                </a:lnTo>
                <a:lnTo>
                  <a:pt x="2638" y="1633"/>
                </a:lnTo>
                <a:lnTo>
                  <a:pt x="2650" y="1623"/>
                </a:lnTo>
                <a:lnTo>
                  <a:pt x="2650" y="1598"/>
                </a:lnTo>
                <a:lnTo>
                  <a:pt x="2661" y="1587"/>
                </a:lnTo>
                <a:lnTo>
                  <a:pt x="2661" y="1575"/>
                </a:lnTo>
                <a:lnTo>
                  <a:pt x="2673" y="1552"/>
                </a:lnTo>
                <a:lnTo>
                  <a:pt x="2684" y="1539"/>
                </a:lnTo>
                <a:lnTo>
                  <a:pt x="2684" y="1516"/>
                </a:lnTo>
                <a:lnTo>
                  <a:pt x="2698" y="1504"/>
                </a:lnTo>
                <a:lnTo>
                  <a:pt x="2698" y="1481"/>
                </a:lnTo>
                <a:lnTo>
                  <a:pt x="2707" y="1468"/>
                </a:lnTo>
                <a:lnTo>
                  <a:pt x="2707" y="1444"/>
                </a:lnTo>
                <a:lnTo>
                  <a:pt x="2721" y="1433"/>
                </a:lnTo>
                <a:lnTo>
                  <a:pt x="2721" y="1408"/>
                </a:lnTo>
                <a:lnTo>
                  <a:pt x="2732" y="1398"/>
                </a:lnTo>
                <a:lnTo>
                  <a:pt x="2732" y="1373"/>
                </a:lnTo>
                <a:lnTo>
                  <a:pt x="2744" y="1362"/>
                </a:lnTo>
                <a:lnTo>
                  <a:pt x="2744" y="1339"/>
                </a:lnTo>
                <a:lnTo>
                  <a:pt x="2755" y="1327"/>
                </a:lnTo>
                <a:lnTo>
                  <a:pt x="2767" y="1302"/>
                </a:lnTo>
                <a:lnTo>
                  <a:pt x="2767" y="1291"/>
                </a:lnTo>
                <a:lnTo>
                  <a:pt x="2780" y="1268"/>
                </a:lnTo>
                <a:lnTo>
                  <a:pt x="2780" y="1254"/>
                </a:lnTo>
                <a:lnTo>
                  <a:pt x="2792" y="1231"/>
                </a:lnTo>
                <a:lnTo>
                  <a:pt x="2792" y="1220"/>
                </a:lnTo>
                <a:lnTo>
                  <a:pt x="2803" y="1197"/>
                </a:lnTo>
                <a:lnTo>
                  <a:pt x="2803" y="1183"/>
                </a:lnTo>
                <a:lnTo>
                  <a:pt x="2815" y="1160"/>
                </a:lnTo>
                <a:lnTo>
                  <a:pt x="2815" y="1149"/>
                </a:lnTo>
                <a:lnTo>
                  <a:pt x="2826" y="1137"/>
                </a:lnTo>
                <a:lnTo>
                  <a:pt x="2838" y="1114"/>
                </a:lnTo>
                <a:lnTo>
                  <a:pt x="2838" y="1101"/>
                </a:lnTo>
                <a:lnTo>
                  <a:pt x="2851" y="1078"/>
                </a:lnTo>
                <a:lnTo>
                  <a:pt x="2851" y="1066"/>
                </a:lnTo>
                <a:lnTo>
                  <a:pt x="2863" y="1054"/>
                </a:lnTo>
                <a:lnTo>
                  <a:pt x="2863" y="1029"/>
                </a:lnTo>
                <a:lnTo>
                  <a:pt x="2874" y="1018"/>
                </a:lnTo>
                <a:lnTo>
                  <a:pt x="2874" y="1006"/>
                </a:lnTo>
                <a:lnTo>
                  <a:pt x="2886" y="995"/>
                </a:lnTo>
                <a:lnTo>
                  <a:pt x="2886" y="970"/>
                </a:lnTo>
                <a:lnTo>
                  <a:pt x="2898" y="958"/>
                </a:lnTo>
                <a:lnTo>
                  <a:pt x="2898" y="947"/>
                </a:lnTo>
                <a:lnTo>
                  <a:pt x="2909" y="935"/>
                </a:lnTo>
                <a:lnTo>
                  <a:pt x="2922" y="924"/>
                </a:lnTo>
                <a:lnTo>
                  <a:pt x="2922" y="912"/>
                </a:lnTo>
                <a:lnTo>
                  <a:pt x="2934" y="901"/>
                </a:lnTo>
                <a:lnTo>
                  <a:pt x="2934" y="889"/>
                </a:lnTo>
                <a:lnTo>
                  <a:pt x="2946" y="876"/>
                </a:lnTo>
                <a:lnTo>
                  <a:pt x="2946" y="864"/>
                </a:lnTo>
                <a:lnTo>
                  <a:pt x="2957" y="853"/>
                </a:lnTo>
                <a:lnTo>
                  <a:pt x="2969" y="841"/>
                </a:lnTo>
                <a:lnTo>
                  <a:pt x="2969" y="830"/>
                </a:lnTo>
                <a:lnTo>
                  <a:pt x="2980" y="830"/>
                </a:lnTo>
                <a:lnTo>
                  <a:pt x="2992" y="816"/>
                </a:lnTo>
                <a:lnTo>
                  <a:pt x="3005" y="805"/>
                </a:lnTo>
                <a:lnTo>
                  <a:pt x="3017" y="805"/>
                </a:lnTo>
                <a:lnTo>
                  <a:pt x="3017" y="793"/>
                </a:lnTo>
                <a:lnTo>
                  <a:pt x="3028" y="793"/>
                </a:lnTo>
                <a:lnTo>
                  <a:pt x="3040" y="793"/>
                </a:lnTo>
                <a:lnTo>
                  <a:pt x="3051" y="793"/>
                </a:lnTo>
                <a:lnTo>
                  <a:pt x="3065" y="805"/>
                </a:lnTo>
                <a:lnTo>
                  <a:pt x="3076" y="805"/>
                </a:lnTo>
                <a:lnTo>
                  <a:pt x="3088" y="816"/>
                </a:lnTo>
                <a:lnTo>
                  <a:pt x="3088" y="830"/>
                </a:lnTo>
                <a:lnTo>
                  <a:pt x="3099" y="830"/>
                </a:lnTo>
                <a:lnTo>
                  <a:pt x="3099" y="841"/>
                </a:lnTo>
                <a:lnTo>
                  <a:pt x="3111" y="853"/>
                </a:lnTo>
                <a:lnTo>
                  <a:pt x="3111" y="864"/>
                </a:lnTo>
                <a:lnTo>
                  <a:pt x="3122" y="876"/>
                </a:lnTo>
                <a:lnTo>
                  <a:pt x="3122" y="901"/>
                </a:lnTo>
                <a:lnTo>
                  <a:pt x="3136" y="912"/>
                </a:lnTo>
                <a:lnTo>
                  <a:pt x="3147" y="924"/>
                </a:lnTo>
                <a:lnTo>
                  <a:pt x="3147" y="947"/>
                </a:lnTo>
                <a:lnTo>
                  <a:pt x="3159" y="970"/>
                </a:lnTo>
                <a:lnTo>
                  <a:pt x="3159" y="983"/>
                </a:lnTo>
                <a:lnTo>
                  <a:pt x="3170" y="1006"/>
                </a:lnTo>
                <a:lnTo>
                  <a:pt x="3170" y="1029"/>
                </a:lnTo>
                <a:lnTo>
                  <a:pt x="3182" y="1066"/>
                </a:lnTo>
                <a:lnTo>
                  <a:pt x="3182" y="1089"/>
                </a:lnTo>
                <a:lnTo>
                  <a:pt x="3193" y="1114"/>
                </a:lnTo>
                <a:lnTo>
                  <a:pt x="3193" y="1149"/>
                </a:lnTo>
                <a:lnTo>
                  <a:pt x="3205" y="1183"/>
                </a:lnTo>
                <a:lnTo>
                  <a:pt x="3205" y="1208"/>
                </a:lnTo>
                <a:lnTo>
                  <a:pt x="3218" y="1243"/>
                </a:lnTo>
                <a:lnTo>
                  <a:pt x="3230" y="1291"/>
                </a:lnTo>
                <a:lnTo>
                  <a:pt x="3230" y="1327"/>
                </a:lnTo>
                <a:lnTo>
                  <a:pt x="3241" y="1362"/>
                </a:lnTo>
                <a:lnTo>
                  <a:pt x="3241" y="1408"/>
                </a:lnTo>
                <a:lnTo>
                  <a:pt x="3253" y="1456"/>
                </a:lnTo>
                <a:lnTo>
                  <a:pt x="3253" y="1504"/>
                </a:lnTo>
                <a:lnTo>
                  <a:pt x="3264" y="1552"/>
                </a:lnTo>
                <a:lnTo>
                  <a:pt x="3264" y="1598"/>
                </a:lnTo>
                <a:lnTo>
                  <a:pt x="3276" y="1658"/>
                </a:lnTo>
                <a:lnTo>
                  <a:pt x="3276" y="1706"/>
                </a:lnTo>
                <a:lnTo>
                  <a:pt x="3289" y="1763"/>
                </a:lnTo>
                <a:lnTo>
                  <a:pt x="3289" y="1823"/>
                </a:lnTo>
                <a:lnTo>
                  <a:pt x="3301" y="1882"/>
                </a:lnTo>
                <a:lnTo>
                  <a:pt x="3312" y="1954"/>
                </a:lnTo>
                <a:lnTo>
                  <a:pt x="3312" y="2013"/>
                </a:lnTo>
                <a:lnTo>
                  <a:pt x="3324" y="2084"/>
                </a:lnTo>
                <a:lnTo>
                  <a:pt x="3324" y="2155"/>
                </a:lnTo>
                <a:lnTo>
                  <a:pt x="3335" y="2226"/>
                </a:lnTo>
                <a:lnTo>
                  <a:pt x="3335" y="2309"/>
                </a:lnTo>
                <a:lnTo>
                  <a:pt x="3347" y="2380"/>
                </a:lnTo>
                <a:lnTo>
                  <a:pt x="3347" y="2463"/>
                </a:lnTo>
                <a:lnTo>
                  <a:pt x="3360" y="2545"/>
                </a:lnTo>
                <a:lnTo>
                  <a:pt x="3360" y="2628"/>
                </a:lnTo>
                <a:lnTo>
                  <a:pt x="3370" y="2724"/>
                </a:lnTo>
                <a:lnTo>
                  <a:pt x="3383" y="2805"/>
                </a:lnTo>
                <a:lnTo>
                  <a:pt x="3383" y="2901"/>
                </a:lnTo>
                <a:lnTo>
                  <a:pt x="3395" y="3006"/>
                </a:lnTo>
                <a:lnTo>
                  <a:pt x="3395" y="3102"/>
                </a:lnTo>
                <a:lnTo>
                  <a:pt x="3406" y="3208"/>
                </a:lnTo>
                <a:lnTo>
                  <a:pt x="3406" y="3316"/>
                </a:lnTo>
                <a:lnTo>
                  <a:pt x="3418" y="3421"/>
                </a:lnTo>
                <a:lnTo>
                  <a:pt x="3418" y="3529"/>
                </a:lnTo>
                <a:lnTo>
                  <a:pt x="3429" y="3646"/>
                </a:lnTo>
                <a:lnTo>
                  <a:pt x="3429" y="3765"/>
                </a:lnTo>
                <a:lnTo>
                  <a:pt x="3429" y="3836"/>
                </a:lnTo>
              </a:path>
            </a:pathLst>
          </a:custGeom>
          <a:noFill/>
          <a:ln w="38100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本框 49">
                <a:extLst>
                  <a:ext uri="{FF2B5EF4-FFF2-40B4-BE49-F238E27FC236}">
                    <a16:creationId xmlns:a16="http://schemas.microsoft.com/office/drawing/2014/main" id="{81A97172-97D9-9D45-8B2C-BCA225FD2C9B}"/>
                  </a:ext>
                </a:extLst>
              </p:cNvPr>
              <p:cNvSpPr txBox="1"/>
              <p:nvPr/>
            </p:nvSpPr>
            <p:spPr>
              <a:xfrm>
                <a:off x="685800" y="1981200"/>
                <a:ext cx="2798763" cy="101675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800" b="1" dirty="0"/>
                  <a:t>(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800" b="1" dirty="0"/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subSup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eqArr>
                          <m:eqArr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25"/>
                              </m:r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e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sub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85" name="文本框 49">
                <a:extLst>
                  <a:ext uri="{FF2B5EF4-FFF2-40B4-BE49-F238E27FC236}">
                    <a16:creationId xmlns:a16="http://schemas.microsoft.com/office/drawing/2014/main" id="{81A97172-97D9-9D45-8B2C-BCA225FD2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981200"/>
                <a:ext cx="2798763" cy="1016753"/>
              </a:xfrm>
              <a:prstGeom prst="rect">
                <a:avLst/>
              </a:prstGeom>
              <a:blipFill>
                <a:blip r:embed="rId4"/>
                <a:stretch>
                  <a:fillRect l="-1810" t="-53086" b="-6419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71278353-0A63-934F-866E-DF22BA1F4F93}"/>
                  </a:ext>
                </a:extLst>
              </p:cNvPr>
              <p:cNvSpPr/>
              <p:nvPr/>
            </p:nvSpPr>
            <p:spPr>
              <a:xfrm>
                <a:off x="4953000" y="1959842"/>
                <a:ext cx="3860257" cy="105349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b="1" dirty="0"/>
                        <m:t>(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b="1" dirty="0"/>
                        <m:t>)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e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71278353-0A63-934F-866E-DF22BA1F4F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1959842"/>
                <a:ext cx="3860257" cy="1053494"/>
              </a:xfrm>
              <a:prstGeom prst="rect">
                <a:avLst/>
              </a:prstGeom>
              <a:blipFill>
                <a:blip r:embed="rId5"/>
                <a:stretch>
                  <a:fillRect l="-5574" t="-201190" b="-29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70BDA11-C3AA-3F4C-A201-9F69D240CE4E}"/>
                  </a:ext>
                </a:extLst>
              </p:cNvPr>
              <p:cNvSpPr txBox="1"/>
              <p:nvPr/>
            </p:nvSpPr>
            <p:spPr>
              <a:xfrm>
                <a:off x="3505200" y="2050917"/>
                <a:ext cx="15527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CN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有关</a:t>
                </a:r>
              </a:p>
              <a:p>
                <a:r>
                  <a:rPr lang="en-CN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CN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无关</a:t>
                </a:r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70BDA11-C3AA-3F4C-A201-9F69D240C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2050917"/>
                <a:ext cx="1552712" cy="830997"/>
              </a:xfrm>
              <a:prstGeom prst="rect">
                <a:avLst/>
              </a:prstGeom>
              <a:blipFill>
                <a:blip r:embed="rId6"/>
                <a:stretch>
                  <a:fillRect l="-6504" t="-7463" b="-1194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520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 autoUpdateAnimBg="0"/>
      <p:bldP spid="369" grpId="0"/>
      <p:bldP spid="186" grpId="0" animBg="1"/>
      <p:bldP spid="18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拉格朗日插值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409D536-BA67-43A0-A4F6-958DF9818BB2}"/>
                  </a:ext>
                </a:extLst>
              </p:cNvPr>
              <p:cNvSpPr/>
              <p:nvPr/>
            </p:nvSpPr>
            <p:spPr>
              <a:xfrm>
                <a:off x="581291" y="4104627"/>
                <a:ext cx="76664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lvl="0" indent="-342900">
                  <a:spcBef>
                    <a:spcPct val="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Arial" panose="020B0604020202020204" pitchFamily="34" charset="0"/>
                  </a:rPr>
                  <a:t>目标：</a:t>
                </a:r>
                <a:r>
                  <a:rPr lang="zh-CN" altLang="en-US" sz="2400" b="1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构造一个通过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400" b="1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个给定数据点的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次多项式</a:t>
                </a:r>
                <a:endParaRPr lang="zh-CN" altLang="zh-CN" sz="2400" b="1" dirty="0">
                  <a:solidFill>
                    <a:srgbClr val="00206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409D536-BA67-43A0-A4F6-958DF9818B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91" y="4104627"/>
                <a:ext cx="7666458" cy="461665"/>
              </a:xfrm>
              <a:prstGeom prst="rect">
                <a:avLst/>
              </a:prstGeom>
              <a:blipFill>
                <a:blip r:embed="rId3"/>
                <a:stretch>
                  <a:fillRect l="-992" t="-13514" r="-331" b="-2702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93180959-7DAE-43F1-A91B-838BA8894F28}"/>
                  </a:ext>
                </a:extLst>
              </p:cNvPr>
              <p:cNvSpPr/>
              <p:nvPr/>
            </p:nvSpPr>
            <p:spPr>
              <a:xfrm>
                <a:off x="533400" y="4810728"/>
                <a:ext cx="8400441" cy="16234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lvl="0" indent="-342900">
                  <a:spcBef>
                    <a:spcPct val="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Arial" panose="020B0604020202020204" pitchFamily="34" charset="0"/>
                  </a:rPr>
                  <a:t>拉格朗日插值步骤：</a:t>
                </a:r>
                <a:endParaRPr lang="en-US" altLang="zh-CN" sz="2400" b="1" dirty="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  <a:p>
                <a:pPr marL="914400" lvl="1" indent="-457200">
                  <a:spcBef>
                    <a:spcPct val="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400" b="1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根据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en-US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值</m:t>
                    </m:r>
                    <m:r>
                      <a:rPr lang="zh-CN" alt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写出</m:t>
                    </m:r>
                  </m:oMath>
                </a14:m>
                <a:r>
                  <a:rPr lang="en-US" altLang="zh-CN" sz="2400" b="1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n+1</a:t>
                </a:r>
                <a:r>
                  <a:rPr lang="zh-CN" altLang="en-US" sz="2400" b="1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个拉格朗日基函数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zh-CN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eqArr>
                          <m:eqArr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23"/>
                              </m:rP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𝐣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𝐢</m:t>
                            </m:r>
                          </m:e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𝐣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sub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p>
                      <m:e>
                        <m:f>
                          <m:f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𝐣</m:t>
                                </m:r>
                              </m:sub>
                            </m:s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sz="24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</m:sub>
                            </m:s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𝐣</m:t>
                                </m:r>
                              </m:sub>
                            </m:s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2400" b="1" dirty="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  <a:p>
                <a:pPr marL="914400" lvl="1" indent="-457200">
                  <a:spcBef>
                    <a:spcPct val="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400" b="1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基函数乘相应数据点值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400" b="1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zh-CN" altLang="en-US" sz="2400" b="1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后累加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b>
                        </m:sSub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CN" altLang="zh-CN" sz="2400" b="1" dirty="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93180959-7DAE-43F1-A91B-838BA8894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810728"/>
                <a:ext cx="8400441" cy="1623458"/>
              </a:xfrm>
              <a:prstGeom prst="rect">
                <a:avLst/>
              </a:prstGeom>
              <a:blipFill>
                <a:blip r:embed="rId4"/>
                <a:stretch>
                  <a:fillRect l="-1057" t="-6202" b="-5503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2" name="Process 191">
            <a:extLst>
              <a:ext uri="{FF2B5EF4-FFF2-40B4-BE49-F238E27FC236}">
                <a16:creationId xmlns:a16="http://schemas.microsoft.com/office/drawing/2014/main" id="{3F7993F0-8060-A247-B185-B932B489BD9A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Rectangle 34">
            <a:extLst>
              <a:ext uri="{FF2B5EF4-FFF2-40B4-BE49-F238E27FC236}">
                <a16:creationId xmlns:a16="http://schemas.microsoft.com/office/drawing/2014/main" id="{E5594A16-5EF7-BD45-ABC4-E656A3C56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27" y="3471722"/>
            <a:ext cx="30556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拉格朗日插值法</a:t>
            </a:r>
            <a:endParaRPr lang="zh-CN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34">
            <a:extLst>
              <a:ext uri="{FF2B5EF4-FFF2-40B4-BE49-F238E27FC236}">
                <a16:creationId xmlns:a16="http://schemas.microsoft.com/office/drawing/2014/main" id="{22E83DF5-1072-C14F-B246-E32238503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03" y="1219200"/>
            <a:ext cx="31758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</a:rPr>
              <a:t>拉格朗日基函数</a:t>
            </a:r>
            <a:endParaRPr lang="zh-CN" altLang="zh-CN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49">
                <a:extLst>
                  <a:ext uri="{FF2B5EF4-FFF2-40B4-BE49-F238E27FC236}">
                    <a16:creationId xmlns:a16="http://schemas.microsoft.com/office/drawing/2014/main" id="{AA01373F-0F08-EF44-B3AE-5E88C5F2D585}"/>
                  </a:ext>
                </a:extLst>
              </p:cNvPr>
              <p:cNvSpPr txBox="1"/>
              <p:nvPr/>
            </p:nvSpPr>
            <p:spPr>
              <a:xfrm>
                <a:off x="685800" y="1981200"/>
                <a:ext cx="2798763" cy="101675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800" b="1" dirty="0"/>
                  <a:t>(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800" b="1" dirty="0"/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subSup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eqArr>
                          <m:eqArr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25"/>
                              </m:r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e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sub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1" name="文本框 49">
                <a:extLst>
                  <a:ext uri="{FF2B5EF4-FFF2-40B4-BE49-F238E27FC236}">
                    <a16:creationId xmlns:a16="http://schemas.microsoft.com/office/drawing/2014/main" id="{AA01373F-0F08-EF44-B3AE-5E88C5F2D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981200"/>
                <a:ext cx="2798763" cy="1016753"/>
              </a:xfrm>
              <a:prstGeom prst="rect">
                <a:avLst/>
              </a:prstGeom>
              <a:blipFill>
                <a:blip r:embed="rId5"/>
                <a:stretch>
                  <a:fillRect l="-1810" t="-53086" b="-6419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9E72838-4EF6-5B43-99AC-F769D6A74C96}"/>
                  </a:ext>
                </a:extLst>
              </p:cNvPr>
              <p:cNvSpPr/>
              <p:nvPr/>
            </p:nvSpPr>
            <p:spPr>
              <a:xfrm>
                <a:off x="4953000" y="1959842"/>
                <a:ext cx="3860257" cy="105349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b="1" dirty="0"/>
                        <m:t>(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b="1" dirty="0"/>
                        <m:t>)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e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9E72838-4EF6-5B43-99AC-F769D6A74C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1959842"/>
                <a:ext cx="3860257" cy="1053494"/>
              </a:xfrm>
              <a:prstGeom prst="rect">
                <a:avLst/>
              </a:prstGeom>
              <a:blipFill>
                <a:blip r:embed="rId6"/>
                <a:stretch>
                  <a:fillRect l="-5574" t="-201190" b="-29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D066F2-84C7-1E4A-A2BE-4EA03D00AA00}"/>
                  </a:ext>
                </a:extLst>
              </p:cNvPr>
              <p:cNvSpPr txBox="1"/>
              <p:nvPr/>
            </p:nvSpPr>
            <p:spPr>
              <a:xfrm>
                <a:off x="3505200" y="2050917"/>
                <a:ext cx="15527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CN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有关</a:t>
                </a:r>
              </a:p>
              <a:p>
                <a:r>
                  <a:rPr lang="en-CN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CN" sz="2400" b="1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无关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D066F2-84C7-1E4A-A2BE-4EA03D00A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2050917"/>
                <a:ext cx="1552712" cy="830997"/>
              </a:xfrm>
              <a:prstGeom prst="rect">
                <a:avLst/>
              </a:prstGeom>
              <a:blipFill>
                <a:blip r:embed="rId7"/>
                <a:stretch>
                  <a:fillRect l="-6504" t="-7463" b="-1194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95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应用拓展与前沿动态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66E7F3E-C907-4448-BABE-78756F910876}"/>
                  </a:ext>
                </a:extLst>
              </p:cNvPr>
              <p:cNvSpPr/>
              <p:nvPr/>
            </p:nvSpPr>
            <p:spPr>
              <a:xfrm>
                <a:off x="5105400" y="1219200"/>
                <a:ext cx="3568926" cy="4957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  <m:sup>
                          <m: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CN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66E7F3E-C907-4448-BABE-78756F9108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1219200"/>
                <a:ext cx="3568926" cy="495713"/>
              </a:xfrm>
              <a:prstGeom prst="rect">
                <a:avLst/>
              </a:prstGeom>
              <a:blipFill>
                <a:blip r:embed="rId8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56FF6C6E-DB68-9149-8FBD-B558CC6F7CB5}"/>
              </a:ext>
            </a:extLst>
          </p:cNvPr>
          <p:cNvSpPr txBox="1"/>
          <p:nvPr/>
        </p:nvSpPr>
        <p:spPr>
          <a:xfrm>
            <a:off x="330743" y="1143000"/>
            <a:ext cx="848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拉格朗日插值法可用于</a:t>
            </a:r>
            <a:endParaRPr lang="en-US" altLang="zh-CN" sz="28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39FFBF-4179-D545-A3CA-55C3FD953E27}"/>
              </a:ext>
            </a:extLst>
          </p:cNvPr>
          <p:cNvSpPr txBox="1"/>
          <p:nvPr/>
        </p:nvSpPr>
        <p:spPr>
          <a:xfrm>
            <a:off x="559071" y="3640050"/>
            <a:ext cx="1650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语音变调</a:t>
            </a:r>
            <a:endParaRPr lang="en-US" altLang="zh-CN" sz="24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3B33B3-630D-4C4E-815C-1EB79613BC2C}"/>
              </a:ext>
            </a:extLst>
          </p:cNvPr>
          <p:cNvSpPr txBox="1"/>
          <p:nvPr/>
        </p:nvSpPr>
        <p:spPr>
          <a:xfrm>
            <a:off x="2908926" y="3613723"/>
            <a:ext cx="2639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自动驾驶定位</a:t>
            </a:r>
            <a:endParaRPr lang="en-US" altLang="zh-CN" sz="24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A6A9E1-4390-9B48-B59B-A22B86144A9A}"/>
              </a:ext>
            </a:extLst>
          </p:cNvPr>
          <p:cNvSpPr txBox="1"/>
          <p:nvPr/>
        </p:nvSpPr>
        <p:spPr>
          <a:xfrm>
            <a:off x="5548814" y="3632961"/>
            <a:ext cx="3671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数字信号转模拟信号</a:t>
            </a:r>
            <a:r>
              <a:rPr lang="en-US" altLang="zh-CN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64DA7E-1F64-F444-9034-5BD84B09BE80}"/>
              </a:ext>
            </a:extLst>
          </p:cNvPr>
          <p:cNvSpPr txBox="1"/>
          <p:nvPr/>
        </p:nvSpPr>
        <p:spPr>
          <a:xfrm>
            <a:off x="330743" y="4160365"/>
            <a:ext cx="848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更快</a:t>
            </a:r>
            <a:r>
              <a:rPr lang="zh-CN" altLang="en-CN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更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稳定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的插值法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A262F-D2AF-2A46-B1C8-2EF91F2B869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7346"/>
          <a:stretch/>
        </p:blipFill>
        <p:spPr>
          <a:xfrm>
            <a:off x="381000" y="1676400"/>
            <a:ext cx="2208994" cy="20501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E603DC-3352-FE40-A8DA-38704A3FC7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4526" y="1705826"/>
            <a:ext cx="3339474" cy="18875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575208-CC93-7E43-8F5B-3EF3ACFA5A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1742420"/>
            <a:ext cx="3238500" cy="1879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FC54BB1-69C9-8746-AC31-72DB90CE37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817953"/>
            <a:ext cx="6439130" cy="20400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FF9BB0-FCE3-A94D-BB56-ACC59F906E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08926" y="5156786"/>
            <a:ext cx="6235074" cy="170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3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60" name="Group 8"/>
          <p:cNvGrpSpPr>
            <a:grpSpLocks/>
          </p:cNvGrpSpPr>
          <p:nvPr/>
        </p:nvGrpSpPr>
        <p:grpSpPr bwMode="auto">
          <a:xfrm>
            <a:off x="609600" y="304800"/>
            <a:ext cx="7924800" cy="1082675"/>
            <a:chOff x="336" y="288"/>
            <a:chExt cx="4992" cy="682"/>
          </a:xfrm>
        </p:grpSpPr>
        <p:sp>
          <p:nvSpPr>
            <p:cNvPr id="49155" name="AutoShape 3" descr="白色大理石"/>
            <p:cNvSpPr>
              <a:spLocks noChangeArrowheads="1"/>
            </p:cNvSpPr>
            <p:nvPr/>
          </p:nvSpPr>
          <p:spPr bwMode="auto">
            <a:xfrm>
              <a:off x="336" y="288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zh-CN" altLang="en-US" sz="2800" b="1" dirty="0">
                  <a:solidFill>
                    <a:srgbClr val="0000FF"/>
                  </a:solidFill>
                </a:rPr>
                <a:t>定理</a:t>
              </a:r>
              <a:endParaRPr kumimoji="0" lang="en-US" altLang="zh-CN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49156" name="Text Box 4"/>
            <p:cNvSpPr txBox="1">
              <a:spLocks noChangeArrowheads="1"/>
            </p:cNvSpPr>
            <p:nvPr/>
          </p:nvSpPr>
          <p:spPr bwMode="auto">
            <a:xfrm>
              <a:off x="336" y="360"/>
              <a:ext cx="4992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400" b="1" dirty="0"/>
                <a:t>              (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唯一性</a:t>
              </a:r>
              <a:r>
                <a:rPr lang="en-US" altLang="zh-CN" sz="2400" b="1" dirty="0"/>
                <a:t>) </a:t>
              </a:r>
              <a:r>
                <a:rPr lang="zh-CN" altLang="en-US" sz="2400" b="1" dirty="0"/>
                <a:t>满足</a:t>
              </a:r>
              <a:r>
                <a:rPr lang="en-US" altLang="zh-CN" sz="2400" b="1" dirty="0"/>
                <a:t>                                      </a:t>
              </a:r>
              <a:r>
                <a:rPr lang="zh-CN" altLang="en-US" sz="2400" b="1" dirty="0"/>
                <a:t>       的</a:t>
              </a:r>
              <a:r>
                <a:rPr lang="en-US" altLang="zh-CN" sz="2400" b="1" dirty="0"/>
                <a:t> </a:t>
              </a:r>
              <a:r>
                <a:rPr lang="en-US" altLang="zh-CN" sz="2400" b="1" i="1" dirty="0"/>
                <a:t>n</a:t>
              </a:r>
              <a:r>
                <a:rPr lang="en-US" altLang="zh-CN" sz="2400" b="1" dirty="0"/>
                <a:t> </a:t>
              </a:r>
              <a:r>
                <a:rPr lang="zh-CN" altLang="en-US" sz="2400" b="1" dirty="0"/>
                <a:t>阶插值多项式是唯一存在的。</a:t>
              </a:r>
              <a:endParaRPr lang="en-US" altLang="zh-CN" sz="2400" b="1" dirty="0"/>
            </a:p>
          </p:txBody>
        </p:sp>
        <p:graphicFrame>
          <p:nvGraphicFramePr>
            <p:cNvPr id="49159" name="Object 7"/>
            <p:cNvGraphicFramePr>
              <a:graphicFrameLocks noChangeAspect="1"/>
            </p:cNvGraphicFramePr>
            <p:nvPr/>
          </p:nvGraphicFramePr>
          <p:xfrm>
            <a:off x="2208" y="432"/>
            <a:ext cx="1824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485720" imgH="228600" progId="Equation.3">
                    <p:embed/>
                  </p:oleObj>
                </mc:Choice>
                <mc:Fallback>
                  <p:oleObj name="Equation" r:id="rId3" imgW="1485720" imgH="228600" progId="Equation.3">
                    <p:embed/>
                    <p:pic>
                      <p:nvPicPr>
                        <p:cNvPr id="4915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432"/>
                          <a:ext cx="1824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162" name="Text Box 10"/>
              <p:cNvSpPr txBox="1">
                <a:spLocks noChangeArrowheads="1"/>
              </p:cNvSpPr>
              <p:nvPr/>
            </p:nvSpPr>
            <p:spPr bwMode="auto">
              <a:xfrm>
                <a:off x="672920" y="1513991"/>
                <a:ext cx="7924800" cy="8925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solidFill>
                      <a:srgbClr val="0000FF"/>
                    </a:solidFill>
                  </a:rPr>
                  <a:t>反证：</a:t>
                </a:r>
                <a:r>
                  <a:rPr lang="zh-CN" altLang="en-US" sz="2400" b="1" dirty="0"/>
                  <a:t>若不唯一，则除了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zh-CN" sz="2400" b="1" i="1" baseline="-25000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400" b="1" dirty="0"/>
                  <a:t>外还有另一</a:t>
                </a:r>
                <a:r>
                  <a:rPr lang="en-US" altLang="zh-CN" sz="24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400" b="1" dirty="0"/>
                  <a:t> </a:t>
                </a:r>
                <a:r>
                  <a:rPr lang="zh-CN" altLang="en-US" sz="2400" b="1" dirty="0"/>
                  <a:t>阶多项式</a:t>
                </a:r>
                <a:r>
                  <a:rPr lang="en-US" altLang="zh-CN" sz="24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 baseline="-25000" dirty="0" err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400" b="1" dirty="0"/>
                  <a:t>满足</a:t>
                </a:r>
                <a:r>
                  <a:rPr lang="en-US" altLang="zh-CN" sz="24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 baseline="-25000" dirty="0" err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𝒙𝒊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400" b="1" i="1" dirty="0" err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400" b="1" i="1" baseline="-25000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49162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920" y="1513991"/>
                <a:ext cx="7924800" cy="892552"/>
              </a:xfrm>
              <a:prstGeom prst="rect">
                <a:avLst/>
              </a:prstGeom>
              <a:blipFill>
                <a:blip r:embed="rId6"/>
                <a:stretch>
                  <a:fillRect l="-1600" t="-8451" b="-126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165" name="Group 13"/>
          <p:cNvGrpSpPr>
            <a:grpSpLocks/>
          </p:cNvGrpSpPr>
          <p:nvPr/>
        </p:nvGrpSpPr>
        <p:grpSpPr bwMode="auto">
          <a:xfrm>
            <a:off x="761999" y="2590800"/>
            <a:ext cx="3657601" cy="468313"/>
            <a:chOff x="912" y="1824"/>
            <a:chExt cx="2304" cy="295"/>
          </a:xfrm>
        </p:grpSpPr>
        <p:sp>
          <p:nvSpPr>
            <p:cNvPr id="49163" name="Text Box 11"/>
            <p:cNvSpPr txBox="1">
              <a:spLocks noChangeArrowheads="1"/>
            </p:cNvSpPr>
            <p:nvPr/>
          </p:nvSpPr>
          <p:spPr bwMode="auto">
            <a:xfrm>
              <a:off x="912" y="1824"/>
              <a:ext cx="23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/>
                <a:t>记</a:t>
              </a:r>
              <a:endParaRPr lang="en-US" altLang="zh-CN" sz="2400" b="1" dirty="0"/>
            </a:p>
          </p:txBody>
        </p:sp>
        <p:graphicFrame>
          <p:nvGraphicFramePr>
            <p:cNvPr id="49164" name="Object 12"/>
            <p:cNvGraphicFramePr>
              <a:graphicFrameLocks noChangeAspect="1"/>
            </p:cNvGraphicFramePr>
            <p:nvPr/>
          </p:nvGraphicFramePr>
          <p:xfrm>
            <a:off x="1392" y="1824"/>
            <a:ext cx="172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498320" imgH="228600" progId="Equation.3">
                    <p:embed/>
                  </p:oleObj>
                </mc:Choice>
                <mc:Fallback>
                  <p:oleObj name="Equation" r:id="rId7" imgW="1498320" imgH="228600" progId="Equation.3">
                    <p:embed/>
                    <p:pic>
                      <p:nvPicPr>
                        <p:cNvPr id="4916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824"/>
                          <a:ext cx="1728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78" name="Rectangle 26"/>
          <p:cNvSpPr>
            <a:spLocks noChangeArrowheads="1"/>
          </p:cNvSpPr>
          <p:nvPr/>
        </p:nvSpPr>
        <p:spPr bwMode="auto">
          <a:xfrm>
            <a:off x="7020272" y="6093296"/>
            <a:ext cx="1524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563515"/>
              </p:ext>
            </p:extLst>
          </p:nvPr>
        </p:nvGraphicFramePr>
        <p:xfrm>
          <a:off x="1817149" y="5090985"/>
          <a:ext cx="11160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09600" imgH="215900" progId="Equation.3">
                  <p:embed/>
                </p:oleObj>
              </mc:Choice>
              <mc:Fallback>
                <p:oleObj name="Equation" r:id="rId9" imgW="609600" imgH="215900" progId="Equation.3">
                  <p:embed/>
                  <p:pic>
                    <p:nvPicPr>
                      <p:cNvPr id="3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149" y="5090985"/>
                        <a:ext cx="1116013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487297"/>
              </p:ext>
            </p:extLst>
          </p:nvPr>
        </p:nvGraphicFramePr>
        <p:xfrm>
          <a:off x="5417713" y="2611140"/>
          <a:ext cx="17668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65200" imgH="215900" progId="Equation.3">
                  <p:embed/>
                </p:oleObj>
              </mc:Choice>
              <mc:Fallback>
                <p:oleObj name="Equation" r:id="rId11" imgW="965200" imgH="215900" progId="Equation.3">
                  <p:embed/>
                  <p:pic>
                    <p:nvPicPr>
                      <p:cNvPr id="3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7713" y="2611140"/>
                        <a:ext cx="176688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6507326"/>
              </p:ext>
            </p:extLst>
          </p:nvPr>
        </p:nvGraphicFramePr>
        <p:xfrm>
          <a:off x="1641475" y="5791200"/>
          <a:ext cx="16049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76300" imgH="215900" progId="Equation.3">
                  <p:embed/>
                </p:oleObj>
              </mc:Choice>
              <mc:Fallback>
                <p:oleObj name="Equation" r:id="rId13" imgW="876300" imgH="215900" progId="Equation.3">
                  <p:embed/>
                  <p:pic>
                    <p:nvPicPr>
                      <p:cNvPr id="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475" y="5791200"/>
                        <a:ext cx="16049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0991A4C-2D15-C84A-B355-8C0ACD3D7A83}"/>
              </a:ext>
            </a:extLst>
          </p:cNvPr>
          <p:cNvSpPr/>
          <p:nvPr/>
        </p:nvSpPr>
        <p:spPr>
          <a:xfrm>
            <a:off x="838200" y="5051703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可知</a:t>
            </a:r>
            <a:endParaRPr lang="en-US" altLang="zh-CN" sz="2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C0F882-401F-DB43-94AE-E3D96B4A3920}"/>
              </a:ext>
            </a:extLst>
          </p:cNvPr>
          <p:cNvSpPr/>
          <p:nvPr/>
        </p:nvSpPr>
        <p:spPr>
          <a:xfrm>
            <a:off x="63320" y="442505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从高等代数知识：若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次多项式存在大于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个根，则该多项式恒为</a:t>
            </a:r>
            <a:r>
              <a:rPr lang="en-US" altLang="zh-CN" sz="2400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0ED9B42-48D7-5D4D-A74D-E78C5F7453B8}"/>
                  </a:ext>
                </a:extLst>
              </p:cNvPr>
              <p:cNvSpPr/>
              <p:nvPr/>
            </p:nvSpPr>
            <p:spPr>
              <a:xfrm>
                <a:off x="761999" y="3155939"/>
                <a:ext cx="745150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/>
                  <a:t>故</a:t>
                </a:r>
                <a:r>
                  <a:rPr lang="en-US" altLang="zh-CN" sz="24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zh-CN" sz="2400" b="1" i="1" baseline="-25000" dirty="0" err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𝒙𝒊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＝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is-IS" altLang="zh-CN" sz="2400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0ED9B42-48D7-5D4D-A74D-E78C5F7453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9" y="3155939"/>
                <a:ext cx="7451502" cy="461665"/>
              </a:xfrm>
              <a:prstGeom prst="rect">
                <a:avLst/>
              </a:prstGeom>
              <a:blipFill>
                <a:blip r:embed="rId15"/>
                <a:stretch>
                  <a:fillRect l="-1363" t="-16216" b="-2432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9247313-90F0-C14A-98A6-2D6E32ABA8F3}"/>
                  </a:ext>
                </a:extLst>
              </p:cNvPr>
              <p:cNvSpPr/>
              <p:nvPr/>
            </p:nvSpPr>
            <p:spPr>
              <a:xfrm>
                <a:off x="761999" y="3708523"/>
                <a:ext cx="736242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0000FF"/>
                    </a:solidFill>
                  </a:rPr>
                  <a:t>矛盾：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zh-CN" sz="2400" b="1" i="1" baseline="-25000" dirty="0" err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 dirty="0"/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 dirty="0"/>
                  <a:t>次多项式，却存在个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400" b="1" dirty="0"/>
                  <a:t>不同的根</a:t>
                </a:r>
                <a:endParaRPr lang="en-US" altLang="zh-CN" sz="2400" b="1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9247313-90F0-C14A-98A6-2D6E32ABA8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9" y="3708523"/>
                <a:ext cx="7362423" cy="461665"/>
              </a:xfrm>
              <a:prstGeom prst="rect">
                <a:avLst/>
              </a:prstGeom>
              <a:blipFill>
                <a:blip r:embed="rId16"/>
                <a:stretch>
                  <a:fillRect l="-1379" t="-13158" b="-2368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952F894F-7CED-0749-9674-BC4BAF929E0A}"/>
              </a:ext>
            </a:extLst>
          </p:cNvPr>
          <p:cNvSpPr/>
          <p:nvPr/>
        </p:nvSpPr>
        <p:spPr>
          <a:xfrm>
            <a:off x="845713" y="579611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即 </a:t>
            </a:r>
            <a:endParaRPr lang="en-US" altLang="zh-CN" sz="2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0BBA3B-736B-A94E-B23F-9727B91ABAF1}"/>
              </a:ext>
            </a:extLst>
          </p:cNvPr>
          <p:cNvSpPr/>
          <p:nvPr/>
        </p:nvSpPr>
        <p:spPr>
          <a:xfrm>
            <a:off x="4876800" y="259080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因</a:t>
            </a:r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216806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2" grpId="0"/>
      <p:bldP spid="49178" grpId="0" animBg="1"/>
      <p:bldP spid="2" grpId="0"/>
      <p:bldP spid="3" grpId="0"/>
      <p:bldP spid="4" grpId="0"/>
      <p:bldP spid="5" grpId="0"/>
      <p:bldP spid="22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83" name="Group 7"/>
          <p:cNvGrpSpPr>
            <a:grpSpLocks/>
          </p:cNvGrpSpPr>
          <p:nvPr/>
        </p:nvGrpSpPr>
        <p:grpSpPr bwMode="auto">
          <a:xfrm>
            <a:off x="533400" y="228600"/>
            <a:ext cx="5257800" cy="1423988"/>
            <a:chOff x="336" y="240"/>
            <a:chExt cx="3312" cy="897"/>
          </a:xfrm>
        </p:grpSpPr>
        <p:pic>
          <p:nvPicPr>
            <p:cNvPr id="50181" name="Picture 5" descr="EXAMINE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240"/>
              <a:ext cx="834" cy="8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182" name="Text Box 6"/>
            <p:cNvSpPr txBox="1">
              <a:spLocks noChangeArrowheads="1"/>
            </p:cNvSpPr>
            <p:nvPr/>
          </p:nvSpPr>
          <p:spPr bwMode="auto">
            <a:xfrm>
              <a:off x="1200" y="432"/>
              <a:ext cx="24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accent2"/>
                  </a:solidFill>
                  <a:sym typeface="Wingdings" charset="0"/>
                </a:rPr>
                <a:t></a:t>
              </a:r>
              <a:r>
                <a:rPr lang="en-US" altLang="zh-CN" sz="2400" b="1" dirty="0">
                  <a:sym typeface="Wingdings" charset="0"/>
                </a:rPr>
                <a:t> </a:t>
              </a:r>
              <a:r>
                <a:rPr lang="zh-CN" altLang="en-US" sz="2400" b="1" dirty="0">
                  <a:sym typeface="Wingdings" charset="0"/>
                </a:rPr>
                <a:t>误差分析（</a:t>
              </a:r>
              <a:r>
                <a:rPr lang="zh-CN" altLang="en-US" sz="2400" b="1" dirty="0"/>
                <a:t>插值余项）</a:t>
              </a:r>
              <a:endParaRPr lang="en-US" altLang="zh-CN" sz="2000" b="1" dirty="0">
                <a:solidFill>
                  <a:srgbClr val="008000"/>
                </a:solidFill>
                <a:latin typeface="Arial" charset="0"/>
              </a:endParaRPr>
            </a:p>
          </p:txBody>
        </p:sp>
      </p:grpSp>
      <p:grpSp>
        <p:nvGrpSpPr>
          <p:cNvPr id="50198" name="Group 22"/>
          <p:cNvGrpSpPr>
            <a:grpSpLocks/>
          </p:cNvGrpSpPr>
          <p:nvPr/>
        </p:nvGrpSpPr>
        <p:grpSpPr bwMode="auto">
          <a:xfrm>
            <a:off x="1219200" y="1066800"/>
            <a:ext cx="7391400" cy="990600"/>
            <a:chOff x="768" y="720"/>
            <a:chExt cx="4656" cy="624"/>
          </a:xfrm>
        </p:grpSpPr>
        <p:sp>
          <p:nvSpPr>
            <p:cNvPr id="50186" name="Text Box 10"/>
            <p:cNvSpPr txBox="1">
              <a:spLocks noChangeArrowheads="1"/>
            </p:cNvSpPr>
            <p:nvPr/>
          </p:nvSpPr>
          <p:spPr bwMode="auto">
            <a:xfrm>
              <a:off x="768" y="720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设节点</a:t>
              </a:r>
              <a:endParaRPr lang="en-US" altLang="zh-CN" sz="2400" b="1"/>
            </a:p>
          </p:txBody>
        </p:sp>
        <p:graphicFrame>
          <p:nvGraphicFramePr>
            <p:cNvPr id="50188" name="Object 12"/>
            <p:cNvGraphicFramePr>
              <a:graphicFrameLocks noChangeAspect="1"/>
            </p:cNvGraphicFramePr>
            <p:nvPr/>
          </p:nvGraphicFramePr>
          <p:xfrm>
            <a:off x="816" y="982"/>
            <a:ext cx="480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93480" imgH="228600" progId="Equation.3">
                    <p:embed/>
                  </p:oleObj>
                </mc:Choice>
                <mc:Fallback>
                  <p:oleObj name="Equation" r:id="rId10" imgW="393480" imgH="228600" progId="Equation.3">
                    <p:embed/>
                    <p:pic>
                      <p:nvPicPr>
                        <p:cNvPr id="5018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982"/>
                          <a:ext cx="480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9" name="Text Box 13"/>
            <p:cNvSpPr txBox="1">
              <a:spLocks noChangeArrowheads="1"/>
            </p:cNvSpPr>
            <p:nvPr/>
          </p:nvSpPr>
          <p:spPr bwMode="auto">
            <a:xfrm>
              <a:off x="1200" y="1008"/>
              <a:ext cx="34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在</a:t>
              </a:r>
              <a:r>
                <a:rPr lang="en-US" altLang="zh-CN" sz="2400" b="1"/>
                <a:t>[</a:t>
              </a:r>
              <a:r>
                <a:rPr lang="en-US" altLang="zh-CN" sz="2400" b="1" i="1"/>
                <a:t>a</a:t>
              </a:r>
              <a:r>
                <a:rPr lang="en-US" altLang="zh-CN" sz="2400" b="1"/>
                <a:t> , </a:t>
              </a:r>
              <a:r>
                <a:rPr lang="en-US" altLang="zh-CN" sz="2400" b="1" i="1"/>
                <a:t>b</a:t>
              </a:r>
              <a:r>
                <a:rPr lang="en-US" altLang="zh-CN" sz="2400" b="1"/>
                <a:t>]</a:t>
              </a:r>
              <a:r>
                <a:rPr lang="zh-CN" altLang="en-US" sz="2400" b="1"/>
                <a:t>内存在</a:t>
              </a:r>
              <a:r>
                <a:rPr lang="en-US" altLang="zh-CN" sz="2400" b="1"/>
                <a:t>, </a:t>
              </a:r>
              <a:r>
                <a:rPr lang="zh-CN" altLang="en-US" sz="2400" b="1"/>
                <a:t>考察截断误差</a:t>
              </a:r>
              <a:endParaRPr lang="en-US" altLang="zh-CN" sz="2400" b="1"/>
            </a:p>
          </p:txBody>
        </p:sp>
        <p:grpSp>
          <p:nvGrpSpPr>
            <p:cNvPr id="50196" name="Group 20"/>
            <p:cNvGrpSpPr>
              <a:grpSpLocks/>
            </p:cNvGrpSpPr>
            <p:nvPr/>
          </p:nvGrpSpPr>
          <p:grpSpPr bwMode="auto">
            <a:xfrm>
              <a:off x="3792" y="1008"/>
              <a:ext cx="1584" cy="336"/>
              <a:chOff x="2784" y="1584"/>
              <a:chExt cx="1584" cy="336"/>
            </a:xfrm>
          </p:grpSpPr>
          <p:sp>
            <p:nvSpPr>
              <p:cNvPr id="50195" name="AutoShape 19" descr="新闻纸"/>
              <p:cNvSpPr>
                <a:spLocks noChangeArrowheads="1"/>
              </p:cNvSpPr>
              <p:nvPr/>
            </p:nvSpPr>
            <p:spPr bwMode="auto">
              <a:xfrm>
                <a:off x="2784" y="1584"/>
                <a:ext cx="1584" cy="336"/>
              </a:xfrm>
              <a:prstGeom prst="bevel">
                <a:avLst>
                  <a:gd name="adj" fmla="val 7736"/>
                </a:avLst>
              </a:prstGeom>
              <a:blipFill dpi="0" rotWithShape="0">
                <a:blip r:embed="rId1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50191" name="Object 15"/>
              <p:cNvGraphicFramePr>
                <a:graphicFrameLocks noChangeAspect="1"/>
              </p:cNvGraphicFramePr>
              <p:nvPr/>
            </p:nvGraphicFramePr>
            <p:xfrm>
              <a:off x="2832" y="1632"/>
              <a:ext cx="1496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396800" imgH="228600" progId="Equation.3">
                      <p:embed/>
                    </p:oleObj>
                  </mc:Choice>
                  <mc:Fallback>
                    <p:oleObj name="Equation" r:id="rId13" imgW="1396800" imgH="228600" progId="Equation.3">
                      <p:embed/>
                      <p:pic>
                        <p:nvPicPr>
                          <p:cNvPr id="50191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2" y="1632"/>
                            <a:ext cx="1496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8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0192" name="Object 16"/>
            <p:cNvGraphicFramePr>
              <a:graphicFrameLocks noChangeAspect="1"/>
            </p:cNvGraphicFramePr>
            <p:nvPr/>
          </p:nvGraphicFramePr>
          <p:xfrm>
            <a:off x="4416" y="720"/>
            <a:ext cx="816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799920" imgH="228600" progId="Equation.3">
                    <p:embed/>
                  </p:oleObj>
                </mc:Choice>
                <mc:Fallback>
                  <p:oleObj name="Equation" r:id="rId15" imgW="799920" imgH="228600" progId="Equation.3">
                    <p:embed/>
                    <p:pic>
                      <p:nvPicPr>
                        <p:cNvPr id="50192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720"/>
                          <a:ext cx="816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93" name="Object 17"/>
            <p:cNvGraphicFramePr>
              <a:graphicFrameLocks noChangeAspect="1"/>
            </p:cNvGraphicFramePr>
            <p:nvPr/>
          </p:nvGraphicFramePr>
          <p:xfrm>
            <a:off x="1440" y="756"/>
            <a:ext cx="1680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49080" imgH="228600" progId="Equation.3">
                    <p:embed/>
                  </p:oleObj>
                </mc:Choice>
                <mc:Fallback>
                  <p:oleObj name="Equation" r:id="rId17" imgW="1549080" imgH="228600" progId="Equation.3">
                    <p:embed/>
                    <p:pic>
                      <p:nvPicPr>
                        <p:cNvPr id="50193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756"/>
                          <a:ext cx="1680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4" name="Text Box 18"/>
            <p:cNvSpPr txBox="1">
              <a:spLocks noChangeArrowheads="1"/>
            </p:cNvSpPr>
            <p:nvPr/>
          </p:nvSpPr>
          <p:spPr bwMode="auto">
            <a:xfrm>
              <a:off x="3072" y="720"/>
              <a:ext cx="23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，且</a:t>
              </a:r>
              <a:r>
                <a:rPr lang="en-US" altLang="zh-CN" sz="2400" b="1"/>
                <a:t> </a:t>
              </a:r>
              <a:r>
                <a:rPr lang="en-US" altLang="zh-CN" sz="2000" b="1" i="1"/>
                <a:t>f</a:t>
              </a:r>
              <a:r>
                <a:rPr lang="en-US" altLang="zh-CN" sz="2000" b="1"/>
                <a:t> </a:t>
              </a:r>
              <a:r>
                <a:rPr lang="zh-CN" altLang="en-US" sz="2400" b="1"/>
                <a:t>满足条件</a:t>
              </a:r>
              <a:r>
                <a:rPr lang="en-US" altLang="zh-CN" sz="2400" b="1"/>
                <a:t>                 ,</a:t>
              </a:r>
            </a:p>
          </p:txBody>
        </p:sp>
      </p:grpSp>
      <p:grpSp>
        <p:nvGrpSpPr>
          <p:cNvPr id="50226" name="Group 50"/>
          <p:cNvGrpSpPr>
            <a:grpSpLocks/>
          </p:cNvGrpSpPr>
          <p:nvPr/>
        </p:nvGrpSpPr>
        <p:grpSpPr bwMode="auto">
          <a:xfrm>
            <a:off x="609600" y="2286000"/>
            <a:ext cx="7924800" cy="3352800"/>
            <a:chOff x="384" y="1536"/>
            <a:chExt cx="4992" cy="2112"/>
          </a:xfrm>
        </p:grpSpPr>
        <p:sp>
          <p:nvSpPr>
            <p:cNvPr id="50199" name="AutoShape 23"/>
            <p:cNvSpPr>
              <a:spLocks noChangeArrowheads="1"/>
            </p:cNvSpPr>
            <p:nvPr/>
          </p:nvSpPr>
          <p:spPr bwMode="auto">
            <a:xfrm>
              <a:off x="384" y="1536"/>
              <a:ext cx="4992" cy="2112"/>
            </a:xfrm>
            <a:prstGeom prst="foldedCorner">
              <a:avLst>
                <a:gd name="adj" fmla="val 6569"/>
              </a:avLst>
            </a:prstGeom>
            <a:gradFill rotWithShape="0">
              <a:gsLst>
                <a:gs pos="0">
                  <a:srgbClr val="FFFFCC"/>
                </a:gs>
                <a:gs pos="100000">
                  <a:srgbClr val="CCFFFF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6000" tIns="118800" rIns="126000" bIns="118800"/>
            <a:lstStyle/>
            <a:p>
              <a:pPr>
                <a:lnSpc>
                  <a:spcPct val="110000"/>
                </a:lnSpc>
              </a:pPr>
              <a:r>
                <a:rPr lang="en-US" altLang="zh-CN" sz="2400" b="1">
                  <a:solidFill>
                    <a:schemeClr val="accent2"/>
                  </a:solidFill>
                </a:rPr>
                <a:t>Rolle</a:t>
              </a:r>
              <a:r>
                <a:rPr lang="zh-CN" altLang="en-US" sz="2400" b="1">
                  <a:solidFill>
                    <a:schemeClr val="accent2"/>
                  </a:solidFill>
                </a:rPr>
                <a:t>’</a:t>
              </a:r>
              <a:r>
                <a:rPr lang="en-US" altLang="zh-CN" sz="2400" b="1">
                  <a:solidFill>
                    <a:schemeClr val="accent2"/>
                  </a:solidFill>
                </a:rPr>
                <a:t>s Theorem:  </a:t>
              </a:r>
              <a:r>
                <a:rPr lang="zh-CN" altLang="en-US" sz="2400" b="1"/>
                <a:t>若</a:t>
              </a:r>
              <a:r>
                <a:rPr lang="en-US" altLang="zh-CN" sz="2400" b="1"/>
                <a:t>        </a:t>
              </a:r>
              <a:r>
                <a:rPr lang="zh-CN" altLang="en-US" sz="2400" b="1"/>
                <a:t>充分光滑，</a:t>
              </a:r>
              <a:r>
                <a:rPr lang="en-US" altLang="zh-CN" sz="2400" b="1"/>
                <a:t>                           </a:t>
              </a:r>
              <a:r>
                <a:rPr lang="zh-CN" altLang="en-US" sz="2400" b="1"/>
                <a:t>，则</a:t>
              </a:r>
              <a:endParaRPr lang="en-US" altLang="zh-CN" sz="2400" b="1"/>
            </a:p>
            <a:p>
              <a:pPr>
                <a:lnSpc>
                  <a:spcPct val="110000"/>
                </a:lnSpc>
              </a:pPr>
              <a:r>
                <a:rPr lang="zh-CN" altLang="en-US" sz="2400" b="1"/>
                <a:t>存在</a:t>
              </a:r>
              <a:r>
                <a:rPr lang="en-US" altLang="zh-CN" sz="2400" b="1"/>
                <a:t>                    </a:t>
              </a:r>
              <a:r>
                <a:rPr lang="zh-CN" altLang="en-US" sz="2400" b="1"/>
                <a:t>使得</a:t>
              </a:r>
              <a:r>
                <a:rPr lang="en-US" altLang="zh-CN" sz="2400" b="1"/>
                <a:t>              </a:t>
              </a:r>
              <a:r>
                <a:rPr lang="zh-CN" altLang="en-US" sz="2400" b="1"/>
                <a:t>。</a:t>
              </a:r>
              <a:endParaRPr lang="en-US" altLang="zh-CN" sz="2400" b="1"/>
            </a:p>
          </p:txBody>
        </p:sp>
        <p:graphicFrame>
          <p:nvGraphicFramePr>
            <p:cNvPr id="50200" name="Object 24"/>
            <p:cNvGraphicFramePr>
              <a:graphicFrameLocks noChangeAspect="1"/>
            </p:cNvGraphicFramePr>
            <p:nvPr/>
          </p:nvGraphicFramePr>
          <p:xfrm>
            <a:off x="2160" y="1632"/>
            <a:ext cx="384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42720" imgH="203040" progId="Equation.3">
                    <p:embed/>
                  </p:oleObj>
                </mc:Choice>
                <mc:Fallback>
                  <p:oleObj name="Equation" r:id="rId19" imgW="342720" imgH="203040" progId="Equation.3">
                    <p:embed/>
                    <p:pic>
                      <p:nvPicPr>
                        <p:cNvPr id="5020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1632"/>
                          <a:ext cx="384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01" name="Object 25"/>
            <p:cNvGraphicFramePr>
              <a:graphicFrameLocks noChangeAspect="1"/>
            </p:cNvGraphicFramePr>
            <p:nvPr/>
          </p:nvGraphicFramePr>
          <p:xfrm>
            <a:off x="3456" y="1632"/>
            <a:ext cx="1344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143000" imgH="228600" progId="Equation.3">
                    <p:embed/>
                  </p:oleObj>
                </mc:Choice>
                <mc:Fallback>
                  <p:oleObj name="Equation" r:id="rId21" imgW="1143000" imgH="228600" progId="Equation.3">
                    <p:embed/>
                    <p:pic>
                      <p:nvPicPr>
                        <p:cNvPr id="50201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632"/>
                          <a:ext cx="1344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02" name="Object 26"/>
            <p:cNvGraphicFramePr>
              <a:graphicFrameLocks noChangeAspect="1"/>
            </p:cNvGraphicFramePr>
            <p:nvPr/>
          </p:nvGraphicFramePr>
          <p:xfrm>
            <a:off x="912" y="1872"/>
            <a:ext cx="864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761760" imgH="228600" progId="Equation.3">
                    <p:embed/>
                  </p:oleObj>
                </mc:Choice>
                <mc:Fallback>
                  <p:oleObj name="Equation" r:id="rId23" imgW="761760" imgH="228600" progId="Equation.3">
                    <p:embed/>
                    <p:pic>
                      <p:nvPicPr>
                        <p:cNvPr id="50202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872"/>
                          <a:ext cx="864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03" name="Object 27"/>
            <p:cNvGraphicFramePr>
              <a:graphicFrameLocks noChangeAspect="1"/>
            </p:cNvGraphicFramePr>
            <p:nvPr/>
          </p:nvGraphicFramePr>
          <p:xfrm>
            <a:off x="2208" y="1872"/>
            <a:ext cx="672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596880" imgH="203040" progId="Equation.3">
                    <p:embed/>
                  </p:oleObj>
                </mc:Choice>
                <mc:Fallback>
                  <p:oleObj name="Equation" r:id="rId25" imgW="596880" imgH="203040" progId="Equation.3">
                    <p:embed/>
                    <p:pic>
                      <p:nvPicPr>
                        <p:cNvPr id="50203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1872"/>
                          <a:ext cx="672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227" name="Group 51"/>
          <p:cNvGrpSpPr>
            <a:grpSpLocks/>
          </p:cNvGrpSpPr>
          <p:nvPr/>
        </p:nvGrpSpPr>
        <p:grpSpPr bwMode="auto">
          <a:xfrm>
            <a:off x="685800" y="3276600"/>
            <a:ext cx="4267200" cy="457200"/>
            <a:chOff x="432" y="1968"/>
            <a:chExt cx="2688" cy="288"/>
          </a:xfrm>
        </p:grpSpPr>
        <p:sp>
          <p:nvSpPr>
            <p:cNvPr id="50228" name="Text Box 52"/>
            <p:cNvSpPr txBox="1">
              <a:spLocks noChangeArrowheads="1"/>
            </p:cNvSpPr>
            <p:nvPr/>
          </p:nvSpPr>
          <p:spPr bwMode="auto">
            <a:xfrm>
              <a:off x="432" y="1968"/>
              <a:ext cx="9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solidFill>
                    <a:schemeClr val="accent2"/>
                  </a:solidFill>
                </a:rPr>
                <a:t>推广：</a:t>
              </a:r>
              <a:r>
                <a:rPr lang="zh-CN" altLang="en-US" sz="2400" b="1"/>
                <a:t>若</a:t>
              </a:r>
              <a:endParaRPr lang="en-US" altLang="zh-CN" sz="2400" b="1"/>
            </a:p>
          </p:txBody>
        </p:sp>
        <p:graphicFrame>
          <p:nvGraphicFramePr>
            <p:cNvPr id="50229" name="Object 53"/>
            <p:cNvGraphicFramePr>
              <a:graphicFrameLocks noChangeAspect="1"/>
            </p:cNvGraphicFramePr>
            <p:nvPr/>
          </p:nvGraphicFramePr>
          <p:xfrm>
            <a:off x="1276" y="1989"/>
            <a:ext cx="1844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650960" imgH="228600" progId="Equation.3">
                    <p:embed/>
                  </p:oleObj>
                </mc:Choice>
                <mc:Fallback>
                  <p:oleObj name="Equation" r:id="rId27" imgW="1650960" imgH="228600" progId="Equation.3">
                    <p:embed/>
                    <p:pic>
                      <p:nvPicPr>
                        <p:cNvPr id="50229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6" y="1989"/>
                          <a:ext cx="1844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230" name="Group 54"/>
          <p:cNvGrpSpPr>
            <a:grpSpLocks/>
          </p:cNvGrpSpPr>
          <p:nvPr/>
        </p:nvGrpSpPr>
        <p:grpSpPr bwMode="auto">
          <a:xfrm>
            <a:off x="5029200" y="3352800"/>
            <a:ext cx="3200400" cy="382588"/>
            <a:chOff x="3168" y="2016"/>
            <a:chExt cx="2016" cy="241"/>
          </a:xfrm>
        </p:grpSpPr>
        <p:graphicFrame>
          <p:nvGraphicFramePr>
            <p:cNvPr id="50231" name="Object 55"/>
            <p:cNvGraphicFramePr>
              <a:graphicFrameLocks noChangeAspect="1"/>
            </p:cNvGraphicFramePr>
            <p:nvPr/>
          </p:nvGraphicFramePr>
          <p:xfrm>
            <a:off x="3456" y="2016"/>
            <a:ext cx="1728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676160" imgH="228600" progId="Equation.3">
                    <p:embed/>
                  </p:oleObj>
                </mc:Choice>
                <mc:Fallback>
                  <p:oleObj name="Equation" r:id="rId29" imgW="1676160" imgH="228600" progId="Equation.3">
                    <p:embed/>
                    <p:pic>
                      <p:nvPicPr>
                        <p:cNvPr id="50231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016"/>
                          <a:ext cx="1728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32" name="AutoShape 56"/>
            <p:cNvSpPr>
              <a:spLocks noChangeArrowheads="1"/>
            </p:cNvSpPr>
            <p:nvPr/>
          </p:nvSpPr>
          <p:spPr bwMode="auto">
            <a:xfrm>
              <a:off x="3168" y="2064"/>
              <a:ext cx="240" cy="96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0233" name="Group 57"/>
          <p:cNvGrpSpPr>
            <a:grpSpLocks/>
          </p:cNvGrpSpPr>
          <p:nvPr/>
        </p:nvGrpSpPr>
        <p:grpSpPr bwMode="auto">
          <a:xfrm>
            <a:off x="1600200" y="3733800"/>
            <a:ext cx="2819400" cy="465138"/>
            <a:chOff x="1008" y="2256"/>
            <a:chExt cx="1776" cy="293"/>
          </a:xfrm>
        </p:grpSpPr>
        <p:sp>
          <p:nvSpPr>
            <p:cNvPr id="50234" name="Text Box 58"/>
            <p:cNvSpPr txBox="1">
              <a:spLocks noChangeArrowheads="1"/>
            </p:cNvSpPr>
            <p:nvPr/>
          </p:nvSpPr>
          <p:spPr bwMode="auto">
            <a:xfrm>
              <a:off x="1008" y="2256"/>
              <a:ext cx="5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使得</a:t>
              </a:r>
              <a:endParaRPr lang="en-US" altLang="zh-CN" sz="2400" b="1"/>
            </a:p>
          </p:txBody>
        </p:sp>
        <p:graphicFrame>
          <p:nvGraphicFramePr>
            <p:cNvPr id="50235" name="Object 59"/>
            <p:cNvGraphicFramePr>
              <a:graphicFrameLocks noChangeAspect="1"/>
            </p:cNvGraphicFramePr>
            <p:nvPr/>
          </p:nvGraphicFramePr>
          <p:xfrm>
            <a:off x="1488" y="2304"/>
            <a:ext cx="1296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1168200" imgH="228600" progId="Equation.3">
                    <p:embed/>
                  </p:oleObj>
                </mc:Choice>
                <mc:Fallback>
                  <p:oleObj name="Equation" r:id="rId31" imgW="1168200" imgH="228600" progId="Equation.3">
                    <p:embed/>
                    <p:pic>
                      <p:nvPicPr>
                        <p:cNvPr id="50235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304"/>
                          <a:ext cx="1296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236" name="Group 60"/>
          <p:cNvGrpSpPr>
            <a:grpSpLocks/>
          </p:cNvGrpSpPr>
          <p:nvPr/>
        </p:nvGrpSpPr>
        <p:grpSpPr bwMode="auto">
          <a:xfrm>
            <a:off x="4495800" y="3733800"/>
            <a:ext cx="3429000" cy="457200"/>
            <a:chOff x="2832" y="2256"/>
            <a:chExt cx="2160" cy="288"/>
          </a:xfrm>
        </p:grpSpPr>
        <p:graphicFrame>
          <p:nvGraphicFramePr>
            <p:cNvPr id="50237" name="Object 61"/>
            <p:cNvGraphicFramePr>
              <a:graphicFrameLocks noChangeAspect="1"/>
            </p:cNvGraphicFramePr>
            <p:nvPr/>
          </p:nvGraphicFramePr>
          <p:xfrm>
            <a:off x="3072" y="2304"/>
            <a:ext cx="768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723600" imgH="228600" progId="Equation.3">
                    <p:embed/>
                  </p:oleObj>
                </mc:Choice>
                <mc:Fallback>
                  <p:oleObj name="Equation" r:id="rId33" imgW="723600" imgH="228600" progId="Equation.3">
                    <p:embed/>
                    <p:pic>
                      <p:nvPicPr>
                        <p:cNvPr id="50237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2304"/>
                          <a:ext cx="768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38" name="AutoShape 62"/>
            <p:cNvSpPr>
              <a:spLocks noChangeArrowheads="1"/>
            </p:cNvSpPr>
            <p:nvPr/>
          </p:nvSpPr>
          <p:spPr bwMode="auto">
            <a:xfrm>
              <a:off x="2832" y="2352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39" name="Text Box 63"/>
            <p:cNvSpPr txBox="1">
              <a:spLocks noChangeArrowheads="1"/>
            </p:cNvSpPr>
            <p:nvPr/>
          </p:nvSpPr>
          <p:spPr bwMode="auto">
            <a:xfrm>
              <a:off x="3792" y="2256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使得</a:t>
              </a:r>
              <a:endParaRPr lang="en-US" altLang="zh-CN" sz="2400" b="1"/>
            </a:p>
          </p:txBody>
        </p:sp>
        <p:graphicFrame>
          <p:nvGraphicFramePr>
            <p:cNvPr id="50240" name="Object 64"/>
            <p:cNvGraphicFramePr>
              <a:graphicFrameLocks noChangeAspect="1"/>
            </p:cNvGraphicFramePr>
            <p:nvPr/>
          </p:nvGraphicFramePr>
          <p:xfrm>
            <a:off x="4272" y="2304"/>
            <a:ext cx="72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622080" imgH="203040" progId="Equation.3">
                    <p:embed/>
                  </p:oleObj>
                </mc:Choice>
                <mc:Fallback>
                  <p:oleObj name="Equation" r:id="rId35" imgW="622080" imgH="203040" progId="Equation.3">
                    <p:embed/>
                    <p:pic>
                      <p:nvPicPr>
                        <p:cNvPr id="5024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304"/>
                          <a:ext cx="720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241" name="Object 65"/>
          <p:cNvGraphicFramePr>
            <a:graphicFrameLocks noChangeAspect="1"/>
          </p:cNvGraphicFramePr>
          <p:nvPr/>
        </p:nvGraphicFramePr>
        <p:xfrm>
          <a:off x="2819400" y="4267200"/>
          <a:ext cx="28956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434960" imgH="228600" progId="Equation.3">
                  <p:embed/>
                </p:oleObj>
              </mc:Choice>
              <mc:Fallback>
                <p:oleObj name="Equation" r:id="rId37" imgW="1434960" imgH="228600" progId="Equation.3">
                  <p:embed/>
                  <p:pic>
                    <p:nvPicPr>
                      <p:cNvPr id="50241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267200"/>
                        <a:ext cx="28956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242" name="Group 66"/>
          <p:cNvGrpSpPr>
            <a:grpSpLocks/>
          </p:cNvGrpSpPr>
          <p:nvPr/>
        </p:nvGrpSpPr>
        <p:grpSpPr bwMode="auto">
          <a:xfrm>
            <a:off x="1981200" y="4800600"/>
            <a:ext cx="4267200" cy="457200"/>
            <a:chOff x="960" y="3024"/>
            <a:chExt cx="2688" cy="288"/>
          </a:xfrm>
        </p:grpSpPr>
        <p:sp>
          <p:nvSpPr>
            <p:cNvPr id="50243" name="Text Box 67"/>
            <p:cNvSpPr txBox="1">
              <a:spLocks noChangeArrowheads="1"/>
            </p:cNvSpPr>
            <p:nvPr/>
          </p:nvSpPr>
          <p:spPr bwMode="auto">
            <a:xfrm>
              <a:off x="1200" y="302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存在</a:t>
              </a:r>
              <a:endParaRPr lang="en-US" altLang="zh-CN" sz="2400" b="1"/>
            </a:p>
          </p:txBody>
        </p:sp>
        <p:graphicFrame>
          <p:nvGraphicFramePr>
            <p:cNvPr id="50244" name="Object 68"/>
            <p:cNvGraphicFramePr>
              <a:graphicFrameLocks noChangeAspect="1"/>
            </p:cNvGraphicFramePr>
            <p:nvPr/>
          </p:nvGraphicFramePr>
          <p:xfrm>
            <a:off x="1632" y="3072"/>
            <a:ext cx="720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596880" imgH="203040" progId="Equation.3">
                    <p:embed/>
                  </p:oleObj>
                </mc:Choice>
                <mc:Fallback>
                  <p:oleObj name="Equation" r:id="rId39" imgW="596880" imgH="203040" progId="Equation.3">
                    <p:embed/>
                    <p:pic>
                      <p:nvPicPr>
                        <p:cNvPr id="50244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3072"/>
                          <a:ext cx="720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45" name="Text Box 69"/>
            <p:cNvSpPr txBox="1">
              <a:spLocks noChangeArrowheads="1"/>
            </p:cNvSpPr>
            <p:nvPr/>
          </p:nvSpPr>
          <p:spPr bwMode="auto">
            <a:xfrm>
              <a:off x="2304" y="302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使得</a:t>
              </a:r>
              <a:endParaRPr lang="en-US" altLang="zh-CN" sz="2400" b="1"/>
            </a:p>
          </p:txBody>
        </p:sp>
        <p:graphicFrame>
          <p:nvGraphicFramePr>
            <p:cNvPr id="50246" name="Object 70"/>
            <p:cNvGraphicFramePr>
              <a:graphicFrameLocks noChangeAspect="1"/>
            </p:cNvGraphicFramePr>
            <p:nvPr/>
          </p:nvGraphicFramePr>
          <p:xfrm>
            <a:off x="2784" y="3024"/>
            <a:ext cx="864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711000" imgH="228600" progId="Equation.3">
                    <p:embed/>
                  </p:oleObj>
                </mc:Choice>
                <mc:Fallback>
                  <p:oleObj name="Equation" r:id="rId41" imgW="711000" imgH="228600" progId="Equation.3">
                    <p:embed/>
                    <p:pic>
                      <p:nvPicPr>
                        <p:cNvPr id="50246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024"/>
                          <a:ext cx="864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47" name="AutoShape 71"/>
            <p:cNvSpPr>
              <a:spLocks noChangeArrowheads="1"/>
            </p:cNvSpPr>
            <p:nvPr/>
          </p:nvSpPr>
          <p:spPr bwMode="auto">
            <a:xfrm>
              <a:off x="960" y="3120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248" name="Rectangle 72"/>
          <p:cNvSpPr>
            <a:spLocks noChangeArrowheads="1"/>
          </p:cNvSpPr>
          <p:nvPr/>
        </p:nvSpPr>
        <p:spPr bwMode="auto">
          <a:xfrm>
            <a:off x="609600" y="2286000"/>
            <a:ext cx="7924800" cy="3352800"/>
          </a:xfrm>
          <a:prstGeom prst="rect">
            <a:avLst/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49" name="Text Box 73"/>
          <p:cNvSpPr txBox="1">
            <a:spLocks noChangeArrowheads="1"/>
          </p:cNvSpPr>
          <p:nvPr/>
        </p:nvSpPr>
        <p:spPr bwMode="auto">
          <a:xfrm>
            <a:off x="609600" y="2286000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/>
              <a:t>R</a:t>
            </a:r>
            <a:r>
              <a:rPr lang="en-US" altLang="zh-CN" sz="2400" b="1" i="1" baseline="-25000"/>
              <a:t>n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</a:t>
            </a:r>
            <a:r>
              <a:rPr lang="zh-CN" altLang="en-US" sz="2400" b="1"/>
              <a:t>至少有</a:t>
            </a:r>
            <a:r>
              <a:rPr lang="en-US" altLang="zh-CN" sz="2400" b="1"/>
              <a:t>        </a:t>
            </a:r>
            <a:r>
              <a:rPr lang="zh-CN" altLang="en-US" sz="2400" b="1"/>
              <a:t>个根</a:t>
            </a:r>
            <a:endParaRPr lang="en-US" altLang="zh-CN" sz="2400" b="1"/>
          </a:p>
        </p:txBody>
      </p:sp>
      <p:sp>
        <p:nvSpPr>
          <p:cNvPr id="50250" name="Text Box 74"/>
          <p:cNvSpPr txBox="1">
            <a:spLocks noChangeArrowheads="1"/>
          </p:cNvSpPr>
          <p:nvPr/>
        </p:nvSpPr>
        <p:spPr bwMode="auto">
          <a:xfrm>
            <a:off x="2362200" y="22860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>
                <a:solidFill>
                  <a:srgbClr val="FF3300"/>
                </a:solidFill>
              </a:rPr>
              <a:t>n</a:t>
            </a:r>
            <a:r>
              <a:rPr lang="en-US" altLang="zh-CN" sz="2400" b="1">
                <a:solidFill>
                  <a:srgbClr val="FF3300"/>
                </a:solidFill>
              </a:rPr>
              <a:t>+1</a:t>
            </a:r>
            <a:endParaRPr lang="en-US" altLang="zh-CN" sz="2400" b="1" i="1">
              <a:solidFill>
                <a:srgbClr val="FF3300"/>
              </a:solidFill>
            </a:endParaRPr>
          </a:p>
        </p:txBody>
      </p:sp>
      <p:grpSp>
        <p:nvGrpSpPr>
          <p:cNvPr id="50253" name="Group 77"/>
          <p:cNvGrpSpPr>
            <a:grpSpLocks/>
          </p:cNvGrpSpPr>
          <p:nvPr/>
        </p:nvGrpSpPr>
        <p:grpSpPr bwMode="auto">
          <a:xfrm>
            <a:off x="3733800" y="2133600"/>
            <a:ext cx="3255963" cy="719138"/>
            <a:chOff x="2400" y="1411"/>
            <a:chExt cx="2051" cy="453"/>
          </a:xfrm>
        </p:grpSpPr>
        <p:sp>
          <p:nvSpPr>
            <p:cNvPr id="50254" name="Rectangle 78"/>
            <p:cNvSpPr>
              <a:spLocks noChangeArrowheads="1"/>
            </p:cNvSpPr>
            <p:nvPr/>
          </p:nvSpPr>
          <p:spPr bwMode="auto">
            <a:xfrm>
              <a:off x="3732" y="1460"/>
              <a:ext cx="197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2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</a:t>
              </a:r>
              <a:endParaRPr lang="en-US" altLang="zh-CN"/>
            </a:p>
          </p:txBody>
        </p:sp>
        <p:sp>
          <p:nvSpPr>
            <p:cNvPr id="50255" name="Rectangle 79"/>
            <p:cNvSpPr>
              <a:spLocks noChangeArrowheads="1"/>
            </p:cNvSpPr>
            <p:nvPr/>
          </p:nvSpPr>
          <p:spPr bwMode="auto">
            <a:xfrm>
              <a:off x="3801" y="1739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  <p:sp>
          <p:nvSpPr>
            <p:cNvPr id="50256" name="Rectangle 80"/>
            <p:cNvSpPr>
              <a:spLocks noChangeArrowheads="1"/>
            </p:cNvSpPr>
            <p:nvPr/>
          </p:nvSpPr>
          <p:spPr bwMode="auto">
            <a:xfrm>
              <a:off x="4130" y="1504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50257" name="Rectangle 81"/>
            <p:cNvSpPr>
              <a:spLocks noChangeArrowheads="1"/>
            </p:cNvSpPr>
            <p:nvPr/>
          </p:nvSpPr>
          <p:spPr bwMode="auto">
            <a:xfrm>
              <a:off x="3232" y="1504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  <p:sp>
          <p:nvSpPr>
            <p:cNvPr id="50258" name="Rectangle 82"/>
            <p:cNvSpPr>
              <a:spLocks noChangeArrowheads="1"/>
            </p:cNvSpPr>
            <p:nvPr/>
          </p:nvSpPr>
          <p:spPr bwMode="auto">
            <a:xfrm>
              <a:off x="3808" y="1411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000000"/>
                  </a:solidFill>
                </a:rPr>
                <a:t>n</a:t>
              </a:r>
              <a:endParaRPr lang="en-US" altLang="zh-CN"/>
            </a:p>
          </p:txBody>
        </p:sp>
        <p:sp>
          <p:nvSpPr>
            <p:cNvPr id="50259" name="Rectangle 83"/>
            <p:cNvSpPr>
              <a:spLocks noChangeArrowheads="1"/>
            </p:cNvSpPr>
            <p:nvPr/>
          </p:nvSpPr>
          <p:spPr bwMode="auto">
            <a:xfrm>
              <a:off x="3765" y="1749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000000"/>
                  </a:solidFill>
                </a:rPr>
                <a:t>i</a:t>
              </a:r>
              <a:endParaRPr lang="en-US" altLang="zh-CN"/>
            </a:p>
          </p:txBody>
        </p:sp>
        <p:sp>
          <p:nvSpPr>
            <p:cNvPr id="50260" name="Rectangle 84"/>
            <p:cNvSpPr>
              <a:spLocks noChangeArrowheads="1"/>
            </p:cNvSpPr>
            <p:nvPr/>
          </p:nvSpPr>
          <p:spPr bwMode="auto">
            <a:xfrm>
              <a:off x="4343" y="1628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i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0261" name="Rectangle 85"/>
            <p:cNvSpPr>
              <a:spLocks noChangeArrowheads="1"/>
            </p:cNvSpPr>
            <p:nvPr/>
          </p:nvSpPr>
          <p:spPr bwMode="auto">
            <a:xfrm>
              <a:off x="2918" y="1628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000000"/>
                  </a:solidFill>
                </a:rPr>
                <a:t>n</a:t>
              </a:r>
              <a:endParaRPr lang="en-US" altLang="zh-CN"/>
            </a:p>
          </p:txBody>
        </p:sp>
        <p:sp>
          <p:nvSpPr>
            <p:cNvPr id="50262" name="Rectangle 86"/>
            <p:cNvSpPr>
              <a:spLocks noChangeArrowheads="1"/>
            </p:cNvSpPr>
            <p:nvPr/>
          </p:nvSpPr>
          <p:spPr bwMode="auto">
            <a:xfrm>
              <a:off x="4259" y="1523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0263" name="Rectangle 87"/>
            <p:cNvSpPr>
              <a:spLocks noChangeArrowheads="1"/>
            </p:cNvSpPr>
            <p:nvPr/>
          </p:nvSpPr>
          <p:spPr bwMode="auto">
            <a:xfrm>
              <a:off x="4019" y="1523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50264" name="Rectangle 88"/>
            <p:cNvSpPr>
              <a:spLocks noChangeArrowheads="1"/>
            </p:cNvSpPr>
            <p:nvPr/>
          </p:nvSpPr>
          <p:spPr bwMode="auto">
            <a:xfrm>
              <a:off x="3561" y="1523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50265" name="Rectangle 89"/>
            <p:cNvSpPr>
              <a:spLocks noChangeArrowheads="1"/>
            </p:cNvSpPr>
            <p:nvPr/>
          </p:nvSpPr>
          <p:spPr bwMode="auto">
            <a:xfrm>
              <a:off x="3366" y="1523"/>
              <a:ext cx="11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K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50266" name="Rectangle 90"/>
            <p:cNvSpPr>
              <a:spLocks noChangeArrowheads="1"/>
            </p:cNvSpPr>
            <p:nvPr/>
          </p:nvSpPr>
          <p:spPr bwMode="auto">
            <a:xfrm>
              <a:off x="3057" y="1523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50267" name="Rectangle 91"/>
            <p:cNvSpPr>
              <a:spLocks noChangeArrowheads="1"/>
            </p:cNvSpPr>
            <p:nvPr/>
          </p:nvSpPr>
          <p:spPr bwMode="auto">
            <a:xfrm>
              <a:off x="2815" y="1523"/>
              <a:ext cx="11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R</a:t>
              </a:r>
              <a:endParaRPr lang="en-US" altLang="zh-CN"/>
            </a:p>
          </p:txBody>
        </p:sp>
        <p:sp>
          <p:nvSpPr>
            <p:cNvPr id="50268" name="Rectangle 92"/>
            <p:cNvSpPr>
              <a:spLocks noChangeArrowheads="1"/>
            </p:cNvSpPr>
            <p:nvPr/>
          </p:nvSpPr>
          <p:spPr bwMode="auto">
            <a:xfrm>
              <a:off x="3857" y="174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50269" name="Rectangle 93"/>
            <p:cNvSpPr>
              <a:spLocks noChangeArrowheads="1"/>
            </p:cNvSpPr>
            <p:nvPr/>
          </p:nvSpPr>
          <p:spPr bwMode="auto">
            <a:xfrm>
              <a:off x="4395" y="1523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270" name="Rectangle 94"/>
            <p:cNvSpPr>
              <a:spLocks noChangeArrowheads="1"/>
            </p:cNvSpPr>
            <p:nvPr/>
          </p:nvSpPr>
          <p:spPr bwMode="auto">
            <a:xfrm>
              <a:off x="3947" y="1523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271" name="Rectangle 95"/>
            <p:cNvSpPr>
              <a:spLocks noChangeArrowheads="1"/>
            </p:cNvSpPr>
            <p:nvPr/>
          </p:nvSpPr>
          <p:spPr bwMode="auto">
            <a:xfrm>
              <a:off x="3650" y="1523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272" name="Rectangle 96"/>
            <p:cNvSpPr>
              <a:spLocks noChangeArrowheads="1"/>
            </p:cNvSpPr>
            <p:nvPr/>
          </p:nvSpPr>
          <p:spPr bwMode="auto">
            <a:xfrm>
              <a:off x="3490" y="1523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273" name="Rectangle 97"/>
            <p:cNvSpPr>
              <a:spLocks noChangeArrowheads="1"/>
            </p:cNvSpPr>
            <p:nvPr/>
          </p:nvSpPr>
          <p:spPr bwMode="auto">
            <a:xfrm>
              <a:off x="3146" y="1523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274" name="Rectangle 98"/>
            <p:cNvSpPr>
              <a:spLocks noChangeArrowheads="1"/>
            </p:cNvSpPr>
            <p:nvPr/>
          </p:nvSpPr>
          <p:spPr bwMode="auto">
            <a:xfrm>
              <a:off x="2985" y="1523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275" name="AutoShape 99"/>
            <p:cNvSpPr>
              <a:spLocks noChangeArrowheads="1"/>
            </p:cNvSpPr>
            <p:nvPr/>
          </p:nvSpPr>
          <p:spPr bwMode="auto">
            <a:xfrm>
              <a:off x="2400" y="1584"/>
              <a:ext cx="288" cy="9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0305" name="Group 129"/>
          <p:cNvGrpSpPr>
            <a:grpSpLocks/>
          </p:cNvGrpSpPr>
          <p:nvPr/>
        </p:nvGrpSpPr>
        <p:grpSpPr bwMode="auto">
          <a:xfrm>
            <a:off x="609600" y="2819400"/>
            <a:ext cx="7891463" cy="711200"/>
            <a:chOff x="384" y="1632"/>
            <a:chExt cx="4971" cy="448"/>
          </a:xfrm>
        </p:grpSpPr>
        <p:sp>
          <p:nvSpPr>
            <p:cNvPr id="50306" name="Text Box 130"/>
            <p:cNvSpPr txBox="1">
              <a:spLocks noChangeArrowheads="1"/>
            </p:cNvSpPr>
            <p:nvPr/>
          </p:nvSpPr>
          <p:spPr bwMode="auto">
            <a:xfrm>
              <a:off x="384" y="1680"/>
              <a:ext cx="29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任意固定</a:t>
              </a:r>
              <a:r>
                <a:rPr lang="en-US" altLang="zh-CN" sz="2400" b="1"/>
                <a:t> </a:t>
              </a:r>
              <a:r>
                <a:rPr lang="en-US" altLang="zh-CN" sz="20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000" b="1" i="1"/>
                <a:t> </a:t>
              </a:r>
              <a:r>
                <a:rPr lang="en-US" altLang="zh-CN" sz="2000" b="1">
                  <a:sym typeface="Symbol" charset="0"/>
                </a:rPr>
                <a:t> </a:t>
              </a:r>
              <a:r>
                <a:rPr lang="en-US" altLang="zh-CN" sz="2000" b="1" i="1">
                  <a:solidFill>
                    <a:schemeClr val="accent2"/>
                  </a:solidFill>
                  <a:sym typeface="Symbol" charset="0"/>
                </a:rPr>
                <a:t>x</a:t>
              </a:r>
              <a:r>
                <a:rPr lang="en-US" altLang="zh-CN" sz="2000" b="1" i="1" baseline="-25000">
                  <a:solidFill>
                    <a:schemeClr val="accent2"/>
                  </a:solidFill>
                  <a:sym typeface="Symbol" charset="0"/>
                </a:rPr>
                <a:t>i</a:t>
              </a:r>
              <a:r>
                <a:rPr lang="en-US" altLang="zh-CN" sz="2400" b="1">
                  <a:sym typeface="Symbol" charset="0"/>
                </a:rPr>
                <a:t>  (</a:t>
              </a:r>
              <a:r>
                <a:rPr lang="en-US" altLang="zh-CN" sz="2000" b="1" i="1">
                  <a:sym typeface="Symbol" charset="0"/>
                </a:rPr>
                <a:t>i</a:t>
              </a:r>
              <a:r>
                <a:rPr lang="en-US" altLang="zh-CN" sz="2000" b="1">
                  <a:sym typeface="Symbol" charset="0"/>
                </a:rPr>
                <a:t> = 0, …, </a:t>
              </a:r>
              <a:r>
                <a:rPr lang="en-US" altLang="zh-CN" sz="2000" b="1" i="1">
                  <a:sym typeface="Symbol" charset="0"/>
                </a:rPr>
                <a:t>n</a:t>
              </a:r>
              <a:r>
                <a:rPr lang="en-US" altLang="zh-CN" sz="2400" b="1">
                  <a:sym typeface="Symbol" charset="0"/>
                </a:rPr>
                <a:t>)</a:t>
              </a:r>
              <a:r>
                <a:rPr lang="en-US" altLang="zh-CN" sz="2400" b="1"/>
                <a:t>, </a:t>
              </a:r>
              <a:r>
                <a:rPr lang="zh-CN" altLang="en-US" sz="2400" b="1"/>
                <a:t>考察</a:t>
              </a:r>
              <a:endParaRPr lang="en-US" altLang="zh-CN" sz="2400" b="1"/>
            </a:p>
          </p:txBody>
        </p:sp>
        <p:grpSp>
          <p:nvGrpSpPr>
            <p:cNvPr id="50307" name="Group 131"/>
            <p:cNvGrpSpPr>
              <a:grpSpLocks/>
            </p:cNvGrpSpPr>
            <p:nvPr/>
          </p:nvGrpSpPr>
          <p:grpSpPr bwMode="auto">
            <a:xfrm>
              <a:off x="3072" y="1632"/>
              <a:ext cx="2283" cy="448"/>
              <a:chOff x="1344" y="2179"/>
              <a:chExt cx="2283" cy="448"/>
            </a:xfrm>
          </p:grpSpPr>
          <p:sp>
            <p:nvSpPr>
              <p:cNvPr id="50308" name="Rectangle 132"/>
              <p:cNvSpPr>
                <a:spLocks noChangeArrowheads="1"/>
              </p:cNvSpPr>
              <p:nvPr/>
            </p:nvSpPr>
            <p:spPr bwMode="auto">
              <a:xfrm>
                <a:off x="2850" y="2227"/>
                <a:ext cx="191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100" b="1">
                    <a:solidFill>
                      <a:srgbClr val="000000"/>
                    </a:solidFill>
                    <a:latin typeface="Symbol" charset="0"/>
                    <a:sym typeface="Symbol" charset="0"/>
                  </a:rPr>
                  <a:t></a:t>
                </a:r>
                <a:endParaRPr lang="en-US" altLang="zh-CN"/>
              </a:p>
            </p:txBody>
          </p:sp>
          <p:sp>
            <p:nvSpPr>
              <p:cNvPr id="50309" name="Rectangle 133"/>
              <p:cNvSpPr>
                <a:spLocks noChangeArrowheads="1"/>
              </p:cNvSpPr>
              <p:nvPr/>
            </p:nvSpPr>
            <p:spPr bwMode="auto">
              <a:xfrm>
                <a:off x="2930" y="2501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  <a:latin typeface="Symbol" charset="0"/>
                  </a:rPr>
                  <a:t>=</a:t>
                </a:r>
                <a:endParaRPr lang="en-US" altLang="zh-CN"/>
              </a:p>
            </p:txBody>
          </p:sp>
          <p:sp>
            <p:nvSpPr>
              <p:cNvPr id="50310" name="Rectangle 134"/>
              <p:cNvSpPr>
                <a:spLocks noChangeArrowheads="1"/>
              </p:cNvSpPr>
              <p:nvPr/>
            </p:nvSpPr>
            <p:spPr bwMode="auto">
              <a:xfrm>
                <a:off x="3264" y="2271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50311" name="Rectangle 135"/>
              <p:cNvSpPr>
                <a:spLocks noChangeArrowheads="1"/>
              </p:cNvSpPr>
              <p:nvPr/>
            </p:nvSpPr>
            <p:spPr bwMode="auto">
              <a:xfrm>
                <a:off x="2279" y="2271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  <a:sym typeface="Symbol" charset="0"/>
                  </a:rPr>
                  <a:t></a:t>
                </a:r>
                <a:endParaRPr lang="en-US" altLang="zh-CN"/>
              </a:p>
            </p:txBody>
          </p:sp>
          <p:sp>
            <p:nvSpPr>
              <p:cNvPr id="50312" name="Rectangle 136"/>
              <p:cNvSpPr>
                <a:spLocks noChangeArrowheads="1"/>
              </p:cNvSpPr>
              <p:nvPr/>
            </p:nvSpPr>
            <p:spPr bwMode="auto">
              <a:xfrm>
                <a:off x="1712" y="2256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=</a:t>
                </a:r>
                <a:endParaRPr lang="en-US" altLang="zh-CN"/>
              </a:p>
            </p:txBody>
          </p:sp>
          <p:sp>
            <p:nvSpPr>
              <p:cNvPr id="50313" name="Rectangle 137"/>
              <p:cNvSpPr>
                <a:spLocks noChangeArrowheads="1"/>
              </p:cNvSpPr>
              <p:nvPr/>
            </p:nvSpPr>
            <p:spPr bwMode="auto">
              <a:xfrm>
                <a:off x="2938" y="2179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000000"/>
                    </a:solidFill>
                  </a:rPr>
                  <a:t>n</a:t>
                </a:r>
                <a:endParaRPr lang="en-US" altLang="zh-CN"/>
              </a:p>
            </p:txBody>
          </p:sp>
          <p:sp>
            <p:nvSpPr>
              <p:cNvPr id="50314" name="Rectangle 138"/>
              <p:cNvSpPr>
                <a:spLocks noChangeArrowheads="1"/>
              </p:cNvSpPr>
              <p:nvPr/>
            </p:nvSpPr>
            <p:spPr bwMode="auto">
              <a:xfrm>
                <a:off x="2888" y="2512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000000"/>
                    </a:solidFill>
                  </a:rPr>
                  <a:t>i</a:t>
                </a:r>
                <a:endParaRPr lang="en-US" altLang="zh-CN"/>
              </a:p>
            </p:txBody>
          </p:sp>
          <p:sp>
            <p:nvSpPr>
              <p:cNvPr id="50315" name="Rectangle 139"/>
              <p:cNvSpPr>
                <a:spLocks noChangeArrowheads="1"/>
              </p:cNvSpPr>
              <p:nvPr/>
            </p:nvSpPr>
            <p:spPr bwMode="auto">
              <a:xfrm>
                <a:off x="3511" y="2392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i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0316" name="Rectangle 140"/>
              <p:cNvSpPr>
                <a:spLocks noChangeArrowheads="1"/>
              </p:cNvSpPr>
              <p:nvPr/>
            </p:nvSpPr>
            <p:spPr bwMode="auto">
              <a:xfrm>
                <a:off x="3413" y="229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0317" name="Rectangle 141"/>
              <p:cNvSpPr>
                <a:spLocks noChangeArrowheads="1"/>
              </p:cNvSpPr>
              <p:nvPr/>
            </p:nvSpPr>
            <p:spPr bwMode="auto">
              <a:xfrm>
                <a:off x="3169" y="2290"/>
                <a:ext cx="4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t</a:t>
                </a:r>
                <a:endParaRPr lang="en-US" altLang="zh-CN"/>
              </a:p>
            </p:txBody>
          </p:sp>
          <p:sp>
            <p:nvSpPr>
              <p:cNvPr id="50318" name="Rectangle 142"/>
              <p:cNvSpPr>
                <a:spLocks noChangeArrowheads="1"/>
              </p:cNvSpPr>
              <p:nvPr/>
            </p:nvSpPr>
            <p:spPr bwMode="auto">
              <a:xfrm>
                <a:off x="2652" y="229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0319" name="Rectangle 143"/>
              <p:cNvSpPr>
                <a:spLocks noChangeArrowheads="1"/>
              </p:cNvSpPr>
              <p:nvPr/>
            </p:nvSpPr>
            <p:spPr bwMode="auto">
              <a:xfrm>
                <a:off x="2425" y="2290"/>
                <a:ext cx="11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FF3300"/>
                    </a:solidFill>
                  </a:rPr>
                  <a:t>K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50320" name="Rectangle 144"/>
              <p:cNvSpPr>
                <a:spLocks noChangeArrowheads="1"/>
              </p:cNvSpPr>
              <p:nvPr/>
            </p:nvSpPr>
            <p:spPr bwMode="auto">
              <a:xfrm>
                <a:off x="2121" y="2290"/>
                <a:ext cx="4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t</a:t>
                </a:r>
                <a:endParaRPr lang="en-US" altLang="zh-CN"/>
              </a:p>
            </p:txBody>
          </p:sp>
          <p:sp>
            <p:nvSpPr>
              <p:cNvPr id="50321" name="Rectangle 145"/>
              <p:cNvSpPr>
                <a:spLocks noChangeArrowheads="1"/>
              </p:cNvSpPr>
              <p:nvPr/>
            </p:nvSpPr>
            <p:spPr bwMode="auto">
              <a:xfrm>
                <a:off x="1849" y="2280"/>
                <a:ext cx="17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R</a:t>
                </a:r>
                <a:r>
                  <a:rPr lang="en-US" altLang="zh-CN" sz="2100" b="1" i="1" baseline="-25000">
                    <a:solidFill>
                      <a:srgbClr val="000000"/>
                    </a:solidFill>
                  </a:rPr>
                  <a:t>n</a:t>
                </a:r>
                <a:endParaRPr lang="en-US" altLang="zh-CN"/>
              </a:p>
            </p:txBody>
          </p:sp>
          <p:sp>
            <p:nvSpPr>
              <p:cNvPr id="50322" name="Rectangle 146"/>
              <p:cNvSpPr>
                <a:spLocks noChangeArrowheads="1"/>
              </p:cNvSpPr>
              <p:nvPr/>
            </p:nvSpPr>
            <p:spPr bwMode="auto">
              <a:xfrm>
                <a:off x="1543" y="2275"/>
                <a:ext cx="4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t</a:t>
                </a:r>
                <a:endParaRPr lang="en-US" altLang="zh-CN"/>
              </a:p>
            </p:txBody>
          </p:sp>
          <p:sp>
            <p:nvSpPr>
              <p:cNvPr id="50323" name="Rectangle 147"/>
              <p:cNvSpPr>
                <a:spLocks noChangeArrowheads="1"/>
              </p:cNvSpPr>
              <p:nvPr/>
            </p:nvSpPr>
            <p:spPr bwMode="auto">
              <a:xfrm>
                <a:off x="2995" y="2510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</a:rPr>
                  <a:t>0</a:t>
                </a:r>
                <a:endParaRPr lang="en-US" altLang="zh-CN"/>
              </a:p>
            </p:txBody>
          </p:sp>
          <p:sp>
            <p:nvSpPr>
              <p:cNvPr id="50324" name="Rectangle 148"/>
              <p:cNvSpPr>
                <a:spLocks noChangeArrowheads="1"/>
              </p:cNvSpPr>
              <p:nvPr/>
            </p:nvSpPr>
            <p:spPr bwMode="auto">
              <a:xfrm>
                <a:off x="3571" y="2290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50325" name="Rectangle 149"/>
              <p:cNvSpPr>
                <a:spLocks noChangeArrowheads="1"/>
              </p:cNvSpPr>
              <p:nvPr/>
            </p:nvSpPr>
            <p:spPr bwMode="auto">
              <a:xfrm>
                <a:off x="3100" y="2290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50326" name="Rectangle 150"/>
              <p:cNvSpPr>
                <a:spLocks noChangeArrowheads="1"/>
              </p:cNvSpPr>
              <p:nvPr/>
            </p:nvSpPr>
            <p:spPr bwMode="auto">
              <a:xfrm>
                <a:off x="2755" y="2290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50327" name="Rectangle 151"/>
              <p:cNvSpPr>
                <a:spLocks noChangeArrowheads="1"/>
              </p:cNvSpPr>
              <p:nvPr/>
            </p:nvSpPr>
            <p:spPr bwMode="auto">
              <a:xfrm>
                <a:off x="2569" y="2290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50328" name="Rectangle 152"/>
              <p:cNvSpPr>
                <a:spLocks noChangeArrowheads="1"/>
              </p:cNvSpPr>
              <p:nvPr/>
            </p:nvSpPr>
            <p:spPr bwMode="auto">
              <a:xfrm>
                <a:off x="2189" y="2290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50329" name="Rectangle 153"/>
              <p:cNvSpPr>
                <a:spLocks noChangeArrowheads="1"/>
              </p:cNvSpPr>
              <p:nvPr/>
            </p:nvSpPr>
            <p:spPr bwMode="auto">
              <a:xfrm>
                <a:off x="2052" y="2290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50330" name="Rectangle 154"/>
              <p:cNvSpPr>
                <a:spLocks noChangeArrowheads="1"/>
              </p:cNvSpPr>
              <p:nvPr/>
            </p:nvSpPr>
            <p:spPr bwMode="auto">
              <a:xfrm>
                <a:off x="1612" y="2275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50331" name="Rectangle 155"/>
              <p:cNvSpPr>
                <a:spLocks noChangeArrowheads="1"/>
              </p:cNvSpPr>
              <p:nvPr/>
            </p:nvSpPr>
            <p:spPr bwMode="auto">
              <a:xfrm>
                <a:off x="1474" y="2275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50332" name="Rectangle 156"/>
              <p:cNvSpPr>
                <a:spLocks noChangeArrowheads="1"/>
              </p:cNvSpPr>
              <p:nvPr/>
            </p:nvSpPr>
            <p:spPr bwMode="auto">
              <a:xfrm>
                <a:off x="1344" y="2256"/>
                <a:ext cx="101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  <a:latin typeface="Symbol" charset="0"/>
                  </a:rPr>
                  <a:t>j</a:t>
                </a:r>
                <a:endParaRPr lang="en-US" altLang="zh-CN"/>
              </a:p>
            </p:txBody>
          </p:sp>
        </p:grpSp>
      </p:grpSp>
      <p:sp>
        <p:nvSpPr>
          <p:cNvPr id="50333" name="Text Box 157"/>
          <p:cNvSpPr txBox="1">
            <a:spLocks noChangeArrowheads="1"/>
          </p:cNvSpPr>
          <p:nvPr/>
        </p:nvSpPr>
        <p:spPr bwMode="auto">
          <a:xfrm>
            <a:off x="533400" y="35814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>
                <a:sym typeface="Symbol" charset="0"/>
              </a:rPr>
              <a:t></a:t>
            </a:r>
            <a:r>
              <a:rPr lang="en-US" altLang="zh-CN" sz="2400" b="1">
                <a:sym typeface="Symbol" charset="0"/>
              </a:rPr>
              <a:t>(</a:t>
            </a:r>
            <a:r>
              <a:rPr lang="en-US" altLang="zh-CN" sz="2400" b="1" i="1">
                <a:sym typeface="Symbol" charset="0"/>
              </a:rPr>
              <a:t>x</a:t>
            </a:r>
            <a:r>
              <a:rPr lang="en-US" altLang="zh-CN" sz="2400" b="1">
                <a:sym typeface="Symbol" charset="0"/>
              </a:rPr>
              <a:t>)</a:t>
            </a:r>
            <a:r>
              <a:rPr lang="zh-CN" altLang="en-US" sz="2400" b="1"/>
              <a:t>有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n</a:t>
            </a:r>
            <a:r>
              <a:rPr lang="en-US" altLang="zh-CN" sz="2400" b="1">
                <a:solidFill>
                  <a:srgbClr val="FF3300"/>
                </a:solidFill>
              </a:rPr>
              <a:t>+2</a:t>
            </a:r>
            <a:r>
              <a:rPr lang="en-US" altLang="zh-CN" sz="2400" b="1"/>
              <a:t> </a:t>
            </a:r>
            <a:r>
              <a:rPr lang="zh-CN" altLang="en-US" sz="2400" b="1"/>
              <a:t>个不同的根</a:t>
            </a:r>
            <a:r>
              <a:rPr lang="en-US" altLang="zh-CN" sz="2400" b="1"/>
              <a:t> </a:t>
            </a:r>
            <a:r>
              <a:rPr lang="en-US" altLang="zh-CN" sz="2000" b="1" i="1">
                <a:solidFill>
                  <a:schemeClr val="accent2"/>
                </a:solidFill>
                <a:sym typeface="Symbol" charset="0"/>
              </a:rPr>
              <a:t>x</a:t>
            </a:r>
            <a:r>
              <a:rPr lang="en-US" altLang="zh-CN" sz="2000" b="1" baseline="-25000">
                <a:solidFill>
                  <a:schemeClr val="accent2"/>
                </a:solidFill>
                <a:sym typeface="Symbol" charset="0"/>
              </a:rPr>
              <a:t>0</a:t>
            </a:r>
            <a:r>
              <a:rPr lang="en-US" altLang="zh-CN" sz="2000" b="1">
                <a:solidFill>
                  <a:schemeClr val="accent2"/>
                </a:solidFill>
                <a:sym typeface="Symbol" charset="0"/>
              </a:rPr>
              <a:t> … </a:t>
            </a:r>
            <a:r>
              <a:rPr lang="en-US" altLang="zh-CN" sz="2000" b="1" i="1" baseline="-25000">
                <a:solidFill>
                  <a:schemeClr val="accent2"/>
                </a:solidFill>
                <a:sym typeface="Symbol" charset="0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sym typeface="Symbol" charset="0"/>
              </a:rPr>
              <a:t>x</a:t>
            </a:r>
            <a:r>
              <a:rPr lang="en-US" altLang="zh-CN" sz="2000" b="1" i="1" baseline="-25000">
                <a:solidFill>
                  <a:schemeClr val="accent2"/>
                </a:solidFill>
                <a:sym typeface="Symbol" charset="0"/>
              </a:rPr>
              <a:t>n</a:t>
            </a:r>
            <a:r>
              <a:rPr lang="en-US" altLang="zh-CN" sz="2000" b="1" i="1">
                <a:solidFill>
                  <a:schemeClr val="accent2"/>
                </a:solidFill>
                <a:sym typeface="Symbol" charset="0"/>
              </a:rPr>
              <a:t> </a:t>
            </a:r>
            <a:r>
              <a:rPr lang="en-US" altLang="zh-CN" sz="2000" b="1" i="1" baseline="-25000">
                <a:solidFill>
                  <a:schemeClr val="accent2"/>
                </a:solidFill>
                <a:sym typeface="Symbol" charset="0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  <a:sym typeface="Symbol" charset="0"/>
              </a:rPr>
              <a:t>x</a:t>
            </a:r>
            <a:endParaRPr lang="en-US" altLang="zh-CN" sz="2000" b="1" i="1" baseline="-25000">
              <a:solidFill>
                <a:schemeClr val="accent2"/>
              </a:solidFill>
              <a:sym typeface="Symbol" charset="0"/>
            </a:endParaRPr>
          </a:p>
        </p:txBody>
      </p:sp>
      <p:graphicFrame>
        <p:nvGraphicFramePr>
          <p:cNvPr id="50334" name="Object 158"/>
          <p:cNvGraphicFramePr>
            <a:graphicFrameLocks noChangeAspect="1"/>
          </p:cNvGraphicFramePr>
          <p:nvPr/>
        </p:nvGraphicFramePr>
        <p:xfrm>
          <a:off x="5638800" y="3657600"/>
          <a:ext cx="29718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676160" imgH="241200" progId="Equation.3">
                  <p:embed/>
                </p:oleObj>
              </mc:Choice>
              <mc:Fallback>
                <p:oleObj name="Equation" r:id="rId43" imgW="1676160" imgH="241200" progId="Equation.3">
                  <p:embed/>
                  <p:pic>
                    <p:nvPicPr>
                      <p:cNvPr id="50334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657600"/>
                        <a:ext cx="29718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35" name="AutoShape 159"/>
          <p:cNvSpPr>
            <a:spLocks noChangeArrowheads="1"/>
          </p:cNvSpPr>
          <p:nvPr/>
        </p:nvSpPr>
        <p:spPr bwMode="auto">
          <a:xfrm>
            <a:off x="5029200" y="38100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360" name="Group 184"/>
          <p:cNvGrpSpPr>
            <a:grpSpLocks/>
          </p:cNvGrpSpPr>
          <p:nvPr/>
        </p:nvGrpSpPr>
        <p:grpSpPr bwMode="auto">
          <a:xfrm>
            <a:off x="5486400" y="4419600"/>
            <a:ext cx="3024188" cy="406400"/>
            <a:chOff x="3492" y="2457"/>
            <a:chExt cx="1905" cy="256"/>
          </a:xfrm>
        </p:grpSpPr>
        <p:sp>
          <p:nvSpPr>
            <p:cNvPr id="50361" name="Rectangle 185"/>
            <p:cNvSpPr>
              <a:spLocks noChangeArrowheads="1"/>
            </p:cNvSpPr>
            <p:nvPr/>
          </p:nvSpPr>
          <p:spPr bwMode="auto">
            <a:xfrm>
              <a:off x="5338" y="2481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!</a:t>
              </a:r>
              <a:endParaRPr lang="en-US" altLang="zh-CN"/>
            </a:p>
          </p:txBody>
        </p:sp>
        <p:sp>
          <p:nvSpPr>
            <p:cNvPr id="50362" name="Rectangle 186"/>
            <p:cNvSpPr>
              <a:spLocks noChangeArrowheads="1"/>
            </p:cNvSpPr>
            <p:nvPr/>
          </p:nvSpPr>
          <p:spPr bwMode="auto">
            <a:xfrm>
              <a:off x="5250" y="2481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363" name="Rectangle 187"/>
            <p:cNvSpPr>
              <a:spLocks noChangeArrowheads="1"/>
            </p:cNvSpPr>
            <p:nvPr/>
          </p:nvSpPr>
          <p:spPr bwMode="auto">
            <a:xfrm>
              <a:off x="5162" y="2481"/>
              <a:ext cx="88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0364" name="Rectangle 188"/>
            <p:cNvSpPr>
              <a:spLocks noChangeArrowheads="1"/>
            </p:cNvSpPr>
            <p:nvPr/>
          </p:nvSpPr>
          <p:spPr bwMode="auto">
            <a:xfrm>
              <a:off x="4842" y="2481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365" name="Rectangle 189"/>
            <p:cNvSpPr>
              <a:spLocks noChangeArrowheads="1"/>
            </p:cNvSpPr>
            <p:nvPr/>
          </p:nvSpPr>
          <p:spPr bwMode="auto">
            <a:xfrm>
              <a:off x="4700" y="2481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366" name="Rectangle 190"/>
            <p:cNvSpPr>
              <a:spLocks noChangeArrowheads="1"/>
            </p:cNvSpPr>
            <p:nvPr/>
          </p:nvSpPr>
          <p:spPr bwMode="auto">
            <a:xfrm>
              <a:off x="4515" y="2481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367" name="Rectangle 191"/>
            <p:cNvSpPr>
              <a:spLocks noChangeArrowheads="1"/>
            </p:cNvSpPr>
            <p:nvPr/>
          </p:nvSpPr>
          <p:spPr bwMode="auto">
            <a:xfrm>
              <a:off x="4146" y="2481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368" name="Rectangle 192"/>
            <p:cNvSpPr>
              <a:spLocks noChangeArrowheads="1"/>
            </p:cNvSpPr>
            <p:nvPr/>
          </p:nvSpPr>
          <p:spPr bwMode="auto">
            <a:xfrm>
              <a:off x="3900" y="2481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369" name="Rectangle 193"/>
            <p:cNvSpPr>
              <a:spLocks noChangeArrowheads="1"/>
            </p:cNvSpPr>
            <p:nvPr/>
          </p:nvSpPr>
          <p:spPr bwMode="auto">
            <a:xfrm>
              <a:off x="3848" y="2466"/>
              <a:ext cx="3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370" name="Rectangle 194"/>
            <p:cNvSpPr>
              <a:spLocks noChangeArrowheads="1"/>
            </p:cNvSpPr>
            <p:nvPr/>
          </p:nvSpPr>
          <p:spPr bwMode="auto">
            <a:xfrm>
              <a:off x="3790" y="2466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0371" name="Rectangle 195"/>
            <p:cNvSpPr>
              <a:spLocks noChangeArrowheads="1"/>
            </p:cNvSpPr>
            <p:nvPr/>
          </p:nvSpPr>
          <p:spPr bwMode="auto">
            <a:xfrm>
              <a:off x="3621" y="2466"/>
              <a:ext cx="3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372" name="Rectangle 196"/>
            <p:cNvSpPr>
              <a:spLocks noChangeArrowheads="1"/>
            </p:cNvSpPr>
            <p:nvPr/>
          </p:nvSpPr>
          <p:spPr bwMode="auto">
            <a:xfrm>
              <a:off x="5040" y="2462"/>
              <a:ext cx="9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0373" name="Rectangle 197"/>
            <p:cNvSpPr>
              <a:spLocks noChangeArrowheads="1"/>
            </p:cNvSpPr>
            <p:nvPr/>
          </p:nvSpPr>
          <p:spPr bwMode="auto">
            <a:xfrm>
              <a:off x="4234" y="2462"/>
              <a:ext cx="9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50374" name="Rectangle 198"/>
            <p:cNvSpPr>
              <a:spLocks noChangeArrowheads="1"/>
            </p:cNvSpPr>
            <p:nvPr/>
          </p:nvSpPr>
          <p:spPr bwMode="auto">
            <a:xfrm>
              <a:off x="3731" y="2457"/>
              <a:ext cx="5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0375" name="Rectangle 199"/>
            <p:cNvSpPr>
              <a:spLocks noChangeArrowheads="1"/>
            </p:cNvSpPr>
            <p:nvPr/>
          </p:nvSpPr>
          <p:spPr bwMode="auto">
            <a:xfrm>
              <a:off x="4910" y="2481"/>
              <a:ext cx="98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rgbClr val="000000"/>
                  </a:solidFill>
                </a:rPr>
                <a:t>n</a:t>
              </a:r>
              <a:endParaRPr lang="en-US" altLang="zh-CN"/>
            </a:p>
          </p:txBody>
        </p:sp>
        <p:sp>
          <p:nvSpPr>
            <p:cNvPr id="50376" name="Rectangle 200"/>
            <p:cNvSpPr>
              <a:spLocks noChangeArrowheads="1"/>
            </p:cNvSpPr>
            <p:nvPr/>
          </p:nvSpPr>
          <p:spPr bwMode="auto">
            <a:xfrm>
              <a:off x="4598" y="2481"/>
              <a:ext cx="88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0377" name="Rectangle 201"/>
            <p:cNvSpPr>
              <a:spLocks noChangeArrowheads="1"/>
            </p:cNvSpPr>
            <p:nvPr/>
          </p:nvSpPr>
          <p:spPr bwMode="auto">
            <a:xfrm>
              <a:off x="4373" y="2481"/>
              <a:ext cx="11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rgbClr val="FF3300"/>
                  </a:solidFill>
                </a:rPr>
                <a:t>K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50378" name="Rectangle 202"/>
            <p:cNvSpPr>
              <a:spLocks noChangeArrowheads="1"/>
            </p:cNvSpPr>
            <p:nvPr/>
          </p:nvSpPr>
          <p:spPr bwMode="auto">
            <a:xfrm>
              <a:off x="3492" y="2481"/>
              <a:ext cx="11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rgbClr val="000000"/>
                  </a:solidFill>
                </a:rPr>
                <a:t>R</a:t>
              </a:r>
              <a:endParaRPr lang="en-US" altLang="zh-CN"/>
            </a:p>
          </p:txBody>
        </p:sp>
        <p:sp>
          <p:nvSpPr>
            <p:cNvPr id="50379" name="Rectangle 203"/>
            <p:cNvSpPr>
              <a:spLocks noChangeArrowheads="1"/>
            </p:cNvSpPr>
            <p:nvPr/>
          </p:nvSpPr>
          <p:spPr bwMode="auto">
            <a:xfrm>
              <a:off x="4065" y="2588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50380" name="Rectangle 204"/>
            <p:cNvSpPr>
              <a:spLocks noChangeArrowheads="1"/>
            </p:cNvSpPr>
            <p:nvPr/>
          </p:nvSpPr>
          <p:spPr bwMode="auto">
            <a:xfrm>
              <a:off x="3667" y="2468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 i="1">
                  <a:solidFill>
                    <a:srgbClr val="000000"/>
                  </a:solidFill>
                </a:rPr>
                <a:t>n</a:t>
              </a:r>
              <a:endParaRPr lang="en-US" altLang="zh-CN"/>
            </a:p>
          </p:txBody>
        </p:sp>
        <p:sp>
          <p:nvSpPr>
            <p:cNvPr id="50381" name="Rectangle 205"/>
            <p:cNvSpPr>
              <a:spLocks noChangeArrowheads="1"/>
            </p:cNvSpPr>
            <p:nvPr/>
          </p:nvSpPr>
          <p:spPr bwMode="auto">
            <a:xfrm>
              <a:off x="3610" y="2588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 i="1">
                  <a:solidFill>
                    <a:srgbClr val="000000"/>
                  </a:solidFill>
                </a:rPr>
                <a:t>n</a:t>
              </a:r>
              <a:endParaRPr lang="en-US" altLang="zh-CN"/>
            </a:p>
          </p:txBody>
        </p:sp>
        <p:sp>
          <p:nvSpPr>
            <p:cNvPr id="50382" name="Rectangle 206"/>
            <p:cNvSpPr>
              <a:spLocks noChangeArrowheads="1"/>
            </p:cNvSpPr>
            <p:nvPr/>
          </p:nvSpPr>
          <p:spPr bwMode="auto">
            <a:xfrm>
              <a:off x="3954" y="2462"/>
              <a:ext cx="8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rgbClr val="000000"/>
                  </a:solidFill>
                  <a:latin typeface="Symbol" charset="0"/>
                </a:rPr>
                <a:t>x</a:t>
              </a:r>
              <a:endParaRPr lang="en-US" altLang="zh-CN"/>
            </a:p>
          </p:txBody>
        </p:sp>
      </p:grpSp>
      <p:grpSp>
        <p:nvGrpSpPr>
          <p:cNvPr id="50385" name="Group 209"/>
          <p:cNvGrpSpPr>
            <a:grpSpLocks/>
          </p:cNvGrpSpPr>
          <p:nvPr/>
        </p:nvGrpSpPr>
        <p:grpSpPr bwMode="auto">
          <a:xfrm>
            <a:off x="6019800" y="4191000"/>
            <a:ext cx="76200" cy="228600"/>
            <a:chOff x="3792" y="2304"/>
            <a:chExt cx="48" cy="144"/>
          </a:xfrm>
        </p:grpSpPr>
        <p:sp>
          <p:nvSpPr>
            <p:cNvPr id="50386" name="Line 210"/>
            <p:cNvSpPr>
              <a:spLocks noChangeShapeType="1"/>
            </p:cNvSpPr>
            <p:nvPr/>
          </p:nvSpPr>
          <p:spPr bwMode="auto">
            <a:xfrm>
              <a:off x="3792" y="2304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87" name="Line 211"/>
            <p:cNvSpPr>
              <a:spLocks noChangeShapeType="1"/>
            </p:cNvSpPr>
            <p:nvPr/>
          </p:nvSpPr>
          <p:spPr bwMode="auto">
            <a:xfrm>
              <a:off x="3840" y="2304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388" name="AutoShape 212"/>
          <p:cNvSpPr>
            <a:spLocks noChangeArrowheads="1"/>
          </p:cNvSpPr>
          <p:nvPr/>
        </p:nvSpPr>
        <p:spPr bwMode="auto">
          <a:xfrm>
            <a:off x="609600" y="2819400"/>
            <a:ext cx="4114800" cy="685800"/>
          </a:xfrm>
          <a:prstGeom prst="wedgeEllipseCallout">
            <a:avLst>
              <a:gd name="adj1" fmla="val 77509"/>
              <a:gd name="adj2" fmla="val 90972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 b="1" dirty="0"/>
              <a:t>注意这里是对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t </a:t>
            </a:r>
            <a:r>
              <a:rPr lang="zh-CN" altLang="en-US" sz="2400" b="1" dirty="0"/>
              <a:t>求导</a:t>
            </a:r>
            <a:endParaRPr lang="en-US" altLang="zh-CN" sz="2400" b="1" dirty="0"/>
          </a:p>
        </p:txBody>
      </p:sp>
      <p:grpSp>
        <p:nvGrpSpPr>
          <p:cNvPr id="50390" name="Group 214"/>
          <p:cNvGrpSpPr>
            <a:grpSpLocks/>
          </p:cNvGrpSpPr>
          <p:nvPr/>
        </p:nvGrpSpPr>
        <p:grpSpPr bwMode="auto">
          <a:xfrm>
            <a:off x="838200" y="4419600"/>
            <a:ext cx="4564063" cy="409575"/>
            <a:chOff x="546" y="2456"/>
            <a:chExt cx="2875" cy="258"/>
          </a:xfrm>
        </p:grpSpPr>
        <p:sp>
          <p:nvSpPr>
            <p:cNvPr id="50391" name="Rectangle 215"/>
            <p:cNvSpPr>
              <a:spLocks noChangeArrowheads="1"/>
            </p:cNvSpPr>
            <p:nvPr/>
          </p:nvSpPr>
          <p:spPr bwMode="auto">
            <a:xfrm>
              <a:off x="3324" y="2462"/>
              <a:ext cx="9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  <p:sp>
          <p:nvSpPr>
            <p:cNvPr id="50392" name="Rectangle 216"/>
            <p:cNvSpPr>
              <a:spLocks noChangeArrowheads="1"/>
            </p:cNvSpPr>
            <p:nvPr/>
          </p:nvSpPr>
          <p:spPr bwMode="auto">
            <a:xfrm>
              <a:off x="2919" y="2462"/>
              <a:ext cx="9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0393" name="Rectangle 217"/>
            <p:cNvSpPr>
              <a:spLocks noChangeArrowheads="1"/>
            </p:cNvSpPr>
            <p:nvPr/>
          </p:nvSpPr>
          <p:spPr bwMode="auto">
            <a:xfrm>
              <a:off x="2169" y="2462"/>
              <a:ext cx="9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50394" name="Rectangle 218"/>
            <p:cNvSpPr>
              <a:spLocks noChangeArrowheads="1"/>
            </p:cNvSpPr>
            <p:nvPr/>
          </p:nvSpPr>
          <p:spPr bwMode="auto">
            <a:xfrm>
              <a:off x="1292" y="2462"/>
              <a:ext cx="9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50395" name="Rectangle 219"/>
            <p:cNvSpPr>
              <a:spLocks noChangeArrowheads="1"/>
            </p:cNvSpPr>
            <p:nvPr/>
          </p:nvSpPr>
          <p:spPr bwMode="auto">
            <a:xfrm>
              <a:off x="1647" y="2456"/>
              <a:ext cx="5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0396" name="Rectangle 220"/>
            <p:cNvSpPr>
              <a:spLocks noChangeArrowheads="1"/>
            </p:cNvSpPr>
            <p:nvPr/>
          </p:nvSpPr>
          <p:spPr bwMode="auto">
            <a:xfrm>
              <a:off x="770" y="2456"/>
              <a:ext cx="5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0397" name="Rectangle 221"/>
            <p:cNvSpPr>
              <a:spLocks noChangeArrowheads="1"/>
            </p:cNvSpPr>
            <p:nvPr/>
          </p:nvSpPr>
          <p:spPr bwMode="auto">
            <a:xfrm>
              <a:off x="3230" y="2482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!</a:t>
              </a:r>
              <a:endParaRPr lang="en-US" altLang="zh-CN"/>
            </a:p>
          </p:txBody>
        </p:sp>
        <p:sp>
          <p:nvSpPr>
            <p:cNvPr id="50398" name="Rectangle 222"/>
            <p:cNvSpPr>
              <a:spLocks noChangeArrowheads="1"/>
            </p:cNvSpPr>
            <p:nvPr/>
          </p:nvSpPr>
          <p:spPr bwMode="auto">
            <a:xfrm>
              <a:off x="3139" y="2482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399" name="Rectangle 223"/>
            <p:cNvSpPr>
              <a:spLocks noChangeArrowheads="1"/>
            </p:cNvSpPr>
            <p:nvPr/>
          </p:nvSpPr>
          <p:spPr bwMode="auto">
            <a:xfrm>
              <a:off x="3049" y="2482"/>
              <a:ext cx="88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0400" name="Rectangle 224"/>
            <p:cNvSpPr>
              <a:spLocks noChangeArrowheads="1"/>
            </p:cNvSpPr>
            <p:nvPr/>
          </p:nvSpPr>
          <p:spPr bwMode="auto">
            <a:xfrm>
              <a:off x="2653" y="2482"/>
              <a:ext cx="118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)(</a:t>
              </a:r>
              <a:endParaRPr lang="en-US" altLang="zh-CN"/>
            </a:p>
          </p:txBody>
        </p:sp>
        <p:sp>
          <p:nvSpPr>
            <p:cNvPr id="50401" name="Rectangle 225"/>
            <p:cNvSpPr>
              <a:spLocks noChangeArrowheads="1"/>
            </p:cNvSpPr>
            <p:nvPr/>
          </p:nvSpPr>
          <p:spPr bwMode="auto">
            <a:xfrm>
              <a:off x="2462" y="2482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402" name="Rectangle 226"/>
            <p:cNvSpPr>
              <a:spLocks noChangeArrowheads="1"/>
            </p:cNvSpPr>
            <p:nvPr/>
          </p:nvSpPr>
          <p:spPr bwMode="auto">
            <a:xfrm>
              <a:off x="2078" y="2482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403" name="Rectangle 227"/>
            <p:cNvSpPr>
              <a:spLocks noChangeArrowheads="1"/>
            </p:cNvSpPr>
            <p:nvPr/>
          </p:nvSpPr>
          <p:spPr bwMode="auto">
            <a:xfrm>
              <a:off x="1823" y="2482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404" name="Rectangle 228"/>
            <p:cNvSpPr>
              <a:spLocks noChangeArrowheads="1"/>
            </p:cNvSpPr>
            <p:nvPr/>
          </p:nvSpPr>
          <p:spPr bwMode="auto">
            <a:xfrm>
              <a:off x="1201" y="2482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405" name="Rectangle 229"/>
            <p:cNvSpPr>
              <a:spLocks noChangeArrowheads="1"/>
            </p:cNvSpPr>
            <p:nvPr/>
          </p:nvSpPr>
          <p:spPr bwMode="auto">
            <a:xfrm>
              <a:off x="946" y="2482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406" name="Rectangle 230"/>
            <p:cNvSpPr>
              <a:spLocks noChangeArrowheads="1"/>
            </p:cNvSpPr>
            <p:nvPr/>
          </p:nvSpPr>
          <p:spPr bwMode="auto">
            <a:xfrm>
              <a:off x="1769" y="2466"/>
              <a:ext cx="3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407" name="Rectangle 231"/>
            <p:cNvSpPr>
              <a:spLocks noChangeArrowheads="1"/>
            </p:cNvSpPr>
            <p:nvPr/>
          </p:nvSpPr>
          <p:spPr bwMode="auto">
            <a:xfrm>
              <a:off x="1710" y="2466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0408" name="Rectangle 232"/>
            <p:cNvSpPr>
              <a:spLocks noChangeArrowheads="1"/>
            </p:cNvSpPr>
            <p:nvPr/>
          </p:nvSpPr>
          <p:spPr bwMode="auto">
            <a:xfrm>
              <a:off x="1533" y="2466"/>
              <a:ext cx="3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409" name="Rectangle 233"/>
            <p:cNvSpPr>
              <a:spLocks noChangeArrowheads="1"/>
            </p:cNvSpPr>
            <p:nvPr/>
          </p:nvSpPr>
          <p:spPr bwMode="auto">
            <a:xfrm>
              <a:off x="892" y="2466"/>
              <a:ext cx="3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410" name="Rectangle 234"/>
            <p:cNvSpPr>
              <a:spLocks noChangeArrowheads="1"/>
            </p:cNvSpPr>
            <p:nvPr/>
          </p:nvSpPr>
          <p:spPr bwMode="auto">
            <a:xfrm>
              <a:off x="833" y="2466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0411" name="Rectangle 235"/>
            <p:cNvSpPr>
              <a:spLocks noChangeArrowheads="1"/>
            </p:cNvSpPr>
            <p:nvPr/>
          </p:nvSpPr>
          <p:spPr bwMode="auto">
            <a:xfrm>
              <a:off x="656" y="2466"/>
              <a:ext cx="3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412" name="Rectangle 236"/>
            <p:cNvSpPr>
              <a:spLocks noChangeArrowheads="1"/>
            </p:cNvSpPr>
            <p:nvPr/>
          </p:nvSpPr>
          <p:spPr bwMode="auto">
            <a:xfrm>
              <a:off x="2785" y="2482"/>
              <a:ext cx="98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rgbClr val="000000"/>
                  </a:solidFill>
                </a:rPr>
                <a:t>n</a:t>
              </a:r>
              <a:endParaRPr lang="en-US" altLang="zh-CN"/>
            </a:p>
          </p:txBody>
        </p:sp>
        <p:sp>
          <p:nvSpPr>
            <p:cNvPr id="50413" name="Rectangle 237"/>
            <p:cNvSpPr>
              <a:spLocks noChangeArrowheads="1"/>
            </p:cNvSpPr>
            <p:nvPr/>
          </p:nvSpPr>
          <p:spPr bwMode="auto">
            <a:xfrm>
              <a:off x="2547" y="2482"/>
              <a:ext cx="88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50414" name="Rectangle 238"/>
            <p:cNvSpPr>
              <a:spLocks noChangeArrowheads="1"/>
            </p:cNvSpPr>
            <p:nvPr/>
          </p:nvSpPr>
          <p:spPr bwMode="auto">
            <a:xfrm>
              <a:off x="2315" y="2482"/>
              <a:ext cx="11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rgbClr val="FF3300"/>
                  </a:solidFill>
                </a:rPr>
                <a:t>K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50415" name="Rectangle 239"/>
            <p:cNvSpPr>
              <a:spLocks noChangeArrowheads="1"/>
            </p:cNvSpPr>
            <p:nvPr/>
          </p:nvSpPr>
          <p:spPr bwMode="auto">
            <a:xfrm>
              <a:off x="1438" y="2482"/>
              <a:ext cx="108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chemeClr val="accent2"/>
                  </a:solidFill>
                </a:rPr>
                <a:t>L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0416" name="Rectangle 240"/>
            <p:cNvSpPr>
              <a:spLocks noChangeArrowheads="1"/>
            </p:cNvSpPr>
            <p:nvPr/>
          </p:nvSpPr>
          <p:spPr bwMode="auto">
            <a:xfrm>
              <a:off x="546" y="2482"/>
              <a:ext cx="5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rgbClr val="000000"/>
                  </a:solidFill>
                </a:rPr>
                <a:t>f</a:t>
              </a:r>
              <a:endParaRPr lang="en-US" altLang="zh-CN"/>
            </a:p>
          </p:txBody>
        </p:sp>
        <p:sp>
          <p:nvSpPr>
            <p:cNvPr id="50417" name="Rectangle 241"/>
            <p:cNvSpPr>
              <a:spLocks noChangeArrowheads="1"/>
            </p:cNvSpPr>
            <p:nvPr/>
          </p:nvSpPr>
          <p:spPr bwMode="auto">
            <a:xfrm>
              <a:off x="1994" y="2589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50418" name="Rectangle 242"/>
            <p:cNvSpPr>
              <a:spLocks noChangeArrowheads="1"/>
            </p:cNvSpPr>
            <p:nvPr/>
          </p:nvSpPr>
          <p:spPr bwMode="auto">
            <a:xfrm>
              <a:off x="1580" y="2467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 i="1">
                  <a:solidFill>
                    <a:srgbClr val="000000"/>
                  </a:solidFill>
                </a:rPr>
                <a:t>n</a:t>
              </a:r>
              <a:endParaRPr lang="en-US" altLang="zh-CN"/>
            </a:p>
          </p:txBody>
        </p:sp>
        <p:sp>
          <p:nvSpPr>
            <p:cNvPr id="50419" name="Rectangle 243"/>
            <p:cNvSpPr>
              <a:spLocks noChangeArrowheads="1"/>
            </p:cNvSpPr>
            <p:nvPr/>
          </p:nvSpPr>
          <p:spPr bwMode="auto">
            <a:xfrm>
              <a:off x="1545" y="2589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 i="1">
                  <a:solidFill>
                    <a:schemeClr val="accent2"/>
                  </a:solidFill>
                </a:rPr>
                <a:t>n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0420" name="Rectangle 244"/>
            <p:cNvSpPr>
              <a:spLocks noChangeArrowheads="1"/>
            </p:cNvSpPr>
            <p:nvPr/>
          </p:nvSpPr>
          <p:spPr bwMode="auto">
            <a:xfrm>
              <a:off x="1117" y="2589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50421" name="Rectangle 245"/>
            <p:cNvSpPr>
              <a:spLocks noChangeArrowheads="1"/>
            </p:cNvSpPr>
            <p:nvPr/>
          </p:nvSpPr>
          <p:spPr bwMode="auto">
            <a:xfrm>
              <a:off x="703" y="2467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 i="1">
                  <a:solidFill>
                    <a:srgbClr val="000000"/>
                  </a:solidFill>
                </a:rPr>
                <a:t>n</a:t>
              </a:r>
              <a:endParaRPr lang="en-US" altLang="zh-CN"/>
            </a:p>
          </p:txBody>
        </p:sp>
        <p:sp>
          <p:nvSpPr>
            <p:cNvPr id="50422" name="Rectangle 246"/>
            <p:cNvSpPr>
              <a:spLocks noChangeArrowheads="1"/>
            </p:cNvSpPr>
            <p:nvPr/>
          </p:nvSpPr>
          <p:spPr bwMode="auto">
            <a:xfrm>
              <a:off x="1879" y="2462"/>
              <a:ext cx="8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rgbClr val="000000"/>
                  </a:solidFill>
                  <a:latin typeface="Symbol" charset="0"/>
                </a:rPr>
                <a:t>x</a:t>
              </a:r>
              <a:endParaRPr lang="en-US" altLang="zh-CN"/>
            </a:p>
          </p:txBody>
        </p:sp>
        <p:sp>
          <p:nvSpPr>
            <p:cNvPr id="50423" name="Rectangle 247"/>
            <p:cNvSpPr>
              <a:spLocks noChangeArrowheads="1"/>
            </p:cNvSpPr>
            <p:nvPr/>
          </p:nvSpPr>
          <p:spPr bwMode="auto">
            <a:xfrm>
              <a:off x="1002" y="2462"/>
              <a:ext cx="8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rgbClr val="000000"/>
                  </a:solidFill>
                  <a:latin typeface="Symbol" charset="0"/>
                </a:rPr>
                <a:t>x</a:t>
              </a:r>
              <a:endParaRPr lang="en-US" altLang="zh-CN"/>
            </a:p>
          </p:txBody>
        </p:sp>
      </p:grpSp>
      <p:sp>
        <p:nvSpPr>
          <p:cNvPr id="50424" name="Line 248"/>
          <p:cNvSpPr>
            <a:spLocks noChangeShapeType="1"/>
          </p:cNvSpPr>
          <p:nvPr/>
        </p:nvSpPr>
        <p:spPr bwMode="auto">
          <a:xfrm flipV="1">
            <a:off x="2362200" y="4419600"/>
            <a:ext cx="68580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426" name="AutoShape 250"/>
          <p:cNvSpPr>
            <a:spLocks noChangeArrowheads="1"/>
          </p:cNvSpPr>
          <p:nvPr/>
        </p:nvSpPr>
        <p:spPr bwMode="auto">
          <a:xfrm>
            <a:off x="838200" y="56388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427" name="Group 251"/>
          <p:cNvGrpSpPr>
            <a:grpSpLocks/>
          </p:cNvGrpSpPr>
          <p:nvPr/>
        </p:nvGrpSpPr>
        <p:grpSpPr bwMode="auto">
          <a:xfrm>
            <a:off x="1676400" y="5334000"/>
            <a:ext cx="2195513" cy="769938"/>
            <a:chOff x="950" y="2896"/>
            <a:chExt cx="1383" cy="485"/>
          </a:xfrm>
        </p:grpSpPr>
        <p:sp>
          <p:nvSpPr>
            <p:cNvPr id="50428" name="Line 252"/>
            <p:cNvSpPr>
              <a:spLocks noChangeShapeType="1"/>
            </p:cNvSpPr>
            <p:nvPr/>
          </p:nvSpPr>
          <p:spPr bwMode="auto">
            <a:xfrm>
              <a:off x="1550" y="3157"/>
              <a:ext cx="78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29" name="Rectangle 253"/>
            <p:cNvSpPr>
              <a:spLocks noChangeArrowheads="1"/>
            </p:cNvSpPr>
            <p:nvPr/>
          </p:nvSpPr>
          <p:spPr bwMode="auto">
            <a:xfrm>
              <a:off x="2176" y="3160"/>
              <a:ext cx="6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>
                  <a:solidFill>
                    <a:srgbClr val="000000"/>
                  </a:solidFill>
                </a:rPr>
                <a:t>!</a:t>
              </a:r>
              <a:endParaRPr lang="en-US" altLang="zh-CN"/>
            </a:p>
          </p:txBody>
        </p:sp>
        <p:sp>
          <p:nvSpPr>
            <p:cNvPr id="50430" name="Rectangle 254"/>
            <p:cNvSpPr>
              <a:spLocks noChangeArrowheads="1"/>
            </p:cNvSpPr>
            <p:nvPr/>
          </p:nvSpPr>
          <p:spPr bwMode="auto">
            <a:xfrm>
              <a:off x="2084" y="3160"/>
              <a:ext cx="6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431" name="Rectangle 255"/>
            <p:cNvSpPr>
              <a:spLocks noChangeArrowheads="1"/>
            </p:cNvSpPr>
            <p:nvPr/>
          </p:nvSpPr>
          <p:spPr bwMode="auto">
            <a:xfrm>
              <a:off x="1992" y="3160"/>
              <a:ext cx="9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0432" name="Rectangle 256"/>
            <p:cNvSpPr>
              <a:spLocks noChangeArrowheads="1"/>
            </p:cNvSpPr>
            <p:nvPr/>
          </p:nvSpPr>
          <p:spPr bwMode="auto">
            <a:xfrm>
              <a:off x="1653" y="3160"/>
              <a:ext cx="6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433" name="Rectangle 257"/>
            <p:cNvSpPr>
              <a:spLocks noChangeArrowheads="1"/>
            </p:cNvSpPr>
            <p:nvPr/>
          </p:nvSpPr>
          <p:spPr bwMode="auto">
            <a:xfrm>
              <a:off x="2264" y="2922"/>
              <a:ext cx="6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434" name="Rectangle 258"/>
            <p:cNvSpPr>
              <a:spLocks noChangeArrowheads="1"/>
            </p:cNvSpPr>
            <p:nvPr/>
          </p:nvSpPr>
          <p:spPr bwMode="auto">
            <a:xfrm>
              <a:off x="2006" y="2922"/>
              <a:ext cx="6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435" name="Rectangle 259"/>
            <p:cNvSpPr>
              <a:spLocks noChangeArrowheads="1"/>
            </p:cNvSpPr>
            <p:nvPr/>
          </p:nvSpPr>
          <p:spPr bwMode="auto">
            <a:xfrm>
              <a:off x="1291" y="3039"/>
              <a:ext cx="6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436" name="Rectangle 260"/>
            <p:cNvSpPr>
              <a:spLocks noChangeArrowheads="1"/>
            </p:cNvSpPr>
            <p:nvPr/>
          </p:nvSpPr>
          <p:spPr bwMode="auto">
            <a:xfrm>
              <a:off x="1098" y="3039"/>
              <a:ext cx="6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437" name="Rectangle 261"/>
            <p:cNvSpPr>
              <a:spLocks noChangeArrowheads="1"/>
            </p:cNvSpPr>
            <p:nvPr/>
          </p:nvSpPr>
          <p:spPr bwMode="auto">
            <a:xfrm>
              <a:off x="1952" y="2906"/>
              <a:ext cx="37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0438" name="Rectangle 262"/>
            <p:cNvSpPr>
              <a:spLocks noChangeArrowheads="1"/>
            </p:cNvSpPr>
            <p:nvPr/>
          </p:nvSpPr>
          <p:spPr bwMode="auto">
            <a:xfrm>
              <a:off x="1892" y="2906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0439" name="Rectangle 263"/>
            <p:cNvSpPr>
              <a:spLocks noChangeArrowheads="1"/>
            </p:cNvSpPr>
            <p:nvPr/>
          </p:nvSpPr>
          <p:spPr bwMode="auto">
            <a:xfrm>
              <a:off x="1712" y="2906"/>
              <a:ext cx="37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0440" name="Rectangle 264"/>
            <p:cNvSpPr>
              <a:spLocks noChangeArrowheads="1"/>
            </p:cNvSpPr>
            <p:nvPr/>
          </p:nvSpPr>
          <p:spPr bwMode="auto">
            <a:xfrm>
              <a:off x="1861" y="3139"/>
              <a:ext cx="10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0441" name="Rectangle 265"/>
            <p:cNvSpPr>
              <a:spLocks noChangeArrowheads="1"/>
            </p:cNvSpPr>
            <p:nvPr/>
          </p:nvSpPr>
          <p:spPr bwMode="auto">
            <a:xfrm>
              <a:off x="1395" y="3018"/>
              <a:ext cx="10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  <p:sp>
          <p:nvSpPr>
            <p:cNvPr id="50442" name="Rectangle 266"/>
            <p:cNvSpPr>
              <a:spLocks noChangeArrowheads="1"/>
            </p:cNvSpPr>
            <p:nvPr/>
          </p:nvSpPr>
          <p:spPr bwMode="auto">
            <a:xfrm>
              <a:off x="1828" y="2896"/>
              <a:ext cx="6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0443" name="Rectangle 267"/>
            <p:cNvSpPr>
              <a:spLocks noChangeArrowheads="1"/>
            </p:cNvSpPr>
            <p:nvPr/>
          </p:nvSpPr>
          <p:spPr bwMode="auto">
            <a:xfrm>
              <a:off x="1725" y="3160"/>
              <a:ext cx="10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 i="1">
                  <a:solidFill>
                    <a:srgbClr val="000000"/>
                  </a:solidFill>
                </a:rPr>
                <a:t>n</a:t>
              </a:r>
              <a:endParaRPr lang="en-US" altLang="zh-CN"/>
            </a:p>
          </p:txBody>
        </p:sp>
        <p:sp>
          <p:nvSpPr>
            <p:cNvPr id="50444" name="Rectangle 268"/>
            <p:cNvSpPr>
              <a:spLocks noChangeArrowheads="1"/>
            </p:cNvSpPr>
            <p:nvPr/>
          </p:nvSpPr>
          <p:spPr bwMode="auto">
            <a:xfrm>
              <a:off x="1601" y="2922"/>
              <a:ext cx="6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 i="1">
                  <a:solidFill>
                    <a:srgbClr val="000000"/>
                  </a:solidFill>
                </a:rPr>
                <a:t>f</a:t>
              </a:r>
              <a:endParaRPr lang="en-US" altLang="zh-CN"/>
            </a:p>
          </p:txBody>
        </p:sp>
        <p:sp>
          <p:nvSpPr>
            <p:cNvPr id="50445" name="Rectangle 269"/>
            <p:cNvSpPr>
              <a:spLocks noChangeArrowheads="1"/>
            </p:cNvSpPr>
            <p:nvPr/>
          </p:nvSpPr>
          <p:spPr bwMode="auto">
            <a:xfrm>
              <a:off x="1184" y="3039"/>
              <a:ext cx="9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50446" name="Rectangle 270"/>
            <p:cNvSpPr>
              <a:spLocks noChangeArrowheads="1"/>
            </p:cNvSpPr>
            <p:nvPr/>
          </p:nvSpPr>
          <p:spPr bwMode="auto">
            <a:xfrm>
              <a:off x="950" y="3039"/>
              <a:ext cx="123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 i="1">
                  <a:solidFill>
                    <a:srgbClr val="FF3300"/>
                  </a:solidFill>
                </a:rPr>
                <a:t>K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50447" name="Rectangle 271"/>
            <p:cNvSpPr>
              <a:spLocks noChangeArrowheads="1"/>
            </p:cNvSpPr>
            <p:nvPr/>
          </p:nvSpPr>
          <p:spPr bwMode="auto">
            <a:xfrm>
              <a:off x="2179" y="3036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50448" name="Rectangle 272"/>
            <p:cNvSpPr>
              <a:spLocks noChangeArrowheads="1"/>
            </p:cNvSpPr>
            <p:nvPr/>
          </p:nvSpPr>
          <p:spPr bwMode="auto">
            <a:xfrm>
              <a:off x="1760" y="2907"/>
              <a:ext cx="6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="1" i="1">
                  <a:solidFill>
                    <a:srgbClr val="000000"/>
                  </a:solidFill>
                </a:rPr>
                <a:t>n</a:t>
              </a:r>
              <a:endParaRPr lang="en-US" altLang="zh-CN"/>
            </a:p>
          </p:txBody>
        </p:sp>
        <p:sp>
          <p:nvSpPr>
            <p:cNvPr id="50449" name="Rectangle 273"/>
            <p:cNvSpPr>
              <a:spLocks noChangeArrowheads="1"/>
            </p:cNvSpPr>
            <p:nvPr/>
          </p:nvSpPr>
          <p:spPr bwMode="auto">
            <a:xfrm>
              <a:off x="2063" y="2901"/>
              <a:ext cx="9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1" i="1">
                  <a:solidFill>
                    <a:srgbClr val="000000"/>
                  </a:solidFill>
                  <a:latin typeface="Symbol" charset="0"/>
                </a:rPr>
                <a:t>x</a:t>
              </a:r>
              <a:endParaRPr lang="en-US" altLang="zh-CN"/>
            </a:p>
          </p:txBody>
        </p:sp>
      </p:grpSp>
      <p:grpSp>
        <p:nvGrpSpPr>
          <p:cNvPr id="50454" name="Group 278"/>
          <p:cNvGrpSpPr>
            <a:grpSpLocks/>
          </p:cNvGrpSpPr>
          <p:nvPr/>
        </p:nvGrpSpPr>
        <p:grpSpPr bwMode="auto">
          <a:xfrm>
            <a:off x="4495800" y="5181600"/>
            <a:ext cx="3505200" cy="990600"/>
            <a:chOff x="2736" y="2832"/>
            <a:chExt cx="2064" cy="528"/>
          </a:xfrm>
        </p:grpSpPr>
        <p:sp>
          <p:nvSpPr>
            <p:cNvPr id="50455" name="AutoShape 279" descr="再生纸"/>
            <p:cNvSpPr>
              <a:spLocks noChangeArrowheads="1"/>
            </p:cNvSpPr>
            <p:nvPr/>
          </p:nvSpPr>
          <p:spPr bwMode="auto">
            <a:xfrm>
              <a:off x="2736" y="2832"/>
              <a:ext cx="2064" cy="528"/>
            </a:xfrm>
            <a:prstGeom prst="bevel">
              <a:avLst>
                <a:gd name="adj" fmla="val 4648"/>
              </a:avLst>
            </a:prstGeom>
            <a:blipFill dpi="0" rotWithShape="0">
              <a:blip r:embed="rId45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0456" name="Object 280"/>
            <p:cNvGraphicFramePr>
              <a:graphicFrameLocks noChangeAspect="1"/>
            </p:cNvGraphicFramePr>
            <p:nvPr/>
          </p:nvGraphicFramePr>
          <p:xfrm>
            <a:off x="2832" y="2862"/>
            <a:ext cx="1872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1917360" imgH="444240" progId="Equation.3">
                    <p:embed/>
                  </p:oleObj>
                </mc:Choice>
                <mc:Fallback>
                  <p:oleObj name="Equation" r:id="rId46" imgW="1917360" imgH="444240" progId="Equation.3">
                    <p:embed/>
                    <p:pic>
                      <p:nvPicPr>
                        <p:cNvPr id="50456" name="Object 2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862"/>
                          <a:ext cx="1872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7147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0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2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2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2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0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02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0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02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03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3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0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0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0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0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03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2" dur="500"/>
                                        <p:tgtEl>
                                          <p:spTgt spid="503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0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503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503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0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0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0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0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04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504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48" grpId="0" animBg="1"/>
      <p:bldP spid="50249" grpId="0" autoUpdateAnimBg="0"/>
      <p:bldP spid="50250" grpId="0" autoUpdateAnimBg="0"/>
      <p:bldP spid="50333" grpId="0" autoUpdateAnimBg="0"/>
      <p:bldP spid="50335" grpId="0" animBg="1"/>
      <p:bldP spid="50388" grpId="0" animBg="1" autoUpdateAnimBg="0"/>
      <p:bldP spid="50424" grpId="0" animBg="1"/>
      <p:bldP spid="504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57" name="Group 133"/>
          <p:cNvGrpSpPr>
            <a:grpSpLocks/>
          </p:cNvGrpSpPr>
          <p:nvPr/>
        </p:nvGrpSpPr>
        <p:grpSpPr bwMode="auto">
          <a:xfrm>
            <a:off x="457200" y="1905000"/>
            <a:ext cx="8077200" cy="2895600"/>
            <a:chOff x="288" y="240"/>
            <a:chExt cx="5088" cy="1824"/>
          </a:xfrm>
        </p:grpSpPr>
        <p:sp>
          <p:nvSpPr>
            <p:cNvPr id="52348" name="AutoShape 124" descr="再生纸"/>
            <p:cNvSpPr>
              <a:spLocks noChangeArrowheads="1"/>
            </p:cNvSpPr>
            <p:nvPr/>
          </p:nvSpPr>
          <p:spPr bwMode="auto">
            <a:xfrm>
              <a:off x="288" y="240"/>
              <a:ext cx="5088" cy="182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ffectLst>
              <a:prstShdw prst="shdw17" dist="17961" dir="2700000">
                <a:srgbClr val="FFFFFF">
                  <a:gamma/>
                  <a:shade val="60000"/>
                  <a:invGamma/>
                  <a:alpha val="74998"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9933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solidFill>
                    <a:schemeClr val="accent2"/>
                  </a:solidFill>
                </a:rPr>
                <a:t>注：</a:t>
              </a:r>
              <a:r>
                <a:rPr lang="en-US" altLang="zh-CN" sz="3200" b="1">
                  <a:solidFill>
                    <a:schemeClr val="accent2"/>
                  </a:solidFill>
                  <a:sym typeface="Wingdings" charset="0"/>
                </a:rPr>
                <a:t></a:t>
              </a:r>
              <a:r>
                <a:rPr lang="en-US" altLang="zh-CN" sz="2400" b="1">
                  <a:solidFill>
                    <a:schemeClr val="accent2"/>
                  </a:solidFill>
                  <a:sym typeface="Wingdings" charset="0"/>
                </a:rPr>
                <a:t> </a:t>
              </a:r>
              <a:r>
                <a:rPr lang="zh-CN" altLang="en-US" sz="2400" b="1"/>
                <a:t>通常不能确定</a:t>
              </a:r>
              <a:r>
                <a:rPr lang="en-US" altLang="zh-CN" sz="2400" b="1"/>
                <a:t> </a:t>
              </a:r>
              <a:r>
                <a:rPr lang="en-US" altLang="zh-CN" sz="2000" b="1" i="1">
                  <a:sym typeface="Symbol" charset="0"/>
                </a:rPr>
                <a:t></a:t>
              </a:r>
              <a:r>
                <a:rPr lang="en-US" altLang="zh-CN" sz="2000" b="1" i="1" baseline="-25000">
                  <a:sym typeface="Symbol" charset="0"/>
                </a:rPr>
                <a:t>x</a:t>
              </a:r>
              <a:r>
                <a:rPr lang="en-US" altLang="zh-CN" sz="2400" b="1" i="1" baseline="-25000">
                  <a:sym typeface="Symbol" charset="0"/>
                </a:rPr>
                <a:t> </a:t>
              </a:r>
              <a:r>
                <a:rPr lang="en-US" altLang="zh-CN" sz="2400" b="1"/>
                <a:t>, </a:t>
              </a:r>
              <a:r>
                <a:rPr lang="zh-CN" altLang="en-US" sz="2400" b="1"/>
                <a:t>而是估计</a:t>
              </a:r>
              <a:r>
                <a:rPr lang="en-US" altLang="zh-CN" sz="2400" b="1"/>
                <a:t>                        , </a:t>
              </a:r>
              <a:r>
                <a:rPr lang="en-US" altLang="zh-CN" sz="2000" b="1">
                  <a:sym typeface="Symbol" charset="0"/>
                </a:rPr>
                <a:t></a:t>
              </a:r>
              <a:r>
                <a:rPr lang="en-US" altLang="zh-CN" sz="2000" b="1" i="1">
                  <a:sym typeface="Symbol" charset="0"/>
                </a:rPr>
                <a:t>x</a:t>
              </a:r>
              <a:r>
                <a:rPr lang="en-US" altLang="zh-CN" sz="2000" b="1">
                  <a:sym typeface="Symbol" charset="0"/>
                </a:rPr>
                <a:t>(</a:t>
              </a:r>
              <a:r>
                <a:rPr lang="en-US" altLang="zh-CN" sz="2000" b="1" i="1">
                  <a:sym typeface="Symbol" charset="0"/>
                </a:rPr>
                <a:t>a</a:t>
              </a:r>
              <a:r>
                <a:rPr lang="en-US" altLang="zh-CN" sz="2000" b="1">
                  <a:sym typeface="Symbol" charset="0"/>
                </a:rPr>
                <a:t>,</a:t>
              </a:r>
              <a:r>
                <a:rPr lang="en-US" altLang="zh-CN" sz="2000" b="1" i="1">
                  <a:sym typeface="Symbol" charset="0"/>
                </a:rPr>
                <a:t>b</a:t>
              </a:r>
              <a:r>
                <a:rPr lang="en-US" altLang="zh-CN" sz="2000" b="1">
                  <a:sym typeface="Symbol" charset="0"/>
                </a:rPr>
                <a:t>)</a:t>
              </a:r>
              <a:endParaRPr lang="en-US" altLang="zh-CN" sz="2000" b="1"/>
            </a:p>
            <a:p>
              <a:pPr>
                <a:spcBef>
                  <a:spcPct val="30000"/>
                </a:spcBef>
              </a:pPr>
              <a:r>
                <a:rPr lang="en-US" altLang="zh-CN" sz="2400" b="1"/>
                <a:t>              </a:t>
              </a:r>
              <a:r>
                <a:rPr lang="zh-CN" altLang="en-US" sz="2400" b="1"/>
                <a:t>将</a:t>
              </a:r>
              <a:r>
                <a:rPr lang="en-US" altLang="zh-CN" sz="2400" b="1"/>
                <a:t>                              </a:t>
              </a:r>
              <a:r>
                <a:rPr lang="zh-CN" altLang="en-US" sz="2400" b="1"/>
                <a:t>作为误差估计上限。</a:t>
              </a:r>
              <a:endParaRPr lang="en-US" altLang="zh-CN" sz="2400" b="1"/>
            </a:p>
          </p:txBody>
        </p:sp>
        <p:graphicFrame>
          <p:nvGraphicFramePr>
            <p:cNvPr id="52351" name="Object 127"/>
            <p:cNvGraphicFramePr>
              <a:graphicFrameLocks noChangeAspect="1"/>
            </p:cNvGraphicFramePr>
            <p:nvPr/>
          </p:nvGraphicFramePr>
          <p:xfrm>
            <a:off x="3360" y="384"/>
            <a:ext cx="116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04840" imgH="279360" progId="Equation.3">
                    <p:embed/>
                  </p:oleObj>
                </mc:Choice>
                <mc:Fallback>
                  <p:oleObj name="Equation" r:id="rId5" imgW="1104840" imgH="279360" progId="Equation.3">
                    <p:embed/>
                    <p:pic>
                      <p:nvPicPr>
                        <p:cNvPr id="52351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84"/>
                          <a:ext cx="116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352" name="Object 128"/>
            <p:cNvGraphicFramePr>
              <a:graphicFrameLocks noChangeAspect="1"/>
            </p:cNvGraphicFramePr>
            <p:nvPr/>
          </p:nvGraphicFramePr>
          <p:xfrm>
            <a:off x="1344" y="624"/>
            <a:ext cx="1334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06360" imgH="431640" progId="Equation.3">
                    <p:embed/>
                  </p:oleObj>
                </mc:Choice>
                <mc:Fallback>
                  <p:oleObj name="Equation" r:id="rId7" imgW="1206360" imgH="431640" progId="Equation.3">
                    <p:embed/>
                    <p:pic>
                      <p:nvPicPr>
                        <p:cNvPr id="52352" name="Object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624"/>
                          <a:ext cx="1334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356" name="Group 132"/>
          <p:cNvGrpSpPr>
            <a:grpSpLocks/>
          </p:cNvGrpSpPr>
          <p:nvPr/>
        </p:nvGrpSpPr>
        <p:grpSpPr bwMode="auto">
          <a:xfrm>
            <a:off x="1219200" y="3200400"/>
            <a:ext cx="7086600" cy="1309688"/>
            <a:chOff x="528" y="2352"/>
            <a:chExt cx="4464" cy="825"/>
          </a:xfrm>
        </p:grpSpPr>
        <p:sp>
          <p:nvSpPr>
            <p:cNvPr id="52353" name="Text Box 129"/>
            <p:cNvSpPr txBox="1">
              <a:spLocks noChangeArrowheads="1"/>
            </p:cNvSpPr>
            <p:nvPr/>
          </p:nvSpPr>
          <p:spPr bwMode="auto">
            <a:xfrm>
              <a:off x="528" y="2352"/>
              <a:ext cx="4464" cy="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chemeClr val="accent2"/>
                  </a:solidFill>
                  <a:sym typeface="Wingdings" charset="0"/>
                </a:rPr>
                <a:t></a:t>
              </a:r>
              <a:r>
                <a:rPr lang="zh-CN" altLang="en-US" sz="2400" b="1"/>
                <a:t>当</a:t>
              </a:r>
              <a:r>
                <a:rPr lang="en-US" altLang="zh-CN" sz="2400" b="1" i="1"/>
                <a:t> f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) </a:t>
              </a:r>
              <a:r>
                <a:rPr lang="zh-CN" altLang="en-US" sz="2400" b="1"/>
                <a:t>为任一个次数</a:t>
              </a:r>
              <a:r>
                <a:rPr lang="en-US" altLang="zh-CN" sz="2400" b="1">
                  <a:solidFill>
                    <a:schemeClr val="accent2"/>
                  </a:solidFill>
                  <a:sym typeface="Symbol" charset="0"/>
                </a:rPr>
                <a:t> </a:t>
              </a:r>
              <a:r>
                <a:rPr lang="en-US" altLang="zh-CN" sz="2400" b="1" i="1">
                  <a:solidFill>
                    <a:schemeClr val="accent2"/>
                  </a:solidFill>
                  <a:sym typeface="Symbol" charset="0"/>
                </a:rPr>
                <a:t>n</a:t>
              </a:r>
              <a:r>
                <a:rPr lang="en-US" altLang="zh-CN" sz="2400" b="1">
                  <a:sym typeface="Symbol" charset="0"/>
                </a:rPr>
                <a:t> </a:t>
              </a:r>
              <a:r>
                <a:rPr lang="zh-CN" altLang="en-US" sz="2400" b="1"/>
                <a:t>的</a:t>
              </a:r>
              <a:r>
                <a:rPr lang="zh-CN" altLang="en-US" sz="2400" b="1">
                  <a:solidFill>
                    <a:schemeClr val="accent2"/>
                  </a:solidFill>
                </a:rPr>
                <a:t>多项式</a:t>
              </a:r>
              <a:r>
                <a:rPr lang="zh-CN" altLang="en-US" sz="2400" b="1"/>
                <a:t>时，</a:t>
              </a:r>
              <a:r>
                <a:rPr lang="en-US" altLang="zh-CN" sz="2400" b="1"/>
                <a:t>                  , </a:t>
              </a:r>
              <a:r>
                <a:rPr lang="zh-CN" altLang="en-US" sz="2400" b="1"/>
                <a:t>可知</a:t>
              </a:r>
              <a:r>
                <a:rPr lang="en-US" altLang="zh-CN" sz="2400" b="1"/>
                <a:t>                </a:t>
              </a:r>
              <a:r>
                <a:rPr lang="zh-CN" altLang="en-US" sz="2400" b="1"/>
                <a:t>，即插值多项式对于次数</a:t>
              </a:r>
              <a:r>
                <a:rPr lang="en-US" altLang="zh-CN" sz="2400" b="1">
                  <a:sym typeface="Symbol" charset="0"/>
                </a:rPr>
                <a:t> </a:t>
              </a:r>
              <a:r>
                <a:rPr lang="en-US" altLang="zh-CN" sz="2400" b="1" i="1">
                  <a:sym typeface="Symbol" charset="0"/>
                </a:rPr>
                <a:t>n </a:t>
              </a:r>
              <a:r>
                <a:rPr lang="zh-CN" altLang="en-US" sz="2400" b="1">
                  <a:sym typeface="Symbol" charset="0"/>
                </a:rPr>
                <a:t>的</a:t>
              </a:r>
              <a:r>
                <a:rPr lang="zh-CN" altLang="en-US" sz="2400" b="1"/>
                <a:t>多项式是</a:t>
              </a:r>
              <a:r>
                <a:rPr lang="zh-CN" altLang="en-US" sz="2400" b="1">
                  <a:solidFill>
                    <a:srgbClr val="FF3300"/>
                  </a:solidFill>
                </a:rPr>
                <a:t>精确</a:t>
              </a:r>
              <a:r>
                <a:rPr lang="zh-CN" altLang="en-US" sz="2400" b="1"/>
                <a:t>的。</a:t>
              </a:r>
              <a:endParaRPr lang="en-US" altLang="zh-CN" sz="2400" b="1"/>
            </a:p>
          </p:txBody>
        </p:sp>
        <p:graphicFrame>
          <p:nvGraphicFramePr>
            <p:cNvPr id="52354" name="Object 130"/>
            <p:cNvGraphicFramePr>
              <a:graphicFrameLocks noChangeAspect="1"/>
            </p:cNvGraphicFramePr>
            <p:nvPr/>
          </p:nvGraphicFramePr>
          <p:xfrm>
            <a:off x="3984" y="2448"/>
            <a:ext cx="912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838080" imgH="228600" progId="Equation.3">
                    <p:embed/>
                  </p:oleObj>
                </mc:Choice>
                <mc:Fallback>
                  <p:oleObj name="Equation" r:id="rId9" imgW="838080" imgH="228600" progId="Equation.3">
                    <p:embed/>
                    <p:pic>
                      <p:nvPicPr>
                        <p:cNvPr id="52354" name="Object 1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448"/>
                          <a:ext cx="912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355" name="Object 131"/>
            <p:cNvGraphicFramePr>
              <a:graphicFrameLocks noChangeAspect="1"/>
            </p:cNvGraphicFramePr>
            <p:nvPr/>
          </p:nvGraphicFramePr>
          <p:xfrm>
            <a:off x="960" y="2688"/>
            <a:ext cx="753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647640" imgH="228600" progId="Equation.3">
                    <p:embed/>
                  </p:oleObj>
                </mc:Choice>
                <mc:Fallback>
                  <p:oleObj name="Equation" r:id="rId11" imgW="647640" imgH="228600" progId="Equation.3">
                    <p:embed/>
                    <p:pic>
                      <p:nvPicPr>
                        <p:cNvPr id="52355" name="Object 1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688"/>
                          <a:ext cx="753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9203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3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23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9"/>
          <p:cNvGrpSpPr>
            <a:grpSpLocks/>
          </p:cNvGrpSpPr>
          <p:nvPr/>
        </p:nvGrpSpPr>
        <p:grpSpPr bwMode="auto">
          <a:xfrm>
            <a:off x="2627784" y="4614887"/>
            <a:ext cx="3911600" cy="1622425"/>
            <a:chOff x="0" y="0"/>
            <a:chExt cx="3911600" cy="1622425"/>
          </a:xfrm>
        </p:grpSpPr>
        <p:sp>
          <p:nvSpPr>
            <p:cNvPr id="9" name="椭圆 4"/>
            <p:cNvSpPr>
              <a:spLocks noChangeArrowheads="1"/>
            </p:cNvSpPr>
            <p:nvPr/>
          </p:nvSpPr>
          <p:spPr bwMode="auto">
            <a:xfrm>
              <a:off x="244475" y="1031875"/>
              <a:ext cx="74612" cy="74612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rgbClr val="385D8A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>
                <a:buFont typeface="Arial" charset="0"/>
                <a:buNone/>
              </a:pPr>
              <a:endParaRPr lang="zh-CN" altLang="en-US">
                <a:solidFill>
                  <a:srgbClr val="FFFFFF"/>
                </a:solidFill>
                <a:latin typeface="Calibri" charset="0"/>
                <a:ea typeface="宋体" charset="0"/>
                <a:cs typeface="宋体" charset="0"/>
              </a:endParaRPr>
            </a:p>
          </p:txBody>
        </p:sp>
        <p:sp>
          <p:nvSpPr>
            <p:cNvPr id="10" name="椭圆 7"/>
            <p:cNvSpPr>
              <a:spLocks noChangeArrowheads="1"/>
            </p:cNvSpPr>
            <p:nvPr/>
          </p:nvSpPr>
          <p:spPr bwMode="auto">
            <a:xfrm>
              <a:off x="1395412" y="428625"/>
              <a:ext cx="74613" cy="74612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rgbClr val="385D8A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>
                <a:buFont typeface="Arial" charset="0"/>
                <a:buNone/>
              </a:pPr>
              <a:endParaRPr lang="zh-CN" altLang="en-US">
                <a:solidFill>
                  <a:srgbClr val="FFFFFF"/>
                </a:solidFill>
                <a:latin typeface="Calibri" charset="0"/>
                <a:ea typeface="宋体" charset="0"/>
                <a:cs typeface="宋体" charset="0"/>
              </a:endParaRPr>
            </a:p>
          </p:txBody>
        </p:sp>
        <p:sp>
          <p:nvSpPr>
            <p:cNvPr id="11" name="椭圆 8"/>
            <p:cNvSpPr>
              <a:spLocks noChangeArrowheads="1"/>
            </p:cNvSpPr>
            <p:nvPr/>
          </p:nvSpPr>
          <p:spPr bwMode="auto">
            <a:xfrm>
              <a:off x="3149600" y="469900"/>
              <a:ext cx="74612" cy="74612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rgbClr val="385D8A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>
                <a:buFont typeface="Arial" charset="0"/>
                <a:buNone/>
              </a:pPr>
              <a:endParaRPr lang="zh-CN" altLang="en-US">
                <a:solidFill>
                  <a:srgbClr val="FFFFFF"/>
                </a:solidFill>
                <a:latin typeface="Calibri" charset="0"/>
                <a:ea typeface="宋体" charset="0"/>
                <a:cs typeface="宋体" charset="0"/>
              </a:endParaRPr>
            </a:p>
          </p:txBody>
        </p:sp>
        <p:cxnSp>
          <p:nvCxnSpPr>
            <p:cNvPr id="12" name="直接箭头连接符 13"/>
            <p:cNvCxnSpPr>
              <a:cxnSpLocks noChangeShapeType="1"/>
            </p:cNvCxnSpPr>
            <p:nvPr/>
          </p:nvCxnSpPr>
          <p:spPr bwMode="auto">
            <a:xfrm>
              <a:off x="0" y="1285875"/>
              <a:ext cx="3911600" cy="0"/>
            </a:xfrm>
            <a:prstGeom prst="straightConnector1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箭头连接符 15"/>
            <p:cNvCxnSpPr>
              <a:cxnSpLocks noChangeShapeType="1"/>
            </p:cNvCxnSpPr>
            <p:nvPr/>
          </p:nvCxnSpPr>
          <p:spPr bwMode="auto">
            <a:xfrm flipV="1">
              <a:off x="0" y="0"/>
              <a:ext cx="0" cy="1285875"/>
            </a:xfrm>
            <a:prstGeom prst="straightConnector1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17"/>
            <p:cNvCxnSpPr>
              <a:cxnSpLocks noChangeShapeType="1"/>
              <a:stCxn id="9" idx="4"/>
            </p:cNvCxnSpPr>
            <p:nvPr/>
          </p:nvCxnSpPr>
          <p:spPr bwMode="auto">
            <a:xfrm>
              <a:off x="280987" y="1106487"/>
              <a:ext cx="0" cy="179388"/>
            </a:xfrm>
            <a:prstGeom prst="line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19"/>
            <p:cNvCxnSpPr>
              <a:cxnSpLocks noChangeShapeType="1"/>
              <a:stCxn id="10" idx="4"/>
            </p:cNvCxnSpPr>
            <p:nvPr/>
          </p:nvCxnSpPr>
          <p:spPr bwMode="auto">
            <a:xfrm>
              <a:off x="1433512" y="503237"/>
              <a:ext cx="0" cy="782638"/>
            </a:xfrm>
            <a:prstGeom prst="line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1"/>
            <p:cNvCxnSpPr>
              <a:cxnSpLocks noChangeShapeType="1"/>
            </p:cNvCxnSpPr>
            <p:nvPr/>
          </p:nvCxnSpPr>
          <p:spPr bwMode="auto">
            <a:xfrm flipH="1">
              <a:off x="3171825" y="533400"/>
              <a:ext cx="9525" cy="752475"/>
            </a:xfrm>
            <a:prstGeom prst="line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17" name="Object 15"/>
            <p:cNvGraphicFramePr>
              <a:graphicFrameLocks noChangeAspect="1"/>
            </p:cNvGraphicFramePr>
            <p:nvPr/>
          </p:nvGraphicFramePr>
          <p:xfrm>
            <a:off x="137887" y="1180316"/>
            <a:ext cx="319176" cy="442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65315" imgH="228898" progId="Equation.DSMT4">
                    <p:embed/>
                  </p:oleObj>
                </mc:Choice>
                <mc:Fallback>
                  <p:oleObj r:id="rId2" imgW="165315" imgH="228898" progId="Equation.DSMT4">
                    <p:embed/>
                    <p:pic>
                      <p:nvPicPr>
                        <p:cNvPr id="1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887" y="1180316"/>
                          <a:ext cx="319176" cy="442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8" name="矩形 26"/>
            <p:cNvPicPr>
              <a:picLocks noRot="1" noChangeAspect="1" noEditPoints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5011" y="1184719"/>
              <a:ext cx="475488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矩形 27"/>
            <p:cNvPicPr>
              <a:picLocks noRot="1" noChangeAspect="1" noEditPoints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0659" y="1184719"/>
              <a:ext cx="475488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矩形 28"/>
            <p:cNvPicPr>
              <a:picLocks noRot="1" noChangeAspect="1" noEditPoints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771" y="666559"/>
              <a:ext cx="481584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矩形 30"/>
            <p:cNvPicPr>
              <a:picLocks noRot="1" noChangeAspect="1" noEditPoints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5011" y="56959"/>
              <a:ext cx="475488" cy="371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矩形 31"/>
            <p:cNvPicPr>
              <a:picLocks noRot="1" noChangeAspect="1" noEditPoints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4083" y="69151"/>
              <a:ext cx="475488" cy="371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3" name="直接连接符 32"/>
            <p:cNvCxnSpPr>
              <a:cxnSpLocks noChangeShapeType="1"/>
              <a:stCxn id="9" idx="1"/>
              <a:endCxn id="10" idx="2"/>
            </p:cNvCxnSpPr>
            <p:nvPr/>
          </p:nvCxnSpPr>
          <p:spPr bwMode="auto">
            <a:xfrm flipV="1">
              <a:off x="255587" y="466725"/>
              <a:ext cx="1139825" cy="576262"/>
            </a:xfrm>
            <a:prstGeom prst="line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连接符 34"/>
            <p:cNvCxnSpPr>
              <a:cxnSpLocks noChangeShapeType="1"/>
              <a:endCxn id="11" idx="5"/>
            </p:cNvCxnSpPr>
            <p:nvPr/>
          </p:nvCxnSpPr>
          <p:spPr bwMode="auto">
            <a:xfrm flipV="1">
              <a:off x="285750" y="533585"/>
              <a:ext cx="2927535" cy="524632"/>
            </a:xfrm>
            <a:prstGeom prst="line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25" name="Object 23"/>
            <p:cNvGraphicFramePr>
              <a:graphicFrameLocks noChangeAspect="1"/>
            </p:cNvGraphicFramePr>
            <p:nvPr/>
          </p:nvGraphicFramePr>
          <p:xfrm>
            <a:off x="629294" y="348987"/>
            <a:ext cx="277161" cy="405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65243" imgH="241510" progId="Equation.DSMT4">
                    <p:embed/>
                  </p:oleObj>
                </mc:Choice>
                <mc:Fallback>
                  <p:oleObj r:id="rId9" imgW="165243" imgH="241510" progId="Equation.DSMT4">
                    <p:embed/>
                    <p:pic>
                      <p:nvPicPr>
                        <p:cNvPr id="25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9294" y="348987"/>
                          <a:ext cx="277161" cy="405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4"/>
            <p:cNvGraphicFramePr>
              <a:graphicFrameLocks noChangeAspect="1"/>
            </p:cNvGraphicFramePr>
            <p:nvPr/>
          </p:nvGraphicFramePr>
          <p:xfrm>
            <a:off x="1853452" y="463574"/>
            <a:ext cx="299946" cy="4048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77877" imgH="241405" progId="Equation.DSMT4">
                    <p:embed/>
                  </p:oleObj>
                </mc:Choice>
                <mc:Fallback>
                  <p:oleObj r:id="rId11" imgW="177877" imgH="241405" progId="Equation.DSMT4">
                    <p:embed/>
                    <p:pic>
                      <p:nvPicPr>
                        <p:cNvPr id="26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3452" y="463574"/>
                          <a:ext cx="299946" cy="4048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8C40B73D-5C26-6C47-942C-9FB7D096954F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误差的事后估计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B9CFB18C-6CC2-B846-8790-437B5471E33F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D083A44-0B9C-439E-AA86-333AD6BAE516}"/>
                  </a:ext>
                </a:extLst>
              </p:cNvPr>
              <p:cNvSpPr txBox="1"/>
              <p:nvPr/>
            </p:nvSpPr>
            <p:spPr>
              <a:xfrm>
                <a:off x="1199676" y="1215082"/>
                <a:ext cx="6877519" cy="2487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考虑三个插值结点，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b="0" dirty="0"/>
              </a:p>
              <a:p>
                <a:pPr>
                  <a:lnSpc>
                    <a:spcPct val="200000"/>
                  </a:lnSpc>
                </a:pPr>
                <a:r>
                  <a:rPr lang="zh-CN" altLang="en-US" sz="2400" dirty="0"/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依线性插值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lnSpc>
                    <a:spcPct val="200000"/>
                  </a:lnSpc>
                </a:pPr>
                <a:r>
                  <a:rPr lang="zh-CN" altLang="en-US" sz="2400" dirty="0"/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依线性插值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D083A44-0B9C-439E-AA86-333AD6BA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76" y="1215082"/>
                <a:ext cx="6877519" cy="2487027"/>
              </a:xfrm>
              <a:prstGeom prst="rect">
                <a:avLst/>
              </a:prstGeom>
              <a:blipFill>
                <a:blip r:embed="rId14"/>
                <a:stretch>
                  <a:fillRect l="-1418" t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6107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7655D28-7C89-48A8-A22F-733593AB80EE}"/>
                  </a:ext>
                </a:extLst>
              </p:cNvPr>
              <p:cNvSpPr txBox="1"/>
              <p:nvPr/>
            </p:nvSpPr>
            <p:spPr>
              <a:xfrm>
                <a:off x="838200" y="1066800"/>
                <a:ext cx="6934200" cy="6373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b="1" dirty="0"/>
                  <a:t>根据余项公式</a:t>
                </a:r>
                <a:r>
                  <a:rPr lang="zh-CN" altLang="en-US" sz="2200" dirty="0"/>
                  <a:t>：</a:t>
                </a:r>
                <a:endParaRPr lang="en-US" altLang="zh-CN" sz="22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CN" sz="2200" dirty="0"/>
                  <a:t>(x)=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200" b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200" dirty="0"/>
                  <a:t>(x)=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dirty="0"/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,</a:t>
                </a:r>
                <a:r>
                  <a:rPr lang="zh-CN" altLang="en-US" sz="2200" dirty="0"/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altLang="zh-CN" sz="2200" dirty="0"/>
                          <m:t>(</m:t>
                        </m:r>
                        <m:r>
                          <m:rPr>
                            <m:nor/>
                          </m:rPr>
                          <a:rPr lang="en-US" altLang="zh-CN" sz="2200" dirty="0"/>
                          <m:t>x</m:t>
                        </m:r>
                        <m:r>
                          <m:rPr>
                            <m:nor/>
                          </m:rPr>
                          <a:rPr lang="en-US" altLang="zh-CN" sz="2200" dirty="0"/>
                          <m:t>)</m:t>
                        </m:r>
                      </m:num>
                      <m:den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altLang="zh-CN" sz="2200" dirty="0"/>
                          <m:t>(</m:t>
                        </m:r>
                        <m:r>
                          <m:rPr>
                            <m:nor/>
                          </m:rPr>
                          <a:rPr lang="en-US" altLang="zh-CN" sz="2200" dirty="0"/>
                          <m:t>x</m:t>
                        </m:r>
                        <m:r>
                          <m:rPr>
                            <m:nor/>
                          </m:rPr>
                          <a:rPr lang="en-US" altLang="zh-CN" sz="2200" dirty="0"/>
                          <m:t>)</m:t>
                        </m:r>
                      </m:den>
                    </m:f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2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dirty="0"/>
                  <a:t>整理得：</a:t>
                </a:r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CN" sz="2200" dirty="0"/>
                  <a:t>(x)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200" dirty="0"/>
                  <a:t>(x)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dirty="0">
                    <a:ea typeface="Cambria Math" panose="02040503050406030204" pitchFamily="18" charset="0"/>
                  </a:rPr>
                  <a:t>即：</a:t>
                </a:r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CN" sz="2200" dirty="0"/>
                  <a:t>(x)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200" dirty="0"/>
                  <a:t>(x)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CN" sz="2200" dirty="0"/>
                  <a:t>(x)]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dirty="0">
                    <a:ea typeface="Cambria Math" panose="02040503050406030204" pitchFamily="18" charset="0"/>
                  </a:rPr>
                  <a:t>插值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CN" sz="2200" dirty="0"/>
                  <a:t>(x)</a:t>
                </a:r>
                <a:r>
                  <a:rPr lang="zh-CN" altLang="en-US" sz="2200" dirty="0"/>
                  <a:t>的误差可用两个插值的偏差来估计。</a:t>
                </a:r>
                <a:endParaRPr lang="en-US" altLang="zh-CN" sz="22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2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200" dirty="0"/>
              </a:p>
              <a:p>
                <a:pPr>
                  <a:lnSpc>
                    <a:spcPct val="150000"/>
                  </a:lnSpc>
                </a:pPr>
                <a:endParaRPr lang="zh-CN" altLang="en-US" sz="2200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7655D28-7C89-48A8-A22F-733593AB8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066800"/>
                <a:ext cx="6934200" cy="6373283"/>
              </a:xfrm>
              <a:prstGeom prst="rect">
                <a:avLst/>
              </a:prstGeom>
              <a:blipFill>
                <a:blip r:embed="rId2"/>
                <a:stretch>
                  <a:fillRect l="-1099" t="-1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47" name="矩形 6"/>
          <p:cNvSpPr>
            <a:spLocks noChangeArrowheads="1"/>
          </p:cNvSpPr>
          <p:nvPr/>
        </p:nvSpPr>
        <p:spPr bwMode="auto">
          <a:xfrm>
            <a:off x="51072" y="6303656"/>
            <a:ext cx="894052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41275">
            <a:solidFill>
              <a:srgbClr val="00206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pitchFamily="2" charset="2"/>
              <a:buChar char="Ø"/>
            </a:pPr>
            <a:r>
              <a:rPr lang="zh-CN" altLang="en-US" sz="2800" dirty="0">
                <a:ea typeface="宋体" charset="0"/>
                <a:cs typeface="宋体" charset="0"/>
              </a:rPr>
              <a:t>直接利用计算结果估计误差的方法：</a:t>
            </a:r>
            <a:r>
              <a:rPr lang="zh-CN" altLang="en-US" sz="2800" b="1" dirty="0">
                <a:solidFill>
                  <a:srgbClr val="0000FF"/>
                </a:solidFill>
                <a:ea typeface="宋体" charset="0"/>
                <a:cs typeface="宋体" charset="0"/>
              </a:rPr>
              <a:t>事后误差估计法</a:t>
            </a:r>
            <a:endParaRPr lang="en-US" altLang="zh-CN" sz="2800" dirty="0">
              <a:ea typeface="宋体" charset="0"/>
              <a:cs typeface="宋体" charset="0"/>
            </a:endParaRPr>
          </a:p>
        </p:txBody>
      </p:sp>
      <p:sp>
        <p:nvSpPr>
          <p:cNvPr id="32772" name="矩形 1"/>
          <p:cNvSpPr>
            <a:spLocks noChangeArrowheads="1"/>
          </p:cNvSpPr>
          <p:nvPr/>
        </p:nvSpPr>
        <p:spPr bwMode="auto">
          <a:xfrm>
            <a:off x="1981200" y="3962400"/>
            <a:ext cx="3810000" cy="765175"/>
          </a:xfrm>
          <a:prstGeom prst="rect">
            <a:avLst/>
          </a:prstGeom>
          <a:noFill/>
          <a:ln w="25400">
            <a:solidFill>
              <a:srgbClr val="385D8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charset="0"/>
              <a:buNone/>
            </a:pPr>
            <a:endParaRPr lang="zh-CN" altLang="en-US">
              <a:solidFill>
                <a:srgbClr val="FFFFFF"/>
              </a:solidFill>
              <a:latin typeface="Calibri" charset="0"/>
              <a:ea typeface="宋体" charset="0"/>
              <a:cs typeface="宋体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FDEA6E-1B70-3443-B462-1BD9CC44BC01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误差的事后估计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E69CD6D0-A543-E644-A67B-341F412BD708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8" name="组合 9">
            <a:extLst>
              <a:ext uri="{FF2B5EF4-FFF2-40B4-BE49-F238E27FC236}">
                <a16:creationId xmlns:a16="http://schemas.microsoft.com/office/drawing/2014/main" id="{095ECD92-65D4-EE42-B053-8C70701BF569}"/>
              </a:ext>
            </a:extLst>
          </p:cNvPr>
          <p:cNvGrpSpPr>
            <a:grpSpLocks/>
          </p:cNvGrpSpPr>
          <p:nvPr/>
        </p:nvGrpSpPr>
        <p:grpSpPr bwMode="auto">
          <a:xfrm>
            <a:off x="5725397" y="1540488"/>
            <a:ext cx="3241982" cy="1343077"/>
            <a:chOff x="-1133662" y="0"/>
            <a:chExt cx="5045262" cy="1622425"/>
          </a:xfrm>
        </p:grpSpPr>
        <p:sp>
          <p:nvSpPr>
            <p:cNvPr id="9" name="椭圆 4">
              <a:extLst>
                <a:ext uri="{FF2B5EF4-FFF2-40B4-BE49-F238E27FC236}">
                  <a16:creationId xmlns:a16="http://schemas.microsoft.com/office/drawing/2014/main" id="{38FDF733-9FAB-7B40-8577-E01C78C18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75" y="1031875"/>
              <a:ext cx="74612" cy="74612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rgbClr val="385D8A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>
                <a:buFont typeface="Arial" charset="0"/>
                <a:buNone/>
              </a:pPr>
              <a:endParaRPr lang="zh-CN" altLang="en-US">
                <a:solidFill>
                  <a:srgbClr val="FFFFFF"/>
                </a:solidFill>
                <a:latin typeface="Calibri" charset="0"/>
                <a:ea typeface="宋体" charset="0"/>
                <a:cs typeface="宋体" charset="0"/>
              </a:endParaRPr>
            </a:p>
          </p:txBody>
        </p:sp>
        <p:sp>
          <p:nvSpPr>
            <p:cNvPr id="10" name="椭圆 7">
              <a:extLst>
                <a:ext uri="{FF2B5EF4-FFF2-40B4-BE49-F238E27FC236}">
                  <a16:creationId xmlns:a16="http://schemas.microsoft.com/office/drawing/2014/main" id="{23E83885-AFAD-2F4D-8977-BDE4F55AE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412" y="428625"/>
              <a:ext cx="74613" cy="74612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rgbClr val="385D8A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>
                <a:buFont typeface="Arial" charset="0"/>
                <a:buNone/>
              </a:pPr>
              <a:endParaRPr lang="zh-CN" altLang="en-US">
                <a:solidFill>
                  <a:srgbClr val="FFFFFF"/>
                </a:solidFill>
                <a:latin typeface="Calibri" charset="0"/>
                <a:ea typeface="宋体" charset="0"/>
                <a:cs typeface="宋体" charset="0"/>
              </a:endParaRPr>
            </a:p>
          </p:txBody>
        </p:sp>
        <p:sp>
          <p:nvSpPr>
            <p:cNvPr id="11" name="椭圆 8">
              <a:extLst>
                <a:ext uri="{FF2B5EF4-FFF2-40B4-BE49-F238E27FC236}">
                  <a16:creationId xmlns:a16="http://schemas.microsoft.com/office/drawing/2014/main" id="{DC1D0DD9-4387-2848-9E43-B95FB5382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600" y="469900"/>
              <a:ext cx="74612" cy="74612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rgbClr val="385D8A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>
                <a:buFont typeface="Arial" charset="0"/>
                <a:buNone/>
              </a:pPr>
              <a:endParaRPr lang="zh-CN" altLang="en-US">
                <a:solidFill>
                  <a:srgbClr val="FFFFFF"/>
                </a:solidFill>
                <a:latin typeface="Calibri" charset="0"/>
                <a:ea typeface="宋体" charset="0"/>
                <a:cs typeface="宋体" charset="0"/>
              </a:endParaRPr>
            </a:p>
          </p:txBody>
        </p:sp>
        <p:cxnSp>
          <p:nvCxnSpPr>
            <p:cNvPr id="12" name="直接箭头连接符 13">
              <a:extLst>
                <a:ext uri="{FF2B5EF4-FFF2-40B4-BE49-F238E27FC236}">
                  <a16:creationId xmlns:a16="http://schemas.microsoft.com/office/drawing/2014/main" id="{60DEC14F-C011-0144-986C-0999548305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0" y="1285875"/>
              <a:ext cx="3911600" cy="0"/>
            </a:xfrm>
            <a:prstGeom prst="straightConnector1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箭头连接符 15">
              <a:extLst>
                <a:ext uri="{FF2B5EF4-FFF2-40B4-BE49-F238E27FC236}">
                  <a16:creationId xmlns:a16="http://schemas.microsoft.com/office/drawing/2014/main" id="{0F8AE1EB-63BF-EE4F-AEAA-7F6303D757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0" y="0"/>
              <a:ext cx="0" cy="1285875"/>
            </a:xfrm>
            <a:prstGeom prst="straightConnector1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17">
              <a:extLst>
                <a:ext uri="{FF2B5EF4-FFF2-40B4-BE49-F238E27FC236}">
                  <a16:creationId xmlns:a16="http://schemas.microsoft.com/office/drawing/2014/main" id="{33E4E9A7-D41E-834E-8B65-6F898E05BA5A}"/>
                </a:ext>
              </a:extLst>
            </p:cNvPr>
            <p:cNvCxnSpPr>
              <a:cxnSpLocks noChangeShapeType="1"/>
              <a:stCxn id="9" idx="4"/>
            </p:cNvCxnSpPr>
            <p:nvPr/>
          </p:nvCxnSpPr>
          <p:spPr bwMode="auto">
            <a:xfrm>
              <a:off x="280987" y="1106487"/>
              <a:ext cx="0" cy="179388"/>
            </a:xfrm>
            <a:prstGeom prst="line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19">
              <a:extLst>
                <a:ext uri="{FF2B5EF4-FFF2-40B4-BE49-F238E27FC236}">
                  <a16:creationId xmlns:a16="http://schemas.microsoft.com/office/drawing/2014/main" id="{D7606863-BB9E-F84B-9BC5-AEFC6124E078}"/>
                </a:ext>
              </a:extLst>
            </p:cNvPr>
            <p:cNvCxnSpPr>
              <a:cxnSpLocks noChangeShapeType="1"/>
              <a:stCxn id="10" idx="4"/>
            </p:cNvCxnSpPr>
            <p:nvPr/>
          </p:nvCxnSpPr>
          <p:spPr bwMode="auto">
            <a:xfrm>
              <a:off x="1433512" y="503237"/>
              <a:ext cx="0" cy="782638"/>
            </a:xfrm>
            <a:prstGeom prst="line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1">
              <a:extLst>
                <a:ext uri="{FF2B5EF4-FFF2-40B4-BE49-F238E27FC236}">
                  <a16:creationId xmlns:a16="http://schemas.microsoft.com/office/drawing/2014/main" id="{DAFE8E6C-960D-4B4B-B757-75A6555B03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171825" y="533400"/>
              <a:ext cx="9525" cy="752475"/>
            </a:xfrm>
            <a:prstGeom prst="line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17" name="Object 15">
              <a:extLst>
                <a:ext uri="{FF2B5EF4-FFF2-40B4-BE49-F238E27FC236}">
                  <a16:creationId xmlns:a16="http://schemas.microsoft.com/office/drawing/2014/main" id="{C4EFD836-84D1-5244-88CB-ED82B6A586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887" y="1180316"/>
            <a:ext cx="319176" cy="442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65315" imgH="228898" progId="Equation.DSMT4">
                    <p:embed/>
                  </p:oleObj>
                </mc:Choice>
                <mc:Fallback>
                  <p:oleObj r:id="rId3" imgW="165315" imgH="228898" progId="Equation.DSMT4">
                    <p:embed/>
                    <p:pic>
                      <p:nvPicPr>
                        <p:cNvPr id="1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887" y="1180316"/>
                          <a:ext cx="319176" cy="442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8" name="矩形 26">
              <a:extLst>
                <a:ext uri="{FF2B5EF4-FFF2-40B4-BE49-F238E27FC236}">
                  <a16:creationId xmlns:a16="http://schemas.microsoft.com/office/drawing/2014/main" id="{7EECC46E-E24C-E941-B918-4FC996AD2A9B}"/>
                </a:ext>
              </a:extLst>
            </p:cNvPr>
            <p:cNvPicPr>
              <a:picLocks noRot="1" noChangeAspect="1" noEditPoints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5011" y="1184719"/>
              <a:ext cx="475488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矩形 27">
              <a:extLst>
                <a:ext uri="{FF2B5EF4-FFF2-40B4-BE49-F238E27FC236}">
                  <a16:creationId xmlns:a16="http://schemas.microsoft.com/office/drawing/2014/main" id="{DE227C5A-2AFD-8946-8F93-6769E99414F6}"/>
                </a:ext>
              </a:extLst>
            </p:cNvPr>
            <p:cNvPicPr>
              <a:picLocks noRot="1" noChangeAspect="1" noEditPoints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0659" y="1184719"/>
              <a:ext cx="475488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矩形 28">
              <a:extLst>
                <a:ext uri="{FF2B5EF4-FFF2-40B4-BE49-F238E27FC236}">
                  <a16:creationId xmlns:a16="http://schemas.microsoft.com/office/drawing/2014/main" id="{C0F05F05-AC82-C246-9F0D-5879EDE846C6}"/>
                </a:ext>
              </a:extLst>
            </p:cNvPr>
            <p:cNvPicPr>
              <a:picLocks noRot="1" noChangeAspect="1" noEditPoints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771" y="666559"/>
              <a:ext cx="481584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矩形 30">
              <a:extLst>
                <a:ext uri="{FF2B5EF4-FFF2-40B4-BE49-F238E27FC236}">
                  <a16:creationId xmlns:a16="http://schemas.microsoft.com/office/drawing/2014/main" id="{88A981D1-E02E-9E4C-966D-04DF665AE5C3}"/>
                </a:ext>
              </a:extLst>
            </p:cNvPr>
            <p:cNvPicPr>
              <a:picLocks noRot="1" noChangeAspect="1" noEditPoints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5011" y="56959"/>
              <a:ext cx="475488" cy="371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矩形 31">
              <a:extLst>
                <a:ext uri="{FF2B5EF4-FFF2-40B4-BE49-F238E27FC236}">
                  <a16:creationId xmlns:a16="http://schemas.microsoft.com/office/drawing/2014/main" id="{96A6B667-1FDE-EC45-9674-DCE3FFE275C3}"/>
                </a:ext>
              </a:extLst>
            </p:cNvPr>
            <p:cNvPicPr>
              <a:picLocks noRot="1" noChangeAspect="1" noEditPoints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4083" y="69151"/>
              <a:ext cx="475488" cy="371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3" name="直接连接符 32">
              <a:extLst>
                <a:ext uri="{FF2B5EF4-FFF2-40B4-BE49-F238E27FC236}">
                  <a16:creationId xmlns:a16="http://schemas.microsoft.com/office/drawing/2014/main" id="{75946B6C-0790-E248-A271-D6AEDD33C30C}"/>
                </a:ext>
              </a:extLst>
            </p:cNvPr>
            <p:cNvCxnSpPr>
              <a:cxnSpLocks noChangeShapeType="1"/>
              <a:stCxn id="9" idx="1"/>
              <a:endCxn id="10" idx="2"/>
            </p:cNvCxnSpPr>
            <p:nvPr/>
          </p:nvCxnSpPr>
          <p:spPr bwMode="auto">
            <a:xfrm flipV="1">
              <a:off x="255587" y="466725"/>
              <a:ext cx="1139825" cy="576262"/>
            </a:xfrm>
            <a:prstGeom prst="line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连接符 34">
              <a:extLst>
                <a:ext uri="{FF2B5EF4-FFF2-40B4-BE49-F238E27FC236}">
                  <a16:creationId xmlns:a16="http://schemas.microsoft.com/office/drawing/2014/main" id="{185D695D-5822-0D4B-861F-0DD239DF92DF}"/>
                </a:ext>
              </a:extLst>
            </p:cNvPr>
            <p:cNvCxnSpPr>
              <a:cxnSpLocks noChangeShapeType="1"/>
              <a:endCxn id="11" idx="5"/>
            </p:cNvCxnSpPr>
            <p:nvPr/>
          </p:nvCxnSpPr>
          <p:spPr bwMode="auto">
            <a:xfrm flipV="1">
              <a:off x="285750" y="533585"/>
              <a:ext cx="2927535" cy="524632"/>
            </a:xfrm>
            <a:prstGeom prst="line">
              <a:avLst/>
            </a:prstGeom>
            <a:noFill/>
            <a:ln w="9525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25" name="Object 23">
              <a:extLst>
                <a:ext uri="{FF2B5EF4-FFF2-40B4-BE49-F238E27FC236}">
                  <a16:creationId xmlns:a16="http://schemas.microsoft.com/office/drawing/2014/main" id="{AE65074A-363C-7C42-AD67-F2C75F70AB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1965879"/>
                </p:ext>
              </p:extLst>
            </p:nvPr>
          </p:nvGraphicFramePr>
          <p:xfrm>
            <a:off x="-1133662" y="489315"/>
            <a:ext cx="277161" cy="405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65243" imgH="241510" progId="Equation.DSMT4">
                    <p:embed/>
                  </p:oleObj>
                </mc:Choice>
                <mc:Fallback>
                  <p:oleObj r:id="rId10" imgW="165243" imgH="241510" progId="Equation.DSMT4">
                    <p:embed/>
                    <p:pic>
                      <p:nvPicPr>
                        <p:cNvPr id="25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133662" y="489315"/>
                          <a:ext cx="277161" cy="405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4">
              <a:extLst>
                <a:ext uri="{FF2B5EF4-FFF2-40B4-BE49-F238E27FC236}">
                  <a16:creationId xmlns:a16="http://schemas.microsoft.com/office/drawing/2014/main" id="{DC67A3B4-5C19-BF47-A702-4105E2B641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53452" y="463574"/>
            <a:ext cx="299946" cy="4048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77877" imgH="241405" progId="Equation.DSMT4">
                    <p:embed/>
                  </p:oleObj>
                </mc:Choice>
                <mc:Fallback>
                  <p:oleObj r:id="rId12" imgW="177877" imgH="241405" progId="Equation.DSMT4">
                    <p:embed/>
                    <p:pic>
                      <p:nvPicPr>
                        <p:cNvPr id="26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3452" y="463574"/>
                          <a:ext cx="299946" cy="4048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5741938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nimBg="1"/>
      <p:bldP spid="3277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45" name="Group 197"/>
          <p:cNvGrpSpPr>
            <a:grpSpLocks/>
          </p:cNvGrpSpPr>
          <p:nvPr/>
        </p:nvGrpSpPr>
        <p:grpSpPr bwMode="auto">
          <a:xfrm>
            <a:off x="381000" y="228600"/>
            <a:ext cx="8153400" cy="1508125"/>
            <a:chOff x="240" y="240"/>
            <a:chExt cx="5136" cy="950"/>
          </a:xfrm>
        </p:grpSpPr>
        <p:sp>
          <p:nvSpPr>
            <p:cNvPr id="53438" name="Text Box 190"/>
            <p:cNvSpPr txBox="1">
              <a:spLocks noChangeArrowheads="1"/>
            </p:cNvSpPr>
            <p:nvPr/>
          </p:nvSpPr>
          <p:spPr bwMode="auto">
            <a:xfrm>
              <a:off x="240" y="288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solidFill>
                    <a:schemeClr val="accent2"/>
                  </a:solidFill>
                </a:rPr>
                <a:t>例：</a:t>
              </a:r>
              <a:r>
                <a:rPr lang="zh-CN" altLang="en-US" sz="2400" b="1"/>
                <a:t>已知</a:t>
              </a:r>
              <a:endParaRPr lang="en-US" altLang="zh-CN" sz="2400" b="1"/>
            </a:p>
          </p:txBody>
        </p:sp>
        <p:graphicFrame>
          <p:nvGraphicFramePr>
            <p:cNvPr id="53443" name="Object 195"/>
            <p:cNvGraphicFramePr>
              <a:graphicFrameLocks noChangeAspect="1"/>
            </p:cNvGraphicFramePr>
            <p:nvPr/>
          </p:nvGraphicFramePr>
          <p:xfrm>
            <a:off x="1152" y="240"/>
            <a:ext cx="2352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323800" imgH="431640" progId="Equation.3">
                    <p:embed/>
                  </p:oleObj>
                </mc:Choice>
                <mc:Fallback>
                  <p:oleObj name="Equation" r:id="rId5" imgW="2323800" imgH="431640" progId="Equation.3">
                    <p:embed/>
                    <p:pic>
                      <p:nvPicPr>
                        <p:cNvPr id="53443" name="Object 1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40"/>
                          <a:ext cx="2352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444" name="Text Box 196"/>
            <p:cNvSpPr txBox="1">
              <a:spLocks noChangeArrowheads="1"/>
            </p:cNvSpPr>
            <p:nvPr/>
          </p:nvSpPr>
          <p:spPr bwMode="auto">
            <a:xfrm>
              <a:off x="624" y="672"/>
              <a:ext cx="475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分别利用</a:t>
              </a:r>
              <a:r>
                <a:rPr lang="en-US" altLang="zh-CN" sz="2400" b="1"/>
                <a:t> sin </a:t>
              </a:r>
              <a:r>
                <a:rPr lang="en-US" altLang="zh-CN" sz="2400" b="1" i="1"/>
                <a:t>x </a:t>
              </a:r>
              <a:r>
                <a:rPr lang="zh-CN" altLang="en-US" sz="2400" b="1"/>
                <a:t>的</a:t>
              </a:r>
              <a:r>
                <a:rPr lang="en-US" altLang="zh-CN" sz="2400" b="1"/>
                <a:t>1</a:t>
              </a:r>
              <a:r>
                <a:rPr lang="zh-CN" altLang="en-US" sz="2400" b="1"/>
                <a:t>次、</a:t>
              </a:r>
              <a:r>
                <a:rPr lang="en-US" altLang="zh-CN" sz="2400" b="1"/>
                <a:t>2</a:t>
              </a:r>
              <a:r>
                <a:rPr lang="zh-CN" altLang="en-US" sz="2400" b="1"/>
                <a:t>次</a:t>
              </a:r>
              <a:r>
                <a:rPr lang="en-US" altLang="zh-CN" sz="2400" b="1"/>
                <a:t> Lagrange </a:t>
              </a:r>
              <a:r>
                <a:rPr lang="zh-CN" altLang="en-US" sz="2400" b="1"/>
                <a:t>插值计算</a:t>
              </a:r>
              <a:r>
                <a:rPr lang="en-US" altLang="zh-CN" sz="2400" b="1"/>
                <a:t> </a:t>
              </a:r>
              <a:r>
                <a:rPr lang="en-US" altLang="zh-CN" sz="2400" b="1">
                  <a:solidFill>
                    <a:schemeClr val="accent2"/>
                  </a:solidFill>
                </a:rPr>
                <a:t>sin 50</a:t>
              </a:r>
              <a:r>
                <a:rPr lang="en-US" altLang="zh-CN" sz="2400" b="1">
                  <a:solidFill>
                    <a:schemeClr val="accent2"/>
                  </a:solidFill>
                  <a:sym typeface="Symbol" charset="0"/>
                </a:rPr>
                <a:t></a:t>
              </a:r>
              <a:endParaRPr lang="en-US" altLang="zh-CN" sz="2400" b="1">
                <a:solidFill>
                  <a:schemeClr val="accent2"/>
                </a:solidFill>
              </a:endParaRPr>
            </a:p>
            <a:p>
              <a:r>
                <a:rPr lang="en-US" altLang="zh-CN" sz="2400" b="1"/>
                <a:t> </a:t>
              </a:r>
              <a:r>
                <a:rPr lang="zh-CN" altLang="en-US" sz="2400" b="1"/>
                <a:t>并估计误差。</a:t>
              </a:r>
              <a:r>
                <a:rPr lang="en-US" altLang="zh-CN" sz="2400" b="1"/>
                <a:t> </a:t>
              </a:r>
            </a:p>
          </p:txBody>
        </p:sp>
      </p:grpSp>
      <p:sp>
        <p:nvSpPr>
          <p:cNvPr id="53446" name="Text Box 198"/>
          <p:cNvSpPr txBox="1">
            <a:spLocks noChangeArrowheads="1"/>
          </p:cNvSpPr>
          <p:nvPr/>
        </p:nvSpPr>
        <p:spPr bwMode="auto">
          <a:xfrm>
            <a:off x="457200" y="18288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accent2"/>
                </a:solidFill>
              </a:rPr>
              <a:t>解：</a:t>
            </a:r>
            <a:endParaRPr lang="en-US" altLang="zh-CN" sz="2400" b="1"/>
          </a:p>
        </p:txBody>
      </p:sp>
      <p:grpSp>
        <p:nvGrpSpPr>
          <p:cNvPr id="53447" name="Group 199"/>
          <p:cNvGrpSpPr>
            <a:grpSpLocks noChangeAspect="1"/>
          </p:cNvGrpSpPr>
          <p:nvPr/>
        </p:nvGrpSpPr>
        <p:grpSpPr bwMode="auto">
          <a:xfrm>
            <a:off x="6477000" y="2133600"/>
            <a:ext cx="1835150" cy="366713"/>
            <a:chOff x="3840" y="3168"/>
            <a:chExt cx="1440" cy="288"/>
          </a:xfrm>
        </p:grpSpPr>
        <p:sp>
          <p:nvSpPr>
            <p:cNvPr id="53448" name="Line 200"/>
            <p:cNvSpPr>
              <a:spLocks noChangeAspect="1" noChangeShapeType="1"/>
            </p:cNvSpPr>
            <p:nvPr/>
          </p:nvSpPr>
          <p:spPr bwMode="auto">
            <a:xfrm>
              <a:off x="3984" y="3216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49" name="Line 201"/>
            <p:cNvSpPr>
              <a:spLocks noChangeAspect="1" noChangeShapeType="1"/>
            </p:cNvSpPr>
            <p:nvPr/>
          </p:nvSpPr>
          <p:spPr bwMode="auto">
            <a:xfrm>
              <a:off x="3984" y="316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50" name="Line 202"/>
            <p:cNvSpPr>
              <a:spLocks noChangeAspect="1" noChangeShapeType="1"/>
            </p:cNvSpPr>
            <p:nvPr/>
          </p:nvSpPr>
          <p:spPr bwMode="auto">
            <a:xfrm flipV="1">
              <a:off x="4608" y="316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51" name="Line 203"/>
            <p:cNvSpPr>
              <a:spLocks noChangeAspect="1" noChangeShapeType="1"/>
            </p:cNvSpPr>
            <p:nvPr/>
          </p:nvSpPr>
          <p:spPr bwMode="auto">
            <a:xfrm flipV="1">
              <a:off x="5184" y="316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53452" name="Object 204"/>
            <p:cNvGraphicFramePr>
              <a:graphicFrameLocks noChangeAspect="1"/>
            </p:cNvGraphicFramePr>
            <p:nvPr/>
          </p:nvGraphicFramePr>
          <p:xfrm>
            <a:off x="3840" y="3168"/>
            <a:ext cx="2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440" imgH="228600" progId="Equation.3">
                    <p:embed/>
                  </p:oleObj>
                </mc:Choice>
                <mc:Fallback>
                  <p:oleObj name="Equation" r:id="rId7" imgW="190440" imgH="228600" progId="Equation.3">
                    <p:embed/>
                    <p:pic>
                      <p:nvPicPr>
                        <p:cNvPr id="53452" name="Object 2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168"/>
                          <a:ext cx="24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53" name="Object 205"/>
            <p:cNvGraphicFramePr>
              <a:graphicFrameLocks noChangeAspect="1"/>
            </p:cNvGraphicFramePr>
            <p:nvPr/>
          </p:nvGraphicFramePr>
          <p:xfrm>
            <a:off x="4520" y="3176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77480" imgH="215640" progId="Equation.3">
                    <p:embed/>
                  </p:oleObj>
                </mc:Choice>
                <mc:Fallback>
                  <p:oleObj name="Equation" r:id="rId9" imgW="177480" imgH="215640" progId="Equation.3">
                    <p:embed/>
                    <p:pic>
                      <p:nvPicPr>
                        <p:cNvPr id="53453" name="Object 2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0" y="3176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454" name="Object 206"/>
            <p:cNvGraphicFramePr>
              <a:graphicFrameLocks noChangeAspect="1"/>
            </p:cNvGraphicFramePr>
            <p:nvPr/>
          </p:nvGraphicFramePr>
          <p:xfrm>
            <a:off x="5040" y="3176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90440" imgH="215640" progId="Equation.3">
                    <p:embed/>
                  </p:oleObj>
                </mc:Choice>
                <mc:Fallback>
                  <p:oleObj name="Equation" r:id="rId11" imgW="190440" imgH="215640" progId="Equation.3">
                    <p:embed/>
                    <p:pic>
                      <p:nvPicPr>
                        <p:cNvPr id="53454" name="Object 2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3176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455" name="Group 207"/>
          <p:cNvGrpSpPr>
            <a:grpSpLocks/>
          </p:cNvGrpSpPr>
          <p:nvPr/>
        </p:nvGrpSpPr>
        <p:grpSpPr bwMode="auto">
          <a:xfrm>
            <a:off x="7543800" y="1295400"/>
            <a:ext cx="990600" cy="914400"/>
            <a:chOff x="4800" y="2640"/>
            <a:chExt cx="624" cy="576"/>
          </a:xfrm>
        </p:grpSpPr>
        <p:graphicFrame>
          <p:nvGraphicFramePr>
            <p:cNvPr id="53456" name="Object 208"/>
            <p:cNvGraphicFramePr>
              <a:graphicFrameLocks noChangeAspect="1"/>
            </p:cNvGraphicFramePr>
            <p:nvPr/>
          </p:nvGraphicFramePr>
          <p:xfrm>
            <a:off x="4800" y="2640"/>
            <a:ext cx="62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622080" imgH="393480" progId="Equation.3">
                    <p:embed/>
                  </p:oleObj>
                </mc:Choice>
                <mc:Fallback>
                  <p:oleObj name="Equation" r:id="rId13" imgW="622080" imgH="393480" progId="Equation.3">
                    <p:embed/>
                    <p:pic>
                      <p:nvPicPr>
                        <p:cNvPr id="53456" name="Object 2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2640"/>
                          <a:ext cx="624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457" name="Line 209"/>
            <p:cNvSpPr>
              <a:spLocks noChangeShapeType="1"/>
            </p:cNvSpPr>
            <p:nvPr/>
          </p:nvSpPr>
          <p:spPr bwMode="auto">
            <a:xfrm>
              <a:off x="4896" y="2976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458" name="AutoShape 210" descr="再生纸"/>
          <p:cNvSpPr>
            <a:spLocks noChangeArrowheads="1"/>
          </p:cNvSpPr>
          <p:nvPr/>
        </p:nvSpPr>
        <p:spPr bwMode="auto">
          <a:xfrm>
            <a:off x="1143000" y="1828800"/>
            <a:ext cx="838200" cy="457200"/>
          </a:xfrm>
          <a:prstGeom prst="bevel">
            <a:avLst>
              <a:gd name="adj" fmla="val 9722"/>
            </a:avLst>
          </a:prstGeom>
          <a:blipFill dpi="0" rotWithShape="0">
            <a:blip r:embed="rId15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 b="1" i="1"/>
              <a:t>n</a:t>
            </a:r>
            <a:r>
              <a:rPr lang="en-US" altLang="zh-CN" sz="2000" b="1"/>
              <a:t> = 1</a:t>
            </a:r>
          </a:p>
        </p:txBody>
      </p:sp>
      <p:sp>
        <p:nvSpPr>
          <p:cNvPr id="53459" name="Text Box 211"/>
          <p:cNvSpPr txBox="1">
            <a:spLocks noChangeArrowheads="1"/>
          </p:cNvSpPr>
          <p:nvPr/>
        </p:nvSpPr>
        <p:spPr bwMode="auto">
          <a:xfrm>
            <a:off x="2057400" y="18288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分别利用</a:t>
            </a:r>
            <a:r>
              <a:rPr lang="en-US" altLang="zh-CN" sz="2400" b="1" i="1" dirty="0"/>
              <a:t>x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, </a:t>
            </a:r>
            <a:r>
              <a:rPr lang="en-US" altLang="zh-CN" sz="2400" b="1" i="1" dirty="0"/>
              <a:t>x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以及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x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, </a:t>
            </a:r>
            <a:r>
              <a:rPr lang="en-US" altLang="zh-CN" sz="2400" b="1" i="1" dirty="0"/>
              <a:t>x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计算</a:t>
            </a:r>
            <a:endParaRPr lang="en-US" altLang="zh-CN" sz="2400" b="1" baseline="-25000" dirty="0"/>
          </a:p>
        </p:txBody>
      </p:sp>
      <p:grpSp>
        <p:nvGrpSpPr>
          <p:cNvPr id="53479" name="Group 231"/>
          <p:cNvGrpSpPr>
            <a:grpSpLocks/>
          </p:cNvGrpSpPr>
          <p:nvPr/>
        </p:nvGrpSpPr>
        <p:grpSpPr bwMode="auto">
          <a:xfrm>
            <a:off x="899592" y="5157192"/>
            <a:ext cx="2438400" cy="619125"/>
            <a:chOff x="624" y="1632"/>
            <a:chExt cx="1536" cy="390"/>
          </a:xfrm>
        </p:grpSpPr>
        <p:graphicFrame>
          <p:nvGraphicFramePr>
            <p:cNvPr id="53460" name="Object 212"/>
            <p:cNvGraphicFramePr>
              <a:graphicFrameLocks noChangeAspect="1"/>
            </p:cNvGraphicFramePr>
            <p:nvPr/>
          </p:nvGraphicFramePr>
          <p:xfrm>
            <a:off x="1200" y="1632"/>
            <a:ext cx="960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002960" imgH="393480" progId="Equation.3">
                    <p:embed/>
                  </p:oleObj>
                </mc:Choice>
                <mc:Fallback>
                  <p:oleObj name="Equation" r:id="rId16" imgW="1002960" imgH="393480" progId="Equation.3">
                    <p:embed/>
                    <p:pic>
                      <p:nvPicPr>
                        <p:cNvPr id="53460" name="Object 2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632"/>
                          <a:ext cx="960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461" name="Text Box 213"/>
            <p:cNvSpPr txBox="1">
              <a:spLocks noChangeArrowheads="1"/>
            </p:cNvSpPr>
            <p:nvPr/>
          </p:nvSpPr>
          <p:spPr bwMode="auto">
            <a:xfrm>
              <a:off x="624" y="1654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chemeClr val="accent2"/>
                  </a:solidFill>
                  <a:sym typeface="Wingdings" charset="0"/>
                </a:rPr>
                <a:t></a:t>
              </a:r>
              <a:r>
                <a:rPr lang="zh-CN" altLang="en-US" sz="2400" b="1" dirty="0"/>
                <a:t>利用</a:t>
              </a:r>
              <a:endParaRPr lang="en-US" altLang="zh-CN" sz="2400" b="1" dirty="0"/>
            </a:p>
          </p:txBody>
        </p:sp>
      </p:grpSp>
      <p:grpSp>
        <p:nvGrpSpPr>
          <p:cNvPr id="53465" name="Group 217"/>
          <p:cNvGrpSpPr>
            <a:grpSpLocks/>
          </p:cNvGrpSpPr>
          <p:nvPr/>
        </p:nvGrpSpPr>
        <p:grpSpPr bwMode="auto">
          <a:xfrm>
            <a:off x="3657600" y="2493962"/>
            <a:ext cx="4687888" cy="674688"/>
            <a:chOff x="2304" y="1667"/>
            <a:chExt cx="2953" cy="425"/>
          </a:xfrm>
        </p:grpSpPr>
        <p:graphicFrame>
          <p:nvGraphicFramePr>
            <p:cNvPr id="53463" name="Object 215"/>
            <p:cNvGraphicFramePr>
              <a:graphicFrameLocks noChangeAspect="1"/>
            </p:cNvGraphicFramePr>
            <p:nvPr/>
          </p:nvGraphicFramePr>
          <p:xfrm>
            <a:off x="2615" y="1667"/>
            <a:ext cx="2642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692400" imgH="419100" progId="Equation.3">
                    <p:embed/>
                  </p:oleObj>
                </mc:Choice>
                <mc:Fallback>
                  <p:oleObj name="Equation" r:id="rId18" imgW="2692400" imgH="419100" progId="Equation.3">
                    <p:embed/>
                    <p:pic>
                      <p:nvPicPr>
                        <p:cNvPr id="53463" name="Object 2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5" y="1667"/>
                          <a:ext cx="2642" cy="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464" name="AutoShape 216"/>
            <p:cNvSpPr>
              <a:spLocks noChangeArrowheads="1"/>
            </p:cNvSpPr>
            <p:nvPr/>
          </p:nvSpPr>
          <p:spPr bwMode="auto">
            <a:xfrm>
              <a:off x="2304" y="1776"/>
              <a:ext cx="288" cy="14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3469" name="Group 221"/>
          <p:cNvGrpSpPr>
            <a:grpSpLocks/>
          </p:cNvGrpSpPr>
          <p:nvPr/>
        </p:nvGrpSpPr>
        <p:grpSpPr bwMode="auto">
          <a:xfrm>
            <a:off x="4114800" y="3095625"/>
            <a:ext cx="4362450" cy="588963"/>
            <a:chOff x="2592" y="2094"/>
            <a:chExt cx="2748" cy="371"/>
          </a:xfrm>
        </p:grpSpPr>
        <p:sp>
          <p:nvSpPr>
            <p:cNvPr id="53467" name="Text Box 219"/>
            <p:cNvSpPr txBox="1">
              <a:spLocks noChangeArrowheads="1"/>
            </p:cNvSpPr>
            <p:nvPr/>
          </p:nvSpPr>
          <p:spPr bwMode="auto">
            <a:xfrm>
              <a:off x="2592" y="2112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这里</a:t>
              </a:r>
              <a:endParaRPr lang="en-US" altLang="zh-CN" sz="2400" b="1"/>
            </a:p>
          </p:txBody>
        </p:sp>
        <p:graphicFrame>
          <p:nvGraphicFramePr>
            <p:cNvPr id="53468" name="Object 220"/>
            <p:cNvGraphicFramePr>
              <a:graphicFrameLocks noChangeAspect="1"/>
            </p:cNvGraphicFramePr>
            <p:nvPr/>
          </p:nvGraphicFramePr>
          <p:xfrm>
            <a:off x="3107" y="2094"/>
            <a:ext cx="2233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717800" imgH="393700" progId="Equation.3">
                    <p:embed/>
                  </p:oleObj>
                </mc:Choice>
                <mc:Fallback>
                  <p:oleObj name="Equation" r:id="rId20" imgW="2717800" imgH="393700" progId="Equation.3">
                    <p:embed/>
                    <p:pic>
                      <p:nvPicPr>
                        <p:cNvPr id="53468" name="Object 2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2094"/>
                          <a:ext cx="2233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473" name="Group 225"/>
          <p:cNvGrpSpPr>
            <a:grpSpLocks/>
          </p:cNvGrpSpPr>
          <p:nvPr/>
        </p:nvGrpSpPr>
        <p:grpSpPr bwMode="auto">
          <a:xfrm>
            <a:off x="1066800" y="3484562"/>
            <a:ext cx="5265738" cy="738188"/>
            <a:chOff x="768" y="2627"/>
            <a:chExt cx="3317" cy="465"/>
          </a:xfrm>
        </p:grpSpPr>
        <p:sp>
          <p:nvSpPr>
            <p:cNvPr id="53471" name="Text Box 223"/>
            <p:cNvSpPr txBox="1">
              <a:spLocks noChangeArrowheads="1"/>
            </p:cNvSpPr>
            <p:nvPr/>
          </p:nvSpPr>
          <p:spPr bwMode="auto">
            <a:xfrm>
              <a:off x="768" y="268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而</a:t>
              </a:r>
              <a:endParaRPr lang="en-US" altLang="zh-CN" sz="2400" b="1"/>
            </a:p>
          </p:txBody>
        </p:sp>
        <p:graphicFrame>
          <p:nvGraphicFramePr>
            <p:cNvPr id="53472" name="Object 224"/>
            <p:cNvGraphicFramePr>
              <a:graphicFrameLocks noChangeAspect="1"/>
            </p:cNvGraphicFramePr>
            <p:nvPr/>
          </p:nvGraphicFramePr>
          <p:xfrm>
            <a:off x="1151" y="2627"/>
            <a:ext cx="2934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175000" imgH="457200" progId="Equation.3">
                    <p:embed/>
                  </p:oleObj>
                </mc:Choice>
                <mc:Fallback>
                  <p:oleObj name="Equation" r:id="rId22" imgW="3175000" imgH="457200" progId="Equation.3">
                    <p:embed/>
                    <p:pic>
                      <p:nvPicPr>
                        <p:cNvPr id="53472" name="Object 2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1" y="2627"/>
                          <a:ext cx="2934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474" name="Object 226"/>
          <p:cNvGraphicFramePr>
            <a:graphicFrameLocks noChangeAspect="1"/>
          </p:cNvGraphicFramePr>
          <p:nvPr/>
        </p:nvGraphicFramePr>
        <p:xfrm>
          <a:off x="5944741" y="5185665"/>
          <a:ext cx="3091755" cy="547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06280" imgH="355320" progId="Equation.3">
                  <p:embed/>
                </p:oleObj>
              </mc:Choice>
              <mc:Fallback>
                <p:oleObj name="Equation" r:id="rId24" imgW="2006280" imgH="355320" progId="Equation.3">
                  <p:embed/>
                  <p:pic>
                    <p:nvPicPr>
                      <p:cNvPr id="53474" name="Object 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4741" y="5185665"/>
                        <a:ext cx="3091755" cy="547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75" name="AutoShape 227"/>
          <p:cNvSpPr>
            <a:spLocks noChangeArrowheads="1"/>
          </p:cNvSpPr>
          <p:nvPr/>
        </p:nvSpPr>
        <p:spPr bwMode="auto">
          <a:xfrm>
            <a:off x="1219200" y="42672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477" name="Text Box 229"/>
          <p:cNvSpPr txBox="1">
            <a:spLocks noChangeArrowheads="1"/>
          </p:cNvSpPr>
          <p:nvPr/>
        </p:nvSpPr>
        <p:spPr bwMode="auto">
          <a:xfrm>
            <a:off x="5257800" y="3810000"/>
            <a:ext cx="35814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ctr"/>
            <a:r>
              <a:rPr lang="en-US" altLang="zh-CN" sz="6600" dirty="0">
                <a:solidFill>
                  <a:schemeClr val="accent2"/>
                </a:solidFill>
                <a:sym typeface="Webdings" charset="0"/>
              </a:rPr>
              <a:t></a:t>
            </a:r>
            <a:r>
              <a:rPr lang="en-US" altLang="zh-CN" sz="2400" b="1" dirty="0">
                <a:solidFill>
                  <a:schemeClr val="accent2"/>
                </a:solidFill>
              </a:rPr>
              <a:t>sin 50</a:t>
            </a:r>
            <a:r>
              <a:rPr lang="en-US" altLang="zh-CN" sz="2400" b="1" dirty="0">
                <a:solidFill>
                  <a:schemeClr val="accent2"/>
                </a:solidFill>
                <a:sym typeface="Symbol" charset="0"/>
              </a:rPr>
              <a:t> = 0.7660444…</a:t>
            </a:r>
          </a:p>
        </p:txBody>
      </p:sp>
      <p:grpSp>
        <p:nvGrpSpPr>
          <p:cNvPr id="53497" name="Group 249"/>
          <p:cNvGrpSpPr>
            <a:grpSpLocks/>
          </p:cNvGrpSpPr>
          <p:nvPr/>
        </p:nvGrpSpPr>
        <p:grpSpPr bwMode="auto">
          <a:xfrm>
            <a:off x="1143000" y="3048000"/>
            <a:ext cx="3017838" cy="584200"/>
            <a:chOff x="739" y="2061"/>
            <a:chExt cx="1901" cy="368"/>
          </a:xfrm>
        </p:grpSpPr>
        <p:sp>
          <p:nvSpPr>
            <p:cNvPr id="53480" name="Line 232"/>
            <p:cNvSpPr>
              <a:spLocks noChangeShapeType="1"/>
            </p:cNvSpPr>
            <p:nvPr/>
          </p:nvSpPr>
          <p:spPr bwMode="auto">
            <a:xfrm>
              <a:off x="1568" y="2245"/>
              <a:ext cx="20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84" name="Rectangle 236"/>
            <p:cNvSpPr>
              <a:spLocks noChangeArrowheads="1"/>
            </p:cNvSpPr>
            <p:nvPr/>
          </p:nvSpPr>
          <p:spPr bwMode="auto">
            <a:xfrm>
              <a:off x="1781" y="2145"/>
              <a:ext cx="5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3485" name="Rectangle 237"/>
            <p:cNvSpPr>
              <a:spLocks noChangeArrowheads="1"/>
            </p:cNvSpPr>
            <p:nvPr/>
          </p:nvSpPr>
          <p:spPr bwMode="auto">
            <a:xfrm>
              <a:off x="1586" y="2247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 dirty="0">
                  <a:solidFill>
                    <a:srgbClr val="000000"/>
                  </a:solidFill>
                </a:rPr>
                <a:t>18</a:t>
              </a:r>
              <a:endParaRPr lang="en-US" altLang="zh-CN" dirty="0"/>
            </a:p>
          </p:txBody>
        </p:sp>
        <p:sp>
          <p:nvSpPr>
            <p:cNvPr id="53486" name="Rectangle 238"/>
            <p:cNvSpPr>
              <a:spLocks noChangeArrowheads="1"/>
            </p:cNvSpPr>
            <p:nvPr/>
          </p:nvSpPr>
          <p:spPr bwMode="auto">
            <a:xfrm>
              <a:off x="1576" y="2079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</a:rPr>
                <a:t>5</a:t>
              </a:r>
              <a:endParaRPr lang="en-US" altLang="zh-CN"/>
            </a:p>
          </p:txBody>
        </p:sp>
        <p:sp>
          <p:nvSpPr>
            <p:cNvPr id="53487" name="Rectangle 239"/>
            <p:cNvSpPr>
              <a:spLocks noChangeArrowheads="1"/>
            </p:cNvSpPr>
            <p:nvPr/>
          </p:nvSpPr>
          <p:spPr bwMode="auto">
            <a:xfrm>
              <a:off x="1505" y="2145"/>
              <a:ext cx="5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3488" name="Rectangle 240"/>
            <p:cNvSpPr>
              <a:spLocks noChangeArrowheads="1"/>
            </p:cNvSpPr>
            <p:nvPr/>
          </p:nvSpPr>
          <p:spPr bwMode="auto">
            <a:xfrm>
              <a:off x="958" y="2145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</a:rPr>
                <a:t>50</a:t>
              </a:r>
              <a:endParaRPr lang="en-US" altLang="zh-CN"/>
            </a:p>
          </p:txBody>
        </p:sp>
        <p:sp>
          <p:nvSpPr>
            <p:cNvPr id="53489" name="Rectangle 241"/>
            <p:cNvSpPr>
              <a:spLocks noChangeArrowheads="1"/>
            </p:cNvSpPr>
            <p:nvPr/>
          </p:nvSpPr>
          <p:spPr bwMode="auto">
            <a:xfrm>
              <a:off x="739" y="2145"/>
              <a:ext cx="18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</a:rPr>
                <a:t>sin</a:t>
              </a:r>
              <a:endParaRPr lang="en-US" altLang="zh-CN"/>
            </a:p>
          </p:txBody>
        </p:sp>
        <p:sp>
          <p:nvSpPr>
            <p:cNvPr id="53490" name="Rectangle 242"/>
            <p:cNvSpPr>
              <a:spLocks noChangeArrowheads="1"/>
            </p:cNvSpPr>
            <p:nvPr/>
          </p:nvSpPr>
          <p:spPr bwMode="auto">
            <a:xfrm>
              <a:off x="1445" y="2240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3491" name="Rectangle 243"/>
            <p:cNvSpPr>
              <a:spLocks noChangeArrowheads="1"/>
            </p:cNvSpPr>
            <p:nvPr/>
          </p:nvSpPr>
          <p:spPr bwMode="auto">
            <a:xfrm>
              <a:off x="1124" y="2132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53492" name="Rectangle 244"/>
            <p:cNvSpPr>
              <a:spLocks noChangeArrowheads="1"/>
            </p:cNvSpPr>
            <p:nvPr/>
          </p:nvSpPr>
          <p:spPr bwMode="auto">
            <a:xfrm>
              <a:off x="1869" y="2127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</a:t>
              </a:r>
              <a:endParaRPr lang="en-US" altLang="zh-CN"/>
            </a:p>
          </p:txBody>
        </p:sp>
        <p:sp>
          <p:nvSpPr>
            <p:cNvPr id="53493" name="Rectangle 245"/>
            <p:cNvSpPr>
              <a:spLocks noChangeArrowheads="1"/>
            </p:cNvSpPr>
            <p:nvPr/>
          </p:nvSpPr>
          <p:spPr bwMode="auto">
            <a:xfrm>
              <a:off x="1224" y="2127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</a:t>
              </a:r>
              <a:endParaRPr lang="en-US" altLang="zh-CN"/>
            </a:p>
          </p:txBody>
        </p:sp>
        <p:sp>
          <p:nvSpPr>
            <p:cNvPr id="53494" name="Rectangle 246"/>
            <p:cNvSpPr>
              <a:spLocks noChangeArrowheads="1"/>
            </p:cNvSpPr>
            <p:nvPr/>
          </p:nvSpPr>
          <p:spPr bwMode="auto">
            <a:xfrm>
              <a:off x="1647" y="2061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 i="1">
                  <a:solidFill>
                    <a:srgbClr val="000000"/>
                  </a:solidFill>
                  <a:latin typeface="Symbol" charset="0"/>
                </a:rPr>
                <a:t>p</a:t>
              </a:r>
              <a:endParaRPr lang="en-US" altLang="zh-CN"/>
            </a:p>
          </p:txBody>
        </p:sp>
        <p:sp>
          <p:nvSpPr>
            <p:cNvPr id="53495" name="Rectangle 247"/>
            <p:cNvSpPr>
              <a:spLocks noChangeArrowheads="1"/>
            </p:cNvSpPr>
            <p:nvPr/>
          </p:nvSpPr>
          <p:spPr bwMode="auto">
            <a:xfrm>
              <a:off x="1360" y="2145"/>
              <a:ext cx="9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 i="1">
                  <a:solidFill>
                    <a:srgbClr val="000000"/>
                  </a:solidFill>
                </a:rPr>
                <a:t>L</a:t>
              </a:r>
              <a:endParaRPr lang="en-US" altLang="zh-CN"/>
            </a:p>
          </p:txBody>
        </p:sp>
        <p:sp>
          <p:nvSpPr>
            <p:cNvPr id="53496" name="Text Box 248"/>
            <p:cNvSpPr txBox="1">
              <a:spLocks noChangeArrowheads="1"/>
            </p:cNvSpPr>
            <p:nvPr/>
          </p:nvSpPr>
          <p:spPr bwMode="auto">
            <a:xfrm>
              <a:off x="1968" y="2112"/>
              <a:ext cx="67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FF3300"/>
                  </a:solidFill>
                </a:rPr>
                <a:t>0.76008</a:t>
              </a:r>
            </a:p>
          </p:txBody>
        </p:sp>
      </p:grpSp>
      <p:sp>
        <p:nvSpPr>
          <p:cNvPr id="53499" name="Text Box 251"/>
          <p:cNvSpPr txBox="1">
            <a:spLocks noChangeArrowheads="1"/>
          </p:cNvSpPr>
          <p:nvPr/>
        </p:nvSpPr>
        <p:spPr bwMode="auto">
          <a:xfrm>
            <a:off x="1043608" y="5877272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2"/>
                </a:solidFill>
              </a:rPr>
              <a:t>外推</a:t>
            </a:r>
            <a:r>
              <a:rPr lang="en-US" altLang="zh-CN" sz="2400" b="1" dirty="0"/>
              <a:t> </a:t>
            </a:r>
            <a:r>
              <a:rPr lang="en-US" altLang="zh-CN" sz="2000" b="1" dirty="0">
                <a:solidFill>
                  <a:srgbClr val="008000"/>
                </a:solidFill>
                <a:latin typeface="Arial" charset="0"/>
              </a:rPr>
              <a:t>/* extrapolation */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的实际误差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Symbol" charset="0"/>
                <a:sym typeface="Symbol" charset="0"/>
              </a:rPr>
              <a:t> 0.01001</a:t>
            </a:r>
          </a:p>
        </p:txBody>
      </p:sp>
      <p:grpSp>
        <p:nvGrpSpPr>
          <p:cNvPr id="53504" name="Group 256"/>
          <p:cNvGrpSpPr>
            <a:grpSpLocks/>
          </p:cNvGrpSpPr>
          <p:nvPr/>
        </p:nvGrpSpPr>
        <p:grpSpPr bwMode="auto">
          <a:xfrm>
            <a:off x="899592" y="2492896"/>
            <a:ext cx="2447925" cy="560388"/>
            <a:chOff x="624" y="3570"/>
            <a:chExt cx="1542" cy="353"/>
          </a:xfrm>
        </p:grpSpPr>
        <p:graphicFrame>
          <p:nvGraphicFramePr>
            <p:cNvPr id="53502" name="Object 254"/>
            <p:cNvGraphicFramePr>
              <a:graphicFrameLocks noChangeAspect="1"/>
            </p:cNvGraphicFramePr>
            <p:nvPr/>
          </p:nvGraphicFramePr>
          <p:xfrm>
            <a:off x="1194" y="3570"/>
            <a:ext cx="972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015920" imgH="355320" progId="Equation.3">
                    <p:embed/>
                  </p:oleObj>
                </mc:Choice>
                <mc:Fallback>
                  <p:oleObj name="Equation" r:id="rId26" imgW="1015920" imgH="355320" progId="Equation.3">
                    <p:embed/>
                    <p:pic>
                      <p:nvPicPr>
                        <p:cNvPr id="53502" name="Object 2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4" y="3570"/>
                          <a:ext cx="972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503" name="Text Box 255"/>
            <p:cNvSpPr txBox="1">
              <a:spLocks noChangeArrowheads="1"/>
            </p:cNvSpPr>
            <p:nvPr/>
          </p:nvSpPr>
          <p:spPr bwMode="auto">
            <a:xfrm>
              <a:off x="624" y="3574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chemeClr val="accent2"/>
                  </a:solidFill>
                  <a:sym typeface="Wingdings" charset="0"/>
                </a:rPr>
                <a:t></a:t>
              </a:r>
              <a:r>
                <a:rPr lang="zh-CN" altLang="en-US" sz="2400" b="1"/>
                <a:t>利用</a:t>
              </a:r>
              <a:endParaRPr lang="en-US" altLang="zh-CN" sz="2400" b="1"/>
            </a:p>
          </p:txBody>
        </p:sp>
      </p:grpSp>
      <p:sp>
        <p:nvSpPr>
          <p:cNvPr id="53519" name="Text Box 271"/>
          <p:cNvSpPr txBox="1">
            <a:spLocks noChangeArrowheads="1"/>
          </p:cNvSpPr>
          <p:nvPr/>
        </p:nvSpPr>
        <p:spPr bwMode="auto">
          <a:xfrm>
            <a:off x="3962400" y="5257800"/>
            <a:ext cx="2332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/>
              <a:t>sin 50</a:t>
            </a:r>
            <a:r>
              <a:rPr lang="en-US" altLang="zh-CN" sz="2000" b="1" dirty="0">
                <a:sym typeface="Symbol" charset="0"/>
              </a:rPr>
              <a:t></a:t>
            </a:r>
            <a:r>
              <a:rPr lang="en-US" altLang="zh-CN" sz="1900" b="1" dirty="0">
                <a:solidFill>
                  <a:srgbClr val="000000"/>
                </a:solidFill>
                <a:latin typeface="Symbol" charset="0"/>
                <a:sym typeface="Symbol" charset="0"/>
              </a:rPr>
              <a:t> </a:t>
            </a:r>
            <a:r>
              <a:rPr lang="en-US" altLang="zh-CN" sz="2000" b="1" dirty="0">
                <a:solidFill>
                  <a:srgbClr val="FF3300"/>
                </a:solidFill>
              </a:rPr>
              <a:t> 0.77614</a:t>
            </a:r>
            <a:r>
              <a:rPr lang="en-US" altLang="zh-CN" sz="2000" b="1" dirty="0"/>
              <a:t>, </a:t>
            </a:r>
          </a:p>
        </p:txBody>
      </p:sp>
      <p:sp>
        <p:nvSpPr>
          <p:cNvPr id="53520" name="AutoShape 272"/>
          <p:cNvSpPr>
            <a:spLocks noChangeArrowheads="1"/>
          </p:cNvSpPr>
          <p:nvPr/>
        </p:nvSpPr>
        <p:spPr bwMode="auto">
          <a:xfrm>
            <a:off x="3581400" y="53340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521" name="Object 273"/>
          <p:cNvGraphicFramePr>
            <a:graphicFrameLocks noChangeAspect="1"/>
          </p:cNvGraphicFramePr>
          <p:nvPr/>
        </p:nvGraphicFramePr>
        <p:xfrm>
          <a:off x="1835696" y="4087986"/>
          <a:ext cx="3092722" cy="637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841400" imgH="380880" progId="Equation.3">
                  <p:embed/>
                </p:oleObj>
              </mc:Choice>
              <mc:Fallback>
                <p:oleObj name="Equation" r:id="rId28" imgW="1841400" imgH="380880" progId="Equation.3">
                  <p:embed/>
                  <p:pic>
                    <p:nvPicPr>
                      <p:cNvPr id="53521" name="Object 2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087986"/>
                        <a:ext cx="3092722" cy="6371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523" name="Text Box 275"/>
          <p:cNvSpPr txBox="1">
            <a:spLocks noChangeArrowheads="1"/>
          </p:cNvSpPr>
          <p:nvPr/>
        </p:nvSpPr>
        <p:spPr bwMode="auto">
          <a:xfrm>
            <a:off x="1043608" y="4725144"/>
            <a:ext cx="617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2"/>
                </a:solidFill>
              </a:rPr>
              <a:t>内插</a:t>
            </a:r>
            <a:r>
              <a:rPr lang="en-US" altLang="zh-CN" sz="2400" b="1" dirty="0"/>
              <a:t> </a:t>
            </a:r>
            <a:r>
              <a:rPr lang="en-US" altLang="zh-CN" sz="2000" b="1" dirty="0">
                <a:solidFill>
                  <a:srgbClr val="008000"/>
                </a:solidFill>
                <a:latin typeface="Arial" charset="0"/>
              </a:rPr>
              <a:t>/* interpolation */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的实际误差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Symbol" charset="0"/>
                <a:sym typeface="Symbol" charset="0"/>
              </a:rPr>
              <a:t> 0.00596</a:t>
            </a:r>
          </a:p>
        </p:txBody>
      </p:sp>
      <p:sp>
        <p:nvSpPr>
          <p:cNvPr id="53524" name="AutoShape 276"/>
          <p:cNvSpPr>
            <a:spLocks noChangeArrowheads="1"/>
          </p:cNvSpPr>
          <p:nvPr/>
        </p:nvSpPr>
        <p:spPr bwMode="auto">
          <a:xfrm>
            <a:off x="755576" y="1824608"/>
            <a:ext cx="5334000" cy="1676400"/>
          </a:xfrm>
          <a:prstGeom prst="wedgeEllipseCallout">
            <a:avLst>
              <a:gd name="adj1" fmla="val 49671"/>
              <a:gd name="adj2" fmla="val 125282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 b="1" dirty="0"/>
              <a:t>内插通常优于外推。选择要计算的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所在的区间的端点，插值效果较好。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300394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34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4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34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34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4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5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46" grpId="0" autoUpdateAnimBg="0"/>
      <p:bldP spid="53458" grpId="0" animBg="1" autoUpdateAnimBg="0"/>
      <p:bldP spid="53459" grpId="0" autoUpdateAnimBg="0"/>
      <p:bldP spid="53475" grpId="0" animBg="1"/>
      <p:bldP spid="53477" grpId="0"/>
      <p:bldP spid="53499" grpId="0"/>
      <p:bldP spid="53519" grpId="0"/>
      <p:bldP spid="53520" grpId="0" animBg="1"/>
      <p:bldP spid="53523" grpId="0"/>
      <p:bldP spid="535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AutoShape 3" descr="再生纸"/>
          <p:cNvSpPr>
            <a:spLocks noChangeArrowheads="1"/>
          </p:cNvSpPr>
          <p:nvPr/>
        </p:nvSpPr>
        <p:spPr bwMode="auto">
          <a:xfrm>
            <a:off x="381000" y="457200"/>
            <a:ext cx="838200" cy="457200"/>
          </a:xfrm>
          <a:prstGeom prst="bevel">
            <a:avLst>
              <a:gd name="adj" fmla="val 9722"/>
            </a:avLst>
          </a:prstGeom>
          <a:blipFill dpi="0" rotWithShape="0">
            <a:blip r:embed="rId7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 b="1" i="1"/>
              <a:t>n</a:t>
            </a:r>
            <a:r>
              <a:rPr lang="en-US" altLang="zh-CN" sz="2000" b="1"/>
              <a:t> = 2</a:t>
            </a:r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1371600" y="381000"/>
          <a:ext cx="73914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68600" imgH="431640" progId="Equation.3">
                  <p:embed/>
                </p:oleObj>
              </mc:Choice>
              <mc:Fallback>
                <p:oleObj name="Equation" r:id="rId8" imgW="4368600" imgH="431640" progId="Equation.3">
                  <p:embed/>
                  <p:pic>
                    <p:nvPicPr>
                      <p:cNvPr id="542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81000"/>
                        <a:ext cx="73914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281" name="Group 9"/>
          <p:cNvGrpSpPr>
            <a:grpSpLocks/>
          </p:cNvGrpSpPr>
          <p:nvPr/>
        </p:nvGrpSpPr>
        <p:grpSpPr bwMode="auto">
          <a:xfrm>
            <a:off x="1371600" y="1295400"/>
            <a:ext cx="3017838" cy="584200"/>
            <a:chOff x="739" y="2061"/>
            <a:chExt cx="1901" cy="368"/>
          </a:xfrm>
        </p:grpSpPr>
        <p:sp>
          <p:nvSpPr>
            <p:cNvPr id="54282" name="Line 10"/>
            <p:cNvSpPr>
              <a:spLocks noChangeShapeType="1"/>
            </p:cNvSpPr>
            <p:nvPr/>
          </p:nvSpPr>
          <p:spPr bwMode="auto">
            <a:xfrm>
              <a:off x="1568" y="2245"/>
              <a:ext cx="20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3" name="Rectangle 11"/>
            <p:cNvSpPr>
              <a:spLocks noChangeArrowheads="1"/>
            </p:cNvSpPr>
            <p:nvPr/>
          </p:nvSpPr>
          <p:spPr bwMode="auto">
            <a:xfrm>
              <a:off x="1781" y="2145"/>
              <a:ext cx="5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4284" name="Rectangle 12"/>
            <p:cNvSpPr>
              <a:spLocks noChangeArrowheads="1"/>
            </p:cNvSpPr>
            <p:nvPr/>
          </p:nvSpPr>
          <p:spPr bwMode="auto">
            <a:xfrm>
              <a:off x="1586" y="2247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</a:rPr>
                <a:t>18</a:t>
              </a:r>
              <a:endParaRPr lang="en-US" altLang="zh-CN"/>
            </a:p>
          </p:txBody>
        </p:sp>
        <p:sp>
          <p:nvSpPr>
            <p:cNvPr id="54285" name="Rectangle 13"/>
            <p:cNvSpPr>
              <a:spLocks noChangeArrowheads="1"/>
            </p:cNvSpPr>
            <p:nvPr/>
          </p:nvSpPr>
          <p:spPr bwMode="auto">
            <a:xfrm>
              <a:off x="1576" y="2079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</a:rPr>
                <a:t>5</a:t>
              </a:r>
              <a:endParaRPr lang="en-US" altLang="zh-CN"/>
            </a:p>
          </p:txBody>
        </p:sp>
        <p:sp>
          <p:nvSpPr>
            <p:cNvPr id="54286" name="Rectangle 14"/>
            <p:cNvSpPr>
              <a:spLocks noChangeArrowheads="1"/>
            </p:cNvSpPr>
            <p:nvPr/>
          </p:nvSpPr>
          <p:spPr bwMode="auto">
            <a:xfrm>
              <a:off x="1505" y="2145"/>
              <a:ext cx="5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4287" name="Rectangle 15"/>
            <p:cNvSpPr>
              <a:spLocks noChangeArrowheads="1"/>
            </p:cNvSpPr>
            <p:nvPr/>
          </p:nvSpPr>
          <p:spPr bwMode="auto">
            <a:xfrm>
              <a:off x="958" y="2145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</a:rPr>
                <a:t>50</a:t>
              </a:r>
              <a:endParaRPr lang="en-US" altLang="zh-CN"/>
            </a:p>
          </p:txBody>
        </p:sp>
        <p:sp>
          <p:nvSpPr>
            <p:cNvPr id="54288" name="Rectangle 16"/>
            <p:cNvSpPr>
              <a:spLocks noChangeArrowheads="1"/>
            </p:cNvSpPr>
            <p:nvPr/>
          </p:nvSpPr>
          <p:spPr bwMode="auto">
            <a:xfrm>
              <a:off x="739" y="2145"/>
              <a:ext cx="18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</a:rPr>
                <a:t>sin</a:t>
              </a:r>
              <a:endParaRPr lang="en-US" altLang="zh-CN"/>
            </a:p>
          </p:txBody>
        </p:sp>
        <p:sp>
          <p:nvSpPr>
            <p:cNvPr id="54289" name="Rectangle 17"/>
            <p:cNvSpPr>
              <a:spLocks noChangeArrowheads="1"/>
            </p:cNvSpPr>
            <p:nvPr/>
          </p:nvSpPr>
          <p:spPr bwMode="auto">
            <a:xfrm>
              <a:off x="1445" y="2240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4290" name="Rectangle 18"/>
            <p:cNvSpPr>
              <a:spLocks noChangeArrowheads="1"/>
            </p:cNvSpPr>
            <p:nvPr/>
          </p:nvSpPr>
          <p:spPr bwMode="auto">
            <a:xfrm>
              <a:off x="1124" y="2132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54291" name="Rectangle 19"/>
            <p:cNvSpPr>
              <a:spLocks noChangeArrowheads="1"/>
            </p:cNvSpPr>
            <p:nvPr/>
          </p:nvSpPr>
          <p:spPr bwMode="auto">
            <a:xfrm>
              <a:off x="1869" y="2127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</a:t>
              </a:r>
              <a:endParaRPr lang="en-US" altLang="zh-CN"/>
            </a:p>
          </p:txBody>
        </p:sp>
        <p:sp>
          <p:nvSpPr>
            <p:cNvPr id="54292" name="Rectangle 20"/>
            <p:cNvSpPr>
              <a:spLocks noChangeArrowheads="1"/>
            </p:cNvSpPr>
            <p:nvPr/>
          </p:nvSpPr>
          <p:spPr bwMode="auto">
            <a:xfrm>
              <a:off x="1224" y="2127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</a:t>
              </a:r>
              <a:endParaRPr lang="en-US" altLang="zh-CN"/>
            </a:p>
          </p:txBody>
        </p:sp>
        <p:sp>
          <p:nvSpPr>
            <p:cNvPr id="54293" name="Rectangle 21"/>
            <p:cNvSpPr>
              <a:spLocks noChangeArrowheads="1"/>
            </p:cNvSpPr>
            <p:nvPr/>
          </p:nvSpPr>
          <p:spPr bwMode="auto">
            <a:xfrm>
              <a:off x="1647" y="2061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 i="1">
                  <a:solidFill>
                    <a:srgbClr val="000000"/>
                  </a:solidFill>
                  <a:latin typeface="Symbol" charset="0"/>
                </a:rPr>
                <a:t>p</a:t>
              </a:r>
              <a:endParaRPr lang="en-US" altLang="zh-CN"/>
            </a:p>
          </p:txBody>
        </p:sp>
        <p:sp>
          <p:nvSpPr>
            <p:cNvPr id="54294" name="Rectangle 22"/>
            <p:cNvSpPr>
              <a:spLocks noChangeArrowheads="1"/>
            </p:cNvSpPr>
            <p:nvPr/>
          </p:nvSpPr>
          <p:spPr bwMode="auto">
            <a:xfrm>
              <a:off x="1360" y="2145"/>
              <a:ext cx="9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b="1" i="1">
                  <a:solidFill>
                    <a:srgbClr val="000000"/>
                  </a:solidFill>
                </a:rPr>
                <a:t>L</a:t>
              </a:r>
              <a:endParaRPr lang="en-US" altLang="zh-CN"/>
            </a:p>
          </p:txBody>
        </p:sp>
        <p:sp>
          <p:nvSpPr>
            <p:cNvPr id="54295" name="Text Box 23"/>
            <p:cNvSpPr txBox="1">
              <a:spLocks noChangeArrowheads="1"/>
            </p:cNvSpPr>
            <p:nvPr/>
          </p:nvSpPr>
          <p:spPr bwMode="auto">
            <a:xfrm>
              <a:off x="1968" y="2112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</a:rPr>
                <a:t>0.76543</a:t>
              </a:r>
            </a:p>
          </p:txBody>
        </p:sp>
      </p:grpSp>
      <p:graphicFrame>
        <p:nvGraphicFramePr>
          <p:cNvPr id="54296" name="Object 24"/>
          <p:cNvGraphicFramePr>
            <a:graphicFrameLocks noChangeAspect="1"/>
          </p:cNvGraphicFramePr>
          <p:nvPr/>
        </p:nvGraphicFramePr>
        <p:xfrm>
          <a:off x="1295400" y="1981200"/>
          <a:ext cx="61722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71720" imgH="419040" progId="Equation.3">
                  <p:embed/>
                </p:oleObj>
              </mc:Choice>
              <mc:Fallback>
                <p:oleObj name="Equation" r:id="rId10" imgW="3771720" imgH="419040" progId="Equation.3">
                  <p:embed/>
                  <p:pic>
                    <p:nvPicPr>
                      <p:cNvPr id="5429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81200"/>
                        <a:ext cx="61722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299" name="Group 27"/>
          <p:cNvGrpSpPr>
            <a:grpSpLocks/>
          </p:cNvGrpSpPr>
          <p:nvPr/>
        </p:nvGrpSpPr>
        <p:grpSpPr bwMode="auto">
          <a:xfrm>
            <a:off x="1371600" y="2743200"/>
            <a:ext cx="3986213" cy="666750"/>
            <a:chOff x="864" y="1680"/>
            <a:chExt cx="2511" cy="420"/>
          </a:xfrm>
        </p:grpSpPr>
        <p:graphicFrame>
          <p:nvGraphicFramePr>
            <p:cNvPr id="54297" name="Object 25"/>
            <p:cNvGraphicFramePr>
              <a:graphicFrameLocks noChangeAspect="1"/>
            </p:cNvGraphicFramePr>
            <p:nvPr/>
          </p:nvGraphicFramePr>
          <p:xfrm>
            <a:off x="1248" y="1680"/>
            <a:ext cx="2127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854000" imgH="380880" progId="Equation.3">
                    <p:embed/>
                  </p:oleObj>
                </mc:Choice>
                <mc:Fallback>
                  <p:oleObj name="Equation" r:id="rId12" imgW="1854000" imgH="380880" progId="Equation.3">
                    <p:embed/>
                    <p:pic>
                      <p:nvPicPr>
                        <p:cNvPr id="54297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680"/>
                          <a:ext cx="2127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8" name="AutoShape 26"/>
            <p:cNvSpPr>
              <a:spLocks noChangeArrowheads="1"/>
            </p:cNvSpPr>
            <p:nvPr/>
          </p:nvSpPr>
          <p:spPr bwMode="auto">
            <a:xfrm>
              <a:off x="864" y="1824"/>
              <a:ext cx="240" cy="96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4300" name="Text Box 28"/>
          <p:cNvSpPr txBox="1">
            <a:spLocks noChangeArrowheads="1"/>
          </p:cNvSpPr>
          <p:nvPr/>
        </p:nvSpPr>
        <p:spPr bwMode="auto">
          <a:xfrm>
            <a:off x="5334000" y="2514600"/>
            <a:ext cx="35814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ctr"/>
            <a:r>
              <a:rPr lang="en-US" altLang="zh-CN" sz="6600">
                <a:solidFill>
                  <a:schemeClr val="accent2"/>
                </a:solidFill>
                <a:sym typeface="Webdings" charset="0"/>
              </a:rPr>
              <a:t></a:t>
            </a:r>
            <a:r>
              <a:rPr lang="en-US" altLang="zh-CN" sz="2400" b="1">
                <a:solidFill>
                  <a:schemeClr val="accent2"/>
                </a:solidFill>
              </a:rPr>
              <a:t>sin 50</a:t>
            </a:r>
            <a:r>
              <a:rPr lang="en-US" altLang="zh-CN" sz="2400" b="1">
                <a:solidFill>
                  <a:schemeClr val="accent2"/>
                </a:solidFill>
                <a:sym typeface="Symbol" charset="0"/>
              </a:rPr>
              <a:t> = 0.7660444…</a:t>
            </a:r>
          </a:p>
        </p:txBody>
      </p:sp>
      <p:sp>
        <p:nvSpPr>
          <p:cNvPr id="54301" name="Text Box 29"/>
          <p:cNvSpPr txBox="1">
            <a:spLocks noChangeArrowheads="1"/>
          </p:cNvSpPr>
          <p:nvPr/>
        </p:nvSpPr>
        <p:spPr bwMode="auto">
          <a:xfrm>
            <a:off x="1295400" y="3581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2</a:t>
            </a:r>
            <a:r>
              <a:rPr lang="zh-CN" altLang="en-US" sz="2400" b="1"/>
              <a:t>次插值的实际误差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000000"/>
                </a:solidFill>
                <a:latin typeface="Symbol" charset="0"/>
                <a:sym typeface="Symbol" charset="0"/>
              </a:rPr>
              <a:t> 0.00061</a:t>
            </a:r>
          </a:p>
        </p:txBody>
      </p:sp>
      <p:sp>
        <p:nvSpPr>
          <p:cNvPr id="54302" name="AutoShape 30"/>
          <p:cNvSpPr>
            <a:spLocks noChangeArrowheads="1"/>
          </p:cNvSpPr>
          <p:nvPr/>
        </p:nvSpPr>
        <p:spPr bwMode="auto">
          <a:xfrm>
            <a:off x="5029200" y="4114800"/>
            <a:ext cx="3810000" cy="1066800"/>
          </a:xfrm>
          <a:prstGeom prst="wedgeEllipseCallout">
            <a:avLst>
              <a:gd name="adj1" fmla="val -57750"/>
              <a:gd name="adj2" fmla="val -64583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 b="1"/>
              <a:t>高次插值通常优于低次插值</a:t>
            </a:r>
            <a:endParaRPr lang="en-US" altLang="zh-CN" sz="2400" b="1"/>
          </a:p>
        </p:txBody>
      </p:sp>
      <p:pic>
        <p:nvPicPr>
          <p:cNvPr id="54303" name="Picture 31" descr="MONEY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033963"/>
            <a:ext cx="1600200" cy="144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304" name="AutoShape 32"/>
          <p:cNvSpPr>
            <a:spLocks noChangeArrowheads="1"/>
          </p:cNvSpPr>
          <p:nvPr/>
        </p:nvSpPr>
        <p:spPr bwMode="auto">
          <a:xfrm>
            <a:off x="3124200" y="5257800"/>
            <a:ext cx="4267200" cy="1371600"/>
          </a:xfrm>
          <a:prstGeom prst="cloudCallout">
            <a:avLst>
              <a:gd name="adj1" fmla="val -74032"/>
              <a:gd name="adj2" fmla="val -25231"/>
            </a:avLst>
          </a:prstGeom>
          <a:gradFill rotWithShape="0">
            <a:gsLst>
              <a:gs pos="0">
                <a:srgbClr val="CCFFFF"/>
              </a:gs>
              <a:gs pos="100000">
                <a:schemeClr val="bg1"/>
              </a:gs>
            </a:gsLst>
            <a:lin ang="2700000" scaled="1"/>
          </a:gra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 b="1" dirty="0"/>
              <a:t>但绝对不是次数越高就越好，嘿嘿</a:t>
            </a:r>
            <a:r>
              <a:rPr lang="en-US" altLang="zh-CN" sz="2400" b="1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185705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2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3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3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43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4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43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animBg="1" autoUpdateAnimBg="0"/>
      <p:bldP spid="54300" grpId="0" autoUpdateAnimBg="0"/>
      <p:bldP spid="54301" grpId="0" autoUpdateAnimBg="0"/>
      <p:bldP spid="54302" grpId="0" animBg="1" autoUpdateAnimBg="0"/>
      <p:bldP spid="54304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395288" y="587846"/>
            <a:ext cx="89011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marL="258763" indent="-258763" defTabSz="814388">
              <a:lnSpc>
                <a:spcPct val="70000"/>
              </a:lnSpc>
              <a:spcBef>
                <a:spcPct val="20000"/>
              </a:spcBef>
            </a:pPr>
            <a:r>
              <a:rPr lang="zh-CN" altLang="en-US" sz="2800">
                <a:latin typeface="楷体_GB2312" charset="0"/>
                <a:ea typeface="楷体_GB2312" charset="0"/>
                <a:cs typeface="楷体_GB2312" charset="0"/>
              </a:rPr>
              <a:t>例</a:t>
            </a:r>
            <a:r>
              <a:rPr lang="en-US" altLang="zh-CN" sz="2800">
                <a:latin typeface="楷体_GB2312" charset="0"/>
                <a:ea typeface="楷体_GB2312" charset="0"/>
                <a:cs typeface="楷体_GB2312" charset="0"/>
              </a:rPr>
              <a:t> </a:t>
            </a:r>
            <a:r>
              <a:rPr lang="zh-CN" altLang="en-US" sz="2800">
                <a:latin typeface="楷体_GB2312" charset="0"/>
                <a:ea typeface="楷体_GB2312" charset="0"/>
                <a:cs typeface="楷体_GB2312" charset="0"/>
              </a:rPr>
              <a:t>已知</a:t>
            </a:r>
            <a:r>
              <a:rPr lang="en-US" altLang="zh-CN" sz="2800">
                <a:latin typeface="楷体_GB2312" charset="0"/>
                <a:ea typeface="楷体_GB2312" charset="0"/>
                <a:cs typeface="楷体_GB2312" charset="0"/>
              </a:rPr>
              <a:t>x=1,4,9</a:t>
            </a:r>
            <a:r>
              <a:rPr lang="zh-CN" altLang="en-US" sz="2800">
                <a:latin typeface="楷体_GB2312" charset="0"/>
                <a:ea typeface="楷体_GB2312" charset="0"/>
                <a:cs typeface="楷体_GB2312" charset="0"/>
              </a:rPr>
              <a:t>的平方根值，用拉格朗日插值公式求</a:t>
            </a:r>
            <a:r>
              <a:rPr lang="en-US" altLang="zh-CN" sz="2800">
                <a:latin typeface="楷体_GB2312" charset="0"/>
                <a:ea typeface="楷体_GB2312" charset="0"/>
                <a:cs typeface="楷体_GB2312" charset="0"/>
              </a:rPr>
              <a:t>7</a:t>
            </a:r>
            <a:r>
              <a:rPr lang="en-US" altLang="zh-CN" sz="2800" baseline="30000">
                <a:latin typeface="楷体_GB2312" charset="0"/>
                <a:ea typeface="楷体_GB2312" charset="0"/>
                <a:cs typeface="楷体_GB2312" charset="0"/>
              </a:rPr>
              <a:t>1/2</a:t>
            </a:r>
          </a:p>
          <a:p>
            <a:pPr marL="258763" indent="-258763" defTabSz="814388">
              <a:lnSpc>
                <a:spcPct val="70000"/>
              </a:lnSpc>
              <a:spcBef>
                <a:spcPct val="20000"/>
              </a:spcBef>
            </a:pPr>
            <a:endParaRPr lang="en-US" altLang="zh-CN" sz="2800">
              <a:latin typeface="楷体_GB2312" charset="0"/>
              <a:ea typeface="楷体_GB2312" charset="0"/>
              <a:cs typeface="楷体_GB2312" charset="0"/>
            </a:endParaRPr>
          </a:p>
          <a:p>
            <a:pPr marL="258763" indent="-258763" defTabSz="814388">
              <a:lnSpc>
                <a:spcPct val="70000"/>
              </a:lnSpc>
              <a:spcBef>
                <a:spcPct val="20000"/>
              </a:spcBef>
            </a:pPr>
            <a:r>
              <a:rPr lang="zh-CN" altLang="en-US" sz="2800">
                <a:latin typeface="楷体_GB2312" charset="0"/>
                <a:ea typeface="楷体_GB2312" charset="0"/>
                <a:cs typeface="楷体_GB2312" charset="0"/>
              </a:rPr>
              <a:t>解：</a:t>
            </a:r>
            <a:endParaRPr lang="en-US" altLang="zh-CN" sz="2800">
              <a:latin typeface="楷体_GB2312" charset="0"/>
              <a:ea typeface="楷体_GB2312" charset="0"/>
              <a:cs typeface="楷体_GB2312" charset="0"/>
            </a:endParaRPr>
          </a:p>
        </p:txBody>
      </p:sp>
      <p:grpSp>
        <p:nvGrpSpPr>
          <p:cNvPr id="29732" name="Group 36"/>
          <p:cNvGrpSpPr>
            <a:grpSpLocks/>
          </p:cNvGrpSpPr>
          <p:nvPr/>
        </p:nvGrpSpPr>
        <p:grpSpPr bwMode="auto">
          <a:xfrm>
            <a:off x="762000" y="3273896"/>
            <a:ext cx="6710363" cy="533400"/>
            <a:chOff x="480" y="1836"/>
            <a:chExt cx="4227" cy="336"/>
          </a:xfrm>
        </p:grpSpPr>
        <p:sp>
          <p:nvSpPr>
            <p:cNvPr id="29714" name="Rectangle 18"/>
            <p:cNvSpPr>
              <a:spLocks noChangeArrowheads="1"/>
            </p:cNvSpPr>
            <p:nvPr/>
          </p:nvSpPr>
          <p:spPr bwMode="auto">
            <a:xfrm>
              <a:off x="480" y="1836"/>
              <a:ext cx="1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 i="1"/>
                <a:t>x</a:t>
              </a:r>
              <a:r>
                <a:rPr kumimoji="0" lang="en-US" altLang="zh-CN" sz="2800" b="1" baseline="-25000"/>
                <a:t>0</a:t>
              </a:r>
              <a:r>
                <a:rPr kumimoji="0" lang="en-US" altLang="zh-CN" sz="2800" b="1" i="1"/>
                <a:t>=1, x</a:t>
              </a:r>
              <a:r>
                <a:rPr kumimoji="0" lang="en-US" altLang="zh-CN" sz="2800" b="1" baseline="-25000"/>
                <a:t>1</a:t>
              </a:r>
              <a:r>
                <a:rPr kumimoji="0" lang="en-US" altLang="zh-CN" sz="2800" b="1" i="1"/>
                <a:t>=4, x</a:t>
              </a:r>
              <a:r>
                <a:rPr kumimoji="0" lang="en-US" altLang="zh-CN" sz="2800" b="1" baseline="-25000"/>
                <a:t>2</a:t>
              </a:r>
              <a:r>
                <a:rPr kumimoji="0" lang="en-US" altLang="zh-CN" sz="2800" b="1" i="1"/>
                <a:t>=9</a:t>
              </a:r>
            </a:p>
          </p:txBody>
        </p:sp>
        <p:sp>
          <p:nvSpPr>
            <p:cNvPr id="29715" name="Rectangle 19"/>
            <p:cNvSpPr>
              <a:spLocks noChangeArrowheads="1"/>
            </p:cNvSpPr>
            <p:nvPr/>
          </p:nvSpPr>
          <p:spPr bwMode="auto">
            <a:xfrm>
              <a:off x="2352" y="1845"/>
              <a:ext cx="23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 i="1"/>
                <a:t>f</a:t>
              </a:r>
              <a:r>
                <a:rPr kumimoji="0" lang="en-US" altLang="zh-CN" sz="2800" b="1"/>
                <a:t>(</a:t>
              </a:r>
              <a:r>
                <a:rPr kumimoji="0" lang="en-US" altLang="zh-CN" sz="2800" b="1" i="1"/>
                <a:t>x</a:t>
              </a:r>
              <a:r>
                <a:rPr kumimoji="0" lang="en-US" altLang="zh-CN" sz="2800" b="1" baseline="-25000"/>
                <a:t>0</a:t>
              </a:r>
              <a:r>
                <a:rPr kumimoji="0" lang="en-US" altLang="zh-CN" sz="2800" b="1"/>
                <a:t>)</a:t>
              </a:r>
              <a:r>
                <a:rPr kumimoji="0" lang="en-US" altLang="zh-CN" sz="2800" b="1" i="1"/>
                <a:t>=1, f</a:t>
              </a:r>
              <a:r>
                <a:rPr kumimoji="0" lang="en-US" altLang="zh-CN" sz="2800" b="1"/>
                <a:t>(</a:t>
              </a:r>
              <a:r>
                <a:rPr kumimoji="0" lang="en-US" altLang="zh-CN" sz="2800" b="1" i="1"/>
                <a:t>x</a:t>
              </a:r>
              <a:r>
                <a:rPr kumimoji="0" lang="en-US" altLang="zh-CN" sz="2800" b="1" baseline="-25000"/>
                <a:t>1</a:t>
              </a:r>
              <a:r>
                <a:rPr kumimoji="0" lang="en-US" altLang="zh-CN" sz="2800" b="1"/>
                <a:t>)</a:t>
              </a:r>
              <a:r>
                <a:rPr kumimoji="0" lang="en-US" altLang="zh-CN" sz="2800" b="1" i="1"/>
                <a:t>=2, f</a:t>
              </a:r>
              <a:r>
                <a:rPr kumimoji="0" lang="en-US" altLang="zh-CN" sz="2800" b="1"/>
                <a:t>(</a:t>
              </a:r>
              <a:r>
                <a:rPr kumimoji="0" lang="en-US" altLang="zh-CN" sz="2800" b="1" i="1"/>
                <a:t>x</a:t>
              </a:r>
              <a:r>
                <a:rPr kumimoji="0" lang="en-US" altLang="zh-CN" sz="2800" b="1" baseline="-25000"/>
                <a:t>2</a:t>
              </a:r>
              <a:r>
                <a:rPr kumimoji="0" lang="en-US" altLang="zh-CN" sz="2800" b="1"/>
                <a:t>)</a:t>
              </a:r>
              <a:r>
                <a:rPr kumimoji="0" lang="en-US" altLang="zh-CN" sz="2800" b="1" i="1"/>
                <a:t>=3 </a:t>
              </a:r>
            </a:p>
          </p:txBody>
        </p:sp>
      </p:grpSp>
      <p:grpSp>
        <p:nvGrpSpPr>
          <p:cNvPr id="29733" name="Group 37"/>
          <p:cNvGrpSpPr>
            <a:grpSpLocks/>
          </p:cNvGrpSpPr>
          <p:nvPr/>
        </p:nvGrpSpPr>
        <p:grpSpPr bwMode="auto">
          <a:xfrm>
            <a:off x="611188" y="3807296"/>
            <a:ext cx="7948612" cy="2286000"/>
            <a:chOff x="385" y="2172"/>
            <a:chExt cx="5007" cy="1440"/>
          </a:xfrm>
        </p:grpSpPr>
        <p:sp>
          <p:nvSpPr>
            <p:cNvPr id="29713" name="Rectangle 17"/>
            <p:cNvSpPr>
              <a:spLocks noChangeArrowheads="1"/>
            </p:cNvSpPr>
            <p:nvPr/>
          </p:nvSpPr>
          <p:spPr bwMode="auto">
            <a:xfrm>
              <a:off x="385" y="2364"/>
              <a:ext cx="7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/>
                <a:t>L</a:t>
              </a:r>
              <a:r>
                <a:rPr kumimoji="0" lang="en-US" altLang="zh-CN" sz="2800" b="1" baseline="-25000"/>
                <a:t>2</a:t>
              </a:r>
              <a:r>
                <a:rPr kumimoji="0" lang="en-US" altLang="zh-CN" sz="2800" b="1"/>
                <a:t>(</a:t>
              </a:r>
              <a:r>
                <a:rPr kumimoji="0" lang="en-US" altLang="zh-CN" sz="2800" b="1" i="1"/>
                <a:t>7</a:t>
              </a:r>
              <a:r>
                <a:rPr kumimoji="0" lang="en-US" altLang="zh-CN" sz="2800" b="1"/>
                <a:t>)</a:t>
              </a:r>
              <a:r>
                <a:rPr kumimoji="0" lang="en-US" altLang="zh-CN" sz="2800" b="1" i="1"/>
                <a:t> =</a:t>
              </a:r>
            </a:p>
          </p:txBody>
        </p:sp>
        <p:sp>
          <p:nvSpPr>
            <p:cNvPr id="29716" name="Rectangle 20"/>
            <p:cNvSpPr>
              <a:spLocks noChangeArrowheads="1"/>
            </p:cNvSpPr>
            <p:nvPr/>
          </p:nvSpPr>
          <p:spPr bwMode="auto">
            <a:xfrm>
              <a:off x="1447" y="2451"/>
              <a:ext cx="10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/>
                <a:t>(1–4)(1–9)</a:t>
              </a:r>
            </a:p>
          </p:txBody>
        </p:sp>
        <p:sp>
          <p:nvSpPr>
            <p:cNvPr id="29717" name="Rectangle 21"/>
            <p:cNvSpPr>
              <a:spLocks noChangeArrowheads="1"/>
            </p:cNvSpPr>
            <p:nvPr/>
          </p:nvSpPr>
          <p:spPr bwMode="auto">
            <a:xfrm>
              <a:off x="1428" y="2172"/>
              <a:ext cx="10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/>
                <a:t>(7–4)(7–9)</a:t>
              </a:r>
            </a:p>
          </p:txBody>
        </p:sp>
        <p:sp>
          <p:nvSpPr>
            <p:cNvPr id="29718" name="Rectangle 22"/>
            <p:cNvSpPr>
              <a:spLocks noChangeArrowheads="1"/>
            </p:cNvSpPr>
            <p:nvPr/>
          </p:nvSpPr>
          <p:spPr bwMode="auto">
            <a:xfrm>
              <a:off x="2708" y="2316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 i="1"/>
                <a:t>*</a:t>
              </a:r>
              <a:r>
                <a:rPr kumimoji="0" lang="en-US" altLang="zh-CN" sz="2800" b="1"/>
                <a:t> 1</a:t>
              </a:r>
            </a:p>
          </p:txBody>
        </p:sp>
        <p:sp>
          <p:nvSpPr>
            <p:cNvPr id="29719" name="Line 23"/>
            <p:cNvSpPr>
              <a:spLocks noChangeShapeType="1"/>
            </p:cNvSpPr>
            <p:nvPr/>
          </p:nvSpPr>
          <p:spPr bwMode="auto">
            <a:xfrm>
              <a:off x="1286" y="2508"/>
              <a:ext cx="14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0" name="Rectangle 24"/>
            <p:cNvSpPr>
              <a:spLocks noChangeArrowheads="1"/>
            </p:cNvSpPr>
            <p:nvPr/>
          </p:nvSpPr>
          <p:spPr bwMode="auto">
            <a:xfrm>
              <a:off x="3223" y="2316"/>
              <a:ext cx="2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 i="1" dirty="0"/>
                <a:t>+</a:t>
              </a:r>
            </a:p>
          </p:txBody>
        </p:sp>
        <p:sp>
          <p:nvSpPr>
            <p:cNvPr id="29721" name="Rectangle 25"/>
            <p:cNvSpPr>
              <a:spLocks noChangeArrowheads="1"/>
            </p:cNvSpPr>
            <p:nvPr/>
          </p:nvSpPr>
          <p:spPr bwMode="auto">
            <a:xfrm>
              <a:off x="3683" y="2451"/>
              <a:ext cx="10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/>
                <a:t>(4–1)(4–9)</a:t>
              </a:r>
            </a:p>
          </p:txBody>
        </p:sp>
        <p:sp>
          <p:nvSpPr>
            <p:cNvPr id="29722" name="Rectangle 26"/>
            <p:cNvSpPr>
              <a:spLocks noChangeArrowheads="1"/>
            </p:cNvSpPr>
            <p:nvPr/>
          </p:nvSpPr>
          <p:spPr bwMode="auto">
            <a:xfrm>
              <a:off x="3664" y="2172"/>
              <a:ext cx="10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/>
                <a:t>(7–1)(7–9)</a:t>
              </a:r>
            </a:p>
          </p:txBody>
        </p:sp>
        <p:sp>
          <p:nvSpPr>
            <p:cNvPr id="29723" name="Line 27"/>
            <p:cNvSpPr>
              <a:spLocks noChangeShapeType="1"/>
            </p:cNvSpPr>
            <p:nvPr/>
          </p:nvSpPr>
          <p:spPr bwMode="auto">
            <a:xfrm>
              <a:off x="3522" y="2508"/>
              <a:ext cx="14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4" name="Rectangle 28"/>
            <p:cNvSpPr>
              <a:spLocks noChangeArrowheads="1"/>
            </p:cNvSpPr>
            <p:nvPr/>
          </p:nvSpPr>
          <p:spPr bwMode="auto">
            <a:xfrm>
              <a:off x="4996" y="2316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/>
                <a:t>* 2</a:t>
              </a:r>
            </a:p>
          </p:txBody>
        </p:sp>
        <p:sp>
          <p:nvSpPr>
            <p:cNvPr id="29725" name="Rectangle 29"/>
            <p:cNvSpPr>
              <a:spLocks noChangeArrowheads="1"/>
            </p:cNvSpPr>
            <p:nvPr/>
          </p:nvSpPr>
          <p:spPr bwMode="auto">
            <a:xfrm>
              <a:off x="1038" y="2862"/>
              <a:ext cx="2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 i="1"/>
                <a:t>+</a:t>
              </a:r>
            </a:p>
          </p:txBody>
        </p:sp>
        <p:sp>
          <p:nvSpPr>
            <p:cNvPr id="29726" name="Rectangle 30"/>
            <p:cNvSpPr>
              <a:spLocks noChangeArrowheads="1"/>
            </p:cNvSpPr>
            <p:nvPr/>
          </p:nvSpPr>
          <p:spPr bwMode="auto">
            <a:xfrm>
              <a:off x="1498" y="2997"/>
              <a:ext cx="10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/>
                <a:t>(9–1)(9–4)</a:t>
              </a:r>
            </a:p>
          </p:txBody>
        </p:sp>
        <p:sp>
          <p:nvSpPr>
            <p:cNvPr id="29727" name="Rectangle 31"/>
            <p:cNvSpPr>
              <a:spLocks noChangeArrowheads="1"/>
            </p:cNvSpPr>
            <p:nvPr/>
          </p:nvSpPr>
          <p:spPr bwMode="auto">
            <a:xfrm>
              <a:off x="1479" y="2718"/>
              <a:ext cx="10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/>
                <a:t>(7–1)(7–4)</a:t>
              </a:r>
            </a:p>
          </p:txBody>
        </p:sp>
        <p:sp>
          <p:nvSpPr>
            <p:cNvPr id="29728" name="Line 32"/>
            <p:cNvSpPr>
              <a:spLocks noChangeShapeType="1"/>
            </p:cNvSpPr>
            <p:nvPr/>
          </p:nvSpPr>
          <p:spPr bwMode="auto">
            <a:xfrm>
              <a:off x="1337" y="3054"/>
              <a:ext cx="14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9" name="Rectangle 33"/>
            <p:cNvSpPr>
              <a:spLocks noChangeArrowheads="1"/>
            </p:cNvSpPr>
            <p:nvPr/>
          </p:nvSpPr>
          <p:spPr bwMode="auto">
            <a:xfrm>
              <a:off x="2760" y="2862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/>
                <a:t>* 3</a:t>
              </a:r>
            </a:p>
          </p:txBody>
        </p:sp>
        <p:sp>
          <p:nvSpPr>
            <p:cNvPr id="29730" name="Rectangle 34"/>
            <p:cNvSpPr>
              <a:spLocks noChangeArrowheads="1"/>
            </p:cNvSpPr>
            <p:nvPr/>
          </p:nvSpPr>
          <p:spPr bwMode="auto">
            <a:xfrm>
              <a:off x="996" y="3285"/>
              <a:ext cx="5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2800" b="1" i="1"/>
                <a:t>= </a:t>
              </a:r>
              <a:r>
                <a:rPr kumimoji="0" lang="en-US" altLang="zh-CN" sz="2800" b="1"/>
                <a:t>2.7</a:t>
              </a:r>
            </a:p>
          </p:txBody>
        </p:sp>
      </p:grpSp>
      <p:grpSp>
        <p:nvGrpSpPr>
          <p:cNvPr id="29735" name="Group 39"/>
          <p:cNvGrpSpPr>
            <a:grpSpLocks/>
          </p:cNvGrpSpPr>
          <p:nvPr/>
        </p:nvGrpSpPr>
        <p:grpSpPr bwMode="auto">
          <a:xfrm>
            <a:off x="990600" y="1124421"/>
            <a:ext cx="8118475" cy="1828800"/>
            <a:chOff x="624" y="482"/>
            <a:chExt cx="5114" cy="1152"/>
          </a:xfrm>
        </p:grpSpPr>
        <p:grpSp>
          <p:nvGrpSpPr>
            <p:cNvPr id="29731" name="Group 35"/>
            <p:cNvGrpSpPr>
              <a:grpSpLocks/>
            </p:cNvGrpSpPr>
            <p:nvPr/>
          </p:nvGrpSpPr>
          <p:grpSpPr bwMode="auto">
            <a:xfrm>
              <a:off x="1244" y="482"/>
              <a:ext cx="4494" cy="1152"/>
              <a:chOff x="1244" y="482"/>
              <a:chExt cx="4494" cy="1152"/>
            </a:xfrm>
          </p:grpSpPr>
          <p:sp>
            <p:nvSpPr>
              <p:cNvPr id="29699" name="Rectangle 3"/>
              <p:cNvSpPr>
                <a:spLocks noChangeArrowheads="1"/>
              </p:cNvSpPr>
              <p:nvPr/>
            </p:nvSpPr>
            <p:spPr bwMode="auto">
              <a:xfrm>
                <a:off x="1501" y="761"/>
                <a:ext cx="139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0" lang="en-US" altLang="zh-CN" sz="2800" b="1"/>
                  <a:t>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0</a:t>
                </a:r>
                <a:r>
                  <a:rPr kumimoji="0" lang="en-US" altLang="zh-CN" sz="2800" b="1"/>
                  <a:t>–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1</a:t>
                </a:r>
                <a:r>
                  <a:rPr kumimoji="0" lang="en-US" altLang="zh-CN" sz="2800" b="1"/>
                  <a:t>)(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0</a:t>
                </a:r>
                <a:r>
                  <a:rPr kumimoji="0" lang="en-US" altLang="zh-CN" sz="2800" b="1"/>
                  <a:t>–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2</a:t>
                </a:r>
                <a:r>
                  <a:rPr kumimoji="0" lang="en-US" altLang="zh-CN" sz="2800" b="1"/>
                  <a:t>)</a:t>
                </a:r>
              </a:p>
            </p:txBody>
          </p:sp>
          <p:sp>
            <p:nvSpPr>
              <p:cNvPr id="29700" name="Rectangle 4"/>
              <p:cNvSpPr>
                <a:spLocks noChangeArrowheads="1"/>
              </p:cNvSpPr>
              <p:nvPr/>
            </p:nvSpPr>
            <p:spPr bwMode="auto">
              <a:xfrm>
                <a:off x="1558" y="482"/>
                <a:ext cx="12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0" lang="en-US" altLang="zh-CN" sz="2800" b="1"/>
                  <a:t>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/>
                  <a:t>–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1</a:t>
                </a:r>
                <a:r>
                  <a:rPr kumimoji="0" lang="en-US" altLang="zh-CN" sz="2800" b="1"/>
                  <a:t>)(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/>
                  <a:t>–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2</a:t>
                </a:r>
                <a:r>
                  <a:rPr kumimoji="0" lang="en-US" altLang="zh-CN" sz="2800" b="1"/>
                  <a:t>)</a:t>
                </a:r>
              </a:p>
            </p:txBody>
          </p:sp>
          <p:sp>
            <p:nvSpPr>
              <p:cNvPr id="29701" name="Rectangle 5"/>
              <p:cNvSpPr>
                <a:spLocks noChangeArrowheads="1"/>
              </p:cNvSpPr>
              <p:nvPr/>
            </p:nvSpPr>
            <p:spPr bwMode="auto">
              <a:xfrm>
                <a:off x="2973" y="626"/>
                <a:ext cx="52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0" lang="en-US" altLang="zh-CN" sz="2800" b="1" i="1"/>
                  <a:t>f</a:t>
                </a:r>
                <a:r>
                  <a:rPr kumimoji="0" lang="en-US" altLang="zh-CN" sz="2800" b="1"/>
                  <a:t>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0</a:t>
                </a:r>
                <a:r>
                  <a:rPr kumimoji="0" lang="en-US" altLang="zh-CN" sz="2800" b="1"/>
                  <a:t>)</a:t>
                </a:r>
              </a:p>
            </p:txBody>
          </p:sp>
          <p:sp>
            <p:nvSpPr>
              <p:cNvPr id="29702" name="Line 6"/>
              <p:cNvSpPr>
                <a:spLocks noChangeShapeType="1"/>
              </p:cNvSpPr>
              <p:nvPr/>
            </p:nvSpPr>
            <p:spPr bwMode="auto">
              <a:xfrm>
                <a:off x="1492" y="818"/>
                <a:ext cx="1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03" name="Rectangle 7"/>
              <p:cNvSpPr>
                <a:spLocks noChangeArrowheads="1"/>
              </p:cNvSpPr>
              <p:nvPr/>
            </p:nvSpPr>
            <p:spPr bwMode="auto">
              <a:xfrm>
                <a:off x="3429" y="626"/>
                <a:ext cx="24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0" lang="en-US" altLang="zh-CN" sz="2800" b="1" i="1"/>
                  <a:t>+</a:t>
                </a:r>
              </a:p>
            </p:txBody>
          </p:sp>
          <p:sp>
            <p:nvSpPr>
              <p:cNvPr id="29704" name="Rectangle 8"/>
              <p:cNvSpPr>
                <a:spLocks noChangeArrowheads="1"/>
              </p:cNvSpPr>
              <p:nvPr/>
            </p:nvSpPr>
            <p:spPr bwMode="auto">
              <a:xfrm>
                <a:off x="3737" y="761"/>
                <a:ext cx="139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0" lang="en-US" altLang="zh-CN" sz="2800" b="1"/>
                  <a:t>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1</a:t>
                </a:r>
                <a:r>
                  <a:rPr kumimoji="0" lang="en-US" altLang="zh-CN" sz="2800" b="1"/>
                  <a:t>–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0</a:t>
                </a:r>
                <a:r>
                  <a:rPr kumimoji="0" lang="en-US" altLang="zh-CN" sz="2800" b="1"/>
                  <a:t>)(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1</a:t>
                </a:r>
                <a:r>
                  <a:rPr kumimoji="0" lang="en-US" altLang="zh-CN" sz="2800" b="1"/>
                  <a:t>–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2</a:t>
                </a:r>
                <a:r>
                  <a:rPr kumimoji="0" lang="en-US" altLang="zh-CN" sz="2800" b="1"/>
                  <a:t>)</a:t>
                </a:r>
              </a:p>
            </p:txBody>
          </p:sp>
          <p:sp>
            <p:nvSpPr>
              <p:cNvPr id="29705" name="Rectangle 9"/>
              <p:cNvSpPr>
                <a:spLocks noChangeArrowheads="1"/>
              </p:cNvSpPr>
              <p:nvPr/>
            </p:nvSpPr>
            <p:spPr bwMode="auto">
              <a:xfrm>
                <a:off x="3794" y="482"/>
                <a:ext cx="12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0" lang="en-US" altLang="zh-CN" sz="2800" b="1"/>
                  <a:t>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/>
                  <a:t>–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0</a:t>
                </a:r>
                <a:r>
                  <a:rPr kumimoji="0" lang="en-US" altLang="zh-CN" sz="2800" b="1"/>
                  <a:t>)(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/>
                  <a:t>–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2</a:t>
                </a:r>
                <a:r>
                  <a:rPr kumimoji="0" lang="en-US" altLang="zh-CN" sz="2800" b="1"/>
                  <a:t>)</a:t>
                </a:r>
              </a:p>
            </p:txBody>
          </p:sp>
          <p:sp>
            <p:nvSpPr>
              <p:cNvPr id="29706" name="Line 10"/>
              <p:cNvSpPr>
                <a:spLocks noChangeShapeType="1"/>
              </p:cNvSpPr>
              <p:nvPr/>
            </p:nvSpPr>
            <p:spPr bwMode="auto">
              <a:xfrm>
                <a:off x="3728" y="818"/>
                <a:ext cx="1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07" name="Rectangle 11"/>
              <p:cNvSpPr>
                <a:spLocks noChangeArrowheads="1"/>
              </p:cNvSpPr>
              <p:nvPr/>
            </p:nvSpPr>
            <p:spPr bwMode="auto">
              <a:xfrm>
                <a:off x="5209" y="626"/>
                <a:ext cx="52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0" lang="en-US" altLang="zh-CN" sz="2800" b="1" i="1"/>
                  <a:t>f</a:t>
                </a:r>
                <a:r>
                  <a:rPr kumimoji="0" lang="en-US" altLang="zh-CN" sz="2800" b="1"/>
                  <a:t>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1</a:t>
                </a:r>
                <a:r>
                  <a:rPr kumimoji="0" lang="en-US" altLang="zh-CN" sz="2800" b="1"/>
                  <a:t>)</a:t>
                </a:r>
              </a:p>
            </p:txBody>
          </p:sp>
          <p:sp>
            <p:nvSpPr>
              <p:cNvPr id="29708" name="Rectangle 12"/>
              <p:cNvSpPr>
                <a:spLocks noChangeArrowheads="1"/>
              </p:cNvSpPr>
              <p:nvPr/>
            </p:nvSpPr>
            <p:spPr bwMode="auto">
              <a:xfrm>
                <a:off x="1244" y="1172"/>
                <a:ext cx="24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0" lang="en-US" altLang="zh-CN" sz="2800" b="1" i="1"/>
                  <a:t>+</a:t>
                </a:r>
              </a:p>
            </p:txBody>
          </p:sp>
          <p:sp>
            <p:nvSpPr>
              <p:cNvPr id="29709" name="Rectangle 13"/>
              <p:cNvSpPr>
                <a:spLocks noChangeArrowheads="1"/>
              </p:cNvSpPr>
              <p:nvPr/>
            </p:nvSpPr>
            <p:spPr bwMode="auto">
              <a:xfrm>
                <a:off x="1552" y="1307"/>
                <a:ext cx="139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0" lang="en-US" altLang="zh-CN" sz="2800" b="1"/>
                  <a:t>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2</a:t>
                </a:r>
                <a:r>
                  <a:rPr kumimoji="0" lang="en-US" altLang="zh-CN" sz="2800" b="1"/>
                  <a:t>–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0</a:t>
                </a:r>
                <a:r>
                  <a:rPr kumimoji="0" lang="en-US" altLang="zh-CN" sz="2800" b="1"/>
                  <a:t>)(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2</a:t>
                </a:r>
                <a:r>
                  <a:rPr kumimoji="0" lang="en-US" altLang="zh-CN" sz="2800" b="1"/>
                  <a:t>–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1</a:t>
                </a:r>
                <a:r>
                  <a:rPr kumimoji="0" lang="en-US" altLang="zh-CN" sz="2800" b="1"/>
                  <a:t>)</a:t>
                </a:r>
              </a:p>
            </p:txBody>
          </p:sp>
          <p:sp>
            <p:nvSpPr>
              <p:cNvPr id="29710" name="Rectangle 14"/>
              <p:cNvSpPr>
                <a:spLocks noChangeArrowheads="1"/>
              </p:cNvSpPr>
              <p:nvPr/>
            </p:nvSpPr>
            <p:spPr bwMode="auto">
              <a:xfrm>
                <a:off x="1609" y="1028"/>
                <a:ext cx="12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0" lang="en-US" altLang="zh-CN" sz="2800" b="1"/>
                  <a:t>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/>
                  <a:t>–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0</a:t>
                </a:r>
                <a:r>
                  <a:rPr kumimoji="0" lang="en-US" altLang="zh-CN" sz="2800" b="1"/>
                  <a:t>)(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/>
                  <a:t>–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1</a:t>
                </a:r>
                <a:r>
                  <a:rPr kumimoji="0" lang="en-US" altLang="zh-CN" sz="2800" b="1"/>
                  <a:t>)</a:t>
                </a:r>
              </a:p>
            </p:txBody>
          </p:sp>
          <p:sp>
            <p:nvSpPr>
              <p:cNvPr id="29711" name="Line 15"/>
              <p:cNvSpPr>
                <a:spLocks noChangeShapeType="1"/>
              </p:cNvSpPr>
              <p:nvPr/>
            </p:nvSpPr>
            <p:spPr bwMode="auto">
              <a:xfrm>
                <a:off x="1543" y="1364"/>
                <a:ext cx="14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12" name="Rectangle 16"/>
              <p:cNvSpPr>
                <a:spLocks noChangeArrowheads="1"/>
              </p:cNvSpPr>
              <p:nvPr/>
            </p:nvSpPr>
            <p:spPr bwMode="auto">
              <a:xfrm>
                <a:off x="3024" y="1172"/>
                <a:ext cx="52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tx1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kumimoji="0" lang="en-US" altLang="zh-CN" sz="2800" b="1" i="1"/>
                  <a:t>f</a:t>
                </a:r>
                <a:r>
                  <a:rPr kumimoji="0" lang="en-US" altLang="zh-CN" sz="2800" b="1"/>
                  <a:t>(</a:t>
                </a: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2</a:t>
                </a:r>
                <a:r>
                  <a:rPr kumimoji="0" lang="en-US" altLang="zh-CN" sz="2800" b="1"/>
                  <a:t>)</a:t>
                </a:r>
              </a:p>
            </p:txBody>
          </p:sp>
        </p:grpSp>
        <p:sp>
          <p:nvSpPr>
            <p:cNvPr id="29734" name="Rectangle 38"/>
            <p:cNvSpPr>
              <a:spLocks noChangeArrowheads="1"/>
            </p:cNvSpPr>
            <p:nvPr/>
          </p:nvSpPr>
          <p:spPr bwMode="auto">
            <a:xfrm>
              <a:off x="624" y="585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latin typeface="楷体_GB2312" charset="0"/>
                  <a:ea typeface="楷体_GB2312" charset="0"/>
                  <a:cs typeface="楷体_GB2312" charset="0"/>
                </a:rPr>
                <a:t>L</a:t>
              </a:r>
              <a:r>
                <a:rPr lang="en-US" altLang="zh-CN" sz="2800" baseline="-25000">
                  <a:latin typeface="楷体_GB2312" charset="0"/>
                  <a:ea typeface="楷体_GB2312" charset="0"/>
                  <a:cs typeface="楷体_GB2312" charset="0"/>
                </a:rPr>
                <a:t>2</a:t>
              </a:r>
              <a:r>
                <a:rPr lang="en-US" altLang="zh-CN" sz="2800">
                  <a:latin typeface="楷体_GB2312" charset="0"/>
                  <a:ea typeface="楷体_GB2312" charset="0"/>
                  <a:cs typeface="楷体_GB2312" charset="0"/>
                </a:rPr>
                <a:t>(</a:t>
              </a:r>
              <a:r>
                <a:rPr lang="en-US" altLang="zh-CN" sz="2800" i="1">
                  <a:latin typeface="楷体_GB2312" charset="0"/>
                  <a:ea typeface="楷体_GB2312" charset="0"/>
                  <a:cs typeface="楷体_GB2312" charset="0"/>
                </a:rPr>
                <a:t>x</a:t>
              </a:r>
              <a:r>
                <a:rPr lang="en-US" altLang="zh-CN" sz="2800">
                  <a:latin typeface="楷体_GB2312" charset="0"/>
                  <a:ea typeface="楷体_GB2312" charset="0"/>
                  <a:cs typeface="楷体_GB2312" charset="0"/>
                </a:rPr>
                <a:t>)</a:t>
              </a:r>
              <a:r>
                <a:rPr lang="en-US" altLang="zh-CN" sz="2800" i="1">
                  <a:latin typeface="楷体_GB2312" charset="0"/>
                  <a:ea typeface="楷体_GB2312" charset="0"/>
                  <a:cs typeface="楷体_GB2312" charset="0"/>
                </a:rPr>
                <a:t> 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44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课程总结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Oval 7">
            <a:extLst>
              <a:ext uri="{FF2B5EF4-FFF2-40B4-BE49-F238E27FC236}">
                <a16:creationId xmlns:a16="http://schemas.microsoft.com/office/drawing/2014/main" id="{A77E38E3-7F83-184D-BA8D-2928AEA52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2" y="2362200"/>
            <a:ext cx="1125538" cy="1109663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  <a:endParaRPr lang="en-US" altLang="zh-CN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问题</a:t>
            </a:r>
          </a:p>
        </p:txBody>
      </p:sp>
      <p:sp>
        <p:nvSpPr>
          <p:cNvPr id="45" name="AutoShape 10">
            <a:extLst>
              <a:ext uri="{FF2B5EF4-FFF2-40B4-BE49-F238E27FC236}">
                <a16:creationId xmlns:a16="http://schemas.microsoft.com/office/drawing/2014/main" id="{B10938F2-087F-344F-AAD6-394163D4A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0310" y="2819400"/>
            <a:ext cx="931490" cy="228600"/>
          </a:xfrm>
          <a:prstGeom prst="rightArrow">
            <a:avLst>
              <a:gd name="adj1" fmla="val 50000"/>
              <a:gd name="adj2" fmla="val 122494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46" name="Group 67">
            <a:extLst>
              <a:ext uri="{FF2B5EF4-FFF2-40B4-BE49-F238E27FC236}">
                <a16:creationId xmlns:a16="http://schemas.microsoft.com/office/drawing/2014/main" id="{63D2270F-7F98-F147-B066-6969B1B174B1}"/>
              </a:ext>
            </a:extLst>
          </p:cNvPr>
          <p:cNvGrpSpPr>
            <a:grpSpLocks/>
          </p:cNvGrpSpPr>
          <p:nvPr/>
        </p:nvGrpSpPr>
        <p:grpSpPr bwMode="auto">
          <a:xfrm>
            <a:off x="3055224" y="2374581"/>
            <a:ext cx="1669176" cy="922319"/>
            <a:chOff x="432" y="1440"/>
            <a:chExt cx="2689" cy="1200"/>
          </a:xfrm>
        </p:grpSpPr>
        <p:sp>
          <p:nvSpPr>
            <p:cNvPr id="47" name="AutoShape 11">
              <a:extLst>
                <a:ext uri="{FF2B5EF4-FFF2-40B4-BE49-F238E27FC236}">
                  <a16:creationId xmlns:a16="http://schemas.microsoft.com/office/drawing/2014/main" id="{9DFBAA8B-5052-BB4D-AB90-F3AC15786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8" name="Rectangle 44">
              <a:extLst>
                <a:ext uri="{FF2B5EF4-FFF2-40B4-BE49-F238E27FC236}">
                  <a16:creationId xmlns:a16="http://schemas.microsoft.com/office/drawing/2014/main" id="{201689A1-FB62-A74E-BB70-F18F7DE11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" y="1815"/>
              <a:ext cx="2484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数学模型</a:t>
              </a:r>
            </a:p>
          </p:txBody>
        </p:sp>
      </p:grpSp>
      <p:sp>
        <p:nvSpPr>
          <p:cNvPr id="49" name="AutoShape 10">
            <a:extLst>
              <a:ext uri="{FF2B5EF4-FFF2-40B4-BE49-F238E27FC236}">
                <a16:creationId xmlns:a16="http://schemas.microsoft.com/office/drawing/2014/main" id="{7C7DF57E-DAAC-274A-8418-8EAE8B638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819400"/>
            <a:ext cx="917575" cy="213100"/>
          </a:xfrm>
          <a:prstGeom prst="rightArrow">
            <a:avLst>
              <a:gd name="adj1" fmla="val 50000"/>
              <a:gd name="adj2" fmla="val 122494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50" name="AutoShape 49">
            <a:extLst>
              <a:ext uri="{FF2B5EF4-FFF2-40B4-BE49-F238E27FC236}">
                <a16:creationId xmlns:a16="http://schemas.microsoft.com/office/drawing/2014/main" id="{58991E87-1658-7841-BC58-2E7EB3D9045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09115" y="3444183"/>
            <a:ext cx="523220" cy="184150"/>
          </a:xfrm>
          <a:prstGeom prst="rightArrow">
            <a:avLst>
              <a:gd name="adj1" fmla="val 50000"/>
              <a:gd name="adj2" fmla="val 83336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51" name="Group 67">
            <a:extLst>
              <a:ext uri="{FF2B5EF4-FFF2-40B4-BE49-F238E27FC236}">
                <a16:creationId xmlns:a16="http://schemas.microsoft.com/office/drawing/2014/main" id="{8A76E920-3766-6A49-BE90-0CE0470F3A92}"/>
              </a:ext>
            </a:extLst>
          </p:cNvPr>
          <p:cNvGrpSpPr>
            <a:grpSpLocks/>
          </p:cNvGrpSpPr>
          <p:nvPr/>
        </p:nvGrpSpPr>
        <p:grpSpPr bwMode="auto">
          <a:xfrm>
            <a:off x="5685712" y="2374580"/>
            <a:ext cx="2772488" cy="922319"/>
            <a:chOff x="432" y="1440"/>
            <a:chExt cx="2689" cy="1200"/>
          </a:xfrm>
        </p:grpSpPr>
        <p:sp>
          <p:nvSpPr>
            <p:cNvPr id="52" name="AutoShape 11">
              <a:extLst>
                <a:ext uri="{FF2B5EF4-FFF2-40B4-BE49-F238E27FC236}">
                  <a16:creationId xmlns:a16="http://schemas.microsoft.com/office/drawing/2014/main" id="{32F8040F-94A1-FD42-9A99-678C9E9FC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3" name="Rectangle 44">
              <a:extLst>
                <a:ext uri="{FF2B5EF4-FFF2-40B4-BE49-F238E27FC236}">
                  <a16:creationId xmlns:a16="http://schemas.microsoft.com/office/drawing/2014/main" id="{76851430-4F5B-114E-90C0-0B3580145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1815"/>
              <a:ext cx="2540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计算模型</a:t>
              </a:r>
            </a:p>
          </p:txBody>
        </p:sp>
      </p:grpSp>
      <p:grpSp>
        <p:nvGrpSpPr>
          <p:cNvPr id="54" name="Group 67">
            <a:extLst>
              <a:ext uri="{FF2B5EF4-FFF2-40B4-BE49-F238E27FC236}">
                <a16:creationId xmlns:a16="http://schemas.microsoft.com/office/drawing/2014/main" id="{0C3A1DFE-31A1-FA45-9301-75F7D7AE82B8}"/>
              </a:ext>
            </a:extLst>
          </p:cNvPr>
          <p:cNvGrpSpPr>
            <a:grpSpLocks/>
          </p:cNvGrpSpPr>
          <p:nvPr/>
        </p:nvGrpSpPr>
        <p:grpSpPr bwMode="auto">
          <a:xfrm>
            <a:off x="5486401" y="3809999"/>
            <a:ext cx="3200400" cy="1169511"/>
            <a:chOff x="432" y="1440"/>
            <a:chExt cx="2689" cy="1200"/>
          </a:xfrm>
        </p:grpSpPr>
        <p:sp>
          <p:nvSpPr>
            <p:cNvPr id="55" name="AutoShape 11">
              <a:extLst>
                <a:ext uri="{FF2B5EF4-FFF2-40B4-BE49-F238E27FC236}">
                  <a16:creationId xmlns:a16="http://schemas.microsoft.com/office/drawing/2014/main" id="{7BC68F76-8FE8-7147-A18B-406427FE0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6" name="Rectangle 44">
              <a:extLst>
                <a:ext uri="{FF2B5EF4-FFF2-40B4-BE49-F238E27FC236}">
                  <a16:creationId xmlns:a16="http://schemas.microsoft.com/office/drawing/2014/main" id="{B18ADEB3-243C-4A43-8802-FA5D975C6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815"/>
              <a:ext cx="2540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计算实现</a:t>
              </a:r>
            </a:p>
          </p:txBody>
        </p:sp>
      </p:grpSp>
      <p:sp>
        <p:nvSpPr>
          <p:cNvPr id="58" name="Oval 7">
            <a:extLst>
              <a:ext uri="{FF2B5EF4-FFF2-40B4-BE49-F238E27FC236}">
                <a16:creationId xmlns:a16="http://schemas.microsoft.com/office/drawing/2014/main" id="{9A5A5548-BB3A-DF45-90D5-AED7B5C22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486400"/>
            <a:ext cx="1130300" cy="1093788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实际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</a:p>
        </p:txBody>
      </p:sp>
      <p:sp>
        <p:nvSpPr>
          <p:cNvPr id="60" name="Bent-Up Arrow 28">
            <a:extLst>
              <a:ext uri="{FF2B5EF4-FFF2-40B4-BE49-F238E27FC236}">
                <a16:creationId xmlns:a16="http://schemas.microsoft.com/office/drawing/2014/main" id="{F5C17A25-8907-9F49-9EDB-761C15EC65A7}"/>
              </a:ext>
            </a:extLst>
          </p:cNvPr>
          <p:cNvSpPr>
            <a:spLocks/>
          </p:cNvSpPr>
          <p:nvPr/>
        </p:nvSpPr>
        <p:spPr bwMode="auto">
          <a:xfrm flipH="1">
            <a:off x="2209798" y="3032502"/>
            <a:ext cx="4893892" cy="2207850"/>
          </a:xfrm>
          <a:custGeom>
            <a:avLst/>
            <a:gdLst>
              <a:gd name="T0" fmla="*/ 0 w 4679950"/>
              <a:gd name="T1" fmla="*/ 2908013 h 3030537"/>
              <a:gd name="T2" fmla="*/ 4506346 w 4679950"/>
              <a:gd name="T3" fmla="*/ 2908013 h 3030537"/>
              <a:gd name="T4" fmla="*/ 4506346 w 4679950"/>
              <a:gd name="T5" fmla="*/ 245473 h 3030537"/>
              <a:gd name="T6" fmla="*/ 4455266 w 4679950"/>
              <a:gd name="T7" fmla="*/ 245473 h 3030537"/>
              <a:gd name="T8" fmla="*/ 4567608 w 4679950"/>
              <a:gd name="T9" fmla="*/ 0 h 3030537"/>
              <a:gd name="T10" fmla="*/ 4679950 w 4679950"/>
              <a:gd name="T11" fmla="*/ 245473 h 3030537"/>
              <a:gd name="T12" fmla="*/ 4628870 w 4679950"/>
              <a:gd name="T13" fmla="*/ 245473 h 3030537"/>
              <a:gd name="T14" fmla="*/ 4628870 w 4679950"/>
              <a:gd name="T15" fmla="*/ 3030538 h 3030537"/>
              <a:gd name="T16" fmla="*/ 0 w 4679950"/>
              <a:gd name="T17" fmla="*/ 3030538 h 3030537"/>
              <a:gd name="T18" fmla="*/ 0 w 4679950"/>
              <a:gd name="T19" fmla="*/ 2908013 h 30305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79950" h="3030537">
                <a:moveTo>
                  <a:pt x="0" y="2908012"/>
                </a:moveTo>
                <a:lnTo>
                  <a:pt x="4506346" y="2908012"/>
                </a:lnTo>
                <a:lnTo>
                  <a:pt x="4506346" y="245473"/>
                </a:lnTo>
                <a:lnTo>
                  <a:pt x="4455266" y="245473"/>
                </a:lnTo>
                <a:lnTo>
                  <a:pt x="4567608" y="0"/>
                </a:lnTo>
                <a:lnTo>
                  <a:pt x="4679950" y="245473"/>
                </a:lnTo>
                <a:lnTo>
                  <a:pt x="4628870" y="245473"/>
                </a:lnTo>
                <a:lnTo>
                  <a:pt x="4628870" y="3030537"/>
                </a:lnTo>
                <a:lnTo>
                  <a:pt x="0" y="3030537"/>
                </a:lnTo>
                <a:lnTo>
                  <a:pt x="0" y="2908012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endParaRPr lang="en-CN"/>
          </a:p>
        </p:txBody>
      </p:sp>
      <p:sp>
        <p:nvSpPr>
          <p:cNvPr id="61" name="TextBox 32">
            <a:extLst>
              <a:ext uri="{FF2B5EF4-FFF2-40B4-BE49-F238E27FC236}">
                <a16:creationId xmlns:a16="http://schemas.microsoft.com/office/drawing/2014/main" id="{065CF10F-48AE-D049-A5AE-E418E6173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8207" y="4148513"/>
            <a:ext cx="54420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修正</a:t>
            </a:r>
            <a:endParaRPr lang="en-US" altLang="zh-CN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E3A1F9-CB1A-A840-A54D-B71C6E0D39BD}"/>
              </a:ext>
            </a:extLst>
          </p:cNvPr>
          <p:cNvSpPr txBox="1"/>
          <p:nvPr/>
        </p:nvSpPr>
        <p:spPr>
          <a:xfrm>
            <a:off x="284968" y="1066800"/>
            <a:ext cx="85282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zh-CN" altLang="en-US" sz="3200" b="1">
                <a:latin typeface="SimSun" panose="02010600030101010101" pitchFamily="2" charset="-122"/>
                <a:ea typeface="SimSun" panose="02010600030101010101" pitchFamily="2" charset="-122"/>
              </a:rPr>
              <a:t>采用</a:t>
            </a:r>
            <a:r>
              <a:rPr lang="zh-CN" altLang="en-CN" sz="3200" b="1"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引领教学法，从</a:t>
            </a:r>
            <a:r>
              <a:rPr lang="zh-CN" altLang="en-US" sz="32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实际问题求解流程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来设计教学</a:t>
            </a:r>
            <a:endParaRPr lang="en-US" altLang="zh-CN" sz="32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AA43C3-1682-7F4C-853A-6D0A13FD05E4}"/>
              </a:ext>
            </a:extLst>
          </p:cNvPr>
          <p:cNvSpPr/>
          <p:nvPr/>
        </p:nvSpPr>
        <p:spPr>
          <a:xfrm>
            <a:off x="3488099" y="333507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插值</a:t>
            </a:r>
            <a:endParaRPr lang="en-CN" sz="24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9B2E39-C504-3B4C-A001-5291AA258EFA}"/>
              </a:ext>
            </a:extLst>
          </p:cNvPr>
          <p:cNvSpPr/>
          <p:nvPr/>
        </p:nvSpPr>
        <p:spPr>
          <a:xfrm>
            <a:off x="6024059" y="3242018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拉格朗日插值</a:t>
            </a:r>
            <a:endParaRPr lang="en-CN" sz="2400" b="1" dirty="0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662C03F8-D42E-B74B-A886-1B222DA9023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33105" y="5147560"/>
            <a:ext cx="441703" cy="170085"/>
          </a:xfrm>
          <a:prstGeom prst="rightArrow">
            <a:avLst>
              <a:gd name="adj1" fmla="val 50000"/>
              <a:gd name="adj2" fmla="val 83336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1E4548-B901-FC4E-B64A-F37CDD282A0D}"/>
              </a:ext>
            </a:extLst>
          </p:cNvPr>
          <p:cNvSpPr/>
          <p:nvPr/>
        </p:nvSpPr>
        <p:spPr>
          <a:xfrm>
            <a:off x="4724400" y="6309607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插值效果</a:t>
            </a:r>
            <a:endParaRPr lang="en-CN" sz="2400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724C86-CCE4-6C41-9620-0B9B77BA7712}"/>
              </a:ext>
            </a:extLst>
          </p:cNvPr>
          <p:cNvSpPr/>
          <p:nvPr/>
        </p:nvSpPr>
        <p:spPr>
          <a:xfrm>
            <a:off x="2565344" y="5011751"/>
            <a:ext cx="1422184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课后思考</a:t>
            </a:r>
            <a:endParaRPr lang="en-C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FA95EF-213A-F147-ADC6-C62BCE1B8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523" y="4458285"/>
            <a:ext cx="469077" cy="383633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827E93A-2244-ED4B-99E5-22580C54D372}"/>
              </a:ext>
            </a:extLst>
          </p:cNvPr>
          <p:cNvSpPr/>
          <p:nvPr/>
        </p:nvSpPr>
        <p:spPr>
          <a:xfrm>
            <a:off x="563940" y="359306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超分辨率显示</a:t>
            </a:r>
            <a:endParaRPr lang="en-CN" b="1" dirty="0"/>
          </a:p>
        </p:txBody>
      </p:sp>
      <p:pic>
        <p:nvPicPr>
          <p:cNvPr id="42" name="Picture 5">
            <a:extLst>
              <a:ext uri="{FF2B5EF4-FFF2-40B4-BE49-F238E27FC236}">
                <a16:creationId xmlns:a16="http://schemas.microsoft.com/office/drawing/2014/main" id="{181BC03B-6DBA-2944-88E2-1075BDD8F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907" y="2366857"/>
            <a:ext cx="1422184" cy="882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1">
            <a:extLst>
              <a:ext uri="{FF2B5EF4-FFF2-40B4-BE49-F238E27FC236}">
                <a16:creationId xmlns:a16="http://schemas.microsoft.com/office/drawing/2014/main" id="{B99575B5-459D-654E-898F-BC6D42E16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346966"/>
            <a:ext cx="1636353" cy="902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2">
            <a:extLst>
              <a:ext uri="{FF2B5EF4-FFF2-40B4-BE49-F238E27FC236}">
                <a16:creationId xmlns:a16="http://schemas.microsoft.com/office/drawing/2014/main" id="{5AD05358-512F-A741-AD5D-342C1DE81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007" y="3842906"/>
            <a:ext cx="1781898" cy="108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AutoShape 222">
            <a:extLst>
              <a:ext uri="{FF2B5EF4-FFF2-40B4-BE49-F238E27FC236}">
                <a16:creationId xmlns:a16="http://schemas.microsoft.com/office/drawing/2014/main" id="{9181E31B-0345-1D40-8E5E-C3C61BDCE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943" y="1752600"/>
            <a:ext cx="1644986" cy="508896"/>
          </a:xfrm>
          <a:prstGeom prst="wedgeEllipseCallout">
            <a:avLst>
              <a:gd name="adj1" fmla="val -12148"/>
              <a:gd name="adj2" fmla="val 89569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en-CN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重难点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1B75E20-86C9-ED42-8F90-D0CDF1AF927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8747"/>
          <a:stretch/>
        </p:blipFill>
        <p:spPr>
          <a:xfrm>
            <a:off x="1063135" y="2220217"/>
            <a:ext cx="743266" cy="1294303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65A1E36-FE84-B94E-809A-6399027396E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1340" r="-8238"/>
          <a:stretch/>
        </p:blipFill>
        <p:spPr>
          <a:xfrm>
            <a:off x="6750238" y="5561751"/>
            <a:ext cx="933261" cy="126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2" grpId="0"/>
      <p:bldP spid="34" grpId="0" animBg="1"/>
      <p:bldP spid="36" grpId="0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课后思考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A8914-833D-6B40-BBCD-389265389DDA}"/>
              </a:ext>
            </a:extLst>
          </p:cNvPr>
          <p:cNvSpPr txBox="1"/>
          <p:nvPr/>
        </p:nvSpPr>
        <p:spPr>
          <a:xfrm>
            <a:off x="1744444" y="4561820"/>
            <a:ext cx="70104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endParaRPr lang="en-US" altLang="zh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/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若给定的点集发生变化，拉格朗日插值基函数如何变化？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83F301-FA29-B34D-8185-AF37FA03BEE2}"/>
              </a:ext>
            </a:extLst>
          </p:cNvPr>
          <p:cNvSpPr txBox="1"/>
          <p:nvPr/>
        </p:nvSpPr>
        <p:spPr>
          <a:xfrm>
            <a:off x="1676400" y="43434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课后思考</a:t>
            </a:r>
            <a:endParaRPr lang="en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9" name="图片 4">
            <a:extLst>
              <a:ext uri="{FF2B5EF4-FFF2-40B4-BE49-F238E27FC236}">
                <a16:creationId xmlns:a16="http://schemas.microsoft.com/office/drawing/2014/main" id="{4F536849-039B-A54B-B550-B20B03D2683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4445" r="23333" b="10000"/>
          <a:stretch/>
        </p:blipFill>
        <p:spPr>
          <a:xfrm>
            <a:off x="598042" y="4840220"/>
            <a:ext cx="925958" cy="139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2CE36F-2A76-F449-AE25-C2170C0BE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917" y="1826467"/>
            <a:ext cx="2132166" cy="21321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0DD81C-4C5E-1B44-8663-00DF51F8BD76}"/>
              </a:ext>
            </a:extLst>
          </p:cNvPr>
          <p:cNvSpPr txBox="1"/>
          <p:nvPr/>
        </p:nvSpPr>
        <p:spPr>
          <a:xfrm>
            <a:off x="598042" y="1414443"/>
            <a:ext cx="2355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课上练习</a:t>
            </a:r>
            <a:endParaRPr lang="en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6" name="AutoShape 33">
            <a:extLst>
              <a:ext uri="{FF2B5EF4-FFF2-40B4-BE49-F238E27FC236}">
                <a16:creationId xmlns:a16="http://schemas.microsoft.com/office/drawing/2014/main" id="{5AF2CD45-7EA8-1F49-8FCF-D183E0B8E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198" y="5638800"/>
            <a:ext cx="2514600" cy="1066800"/>
          </a:xfrm>
          <a:prstGeom prst="foldedCorner">
            <a:avLst>
              <a:gd name="adj" fmla="val 12500"/>
            </a:avLst>
          </a:prstGeom>
          <a:gradFill rotWithShape="0">
            <a:gsLst>
              <a:gs pos="0">
                <a:srgbClr val="FFFFFF"/>
              </a:gs>
              <a:gs pos="100000">
                <a:srgbClr val="FFFFCC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2400" b="1" dirty="0"/>
              <a:t>HW: p.56</a:t>
            </a:r>
          </a:p>
          <a:p>
            <a:pPr algn="ctr"/>
            <a:r>
              <a:rPr kumimoji="0" lang="en-US" altLang="zh-CN" sz="2400" b="1" dirty="0"/>
              <a:t>#2.1</a:t>
            </a:r>
            <a:r>
              <a:rPr kumimoji="0" lang="zh-CN" altLang="en-US" sz="2400" b="1" dirty="0"/>
              <a:t>，</a:t>
            </a:r>
            <a:r>
              <a:rPr kumimoji="0" lang="en-US" altLang="zh-CN" sz="2400" b="1"/>
              <a:t>#2.2</a:t>
            </a:r>
            <a:endParaRPr kumimoji="0"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425920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5" grpId="0"/>
      <p:bldP spid="16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课后作业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AF898-C12D-464A-A75E-F914358D2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26843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34AC48-65F4-D44A-AE29-39BFA6663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43" y="4495800"/>
            <a:ext cx="78486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62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参考资料</a:t>
            </a:r>
            <a:endParaRPr lang="en-US" sz="3800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A8914-833D-6B40-BBCD-389265389DDA}"/>
              </a:ext>
            </a:extLst>
          </p:cNvPr>
          <p:cNvSpPr txBox="1"/>
          <p:nvPr/>
        </p:nvSpPr>
        <p:spPr>
          <a:xfrm>
            <a:off x="432885" y="3093928"/>
            <a:ext cx="8482515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900" b="1" dirty="0"/>
              <a:t>[1] Jean-Paul </a:t>
            </a:r>
            <a:r>
              <a:rPr lang="en-US" sz="1900" b="1" dirty="0" err="1"/>
              <a:t>Berrut</a:t>
            </a:r>
            <a:r>
              <a:rPr lang="en-US" sz="1900" b="1" dirty="0"/>
              <a:t>, Lloyd N. </a:t>
            </a:r>
            <a:r>
              <a:rPr lang="en-US" sz="1900" b="1" dirty="0" err="1"/>
              <a:t>Trefethen</a:t>
            </a:r>
            <a:r>
              <a:rPr lang="en-US" sz="1900" b="1" dirty="0"/>
              <a:t>. </a:t>
            </a:r>
            <a:r>
              <a:rPr lang="en-US" sz="1900" b="1" dirty="0">
                <a:solidFill>
                  <a:srgbClr val="0000FF"/>
                </a:solidFill>
              </a:rPr>
              <a:t>Barycentric Lagrange Interpolation</a:t>
            </a:r>
            <a:r>
              <a:rPr lang="en-US" sz="1900" b="1" dirty="0"/>
              <a:t>. </a:t>
            </a:r>
            <a:r>
              <a:rPr lang="en-US" sz="1900" b="1" i="1" dirty="0"/>
              <a:t>SIAM Review,</a:t>
            </a:r>
            <a:r>
              <a:rPr lang="en-US" sz="1900" b="1" dirty="0"/>
              <a:t> 46(3): 501–517, 2004.</a:t>
            </a:r>
          </a:p>
          <a:p>
            <a:pPr algn="just"/>
            <a:r>
              <a:rPr lang="en-US" sz="1900" b="1" dirty="0"/>
              <a:t>[2] Nicholas J. </a:t>
            </a:r>
            <a:r>
              <a:rPr lang="en-US" sz="1900" b="1" dirty="0" err="1"/>
              <a:t>Higham</a:t>
            </a:r>
            <a:r>
              <a:rPr lang="en-US" sz="1900" b="1" dirty="0"/>
              <a:t>. </a:t>
            </a:r>
            <a:r>
              <a:rPr lang="en-US" sz="1900" b="1" dirty="0">
                <a:solidFill>
                  <a:srgbClr val="0000FF"/>
                </a:solidFill>
              </a:rPr>
              <a:t>The numerical stability of barycentric Lagrange interpolation</a:t>
            </a:r>
            <a:r>
              <a:rPr lang="en-US" sz="1900" b="1" dirty="0"/>
              <a:t>. </a:t>
            </a:r>
            <a:r>
              <a:rPr lang="en-US" sz="1900" b="1" i="1" dirty="0"/>
              <a:t>IMA Journal of Numerical </a:t>
            </a:r>
            <a:r>
              <a:rPr lang="en-US" sz="1900" b="1" dirty="0"/>
              <a:t>Analysis, 24(4): 547–556, 2004. </a:t>
            </a:r>
          </a:p>
          <a:p>
            <a:pPr algn="just"/>
            <a:r>
              <a:rPr lang="en-US" sz="1900" b="1" dirty="0"/>
              <a:t>[3] </a:t>
            </a:r>
            <a:r>
              <a:rPr lang="zh-CN" altLang="en-US" sz="1900" b="1" dirty="0"/>
              <a:t>徐小丽</a:t>
            </a:r>
            <a:r>
              <a:rPr lang="en-US" altLang="zh-CN" sz="1900" b="1" dirty="0"/>
              <a:t>. </a:t>
            </a:r>
            <a:r>
              <a:rPr lang="zh-CN" altLang="en-US" sz="1900" b="1" dirty="0">
                <a:solidFill>
                  <a:srgbClr val="0000FF"/>
                </a:solidFill>
              </a:rPr>
              <a:t>拉格朗日插值法在工程应用中的算法实</a:t>
            </a:r>
            <a:r>
              <a:rPr lang="zh-CN" altLang="en-US" sz="1900" b="1" dirty="0"/>
              <a:t>现</a:t>
            </a:r>
            <a:r>
              <a:rPr lang="en-US" altLang="zh-CN" sz="1900" b="1" dirty="0"/>
              <a:t>. </a:t>
            </a:r>
            <a:r>
              <a:rPr lang="zh-CN" altLang="en-US" sz="1900" b="1" i="1" dirty="0"/>
              <a:t>林区教学</a:t>
            </a:r>
            <a:r>
              <a:rPr lang="en-US" altLang="zh-CN" sz="1900" b="1" dirty="0"/>
              <a:t>, 1:</a:t>
            </a:r>
            <a:r>
              <a:rPr lang="zh-CN" altLang="en-US" sz="1900" b="1" dirty="0"/>
              <a:t> </a:t>
            </a:r>
            <a:r>
              <a:rPr lang="en-US" altLang="zh-CN" sz="1900" b="1" dirty="0"/>
              <a:t>17-19, 2010.</a:t>
            </a:r>
            <a:endParaRPr lang="zh-CN" altLang="en-US" sz="19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D01049-EF20-B649-B2A8-9E2DD12091BF}"/>
              </a:ext>
            </a:extLst>
          </p:cNvPr>
          <p:cNvSpPr/>
          <p:nvPr/>
        </p:nvSpPr>
        <p:spPr>
          <a:xfrm>
            <a:off x="304800" y="5318897"/>
            <a:ext cx="8813257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00" b="1" dirty="0">
                <a:ea typeface="SimSun" panose="02010600030101010101" pitchFamily="2" charset="-122"/>
              </a:rPr>
              <a:t>(1)</a:t>
            </a:r>
            <a:r>
              <a:rPr lang="zh-CN" altLang="en-US" sz="1900" b="1" dirty="0">
                <a:ea typeface="SimSun" panose="02010600030101010101" pitchFamily="2" charset="-122"/>
              </a:rPr>
              <a:t> </a:t>
            </a:r>
            <a:r>
              <a:rPr lang="en-US" sz="19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国家级精品课程</a:t>
            </a:r>
            <a:r>
              <a:rPr lang="en-US" altLang="zh-CN" sz="1900" b="1" dirty="0">
                <a:latin typeface="SimSun" panose="02010600030101010101" pitchFamily="2" charset="-122"/>
                <a:ea typeface="SimSun" panose="02010600030101010101" pitchFamily="2" charset="-122"/>
              </a:rPr>
              <a:t>《</a:t>
            </a:r>
            <a:r>
              <a:rPr lang="zh-CN" altLang="en-US" sz="1900" b="1" dirty="0"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zh-CN" sz="1900" b="1" dirty="0">
                <a:latin typeface="SimSun" panose="02010600030101010101" pitchFamily="2" charset="-122"/>
                <a:ea typeface="SimSun" panose="02010600030101010101" pitchFamily="2" charset="-122"/>
              </a:rPr>
              <a:t>》</a:t>
            </a:r>
            <a:r>
              <a:rPr lang="zh-CN" altLang="en-US" sz="1900" b="1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CN" sz="1900" b="1" dirty="0">
                <a:latin typeface="SimSun" panose="02010600030101010101" pitchFamily="2" charset="-122"/>
                <a:ea typeface="SimSun" panose="02010600030101010101" pitchFamily="2" charset="-122"/>
              </a:rPr>
              <a:t>张诚坚</a:t>
            </a:r>
            <a:r>
              <a:rPr lang="zh-CN" altLang="en-US" sz="1900" b="1" dirty="0">
                <a:latin typeface="SimSun" panose="02010600030101010101" pitchFamily="2" charset="-122"/>
                <a:ea typeface="SimSun" panose="02010600030101010101" pitchFamily="2" charset="-122"/>
              </a:rPr>
              <a:t>，华中科技大学</a:t>
            </a:r>
            <a:r>
              <a:rPr lang="en-US" sz="1900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b="1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https://www.bilibili.com/video/BV1e54y1y7ac?from=search&amp;seid=2139956431251479208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endParaRPr lang="en-US" altLang="zh-CN" b="1" dirty="0">
              <a:solidFill>
                <a:srgbClr val="0000FF"/>
              </a:solidFill>
            </a:endParaRPr>
          </a:p>
          <a:p>
            <a:r>
              <a:rPr lang="en-US" sz="1900" b="1" dirty="0"/>
              <a:t>(2) MIT18_330S12, Introduction to numerical analysis. Lecture 3: Interpolation. </a:t>
            </a:r>
            <a:r>
              <a:rPr lang="en-US" b="1" u="sng" dirty="0">
                <a:solidFill>
                  <a:srgbClr val="0000FF"/>
                </a:solidFill>
              </a:rPr>
              <a:t>https://</a:t>
            </a:r>
            <a:r>
              <a:rPr lang="en-US" b="1" u="sng" dirty="0" err="1">
                <a:solidFill>
                  <a:srgbClr val="0000FF"/>
                </a:solidFill>
              </a:rPr>
              <a:t>ocw.mit.edu</a:t>
            </a:r>
            <a:r>
              <a:rPr lang="en-US" b="1" u="sng" dirty="0">
                <a:solidFill>
                  <a:srgbClr val="0000FF"/>
                </a:solidFill>
              </a:rPr>
              <a:t>/courses/mathematics/18-330-introduction-to-numerical-analysis-spring-2012/</a:t>
            </a:r>
            <a:endParaRPr lang="en-CN" b="1" u="sng" dirty="0">
              <a:solidFill>
                <a:srgbClr val="0000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78C08-B121-8441-B81D-2BFEA8F0EC83}"/>
              </a:ext>
            </a:extLst>
          </p:cNvPr>
          <p:cNvSpPr txBox="1"/>
          <p:nvPr/>
        </p:nvSpPr>
        <p:spPr>
          <a:xfrm>
            <a:off x="298554" y="4759016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4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课程资源</a:t>
            </a:r>
            <a:endParaRPr lang="en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D14B1A-1A77-F74D-BFC3-0D79B22EC5EA}"/>
              </a:ext>
            </a:extLst>
          </p:cNvPr>
          <p:cNvSpPr txBox="1"/>
          <p:nvPr/>
        </p:nvSpPr>
        <p:spPr>
          <a:xfrm>
            <a:off x="228600" y="1066800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相关教材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7E96DB-9F09-1D40-8238-79BE7B3202C7}"/>
              </a:ext>
            </a:extLst>
          </p:cNvPr>
          <p:cNvSpPr/>
          <p:nvPr/>
        </p:nvSpPr>
        <p:spPr>
          <a:xfrm>
            <a:off x="581510" y="1552200"/>
            <a:ext cx="8305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zh-CN" altLang="en-US" sz="2000" b="1" dirty="0"/>
              <a:t>崔国华</a:t>
            </a:r>
            <a:r>
              <a:rPr lang="en-US" altLang="zh-CN" sz="2000" b="1" dirty="0"/>
              <a:t>. </a:t>
            </a:r>
            <a:r>
              <a:rPr lang="zh-CN" altLang="en-US" sz="2000" b="1" dirty="0"/>
              <a:t>计算方法</a:t>
            </a:r>
            <a:r>
              <a:rPr lang="en-US" altLang="zh-CN" sz="2000" b="1" dirty="0"/>
              <a:t>. </a:t>
            </a:r>
            <a:r>
              <a:rPr lang="zh-CN" altLang="en-US" sz="2000" b="1" i="1" dirty="0"/>
              <a:t>华中科技大学出版社</a:t>
            </a:r>
            <a:endParaRPr lang="en-US" altLang="zh-CN" sz="2000" b="1" i="1" dirty="0"/>
          </a:p>
          <a:p>
            <a:pPr marL="342900" indent="-342900">
              <a:buAutoNum type="arabicParenBoth"/>
            </a:pPr>
            <a:r>
              <a:rPr lang="zh-CN" altLang="en-US" sz="2000" b="1" dirty="0"/>
              <a:t>李庆扬、王能超、易大义</a:t>
            </a:r>
            <a:r>
              <a:rPr lang="en-US" altLang="zh-CN" sz="2000" b="1" dirty="0"/>
              <a:t>. 《</a:t>
            </a:r>
            <a:r>
              <a:rPr lang="zh-CN" altLang="en-US" sz="2000" b="1" dirty="0"/>
              <a:t>数值分析（第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版）</a:t>
            </a:r>
            <a:r>
              <a:rPr lang="en-US" altLang="zh-CN" sz="2000" b="1" dirty="0"/>
              <a:t>》. </a:t>
            </a:r>
            <a:r>
              <a:rPr lang="zh-CN" altLang="en-US" sz="2000" b="1" i="1" dirty="0"/>
              <a:t>清华大学出版社</a:t>
            </a:r>
            <a:endParaRPr lang="en-US" altLang="zh-CN" sz="2000" b="1" i="1" dirty="0"/>
          </a:p>
          <a:p>
            <a:pPr marL="342900" indent="-342900">
              <a:buFontTx/>
              <a:buAutoNum type="arabicParenBoth"/>
            </a:pPr>
            <a:r>
              <a:rPr lang="en-US" sz="2000" b="1" dirty="0"/>
              <a:t>L. Ridgway Scott</a:t>
            </a:r>
            <a:r>
              <a:rPr lang="en-CN" sz="2000" b="1" dirty="0"/>
              <a:t>. </a:t>
            </a:r>
            <a:r>
              <a:rPr lang="en-US" sz="2000" b="1" dirty="0"/>
              <a:t>Numerical Analysis. </a:t>
            </a:r>
            <a:r>
              <a:rPr lang="en-US" sz="2000" b="1" i="1" dirty="0"/>
              <a:t>Princeton University Press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0BB13-6376-C44A-AD4E-554C4DE60B12}"/>
              </a:ext>
            </a:extLst>
          </p:cNvPr>
          <p:cNvSpPr txBox="1"/>
          <p:nvPr/>
        </p:nvSpPr>
        <p:spPr>
          <a:xfrm>
            <a:off x="228600" y="2568476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2073275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13098</TotalTime>
  <Words>2033</Words>
  <Application>Microsoft Macintosh PowerPoint</Application>
  <PresentationFormat>全屏显示(4:3)</PresentationFormat>
  <Paragraphs>490</Paragraphs>
  <Slides>27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楷体_GB2312</vt:lpstr>
      <vt:lpstr>SimSun</vt:lpstr>
      <vt:lpstr>Arial</vt:lpstr>
      <vt:lpstr>Calibri</vt:lpstr>
      <vt:lpstr>Cambria Math</vt:lpstr>
      <vt:lpstr>Helvetica</vt:lpstr>
      <vt:lpstr>Symbol</vt:lpstr>
      <vt:lpstr>Times New Roman</vt:lpstr>
      <vt:lpstr>Verdana</vt:lpstr>
      <vt:lpstr>Wingdings</vt:lpstr>
      <vt:lpstr>Office Theme</vt:lpstr>
      <vt:lpstr>Equation</vt:lpstr>
      <vt:lpstr>Equation.DSMT4</vt:lpstr>
      <vt:lpstr>拉格朗日插值法</vt:lpstr>
      <vt:lpstr>问题的引出（超分辨率显示）</vt:lpstr>
      <vt:lpstr>插值（Interpolation）</vt:lpstr>
      <vt:lpstr>插值（Interpolation）</vt:lpstr>
      <vt:lpstr>插值（Interpolation）</vt:lpstr>
      <vt:lpstr>插值（Interpolation）</vt:lpstr>
      <vt:lpstr>多项式插值</vt:lpstr>
      <vt:lpstr>多项式插值</vt:lpstr>
      <vt:lpstr>多项式插值</vt:lpstr>
      <vt:lpstr>多项式插值</vt:lpstr>
      <vt:lpstr>多项式插值</vt:lpstr>
      <vt:lpstr>多项式插值</vt:lpstr>
      <vt:lpstr>拉格朗日插值</vt:lpstr>
      <vt:lpstr>拉格朗日插值</vt:lpstr>
      <vt:lpstr>应用拓展与前沿动态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课程总结</vt:lpstr>
      <vt:lpstr>课后思考</vt:lpstr>
      <vt:lpstr>课后作业</vt:lpstr>
      <vt:lpstr>参考资料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Xueming Liu</cp:lastModifiedBy>
  <cp:revision>1749</cp:revision>
  <dcterms:created xsi:type="dcterms:W3CDTF">2006-08-16T00:00:00Z</dcterms:created>
  <dcterms:modified xsi:type="dcterms:W3CDTF">2024-03-05T01:17:52Z</dcterms:modified>
</cp:coreProperties>
</file>