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97" r:id="rId3"/>
    <p:sldId id="1700" r:id="rId4"/>
    <p:sldId id="396" r:id="rId5"/>
    <p:sldId id="1704" r:id="rId6"/>
    <p:sldId id="392" r:id="rId7"/>
    <p:sldId id="297" r:id="rId8"/>
    <p:sldId id="352" r:id="rId9"/>
    <p:sldId id="356" r:id="rId10"/>
    <p:sldId id="357" r:id="rId11"/>
    <p:sldId id="358" r:id="rId12"/>
    <p:sldId id="353" r:id="rId13"/>
    <p:sldId id="359" r:id="rId14"/>
    <p:sldId id="360" r:id="rId15"/>
    <p:sldId id="361" r:id="rId16"/>
    <p:sldId id="364" r:id="rId17"/>
    <p:sldId id="366" r:id="rId18"/>
    <p:sldId id="1702" r:id="rId19"/>
    <p:sldId id="303" r:id="rId20"/>
    <p:sldId id="304" r:id="rId21"/>
    <p:sldId id="1701" r:id="rId22"/>
    <p:sldId id="300" r:id="rId23"/>
    <p:sldId id="309" r:id="rId24"/>
    <p:sldId id="39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35"/>
    <p:restoredTop sz="91806"/>
  </p:normalViewPr>
  <p:slideViewPr>
    <p:cSldViewPr showGuides="1">
      <p:cViewPr varScale="1">
        <p:scale>
          <a:sx n="83" d="100"/>
          <a:sy n="83" d="100"/>
        </p:scale>
        <p:origin x="1608" y="20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E9307-9E7E-442D-8536-CA5F4AB99FE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533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201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510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有的摄像头的光学分辨率是</a:t>
            </a:r>
            <a:r>
              <a:rPr lang="en-US" altLang="zh-TW"/>
              <a:t>30</a:t>
            </a:r>
            <a:r>
              <a:rPr lang="zh-TW" altLang="en-US"/>
              <a:t>万</a:t>
            </a:r>
            <a:r>
              <a:rPr lang="zh-CN" altLang="en-US"/>
              <a:t>（实像素）</a:t>
            </a:r>
            <a:r>
              <a:rPr lang="zh-TW" altLang="en-US"/>
              <a:t>，却号称这个摄像头的分辨率是</a:t>
            </a:r>
            <a:r>
              <a:rPr lang="en-US" altLang="zh-TW"/>
              <a:t>130</a:t>
            </a:r>
            <a:r>
              <a:rPr lang="zh-TW" altLang="en-US"/>
              <a:t>万（</a:t>
            </a:r>
            <a:r>
              <a:rPr lang="zh-CN" altLang="en-US"/>
              <a:t>包含虚拟像素</a:t>
            </a:r>
            <a:r>
              <a:rPr lang="zh-TW" altLang="en-US"/>
              <a:t>）的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fld id="{F2215DA6-3E24-C644-B83D-F17C6E6C2779}" type="slidenum">
              <a:rPr lang="en-US" altLang="zh-CN" sz="1200"/>
              <a:t>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00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360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794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291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22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51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802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167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947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484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365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计算机视觉的目标定位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fld id="{561E4AE3-561F-6A43-AEA9-39D44440CB29}" type="slidenum">
              <a:rPr lang="en-US" altLang="zh-CN" sz="1200"/>
              <a:t>20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101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0" y="-9103"/>
            <a:ext cx="9144000" cy="629791"/>
          </a:xfrm>
          <a:prstGeom prst="rect">
            <a:avLst/>
          </a:prstGeom>
          <a:solidFill>
            <a:srgbClr val="183F6E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0B6F0"/>
              </a:buClr>
              <a:buFont typeface="Arial" panose="020B0604020202020204" pitchFamily="34" charset="0"/>
              <a:buNone/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741368"/>
            <a:ext cx="9144000" cy="12346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A6B11DF-0096-BF3F-84BE-034EFF6E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20535"/>
            <a:ext cx="2133600" cy="365125"/>
          </a:xfrm>
        </p:spPr>
        <p:txBody>
          <a:bodyPr/>
          <a:lstStyle>
            <a:lvl1pPr>
              <a:defRPr sz="10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en-US" altLang="zh-CN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38926200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citations?user=2zZNzAwAAAAJ&amp;hl=e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0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9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21.png"/><Relationship Id="rId10" Type="http://schemas.openxmlformats.org/officeDocument/2006/relationships/image" Target="../media/image37.png"/><Relationship Id="rId4" Type="http://schemas.openxmlformats.org/officeDocument/2006/relationships/image" Target="../media/image20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32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br>
              <a:rPr lang="en-US" altLang="zh-CN" sz="60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4800" b="1" dirty="0">
                <a:latin typeface="SimSun" panose="02010600030101010101" pitchFamily="2" charset="-122"/>
                <a:ea typeface="SimSun" panose="02010600030101010101" pitchFamily="2" charset="-122"/>
              </a:rPr>
              <a:t>Computation</a:t>
            </a:r>
            <a:r>
              <a:rPr lang="zh-CN" altLang="en-US" sz="4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4800" b="1" dirty="0">
                <a:latin typeface="SimSun" panose="02010600030101010101" pitchFamily="2" charset="-122"/>
                <a:ea typeface="SimSun" panose="02010600030101010101" pitchFamily="2" charset="-122"/>
              </a:rPr>
              <a:t>Methods</a:t>
            </a:r>
            <a:endParaRPr lang="en-US" sz="4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0"/>
            <a:ext cx="6477000" cy="2901969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人工智能与自动化学院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电话：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87543563</a:t>
            </a: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办公室：南一楼西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303</a:t>
            </a:r>
          </a:p>
          <a:p>
            <a:pPr>
              <a:lnSpc>
                <a:spcPct val="125000"/>
              </a:lnSpc>
            </a:pPr>
            <a:r>
              <a:rPr lang="en-US" altLang="zh-CN" sz="24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4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9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9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9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个人简介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——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715037"/>
            <a:ext cx="883920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2016/08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至今，在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人工智能与自动化学院担任专职教师；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ea typeface="SimSun" panose="02010600030101010101" pitchFamily="2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2014/09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2016/02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美国波士顿大学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物理学院进行博士联合培养学习，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美国哈佛医学院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访问交流；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年在牛津大学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伦敦玛丽女王大学访问交流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2010/06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2016/06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控制系，自动化学院获得学士与博士学位；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研究兴趣：复杂系统韧性与临界点预测、智能生物医疗大数据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 </a:t>
            </a:r>
            <a:r>
              <a:rPr lang="zh-CN" altLang="en-US" sz="2000" b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https://scholar.google.com/citations?user=2zZNzAwAAAAJ&amp;hl=en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8"/>
          <p:cNvSpPr>
            <a:spLocks noChangeArrowheads="1"/>
          </p:cNvSpPr>
          <p:nvPr/>
        </p:nvSpPr>
        <p:spPr bwMode="auto">
          <a:xfrm>
            <a:off x="60723" y="87453"/>
            <a:ext cx="6480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eaLnBrk="0" fontAlgn="ctr" hangingPunct="0">
              <a:buClr>
                <a:srgbClr val="FF0000"/>
              </a:buClr>
              <a:buSzPct val="70000"/>
              <a:defRPr/>
            </a:pPr>
            <a:r>
              <a:rPr lang="zh-CN" altLang="en-US" sz="28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计算方法</a:t>
            </a:r>
            <a:endParaRPr lang="en-US" altLang="zh-CN" sz="2800" b="1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ectangle 131">
            <a:extLst>
              <a:ext uri="{FF2B5EF4-FFF2-40B4-BE49-F238E27FC236}">
                <a16:creationId xmlns:a16="http://schemas.microsoft.com/office/drawing/2014/main" id="{6282862D-779C-7220-0A20-D876500F3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42" y="836712"/>
            <a:ext cx="8682839" cy="711710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indent="457200">
              <a:spcBef>
                <a:spcPct val="20000"/>
              </a:spcBef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21055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2872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703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None/>
              <a:defRPr/>
            </a:pPr>
            <a:r>
              <a:rPr kumimoji="1"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提问：计算方法是做什么用的？</a:t>
            </a:r>
            <a:endParaRPr kumimoji="1" lang="en-US" altLang="zh-CN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6" name="Group 68">
            <a:extLst>
              <a:ext uri="{FF2B5EF4-FFF2-40B4-BE49-F238E27FC236}">
                <a16:creationId xmlns:a16="http://schemas.microsoft.com/office/drawing/2014/main" id="{85D7EF87-F211-26B2-2E68-5B293FB630EE}"/>
              </a:ext>
            </a:extLst>
          </p:cNvPr>
          <p:cNvGrpSpPr>
            <a:grpSpLocks/>
          </p:cNvGrpSpPr>
          <p:nvPr/>
        </p:nvGrpSpPr>
        <p:grpSpPr bwMode="auto">
          <a:xfrm>
            <a:off x="5367536" y="2290936"/>
            <a:ext cx="3048000" cy="1439863"/>
            <a:chOff x="3312" y="1440"/>
            <a:chExt cx="1859" cy="907"/>
          </a:xfrm>
        </p:grpSpPr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8E937D68-F822-DB00-9CCB-75355425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1440"/>
              <a:ext cx="907" cy="90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8D8D8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ea typeface="楷体_GB2312" pitchFamily="49" charset="-122"/>
                </a:rPr>
                <a:t>数值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ea typeface="楷体_GB2312" pitchFamily="49" charset="-122"/>
                </a:rPr>
                <a:t>分析</a:t>
              </a:r>
              <a:endParaRPr lang="zh-CN" altLang="en-US" sz="2400"/>
            </a:p>
          </p:txBody>
        </p:sp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506A5F79-2E25-CD4C-C94C-E03BB1247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64"/>
              <a:ext cx="784" cy="160"/>
            </a:xfrm>
            <a:prstGeom prst="rightArrow">
              <a:avLst>
                <a:gd name="adj1" fmla="val 50000"/>
                <a:gd name="adj2" fmla="val 122500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</p:grpSp>
      <p:grpSp>
        <p:nvGrpSpPr>
          <p:cNvPr id="10" name="Group 67">
            <a:extLst>
              <a:ext uri="{FF2B5EF4-FFF2-40B4-BE49-F238E27FC236}">
                <a16:creationId xmlns:a16="http://schemas.microsoft.com/office/drawing/2014/main" id="{57608F4E-6B72-B06F-3DD0-69DA81BB6567}"/>
              </a:ext>
            </a:extLst>
          </p:cNvPr>
          <p:cNvGrpSpPr>
            <a:grpSpLocks/>
          </p:cNvGrpSpPr>
          <p:nvPr/>
        </p:nvGrpSpPr>
        <p:grpSpPr bwMode="auto">
          <a:xfrm>
            <a:off x="795536" y="2214736"/>
            <a:ext cx="4343400" cy="1981200"/>
            <a:chOff x="432" y="1440"/>
            <a:chExt cx="2688" cy="1200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189A8186-A079-A0D1-42C0-1BC701AF0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8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  <p:sp>
          <p:nvSpPr>
            <p:cNvPr id="12" name="Rectangle 44">
              <a:extLst>
                <a:ext uri="{FF2B5EF4-FFF2-40B4-BE49-F238E27FC236}">
                  <a16:creationId xmlns:a16="http://schemas.microsoft.com/office/drawing/2014/main" id="{76B1E023-A0DE-7027-D79E-D64DB620C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" y="1536"/>
              <a:ext cx="208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7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输入复杂问题或运算</a:t>
              </a:r>
              <a:endParaRPr lang="zh-CN" altLang="en-US" sz="2400">
                <a:ea typeface="楷体_GB2312" pitchFamily="49" charset="-122"/>
              </a:endParaRPr>
            </a:p>
          </p:txBody>
        </p:sp>
        <p:graphicFrame>
          <p:nvGraphicFramePr>
            <p:cNvPr id="13" name="Object 46">
              <a:extLst>
                <a:ext uri="{FF2B5EF4-FFF2-40B4-BE49-F238E27FC236}">
                  <a16:creationId xmlns:a16="http://schemas.microsoft.com/office/drawing/2014/main" id="{15A271B3-5A76-11ED-E87B-40427CDCBD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1" y="1824"/>
            <a:ext cx="2096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27200" imgH="736600" progId="Equation.3">
                    <p:embed/>
                  </p:oleObj>
                </mc:Choice>
                <mc:Fallback>
                  <p:oleObj name="Equation" r:id="rId4" imgW="1727200" imgH="736600" progId="Equation.3">
                    <p:embed/>
                    <p:pic>
                      <p:nvPicPr>
                        <p:cNvPr id="13" name="Object 46">
                          <a:extLst>
                            <a:ext uri="{FF2B5EF4-FFF2-40B4-BE49-F238E27FC236}">
                              <a16:creationId xmlns:a16="http://schemas.microsoft.com/office/drawing/2014/main" id="{15A271B3-5A76-11ED-E87B-40427CDCBD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" y="1824"/>
                          <a:ext cx="2096" cy="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60">
            <a:extLst>
              <a:ext uri="{FF2B5EF4-FFF2-40B4-BE49-F238E27FC236}">
                <a16:creationId xmlns:a16="http://schemas.microsoft.com/office/drawing/2014/main" id="{BF323012-702E-0E45-2A3D-973D4983CDED}"/>
              </a:ext>
            </a:extLst>
          </p:cNvPr>
          <p:cNvGrpSpPr>
            <a:grpSpLocks/>
          </p:cNvGrpSpPr>
          <p:nvPr/>
        </p:nvGrpSpPr>
        <p:grpSpPr bwMode="auto">
          <a:xfrm>
            <a:off x="7120136" y="3967336"/>
            <a:ext cx="1219200" cy="1981200"/>
            <a:chOff x="4032" y="2544"/>
            <a:chExt cx="672" cy="1200"/>
          </a:xfrm>
        </p:grpSpPr>
        <p:sp>
          <p:nvSpPr>
            <p:cNvPr id="15" name="AutoShape 49">
              <a:extLst>
                <a:ext uri="{FF2B5EF4-FFF2-40B4-BE49-F238E27FC236}">
                  <a16:creationId xmlns:a16="http://schemas.microsoft.com/office/drawing/2014/main" id="{86004CBF-549F-38D7-77D2-B82D104FFD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52" y="271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  <p:sp>
          <p:nvSpPr>
            <p:cNvPr id="16" name="Oval 59">
              <a:extLst>
                <a:ext uri="{FF2B5EF4-FFF2-40B4-BE49-F238E27FC236}">
                  <a16:creationId xmlns:a16="http://schemas.microsoft.com/office/drawing/2014/main" id="{86270EB9-03E4-3791-7559-78B41E972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072"/>
              <a:ext cx="672" cy="67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9B9B9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ea typeface="楷体_GB2312" pitchFamily="49" charset="-122"/>
                  <a:sym typeface="Symbol" panose="05050102010706020507" pitchFamily="18" charset="2"/>
                </a:rPr>
                <a:t>  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ea typeface="楷体_GB2312" pitchFamily="49" charset="-122"/>
                  <a:sym typeface="Symbol" panose="05050102010706020507" pitchFamily="18" charset="2"/>
                </a:rPr>
                <a:t>  </a:t>
              </a:r>
              <a:endParaRPr lang="en-US" altLang="zh-CN" sz="2800" b="1">
                <a:ea typeface="楷体_GB2312" pitchFamily="49" charset="-122"/>
              </a:endParaRPr>
            </a:p>
          </p:txBody>
        </p:sp>
      </p:grpSp>
      <p:grpSp>
        <p:nvGrpSpPr>
          <p:cNvPr id="17" name="Group 69">
            <a:extLst>
              <a:ext uri="{FF2B5EF4-FFF2-40B4-BE49-F238E27FC236}">
                <a16:creationId xmlns:a16="http://schemas.microsoft.com/office/drawing/2014/main" id="{97BCD7DA-DFC2-BC22-0D1E-AEB3C58DC899}"/>
              </a:ext>
            </a:extLst>
          </p:cNvPr>
          <p:cNvGrpSpPr>
            <a:grpSpLocks/>
          </p:cNvGrpSpPr>
          <p:nvPr/>
        </p:nvGrpSpPr>
        <p:grpSpPr bwMode="auto">
          <a:xfrm>
            <a:off x="3995936" y="4653136"/>
            <a:ext cx="2971800" cy="1524000"/>
            <a:chOff x="2496" y="2928"/>
            <a:chExt cx="1872" cy="960"/>
          </a:xfrm>
        </p:grpSpPr>
        <p:sp>
          <p:nvSpPr>
            <p:cNvPr id="22" name="Oval 62">
              <a:extLst>
                <a:ext uri="{FF2B5EF4-FFF2-40B4-BE49-F238E27FC236}">
                  <a16:creationId xmlns:a16="http://schemas.microsoft.com/office/drawing/2014/main" id="{15C9A8C4-B93B-D944-27D7-E5AE1BDD49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96" y="2928"/>
              <a:ext cx="1039" cy="96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8D8D8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ea typeface="楷体_GB2312" pitchFamily="49" charset="-122"/>
                </a:rPr>
                <a:t>计算机</a:t>
              </a:r>
              <a:endParaRPr lang="zh-CN" altLang="en-US" sz="2400"/>
            </a:p>
          </p:txBody>
        </p:sp>
        <p:sp>
          <p:nvSpPr>
            <p:cNvPr id="23" name="AutoShape 63">
              <a:extLst>
                <a:ext uri="{FF2B5EF4-FFF2-40B4-BE49-F238E27FC236}">
                  <a16:creationId xmlns:a16="http://schemas.microsoft.com/office/drawing/2014/main" id="{2FCF53EE-6CC2-0BF4-FA2F-30388909E30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03" y="3332"/>
              <a:ext cx="765" cy="152"/>
            </a:xfrm>
            <a:prstGeom prst="rightArrow">
              <a:avLst>
                <a:gd name="adj1" fmla="val 50000"/>
                <a:gd name="adj2" fmla="val 125822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</p:grpSp>
      <p:grpSp>
        <p:nvGrpSpPr>
          <p:cNvPr id="24" name="Group 70">
            <a:extLst>
              <a:ext uri="{FF2B5EF4-FFF2-40B4-BE49-F238E27FC236}">
                <a16:creationId xmlns:a16="http://schemas.microsoft.com/office/drawing/2014/main" id="{E7317E22-5DB0-7600-6346-D1151FFCB9BA}"/>
              </a:ext>
            </a:extLst>
          </p:cNvPr>
          <p:cNvGrpSpPr>
            <a:grpSpLocks/>
          </p:cNvGrpSpPr>
          <p:nvPr/>
        </p:nvGrpSpPr>
        <p:grpSpPr bwMode="auto">
          <a:xfrm>
            <a:off x="643136" y="4805536"/>
            <a:ext cx="3149600" cy="1143000"/>
            <a:chOff x="336" y="3072"/>
            <a:chExt cx="1984" cy="672"/>
          </a:xfrm>
        </p:grpSpPr>
        <p:sp>
          <p:nvSpPr>
            <p:cNvPr id="25" name="AutoShape 64">
              <a:extLst>
                <a:ext uri="{FF2B5EF4-FFF2-40B4-BE49-F238E27FC236}">
                  <a16:creationId xmlns:a16="http://schemas.microsoft.com/office/drawing/2014/main" id="{F99C491E-3D8E-0626-CB0B-6E66CE22D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72"/>
              <a:ext cx="1248" cy="672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rgbClr val="C1C1C1"/>
                </a:gs>
                <a:gs pos="50000">
                  <a:srgbClr val="FFFFFF"/>
                </a:gs>
                <a:gs pos="100000">
                  <a:srgbClr val="C1C1C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ea typeface="楷体_GB2312" pitchFamily="49" charset="-122"/>
                </a:rPr>
                <a:t>近似解</a:t>
              </a:r>
            </a:p>
          </p:txBody>
        </p:sp>
        <p:sp>
          <p:nvSpPr>
            <p:cNvPr id="26" name="AutoShape 65">
              <a:extLst>
                <a:ext uri="{FF2B5EF4-FFF2-40B4-BE49-F238E27FC236}">
                  <a16:creationId xmlns:a16="http://schemas.microsoft.com/office/drawing/2014/main" id="{CCD2EE6F-809E-2CC7-685E-08DF02A8E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60"/>
              <a:ext cx="640" cy="144"/>
            </a:xfrm>
            <a:prstGeom prst="leftArrow">
              <a:avLst>
                <a:gd name="adj1" fmla="val 50000"/>
                <a:gd name="adj2" fmla="val 111111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6FAC950-4FD4-B857-D538-A9950223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r>
              <a:rPr lang="en-US" altLang="zh-CN"/>
              <a:t>/25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4690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课程定位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2998" y="762000"/>
            <a:ext cx="6858000" cy="10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（又名“数值分析”）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3383873" y="3200400"/>
            <a:ext cx="1159099" cy="4572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数</a:t>
            </a:r>
            <a:r>
              <a:rPr lang="zh-CN" altLang="en-US" sz="2000" b="1" dirty="0"/>
              <a:t> </a:t>
            </a:r>
            <a:r>
              <a:rPr lang="en-US" sz="2000" b="1" dirty="0"/>
              <a:t>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4461330"/>
            <a:ext cx="1219200" cy="457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基础数学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0398" y="4461330"/>
            <a:ext cx="1219200" cy="457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计算数学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27537" y="4343401"/>
            <a:ext cx="1219200" cy="69305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概率论与数理统计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339" y="4437899"/>
            <a:ext cx="1219200" cy="457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应用数学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5049" y="4343400"/>
            <a:ext cx="1219200" cy="69305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运筹学与控制论</a:t>
            </a:r>
          </a:p>
        </p:txBody>
      </p:sp>
      <p:cxnSp>
        <p:nvCxnSpPr>
          <p:cNvPr id="13" name="Elbow Connector 12"/>
          <p:cNvCxnSpPr>
            <a:stCxn id="6" idx="4"/>
            <a:endCxn id="18" idx="0"/>
          </p:cNvCxnSpPr>
          <p:nvPr/>
        </p:nvCxnSpPr>
        <p:spPr>
          <a:xfrm rot="16200000" flipH="1">
            <a:off x="5456136" y="2164887"/>
            <a:ext cx="685800" cy="3671226"/>
          </a:xfrm>
          <a:prstGeom prst="bentConnector3">
            <a:avLst>
              <a:gd name="adj1" fmla="val 58466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6" idx="4"/>
            <a:endCxn id="8" idx="0"/>
          </p:cNvCxnSpPr>
          <p:nvPr/>
        </p:nvCxnSpPr>
        <p:spPr>
          <a:xfrm rot="5400000">
            <a:off x="2303747" y="2801654"/>
            <a:ext cx="803730" cy="2515623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6" idx="4"/>
            <a:endCxn id="14" idx="0"/>
          </p:cNvCxnSpPr>
          <p:nvPr/>
        </p:nvCxnSpPr>
        <p:spPr>
          <a:xfrm rot="5400000">
            <a:off x="3069846" y="3567753"/>
            <a:ext cx="803730" cy="983425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6" idx="4"/>
            <a:endCxn id="17" idx="0"/>
          </p:cNvCxnSpPr>
          <p:nvPr/>
        </p:nvCxnSpPr>
        <p:spPr>
          <a:xfrm rot="16200000" flipH="1">
            <a:off x="3844032" y="3776991"/>
            <a:ext cx="780299" cy="541516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6" idx="4"/>
            <a:endCxn id="16" idx="0"/>
          </p:cNvCxnSpPr>
          <p:nvPr/>
        </p:nvCxnSpPr>
        <p:spPr>
          <a:xfrm rot="16200000" flipH="1">
            <a:off x="4657380" y="2963643"/>
            <a:ext cx="685801" cy="2073714"/>
          </a:xfrm>
          <a:prstGeom prst="bentConnector3">
            <a:avLst>
              <a:gd name="adj1" fmla="val 60582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8" idx="0"/>
          </p:cNvCxnSpPr>
          <p:nvPr/>
        </p:nvCxnSpPr>
        <p:spPr>
          <a:xfrm>
            <a:off x="2979998" y="4895099"/>
            <a:ext cx="0" cy="77812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523531" y="5673220"/>
            <a:ext cx="2912934" cy="533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基础课程</a:t>
            </a:r>
            <a:r>
              <a:rPr lang="zh-CN" altLang="en-US" sz="2000" b="1" dirty="0"/>
              <a:t>：</a:t>
            </a:r>
            <a:r>
              <a:rPr lang="en-US" sz="2000" b="1" dirty="0"/>
              <a:t>计算方法</a:t>
            </a:r>
          </a:p>
        </p:txBody>
      </p:sp>
      <p:sp>
        <p:nvSpPr>
          <p:cNvPr id="50" name="Frame 49"/>
          <p:cNvSpPr/>
          <p:nvPr/>
        </p:nvSpPr>
        <p:spPr>
          <a:xfrm>
            <a:off x="5411880" y="5381599"/>
            <a:ext cx="1103187" cy="38753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12787" y="538160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数值逼近</a:t>
            </a:r>
          </a:p>
        </p:txBody>
      </p:sp>
      <p:sp>
        <p:nvSpPr>
          <p:cNvPr id="54" name="Frame 53"/>
          <p:cNvSpPr/>
          <p:nvPr/>
        </p:nvSpPr>
        <p:spPr>
          <a:xfrm>
            <a:off x="5410973" y="5858933"/>
            <a:ext cx="1103187" cy="38753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11880" y="58589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数值代数</a:t>
            </a:r>
          </a:p>
        </p:txBody>
      </p:sp>
      <p:sp>
        <p:nvSpPr>
          <p:cNvPr id="56" name="Frame 55"/>
          <p:cNvSpPr/>
          <p:nvPr/>
        </p:nvSpPr>
        <p:spPr>
          <a:xfrm>
            <a:off x="5410066" y="6318063"/>
            <a:ext cx="1980427" cy="38753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10973" y="6318064"/>
            <a:ext cx="198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微分方程数值解</a:t>
            </a:r>
          </a:p>
        </p:txBody>
      </p:sp>
      <p:cxnSp>
        <p:nvCxnSpPr>
          <p:cNvPr id="68" name="Elbow Connector 67"/>
          <p:cNvCxnSpPr>
            <a:stCxn id="48" idx="3"/>
            <a:endCxn id="53" idx="1"/>
          </p:cNvCxnSpPr>
          <p:nvPr/>
        </p:nvCxnSpPr>
        <p:spPr>
          <a:xfrm flipV="1">
            <a:off x="4436465" y="5566266"/>
            <a:ext cx="976322" cy="373654"/>
          </a:xfrm>
          <a:prstGeom prst="bentConnector3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48" idx="3"/>
            <a:endCxn id="57" idx="1"/>
          </p:cNvCxnSpPr>
          <p:nvPr/>
        </p:nvCxnSpPr>
        <p:spPr>
          <a:xfrm>
            <a:off x="4436465" y="5939920"/>
            <a:ext cx="974508" cy="562810"/>
          </a:xfrm>
          <a:prstGeom prst="bentConnector3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48" idx="3"/>
            <a:endCxn id="55" idx="1"/>
          </p:cNvCxnSpPr>
          <p:nvPr/>
        </p:nvCxnSpPr>
        <p:spPr>
          <a:xfrm>
            <a:off x="4436465" y="5939920"/>
            <a:ext cx="975415" cy="103680"/>
          </a:xfrm>
          <a:prstGeom prst="bentConnector3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13228" y="1700599"/>
            <a:ext cx="5952739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目标：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求解工程实际中的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数学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09600" y="2358634"/>
            <a:ext cx="6552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特点：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大量数学推导和计算，涉及建模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4" grpId="0" animBg="1"/>
      <p:bldP spid="16" grpId="0" animBg="1"/>
      <p:bldP spid="17" grpId="0" animBg="1"/>
      <p:bldP spid="18" grpId="0" animBg="1"/>
      <p:bldP spid="48" grpId="0" animBg="1"/>
      <p:bldP spid="50" grpId="0" animBg="1"/>
      <p:bldP spid="53" grpId="0"/>
      <p:bldP spid="54" grpId="0" animBg="1"/>
      <p:bldP spid="55" grpId="0"/>
      <p:bldP spid="56" grpId="0" animBg="1"/>
      <p:bldP spid="57" grpId="0"/>
      <p:bldP spid="79" grpId="0"/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课程定位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2998" y="762000"/>
            <a:ext cx="6858000" cy="10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（又名“数值分析”）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13228" y="1700599"/>
            <a:ext cx="5952739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目标：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求解工程实际中的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数学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09600" y="2358634"/>
            <a:ext cx="6552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特点：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大量数学推导和计算，涉及建模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4A2C87B5-CC66-8856-EA54-D386E5F31A14}"/>
              </a:ext>
            </a:extLst>
          </p:cNvPr>
          <p:cNvSpPr txBox="1"/>
          <p:nvPr/>
        </p:nvSpPr>
        <p:spPr>
          <a:xfrm>
            <a:off x="291227" y="3353394"/>
            <a:ext cx="8356057" cy="163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我们为什么上这门课？</a:t>
            </a:r>
            <a:endParaRPr lang="en-US" altLang="zh-CN" sz="32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人工智能与自动化学院</a:t>
            </a:r>
            <a:r>
              <a:rPr lang="zh-CN" altLang="en-US" sz="3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自动化专业大二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学生</a:t>
            </a:r>
            <a:endParaRPr lang="en-US" altLang="zh-CN" sz="3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已学过的相关课程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：微积分、线性代数、概率论</a:t>
            </a:r>
            <a:endParaRPr lang="en-US" altLang="zh-CN" sz="3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6785729C-6477-19D2-AF58-C766EDB11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12" y="5582284"/>
            <a:ext cx="1641627" cy="89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6">
            <a:extLst>
              <a:ext uri="{FF2B5EF4-FFF2-40B4-BE49-F238E27FC236}">
                <a16:creationId xmlns:a16="http://schemas.microsoft.com/office/drawing/2014/main" id="{C7A2AD30-DCF6-AF9D-3BB5-F106E541B6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26" y="5608035"/>
            <a:ext cx="2092174" cy="83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ABFFDBE6-5BF7-8B08-8566-F5FCCB55BE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140" y="5669884"/>
            <a:ext cx="2660347" cy="711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0BDB265-AA78-7FAB-291A-866E6AFAA7E9}"/>
              </a:ext>
            </a:extLst>
          </p:cNvPr>
          <p:cNvSpPr/>
          <p:nvPr/>
        </p:nvSpPr>
        <p:spPr>
          <a:xfrm>
            <a:off x="3545346" y="5354395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72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Oval 7"/>
          <p:cNvSpPr>
            <a:spLocks noChangeArrowheads="1"/>
          </p:cNvSpPr>
          <p:nvPr/>
        </p:nvSpPr>
        <p:spPr bwMode="auto">
          <a:xfrm>
            <a:off x="550861" y="1870216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</a:p>
        </p:txBody>
      </p:sp>
      <p:sp>
        <p:nvSpPr>
          <p:cNvPr id="45" name="AutoShape 10"/>
          <p:cNvSpPr>
            <a:spLocks noChangeArrowheads="1"/>
          </p:cNvSpPr>
          <p:nvPr/>
        </p:nvSpPr>
        <p:spPr bwMode="auto">
          <a:xfrm>
            <a:off x="1735509" y="2327416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46" name="Group 67"/>
          <p:cNvGrpSpPr/>
          <p:nvPr/>
        </p:nvGrpSpPr>
        <p:grpSpPr bwMode="auto">
          <a:xfrm>
            <a:off x="2750423" y="1882597"/>
            <a:ext cx="1669176" cy="922319"/>
            <a:chOff x="432" y="1440"/>
            <a:chExt cx="2689" cy="1200"/>
          </a:xfrm>
        </p:grpSpPr>
        <p:sp>
          <p:nvSpPr>
            <p:cNvPr id="47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</a:p>
          </p:txBody>
        </p:sp>
      </p:grpSp>
      <p:sp>
        <p:nvSpPr>
          <p:cNvPr id="49" name="AutoShape 10"/>
          <p:cNvSpPr>
            <a:spLocks noChangeArrowheads="1"/>
          </p:cNvSpPr>
          <p:nvPr/>
        </p:nvSpPr>
        <p:spPr bwMode="auto">
          <a:xfrm>
            <a:off x="4419599" y="2361754"/>
            <a:ext cx="1431198" cy="178762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0" name="AutoShape 49"/>
          <p:cNvSpPr>
            <a:spLocks noChangeArrowheads="1"/>
          </p:cNvSpPr>
          <p:nvPr/>
        </p:nvSpPr>
        <p:spPr bwMode="auto">
          <a:xfrm rot="5400000">
            <a:off x="6783380" y="3016511"/>
            <a:ext cx="672363" cy="184150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zh-CN" altLang="en-US" sz="2400"/>
          </a:p>
        </p:txBody>
      </p:sp>
      <p:grpSp>
        <p:nvGrpSpPr>
          <p:cNvPr id="51" name="Group 67"/>
          <p:cNvGrpSpPr/>
          <p:nvPr/>
        </p:nvGrpSpPr>
        <p:grpSpPr bwMode="auto">
          <a:xfrm>
            <a:off x="5850797" y="1741319"/>
            <a:ext cx="2962460" cy="1063596"/>
            <a:chOff x="432" y="1440"/>
            <a:chExt cx="2689" cy="1200"/>
          </a:xfrm>
        </p:grpSpPr>
        <p:sp>
          <p:nvSpPr>
            <p:cNvPr id="52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Rectangle 44"/>
            <p:cNvSpPr>
              <a:spLocks noChangeArrowheads="1"/>
            </p:cNvSpPr>
            <p:nvPr/>
          </p:nvSpPr>
          <p:spPr bwMode="auto">
            <a:xfrm>
              <a:off x="532" y="1815"/>
              <a:ext cx="2540" cy="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计算模型</a:t>
              </a:r>
            </a:p>
          </p:txBody>
        </p:sp>
      </p:grpSp>
      <p:grpSp>
        <p:nvGrpSpPr>
          <p:cNvPr id="54" name="Group 67"/>
          <p:cNvGrpSpPr/>
          <p:nvPr/>
        </p:nvGrpSpPr>
        <p:grpSpPr bwMode="auto">
          <a:xfrm>
            <a:off x="5939261" y="3444768"/>
            <a:ext cx="2378804" cy="812566"/>
            <a:chOff x="432" y="1440"/>
            <a:chExt cx="2689" cy="1200"/>
          </a:xfrm>
        </p:grpSpPr>
        <p:sp>
          <p:nvSpPr>
            <p:cNvPr id="55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" name="Rectangle 44"/>
            <p:cNvSpPr>
              <a:spLocks noChangeArrowheads="1"/>
            </p:cNvSpPr>
            <p:nvPr/>
          </p:nvSpPr>
          <p:spPr bwMode="auto">
            <a:xfrm>
              <a:off x="432" y="1749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</a:p>
          </p:txBody>
        </p:sp>
      </p:grpSp>
      <p:sp>
        <p:nvSpPr>
          <p:cNvPr id="58" name="Oval 7"/>
          <p:cNvSpPr>
            <a:spLocks noChangeArrowheads="1"/>
          </p:cNvSpPr>
          <p:nvPr/>
        </p:nvSpPr>
        <p:spPr bwMode="auto">
          <a:xfrm>
            <a:off x="6497606" y="5009185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</a:p>
        </p:txBody>
      </p:sp>
      <p:sp>
        <p:nvSpPr>
          <p:cNvPr id="60" name="Bent-Up Arrow 28"/>
          <p:cNvSpPr/>
          <p:nvPr/>
        </p:nvSpPr>
        <p:spPr bwMode="auto">
          <a:xfrm flipH="1">
            <a:off x="1904997" y="2540518"/>
            <a:ext cx="5122488" cy="2207850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/>
          <a:p>
            <a:endParaRPr lang="en-US"/>
          </a:p>
        </p:txBody>
      </p:sp>
      <p:sp>
        <p:nvSpPr>
          <p:cNvPr id="61" name="TextBox 32"/>
          <p:cNvSpPr txBox="1">
            <a:spLocks noChangeArrowheads="1"/>
          </p:cNvSpPr>
          <p:nvPr/>
        </p:nvSpPr>
        <p:spPr bwMode="auto">
          <a:xfrm>
            <a:off x="1463406" y="3656529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59" name="AutoShape 49"/>
          <p:cNvSpPr>
            <a:spLocks noChangeArrowheads="1"/>
          </p:cNvSpPr>
          <p:nvPr/>
        </p:nvSpPr>
        <p:spPr bwMode="auto">
          <a:xfrm rot="5400000">
            <a:off x="6699710" y="4549193"/>
            <a:ext cx="801234" cy="145683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4297127" y="1312298"/>
            <a:ext cx="22004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计算方法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3864C126-ACC5-024E-BFE0-391605BDB215}"/>
              </a:ext>
            </a:extLst>
          </p:cNvPr>
          <p:cNvSpPr txBox="1"/>
          <p:nvPr/>
        </p:nvSpPr>
        <p:spPr>
          <a:xfrm>
            <a:off x="1518413" y="6164870"/>
            <a:ext cx="6863588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计算方法：连接数学与应用科学的桥梁</a:t>
            </a:r>
            <a:endParaRPr lang="en-US" altLang="zh-CN" sz="2800" b="1" dirty="0">
              <a:solidFill>
                <a:schemeClr val="accent5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89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9" grpId="0" animBg="1"/>
      <p:bldP spid="50" grpId="0" animBg="1"/>
      <p:bldP spid="58" grpId="0" animBg="1"/>
      <p:bldP spid="60" grpId="0" animBg="1"/>
      <p:bldP spid="61" grpId="0"/>
      <p:bldP spid="59" grpId="0" animBg="1"/>
      <p:bldP spid="23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590800"/>
            <a:ext cx="10096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2057400"/>
            <a:ext cx="21590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52600" y="5105400"/>
            <a:ext cx="6705600" cy="954088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低分辨率图像放大后像素点之间的缺失值如何填充？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48400" y="6178550"/>
            <a:ext cx="2057400" cy="646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36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r>
              <a:rPr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4445" r="23334" b="10001"/>
          <a:stretch>
            <a:fillRect/>
          </a:stretch>
        </p:blipFill>
        <p:spPr bwMode="auto">
          <a:xfrm>
            <a:off x="381000" y="5105400"/>
            <a:ext cx="925513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Elbow Connector 10"/>
          <p:cNvCxnSpPr/>
          <p:nvPr/>
        </p:nvCxnSpPr>
        <p:spPr>
          <a:xfrm>
            <a:off x="4191000" y="6096000"/>
            <a:ext cx="1981200" cy="442913"/>
          </a:xfrm>
          <a:prstGeom prst="bentConnector3">
            <a:avLst>
              <a:gd name="adj1" fmla="val 3050"/>
            </a:avLst>
          </a:prstGeom>
          <a:ln w="104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238" y="1222375"/>
            <a:ext cx="36068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图像的超分辨率显示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Process 13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5" name="Content Placeholder 3">
            <a:extLst>
              <a:ext uri="{FF2B5EF4-FFF2-40B4-BE49-F238E27FC236}">
                <a16:creationId xmlns:a16="http://schemas.microsoft.com/office/drawing/2014/main" id="{D43A02DA-AD99-1647-8960-585C677F7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914400" y="3074988"/>
            <a:ext cx="6324600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24C7B6-3779-474B-9C2A-7E8F60156F23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24C7B6-3779-474B-9C2A-7E8F60156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4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56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381B02D1-C92B-7F47-A335-B70A6B268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990600" y="2982912"/>
            <a:ext cx="6629400" cy="364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127529-BADC-DA4B-9DD3-BF22DBE8905A}"/>
              </a:ext>
            </a:extLst>
          </p:cNvPr>
          <p:cNvSpPr txBox="1"/>
          <p:nvPr/>
        </p:nvSpPr>
        <p:spPr>
          <a:xfrm>
            <a:off x="525651" y="23622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zh-CN" altLang="en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最近邻常数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endParaRPr lang="en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图片 5">
            <a:extLst>
              <a:ext uri="{FF2B5EF4-FFF2-40B4-BE49-F238E27FC236}">
                <a16:creationId xmlns:a16="http://schemas.microsoft.com/office/drawing/2014/main" id="{4981F991-5B08-574B-B9B2-3E588A2DEDB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213257" y="2953200"/>
            <a:ext cx="3600000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5E2B9A-337D-AD47-8F34-5CB2CF326E41}"/>
              </a:ext>
            </a:extLst>
          </p:cNvPr>
          <p:cNvSpPr txBox="1"/>
          <p:nvPr/>
        </p:nvSpPr>
        <p:spPr>
          <a:xfrm>
            <a:off x="5189349" y="2362200"/>
            <a:ext cx="3192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插值效果：</a:t>
            </a:r>
            <a:endParaRPr lang="en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291887-70FD-2B46-893A-7A24B364AC37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291887-70FD-2B46-893A-7A24B364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5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93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27529-BADC-DA4B-9DD3-BF22DBE8905A}"/>
              </a:ext>
            </a:extLst>
          </p:cNvPr>
          <p:cNvSpPr txBox="1"/>
          <p:nvPr/>
        </p:nvSpPr>
        <p:spPr>
          <a:xfrm>
            <a:off x="525651" y="23622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、线性插值</a:t>
            </a:r>
            <a:endParaRPr lang="en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D6A0F20F-96AA-E449-A7C0-F58C00E6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1039813" y="3209010"/>
            <a:ext cx="6602413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9">
            <a:extLst>
              <a:ext uri="{FF2B5EF4-FFF2-40B4-BE49-F238E27FC236}">
                <a16:creationId xmlns:a16="http://schemas.microsoft.com/office/drawing/2014/main" id="{6DB5B37D-7911-D044-8588-E1C18ECA96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029400"/>
            <a:ext cx="3600000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61FAB-0F64-E14D-A142-4293C4494F99}"/>
              </a:ext>
            </a:extLst>
          </p:cNvPr>
          <p:cNvSpPr txBox="1"/>
          <p:nvPr/>
        </p:nvSpPr>
        <p:spPr>
          <a:xfrm>
            <a:off x="5189349" y="2362200"/>
            <a:ext cx="3192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插值效果：</a:t>
            </a:r>
            <a:endParaRPr lang="en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9815CD-C9C9-1E44-9080-B2AB4710F357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9815CD-C9C9-1E44-9080-B2AB4710F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5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09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1E6722-8250-D24D-9471-B5F10218251B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1E6722-8250-D24D-9471-B5F102182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3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4127529-BADC-DA4B-9DD3-BF22DBE8905A}"/>
              </a:ext>
            </a:extLst>
          </p:cNvPr>
          <p:cNvSpPr txBox="1"/>
          <p:nvPr/>
        </p:nvSpPr>
        <p:spPr>
          <a:xfrm>
            <a:off x="525651" y="23622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CN" sz="2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E61FAB-0F64-E14D-A142-4293C4494F99}"/>
              </a:ext>
            </a:extLst>
          </p:cNvPr>
          <p:cNvSpPr txBox="1"/>
          <p:nvPr/>
        </p:nvSpPr>
        <p:spPr>
          <a:xfrm>
            <a:off x="5189349" y="2362200"/>
            <a:ext cx="3192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插值效果：</a:t>
            </a:r>
            <a:endParaRPr lang="en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11E7DFAC-9041-6641-86A3-2932A6A4F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990600" y="3045089"/>
            <a:ext cx="6527800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6">
            <a:extLst>
              <a:ext uri="{FF2B5EF4-FFF2-40B4-BE49-F238E27FC236}">
                <a16:creationId xmlns:a16="http://schemas.microsoft.com/office/drawing/2014/main" id="{425CFDA1-60D1-B044-8A6B-F62EB0DF9E3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349" y="3017967"/>
            <a:ext cx="3600000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417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B6F22D-1151-D848-97E9-D28D089879E5}"/>
                  </a:ext>
                </a:extLst>
              </p:cNvPr>
              <p:cNvSpPr txBox="1"/>
              <p:nvPr/>
            </p:nvSpPr>
            <p:spPr>
              <a:xfrm>
                <a:off x="254543" y="1390471"/>
                <a:ext cx="8558713" cy="1251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个不重合的离散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的集合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次多项式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𝟎</m:t>
                        </m:r>
                      </m:sub>
                    </m:sSub>
                    <m:r>
                      <a:rPr lang="en-US" altLang="zh-CN" sz="2400" b="1" i="1" dirty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+…+</m:t>
                    </m:r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  其中，</a:t>
                </a:r>
                <a:r>
                  <a:rPr lang="en-US" altLang="zh-CN" sz="2400" b="1" dirty="0"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B6F22D-1151-D848-97E9-D28D08987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43" y="1390471"/>
                <a:ext cx="8558713" cy="1251946"/>
              </a:xfrm>
              <a:prstGeom prst="rect">
                <a:avLst/>
              </a:prstGeom>
              <a:blipFill>
                <a:blip r:embed="rId3"/>
                <a:stretch>
                  <a:fillRect l="-1037" t="-2020" r="-1037" b="-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317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/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，构造一条多项式（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？次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）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曲线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穿过这些数据点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blipFill>
                <a:blip r:embed="rId3"/>
                <a:stretch>
                  <a:fillRect l="-1037" t="-7576" r="-1037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A673D0BF-DD4B-C647-A2CF-AEB4A81AE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76538"/>
            <a:ext cx="48768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672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/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，构造一条多项式（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3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次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）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曲线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穿过这些数据点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blipFill>
                <a:blip r:embed="rId3"/>
                <a:stretch>
                  <a:fillRect l="-1037" t="-7576" r="-1037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A673D0BF-DD4B-C647-A2CF-AEB4A81AE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76538"/>
            <a:ext cx="48768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075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D6F2827F-5F97-4876-9522-7D8A60DF6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2782" y="1047959"/>
            <a:ext cx="9144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1" dirty="0">
                <a:solidFill>
                  <a:srgbClr val="002060"/>
                </a:solidFill>
                <a:latin typeface="Arial" panose="020B0604020202020204" pitchFamily="34" charset="0"/>
              </a:rPr>
              <a:t>解题思路：构造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条</a:t>
            </a:r>
            <a:r>
              <a:rPr lang="zh-CN" altLang="en-US" sz="2400" i="1" dirty="0">
                <a:solidFill>
                  <a:srgbClr val="002060"/>
                </a:solidFill>
                <a:latin typeface="Arial" panose="020B0604020202020204" pitchFamily="34" charset="0"/>
              </a:rPr>
              <a:t>曲线分别穿过其中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个</a:t>
            </a:r>
            <a:r>
              <a:rPr lang="zh-CN" altLang="en-US" sz="2400" i="1" dirty="0">
                <a:solidFill>
                  <a:srgbClr val="002060"/>
                </a:solidFill>
                <a:latin typeface="Arial" panose="020B0604020202020204" pitchFamily="34" charset="0"/>
              </a:rPr>
              <a:t>数据点后叠加</a:t>
            </a:r>
            <a:endParaRPr lang="en-US" altLang="zh-CN" sz="2400" i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5FF5C69-5633-4157-9867-C908FB8948DF}"/>
                  </a:ext>
                </a:extLst>
              </p:cNvPr>
              <p:cNvSpPr txBox="1"/>
              <p:nvPr/>
            </p:nvSpPr>
            <p:spPr>
              <a:xfrm>
                <a:off x="0" y="1967557"/>
                <a:ext cx="9448800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1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，构造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1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条曲线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(x)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</m:d>
                  </m:oMath>
                </a14:m>
                <a:endParaRPr lang="zh-CN" altLang="en-US" sz="2400" b="1" dirty="0">
                  <a:solidFill>
                    <a:schemeClr val="tx1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5FF5C69-5633-4157-9867-C908FB894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67557"/>
                <a:ext cx="9448800" cy="530915"/>
              </a:xfrm>
              <a:prstGeom prst="rect">
                <a:avLst/>
              </a:prstGeom>
              <a:blipFill>
                <a:blip r:embed="rId3"/>
                <a:stretch>
                  <a:fillRect l="-1478" t="-16667" b="-285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3">
            <a:extLst>
              <a:ext uri="{FF2B5EF4-FFF2-40B4-BE49-F238E27FC236}">
                <a16:creationId xmlns:a16="http://schemas.microsoft.com/office/drawing/2014/main" id="{DB8E66EB-19DD-4BB9-8D31-FDE43B861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5800"/>
            <a:ext cx="38862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4B2396-BC9F-4324-A958-C0AF47C83553}"/>
                  </a:ext>
                </a:extLst>
              </p:cNvPr>
              <p:cNvSpPr txBox="1"/>
              <p:nvPr/>
            </p:nvSpPr>
            <p:spPr>
              <a:xfrm>
                <a:off x="4004003" y="4298399"/>
                <a:ext cx="5139997" cy="78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4B2396-BC9F-4324-A958-C0AF47C83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03" y="4298399"/>
                <a:ext cx="5139997" cy="784510"/>
              </a:xfrm>
              <a:prstGeom prst="rect">
                <a:avLst/>
              </a:prstGeom>
              <a:blipFill>
                <a:blip r:embed="rId5"/>
                <a:stretch>
                  <a:fillRect l="-2469" t="-3175" r="-1728" b="-158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132">
            <a:extLst>
              <a:ext uri="{FF2B5EF4-FFF2-40B4-BE49-F238E27FC236}">
                <a16:creationId xmlns:a16="http://schemas.microsoft.com/office/drawing/2014/main" id="{5B3A1983-FC39-4F3B-BE8E-2FA8CDFB02C9}"/>
              </a:ext>
            </a:extLst>
          </p:cNvPr>
          <p:cNvSpPr>
            <a:spLocks/>
          </p:cNvSpPr>
          <p:nvPr/>
        </p:nvSpPr>
        <p:spPr bwMode="auto">
          <a:xfrm rot="16200000">
            <a:off x="7263219" y="3810908"/>
            <a:ext cx="254000" cy="3124200"/>
          </a:xfrm>
          <a:prstGeom prst="leftBrace">
            <a:avLst>
              <a:gd name="adj1" fmla="val 3331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60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578A9B-3A45-4620-8615-DE23C5EC7027}"/>
                  </a:ext>
                </a:extLst>
              </p:cNvPr>
              <p:cNvSpPr txBox="1"/>
              <p:nvPr/>
            </p:nvSpPr>
            <p:spPr>
              <a:xfrm>
                <a:off x="6020453" y="5644311"/>
                <a:ext cx="2739533" cy="75648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578A9B-3A45-4620-8615-DE23C5EC7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453" y="5644311"/>
                <a:ext cx="2739533" cy="756489"/>
              </a:xfrm>
              <a:prstGeom prst="rect">
                <a:avLst/>
              </a:prstGeom>
              <a:blipFill>
                <a:blip r:embed="rId6"/>
                <a:stretch>
                  <a:fillRect l="-5093" t="-77049" r="-3241" b="-1131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2F4A430-C21C-48DD-AEDD-4FC5CCAD3428}"/>
                  </a:ext>
                </a:extLst>
              </p:cNvPr>
              <p:cNvSpPr/>
              <p:nvPr/>
            </p:nvSpPr>
            <p:spPr>
              <a:xfrm>
                <a:off x="3581400" y="2747031"/>
                <a:ext cx="5684098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m:t>x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=C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 dirty="0">
                  <a:solidFill>
                    <a:schemeClr val="tx1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2F4A430-C21C-48DD-AEDD-4FC5CCAD3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747031"/>
                <a:ext cx="5684098" cy="530915"/>
              </a:xfrm>
              <a:prstGeom prst="rect">
                <a:avLst/>
              </a:prstGeom>
              <a:blipFill>
                <a:blip r:embed="rId7"/>
                <a:stretch>
                  <a:fillRect l="-670" t="-13953" b="-2790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CFC9C1DF-053D-4925-8DEB-9CC3137DE2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001" y="3106258"/>
                <a:ext cx="5905500" cy="914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曲线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穿过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，求得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CFC9C1DF-053D-4925-8DEB-9CC3137D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4001" y="3106258"/>
                <a:ext cx="5905500" cy="914803"/>
              </a:xfrm>
              <a:prstGeom prst="rect">
                <a:avLst/>
              </a:prstGeom>
              <a:blipFill>
                <a:blip r:embed="rId8"/>
                <a:stretch>
                  <a:fillRect l="-1288" b="-136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11F679C-C97C-8144-B29E-979F1C879FDB}"/>
              </a:ext>
            </a:extLst>
          </p:cNvPr>
          <p:cNvSpPr txBox="1"/>
          <p:nvPr/>
        </p:nvSpPr>
        <p:spPr>
          <a:xfrm>
            <a:off x="3352800" y="1542251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？次多项式</a:t>
            </a:r>
            <a:endParaRPr lang="en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F1D4D4-963F-A24F-A2B9-F5010D3194DB}"/>
              </a:ext>
            </a:extLst>
          </p:cNvPr>
          <p:cNvSpPr/>
          <p:nvPr/>
        </p:nvSpPr>
        <p:spPr>
          <a:xfrm>
            <a:off x="2476500" y="1846629"/>
            <a:ext cx="1028700" cy="65184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794D12-7221-E542-9885-A9BD725352F8}"/>
              </a:ext>
            </a:extLst>
          </p:cNvPr>
          <p:cNvSpPr txBox="1"/>
          <p:nvPr/>
        </p:nvSpPr>
        <p:spPr>
          <a:xfrm>
            <a:off x="3505200" y="1547493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次多项式</a:t>
            </a:r>
            <a:endParaRPr lang="en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75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 animBg="1"/>
      <p:bldP spid="9" grpId="0" animBg="1"/>
      <p:bldP spid="11" grpId="0"/>
      <p:bldP spid="12" grpId="0"/>
      <p:bldP spid="10" grpId="0"/>
      <p:bldP spid="10" grpId="1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867194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BA82B64-0804-43E7-9F28-DB8207F4A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1933575"/>
            <a:ext cx="28956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D0C5AAE-D261-435D-AABC-B19D3A16B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58975"/>
            <a:ext cx="2836862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6958BE-BAEA-43DC-8FDC-60D1C30FD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863" y="1889125"/>
            <a:ext cx="2836862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1">
            <a:extLst>
              <a:ext uri="{FF2B5EF4-FFF2-40B4-BE49-F238E27FC236}">
                <a16:creationId xmlns:a16="http://schemas.microsoft.com/office/drawing/2014/main" id="{0120FF5F-DBB1-4B83-BF95-721E7DD7058D}"/>
              </a:ext>
            </a:extLst>
          </p:cNvPr>
          <p:cNvGrpSpPr>
            <a:grpSpLocks/>
          </p:cNvGrpSpPr>
          <p:nvPr/>
        </p:nvGrpSpPr>
        <p:grpSpPr bwMode="auto">
          <a:xfrm>
            <a:off x="1434462" y="4510622"/>
            <a:ext cx="1665744" cy="1307418"/>
            <a:chOff x="1676400" y="3706005"/>
            <a:chExt cx="1447800" cy="1246995"/>
          </a:xfrm>
        </p:grpSpPr>
        <p:sp>
          <p:nvSpPr>
            <p:cNvPr id="12" name="Frame 10">
              <a:extLst>
                <a:ext uri="{FF2B5EF4-FFF2-40B4-BE49-F238E27FC236}">
                  <a16:creationId xmlns:a16="http://schemas.microsoft.com/office/drawing/2014/main" id="{332ABFAD-4270-4537-9293-BBB712456A32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4" name="Down Arrow 12">
              <a:extLst>
                <a:ext uri="{FF2B5EF4-FFF2-40B4-BE49-F238E27FC236}">
                  <a16:creationId xmlns:a16="http://schemas.microsoft.com/office/drawing/2014/main" id="{CCDA29BF-C49B-49E6-AA17-17F79EC8C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690955"/>
              <a:ext cx="228600" cy="262045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B2EC74C-DC90-4F34-8F6B-C560328CDF23}"/>
                  </a:ext>
                </a:extLst>
              </p:cNvPr>
              <p:cNvSpPr/>
              <p:nvPr/>
            </p:nvSpPr>
            <p:spPr>
              <a:xfrm>
                <a:off x="-338522" y="4375434"/>
                <a:ext cx="3897230" cy="1494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)=</m:t>
                      </m:r>
                      <m:sSub>
                        <m:sSubPr>
                          <m:ctrlP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B2EC74C-DC90-4F34-8F6B-C560328C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8522" y="4375434"/>
                <a:ext cx="3897230" cy="1494705"/>
              </a:xfrm>
              <a:prstGeom prst="rect">
                <a:avLst/>
              </a:prstGeom>
              <a:blipFill>
                <a:blip r:embed="rId6"/>
                <a:stretch>
                  <a:fillRect t="-64706" b="-60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6714F9-3D08-4757-8974-97EEA9674F1D}"/>
                  </a:ext>
                </a:extLst>
              </p:cNvPr>
              <p:cNvSpPr/>
              <p:nvPr/>
            </p:nvSpPr>
            <p:spPr>
              <a:xfrm>
                <a:off x="1883386" y="5879068"/>
                <a:ext cx="75847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6714F9-3D08-4757-8974-97EEA9674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386" y="5879068"/>
                <a:ext cx="758477" cy="36933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BCD2BB-0009-4137-80F4-0F003279B057}"/>
                  </a:ext>
                </a:extLst>
              </p:cNvPr>
              <p:cNvSpPr/>
              <p:nvPr/>
            </p:nvSpPr>
            <p:spPr>
              <a:xfrm>
                <a:off x="4875845" y="5878380"/>
                <a:ext cx="75847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BCD2BB-0009-4137-80F4-0F003279B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845" y="5878380"/>
                <a:ext cx="758477" cy="369332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48C21D02-80D5-498C-860A-A1284434ED41}"/>
                  </a:ext>
                </a:extLst>
              </p:cNvPr>
              <p:cNvSpPr/>
              <p:nvPr/>
            </p:nvSpPr>
            <p:spPr>
              <a:xfrm>
                <a:off x="7775748" y="5863181"/>
                <a:ext cx="75847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48C21D02-80D5-498C-860A-A1284434ED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48" y="5863181"/>
                <a:ext cx="75847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21">
            <a:extLst>
              <a:ext uri="{FF2B5EF4-FFF2-40B4-BE49-F238E27FC236}">
                <a16:creationId xmlns:a16="http://schemas.microsoft.com/office/drawing/2014/main" id="{72B17021-8BFD-4CF6-9FBF-BE126399AEEE}"/>
              </a:ext>
            </a:extLst>
          </p:cNvPr>
          <p:cNvGrpSpPr>
            <a:grpSpLocks/>
          </p:cNvGrpSpPr>
          <p:nvPr/>
        </p:nvGrpSpPr>
        <p:grpSpPr bwMode="auto">
          <a:xfrm>
            <a:off x="4386870" y="4510622"/>
            <a:ext cx="1665744" cy="1307418"/>
            <a:chOff x="1676400" y="3706005"/>
            <a:chExt cx="1447800" cy="1246995"/>
          </a:xfrm>
        </p:grpSpPr>
        <p:sp>
          <p:nvSpPr>
            <p:cNvPr id="45" name="Frame 10">
              <a:extLst>
                <a:ext uri="{FF2B5EF4-FFF2-40B4-BE49-F238E27FC236}">
                  <a16:creationId xmlns:a16="http://schemas.microsoft.com/office/drawing/2014/main" id="{23076E87-E024-48B5-896A-DCDD20B6F86B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46" name="Down Arrow 12">
              <a:extLst>
                <a:ext uri="{FF2B5EF4-FFF2-40B4-BE49-F238E27FC236}">
                  <a16:creationId xmlns:a16="http://schemas.microsoft.com/office/drawing/2014/main" id="{E2752C22-8E7D-471A-8751-60F78C8F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690955"/>
              <a:ext cx="228600" cy="262045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21">
            <a:extLst>
              <a:ext uri="{FF2B5EF4-FFF2-40B4-BE49-F238E27FC236}">
                <a16:creationId xmlns:a16="http://schemas.microsoft.com/office/drawing/2014/main" id="{418E4850-8122-46E7-A0BB-0B3173B4851C}"/>
              </a:ext>
            </a:extLst>
          </p:cNvPr>
          <p:cNvGrpSpPr>
            <a:grpSpLocks/>
          </p:cNvGrpSpPr>
          <p:nvPr/>
        </p:nvGrpSpPr>
        <p:grpSpPr bwMode="auto">
          <a:xfrm>
            <a:off x="7276120" y="4510622"/>
            <a:ext cx="1665744" cy="1307418"/>
            <a:chOff x="1676400" y="3706005"/>
            <a:chExt cx="1447800" cy="1246995"/>
          </a:xfrm>
        </p:grpSpPr>
        <p:sp>
          <p:nvSpPr>
            <p:cNvPr id="48" name="Frame 10">
              <a:extLst>
                <a:ext uri="{FF2B5EF4-FFF2-40B4-BE49-F238E27FC236}">
                  <a16:creationId xmlns:a16="http://schemas.microsoft.com/office/drawing/2014/main" id="{B68B63FB-25F8-445C-84DB-5E4AA957BDB5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49" name="Down Arrow 12">
              <a:extLst>
                <a:ext uri="{FF2B5EF4-FFF2-40B4-BE49-F238E27FC236}">
                  <a16:creationId xmlns:a16="http://schemas.microsoft.com/office/drawing/2014/main" id="{BC614917-30C8-4D0C-993C-34E05D4D9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690955"/>
              <a:ext cx="228600" cy="262045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689908A-EAF9-43CC-ADB2-C9BA2A5DAC83}"/>
                  </a:ext>
                </a:extLst>
              </p:cNvPr>
              <p:cNvSpPr txBox="1"/>
              <p:nvPr/>
            </p:nvSpPr>
            <p:spPr>
              <a:xfrm>
                <a:off x="205240" y="1145485"/>
                <a:ext cx="9448800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2060"/>
                    </a:solidFill>
                  </a:rPr>
                  <a:t>2</a:t>
                </a:r>
                <a:r>
                  <a:rPr lang="zh-CN" altLang="en-US" sz="2800" b="1" dirty="0">
                    <a:solidFill>
                      <a:srgbClr val="002060"/>
                    </a:solidFill>
                  </a:rPr>
                  <a:t>，类似地，构造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</a:rPr>
                  <a:t>(x)</a:t>
                </a:r>
                <a:r>
                  <a:rPr lang="zh-CN" altLang="en-US" sz="2400" b="1" dirty="0">
                    <a:solidFill>
                      <a:srgbClr val="002060"/>
                    </a:solidFill>
                  </a:rPr>
                  <a:t>，</a:t>
                </a:r>
                <a:r>
                  <a:rPr lang="en-US" altLang="zh-CN" sz="24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</a:rPr>
                  <a:t>(x)</a:t>
                </a:r>
                <a:r>
                  <a:rPr lang="zh-CN" altLang="en-US" sz="2400" b="1" dirty="0">
                    <a:solidFill>
                      <a:srgbClr val="002060"/>
                    </a:solidFill>
                  </a:rPr>
                  <a:t>和</a:t>
                </a:r>
                <a:r>
                  <a:rPr lang="en-US" altLang="zh-CN" sz="24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</a:rPr>
                  <a:t>(x)</a:t>
                </a:r>
                <a:endParaRPr lang="zh-CN" alt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689908A-EAF9-43CC-ADB2-C9BA2A5D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" y="1145485"/>
                <a:ext cx="9448800" cy="530915"/>
              </a:xfrm>
              <a:prstGeom prst="rect">
                <a:avLst/>
              </a:prstGeom>
              <a:blipFill>
                <a:blip r:embed="rId10"/>
                <a:stretch>
                  <a:fillRect l="-1342" t="-16667" b="-309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736FC5F-4961-4B5E-887F-C236E03FBEC1}"/>
                  </a:ext>
                </a:extLst>
              </p:cNvPr>
              <p:cNvSpPr/>
              <p:nvPr/>
            </p:nvSpPr>
            <p:spPr>
              <a:xfrm>
                <a:off x="2561568" y="4478867"/>
                <a:ext cx="3897230" cy="1494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)=</m:t>
                      </m:r>
                      <m:sSub>
                        <m:sSubPr>
                          <m:ctrlP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736FC5F-4961-4B5E-887F-C236E03FBE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568" y="4478867"/>
                <a:ext cx="3897230" cy="1494705"/>
              </a:xfrm>
              <a:prstGeom prst="rect">
                <a:avLst/>
              </a:prstGeom>
              <a:blipFill>
                <a:blip r:embed="rId11"/>
                <a:stretch>
                  <a:fillRect t="-63866" b="-60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B47E8F1-A776-44A6-A0D5-406F1D51113B}"/>
                  </a:ext>
                </a:extLst>
              </p:cNvPr>
              <p:cNvSpPr/>
              <p:nvPr/>
            </p:nvSpPr>
            <p:spPr>
              <a:xfrm>
                <a:off x="5530469" y="4375434"/>
                <a:ext cx="3897230" cy="1494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)=</m:t>
                      </m:r>
                      <m:sSub>
                        <m:sSubPr>
                          <m:ctrlP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B47E8F1-A776-44A6-A0D5-406F1D5111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469" y="4375434"/>
                <a:ext cx="3897230" cy="1494705"/>
              </a:xfrm>
              <a:prstGeom prst="rect">
                <a:avLst/>
              </a:prstGeom>
              <a:blipFill>
                <a:blip r:embed="rId12"/>
                <a:stretch>
                  <a:fillRect t="-64706" b="-60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92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 animBg="1"/>
      <p:bldP spid="38" grpId="0" animBg="1"/>
      <p:bldP spid="43" grpId="0" animBg="1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D0E35783-53A6-4900-A9F7-B564AD857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36830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A5E801A-2FBF-49F7-9FEC-A2B5B073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20900"/>
            <a:ext cx="36703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Arrow 5">
            <a:extLst>
              <a:ext uri="{FF2B5EF4-FFF2-40B4-BE49-F238E27FC236}">
                <a16:creationId xmlns:a16="http://schemas.microsoft.com/office/drawing/2014/main" id="{8796D367-8B0E-45EB-BBB4-175B71B05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048000"/>
            <a:ext cx="381000" cy="5270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DCD41B-E896-40A2-9D55-122761E8E45F}"/>
                  </a:ext>
                </a:extLst>
              </p:cNvPr>
              <p:cNvSpPr txBox="1"/>
              <p:nvPr/>
            </p:nvSpPr>
            <p:spPr>
              <a:xfrm>
                <a:off x="330743" y="1374085"/>
                <a:ext cx="8584657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3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，将四条曲线累加得到插值多项式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 dirty="0">
                  <a:solidFill>
                    <a:schemeClr val="tx1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DCD41B-E896-40A2-9D55-122761E8E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3" y="1374085"/>
                <a:ext cx="8584657" cy="530915"/>
              </a:xfrm>
              <a:prstGeom prst="rect">
                <a:avLst/>
              </a:prstGeom>
              <a:blipFill>
                <a:blip r:embed="rId5"/>
                <a:stretch>
                  <a:fillRect l="-1475" t="-13953" b="-2790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A36DD8-7D49-45B4-AB55-9A3C96B4AAF2}"/>
                  </a:ext>
                </a:extLst>
              </p:cNvPr>
              <p:cNvSpPr txBox="1"/>
              <p:nvPr/>
            </p:nvSpPr>
            <p:spPr>
              <a:xfrm>
                <a:off x="1271086" y="5148729"/>
                <a:ext cx="6577514" cy="490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 +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 +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 +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A36DD8-7D49-45B4-AB55-9A3C96B4A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086" y="5148729"/>
                <a:ext cx="6577514" cy="490071"/>
              </a:xfrm>
              <a:prstGeom prst="rect">
                <a:avLst/>
              </a:prstGeom>
              <a:blipFill>
                <a:blip r:embed="rId6"/>
                <a:stretch>
                  <a:fillRect l="-385" t="-112500" b="-17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3BBB4864-5B85-F046-A913-B9FB76930A3A}"/>
              </a:ext>
            </a:extLst>
          </p:cNvPr>
          <p:cNvSpPr txBox="1">
            <a:spLocks/>
          </p:cNvSpPr>
          <p:nvPr/>
        </p:nvSpPr>
        <p:spPr>
          <a:xfrm>
            <a:off x="1307480" y="5893558"/>
            <a:ext cx="3544539" cy="843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N" sz="3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拉格朗日插值法</a:t>
            </a:r>
            <a:endParaRPr lang="en-US" sz="3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B8FF0-17CB-154E-97DE-7A8E36FECCAB}"/>
              </a:ext>
            </a:extLst>
          </p:cNvPr>
          <p:cNvSpPr/>
          <p:nvPr/>
        </p:nvSpPr>
        <p:spPr>
          <a:xfrm>
            <a:off x="6324600" y="6123852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拉格朗日基函数</a:t>
            </a:r>
            <a:endParaRPr lang="en-CN" sz="2800" dirty="0">
              <a:solidFill>
                <a:srgbClr val="0000FF"/>
              </a:solidFill>
            </a:endParaRPr>
          </a:p>
        </p:txBody>
      </p:sp>
      <p:grpSp>
        <p:nvGrpSpPr>
          <p:cNvPr id="12" name="Group 21">
            <a:extLst>
              <a:ext uri="{FF2B5EF4-FFF2-40B4-BE49-F238E27FC236}">
                <a16:creationId xmlns:a16="http://schemas.microsoft.com/office/drawing/2014/main" id="{F6F81ECC-DEED-3B48-B321-A558BC26B65D}"/>
              </a:ext>
            </a:extLst>
          </p:cNvPr>
          <p:cNvGrpSpPr>
            <a:grpSpLocks/>
          </p:cNvGrpSpPr>
          <p:nvPr/>
        </p:nvGrpSpPr>
        <p:grpSpPr bwMode="auto">
          <a:xfrm>
            <a:off x="7018850" y="5148730"/>
            <a:ext cx="625463" cy="975122"/>
            <a:chOff x="1676400" y="3706005"/>
            <a:chExt cx="1447800" cy="1969345"/>
          </a:xfrm>
        </p:grpSpPr>
        <p:sp>
          <p:nvSpPr>
            <p:cNvPr id="13" name="Frame 10">
              <a:extLst>
                <a:ext uri="{FF2B5EF4-FFF2-40B4-BE49-F238E27FC236}">
                  <a16:creationId xmlns:a16="http://schemas.microsoft.com/office/drawing/2014/main" id="{E61A6A8F-6D80-F247-8FB2-CAB901209EB7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4" name="Down Arrow 12">
              <a:extLst>
                <a:ext uri="{FF2B5EF4-FFF2-40B4-BE49-F238E27FC236}">
                  <a16:creationId xmlns:a16="http://schemas.microsoft.com/office/drawing/2014/main" id="{A8390479-CE34-E544-9721-1BE68151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998" y="4690954"/>
              <a:ext cx="328604" cy="984396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852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10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Oval 7">
            <a:extLst>
              <a:ext uri="{FF2B5EF4-FFF2-40B4-BE49-F238E27FC236}">
                <a16:creationId xmlns:a16="http://schemas.microsoft.com/office/drawing/2014/main" id="{A77E38E3-7F83-184D-BA8D-2928AEA5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1" y="1936764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B10938F2-087F-344F-AAD6-394163D4A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509" y="2393964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46" name="Group 67">
            <a:extLst>
              <a:ext uri="{FF2B5EF4-FFF2-40B4-BE49-F238E27FC236}">
                <a16:creationId xmlns:a16="http://schemas.microsoft.com/office/drawing/2014/main" id="{63D2270F-7F98-F147-B066-6969B1B174B1}"/>
              </a:ext>
            </a:extLst>
          </p:cNvPr>
          <p:cNvGrpSpPr>
            <a:grpSpLocks/>
          </p:cNvGrpSpPr>
          <p:nvPr/>
        </p:nvGrpSpPr>
        <p:grpSpPr bwMode="auto">
          <a:xfrm>
            <a:off x="2750423" y="1949145"/>
            <a:ext cx="1669176" cy="922319"/>
            <a:chOff x="432" y="1440"/>
            <a:chExt cx="2689" cy="1200"/>
          </a:xfrm>
        </p:grpSpPr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9DFBAA8B-5052-BB4D-AB90-F3AC15786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201689A1-FB62-A74E-BB70-F18F7DE1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</a:p>
          </p:txBody>
        </p:sp>
      </p:grpSp>
      <p:sp>
        <p:nvSpPr>
          <p:cNvPr id="49" name="AutoShape 10">
            <a:extLst>
              <a:ext uri="{FF2B5EF4-FFF2-40B4-BE49-F238E27FC236}">
                <a16:creationId xmlns:a16="http://schemas.microsoft.com/office/drawing/2014/main" id="{7C7DF57E-DAAC-274A-8418-8EAE8B638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599" y="2393964"/>
            <a:ext cx="917575" cy="213100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0" name="AutoShape 49">
            <a:extLst>
              <a:ext uri="{FF2B5EF4-FFF2-40B4-BE49-F238E27FC236}">
                <a16:creationId xmlns:a16="http://schemas.microsoft.com/office/drawing/2014/main" id="{58991E87-1658-7841-BC58-2E7EB3D904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504314" y="3018747"/>
            <a:ext cx="523220" cy="184150"/>
          </a:xfrm>
          <a:prstGeom prst="rightArrow">
            <a:avLst>
              <a:gd name="adj1" fmla="val 50000"/>
              <a:gd name="adj2" fmla="val 83336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51" name="Group 67">
            <a:extLst>
              <a:ext uri="{FF2B5EF4-FFF2-40B4-BE49-F238E27FC236}">
                <a16:creationId xmlns:a16="http://schemas.microsoft.com/office/drawing/2014/main" id="{8A76E920-3766-6A49-BE90-0CE0470F3A92}"/>
              </a:ext>
            </a:extLst>
          </p:cNvPr>
          <p:cNvGrpSpPr>
            <a:grpSpLocks/>
          </p:cNvGrpSpPr>
          <p:nvPr/>
        </p:nvGrpSpPr>
        <p:grpSpPr bwMode="auto">
          <a:xfrm>
            <a:off x="5380911" y="1949144"/>
            <a:ext cx="2772488" cy="922319"/>
            <a:chOff x="432" y="1440"/>
            <a:chExt cx="2689" cy="1200"/>
          </a:xfrm>
        </p:grpSpPr>
        <p:sp>
          <p:nvSpPr>
            <p:cNvPr id="52" name="AutoShape 11">
              <a:extLst>
                <a:ext uri="{FF2B5EF4-FFF2-40B4-BE49-F238E27FC236}">
                  <a16:creationId xmlns:a16="http://schemas.microsoft.com/office/drawing/2014/main" id="{32F8040F-94A1-FD42-9A99-678C9E9FC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Rectangle 44">
              <a:extLst>
                <a:ext uri="{FF2B5EF4-FFF2-40B4-BE49-F238E27FC236}">
                  <a16:creationId xmlns:a16="http://schemas.microsoft.com/office/drawing/2014/main" id="{76851430-4F5B-114E-90C0-0B3580145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1815"/>
              <a:ext cx="2540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计算模型</a:t>
              </a:r>
            </a:p>
          </p:txBody>
        </p:sp>
      </p:grpSp>
      <p:grpSp>
        <p:nvGrpSpPr>
          <p:cNvPr id="54" name="Group 67">
            <a:extLst>
              <a:ext uri="{FF2B5EF4-FFF2-40B4-BE49-F238E27FC236}">
                <a16:creationId xmlns:a16="http://schemas.microsoft.com/office/drawing/2014/main" id="{0C3A1DFE-31A1-FA45-9301-75F7D7AE82B8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384563"/>
            <a:ext cx="3200400" cy="1169511"/>
            <a:chOff x="432" y="1440"/>
            <a:chExt cx="2689" cy="1200"/>
          </a:xfrm>
        </p:grpSpPr>
        <p:sp>
          <p:nvSpPr>
            <p:cNvPr id="55" name="AutoShape 11">
              <a:extLst>
                <a:ext uri="{FF2B5EF4-FFF2-40B4-BE49-F238E27FC236}">
                  <a16:creationId xmlns:a16="http://schemas.microsoft.com/office/drawing/2014/main" id="{7BC68F76-8FE8-7147-A18B-406427FE0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" name="Rectangle 44">
              <a:extLst>
                <a:ext uri="{FF2B5EF4-FFF2-40B4-BE49-F238E27FC236}">
                  <a16:creationId xmlns:a16="http://schemas.microsoft.com/office/drawing/2014/main" id="{B18ADEB3-243C-4A43-8802-FA5D975C6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15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</a:p>
          </p:txBody>
        </p:sp>
      </p:grpSp>
      <p:sp>
        <p:nvSpPr>
          <p:cNvPr id="58" name="Oval 7">
            <a:extLst>
              <a:ext uri="{FF2B5EF4-FFF2-40B4-BE49-F238E27FC236}">
                <a16:creationId xmlns:a16="http://schemas.microsoft.com/office/drawing/2014/main" id="{9A5A5548-BB3A-DF45-90D5-AED7B5C22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399" y="5060964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</a:p>
        </p:txBody>
      </p:sp>
      <p:sp>
        <p:nvSpPr>
          <p:cNvPr id="60" name="Bent-Up Arrow 28">
            <a:extLst>
              <a:ext uri="{FF2B5EF4-FFF2-40B4-BE49-F238E27FC236}">
                <a16:creationId xmlns:a16="http://schemas.microsoft.com/office/drawing/2014/main" id="{F5C17A25-8907-9F49-9EDB-761C15EC65A7}"/>
              </a:ext>
            </a:extLst>
          </p:cNvPr>
          <p:cNvSpPr>
            <a:spLocks/>
          </p:cNvSpPr>
          <p:nvPr/>
        </p:nvSpPr>
        <p:spPr bwMode="auto">
          <a:xfrm flipH="1">
            <a:off x="1904997" y="2607066"/>
            <a:ext cx="4893892" cy="2207850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endParaRPr lang="en-CN"/>
          </a:p>
        </p:txBody>
      </p:sp>
      <p:sp>
        <p:nvSpPr>
          <p:cNvPr id="61" name="TextBox 32">
            <a:extLst>
              <a:ext uri="{FF2B5EF4-FFF2-40B4-BE49-F238E27FC236}">
                <a16:creationId xmlns:a16="http://schemas.microsoft.com/office/drawing/2014/main" id="{065CF10F-48AE-D049-A5AE-E418E6173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406" y="3723077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AA43C3-1682-7F4C-853A-6D0A13FD05E4}"/>
              </a:ext>
            </a:extLst>
          </p:cNvPr>
          <p:cNvSpPr/>
          <p:nvPr/>
        </p:nvSpPr>
        <p:spPr>
          <a:xfrm>
            <a:off x="3183298" y="290963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endParaRPr lang="en-CN" sz="24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9B2E39-C504-3B4C-A001-5291AA258EFA}"/>
              </a:ext>
            </a:extLst>
          </p:cNvPr>
          <p:cNvSpPr/>
          <p:nvPr/>
        </p:nvSpPr>
        <p:spPr>
          <a:xfrm>
            <a:off x="5719258" y="2816582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拉格朗日插值</a:t>
            </a:r>
            <a:endParaRPr lang="en-CN" sz="2400" b="1" dirty="0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662C03F8-D42E-B74B-A886-1B222DA9023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28304" y="4722124"/>
            <a:ext cx="441703" cy="170085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1E4548-B901-FC4E-B64A-F37CDD282A0D}"/>
              </a:ext>
            </a:extLst>
          </p:cNvPr>
          <p:cNvSpPr/>
          <p:nvPr/>
        </p:nvSpPr>
        <p:spPr>
          <a:xfrm>
            <a:off x="4419599" y="5884171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</a:t>
            </a:r>
            <a:endParaRPr lang="en-CN" sz="24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724C86-CCE4-6C41-9620-0B9B77BA7712}"/>
              </a:ext>
            </a:extLst>
          </p:cNvPr>
          <p:cNvSpPr/>
          <p:nvPr/>
        </p:nvSpPr>
        <p:spPr>
          <a:xfrm>
            <a:off x="2260543" y="4586315"/>
            <a:ext cx="1422184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课后思考</a:t>
            </a:r>
            <a:endParaRPr lang="en-C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A95EF-213A-F147-ADC6-C62BCE1B8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722" y="4032849"/>
            <a:ext cx="469077" cy="38363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827E93A-2244-ED4B-99E5-22580C54D372}"/>
              </a:ext>
            </a:extLst>
          </p:cNvPr>
          <p:cNvSpPr/>
          <p:nvPr/>
        </p:nvSpPr>
        <p:spPr>
          <a:xfrm>
            <a:off x="259139" y="31676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超分辨率显示</a:t>
            </a:r>
            <a:endParaRPr lang="en-CN" b="1" dirty="0"/>
          </a:p>
        </p:txBody>
      </p:sp>
      <p:pic>
        <p:nvPicPr>
          <p:cNvPr id="42" name="Picture 5">
            <a:extLst>
              <a:ext uri="{FF2B5EF4-FFF2-40B4-BE49-F238E27FC236}">
                <a16:creationId xmlns:a16="http://schemas.microsoft.com/office/drawing/2014/main" id="{181BC03B-6DBA-2944-88E2-1075BDD8F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106" y="1941421"/>
            <a:ext cx="1422184" cy="882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1">
            <a:extLst>
              <a:ext uri="{FF2B5EF4-FFF2-40B4-BE49-F238E27FC236}">
                <a16:creationId xmlns:a16="http://schemas.microsoft.com/office/drawing/2014/main" id="{B99575B5-459D-654E-898F-BC6D42E16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1921530"/>
            <a:ext cx="1636353" cy="9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2">
            <a:extLst>
              <a:ext uri="{FF2B5EF4-FFF2-40B4-BE49-F238E27FC236}">
                <a16:creationId xmlns:a16="http://schemas.microsoft.com/office/drawing/2014/main" id="{5AD05358-512F-A741-AD5D-342C1DE81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206" y="3417470"/>
            <a:ext cx="1781898" cy="10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1B75E20-86C9-ED42-8F90-D0CDF1AF927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8747"/>
          <a:stretch/>
        </p:blipFill>
        <p:spPr>
          <a:xfrm>
            <a:off x="758334" y="1794781"/>
            <a:ext cx="743266" cy="129430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65A1E36-FE84-B94E-809A-6399027396E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1340" r="-8238"/>
          <a:stretch/>
        </p:blipFill>
        <p:spPr>
          <a:xfrm>
            <a:off x="6445437" y="5136315"/>
            <a:ext cx="933261" cy="1264485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52ACA08C-86E0-0746-9B04-CDA9EE4F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</a:p>
        </p:txBody>
      </p:sp>
    </p:spTree>
    <p:extLst>
      <p:ext uri="{BB962C8B-B14F-4D97-AF65-F5344CB8AC3E}">
        <p14:creationId xmlns:p14="http://schemas.microsoft.com/office/powerpoint/2010/main" val="1578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2" grpId="0"/>
      <p:bldP spid="34" grpId="0" animBg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7" y="1464078"/>
            <a:ext cx="6792913" cy="525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语音变调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25538"/>
            <a:ext cx="7899400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自动驾驶汽车定位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课程地图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2" name="Group 67"/>
          <p:cNvGrpSpPr/>
          <p:nvPr/>
        </p:nvGrpSpPr>
        <p:grpSpPr bwMode="auto">
          <a:xfrm>
            <a:off x="511174" y="2786064"/>
            <a:ext cx="1981200" cy="1152525"/>
            <a:chOff x="432" y="1440"/>
            <a:chExt cx="2739" cy="1200"/>
          </a:xfrm>
        </p:grpSpPr>
        <p:sp>
          <p:nvSpPr>
            <p:cNvPr id="23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5" name="Rectangle 44"/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数学模型</a:t>
              </a:r>
            </a:p>
          </p:txBody>
        </p:sp>
      </p:grpSp>
      <p:sp>
        <p:nvSpPr>
          <p:cNvPr id="26" name="TextBox 32"/>
          <p:cNvSpPr txBox="1">
            <a:spLocks noChangeArrowheads="1"/>
          </p:cNvSpPr>
          <p:nvPr/>
        </p:nvSpPr>
        <p:spPr bwMode="auto">
          <a:xfrm>
            <a:off x="511175" y="4429125"/>
            <a:ext cx="2787545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定积分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ja-JP" altLang="en-US" sz="24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常微分方程</a:t>
            </a:r>
            <a:endParaRPr lang="en-US" altLang="ja-JP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非线性方程</a:t>
            </a:r>
            <a:endParaRPr lang="en-US" altLang="zh-TW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TW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线性方程组</a:t>
            </a:r>
            <a:endParaRPr lang="en-US" altLang="zh-TW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矩阵特征向量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27" name="Group 67"/>
          <p:cNvGrpSpPr/>
          <p:nvPr/>
        </p:nvGrpSpPr>
        <p:grpSpPr bwMode="auto">
          <a:xfrm>
            <a:off x="4002086" y="2844801"/>
            <a:ext cx="1981200" cy="1152525"/>
            <a:chOff x="432" y="1440"/>
            <a:chExt cx="2739" cy="1200"/>
          </a:xfrm>
        </p:grpSpPr>
        <p:sp>
          <p:nvSpPr>
            <p:cNvPr id="28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9" name="Rectangle 44"/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</a:rPr>
                <a:t>计算模型</a:t>
              </a:r>
            </a:p>
          </p:txBody>
        </p:sp>
      </p:grpSp>
      <p:sp>
        <p:nvSpPr>
          <p:cNvPr id="30" name="AutoShape 10"/>
          <p:cNvSpPr>
            <a:spLocks noChangeArrowheads="1"/>
          </p:cNvSpPr>
          <p:nvPr/>
        </p:nvSpPr>
        <p:spPr bwMode="auto">
          <a:xfrm>
            <a:off x="2598736" y="3348038"/>
            <a:ext cx="1138584" cy="196850"/>
          </a:xfrm>
          <a:prstGeom prst="rightArrow">
            <a:avLst>
              <a:gd name="adj1" fmla="val 50000"/>
              <a:gd name="adj2" fmla="val 122498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31" name="AutoShape 222"/>
          <p:cNvSpPr>
            <a:spLocks noChangeArrowheads="1"/>
          </p:cNvSpPr>
          <p:nvPr/>
        </p:nvSpPr>
        <p:spPr bwMode="auto">
          <a:xfrm>
            <a:off x="304800" y="1371600"/>
            <a:ext cx="6059487" cy="1143000"/>
          </a:xfrm>
          <a:prstGeom prst="wedgeEllipseCallout">
            <a:avLst>
              <a:gd name="adj1" fmla="val -3197"/>
              <a:gd name="adj2" fmla="val 11969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48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数的浮点表示和误差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插值、函数逼近、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数据拟合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2" name="TextBox 32"/>
          <p:cNvSpPr txBox="1">
            <a:spLocks noChangeArrowheads="1"/>
          </p:cNvSpPr>
          <p:nvPr/>
        </p:nvSpPr>
        <p:spPr bwMode="auto">
          <a:xfrm>
            <a:off x="3517898" y="4429125"/>
            <a:ext cx="345598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梯形公式等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显式</a:t>
            </a:r>
            <a:r>
              <a:rPr lang="en-US" altLang="zh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Euler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牛顿迭代公式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Jacobi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幂法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3" name="AutoShape 10"/>
          <p:cNvSpPr>
            <a:spLocks noChangeArrowheads="1"/>
          </p:cNvSpPr>
          <p:nvPr/>
        </p:nvSpPr>
        <p:spPr bwMode="auto">
          <a:xfrm>
            <a:off x="6037262" y="3348038"/>
            <a:ext cx="936625" cy="196850"/>
          </a:xfrm>
          <a:prstGeom prst="rightArrow">
            <a:avLst>
              <a:gd name="adj1" fmla="val 50000"/>
              <a:gd name="adj2" fmla="val 122498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34" name="Group 67"/>
          <p:cNvGrpSpPr/>
          <p:nvPr/>
        </p:nvGrpSpPr>
        <p:grpSpPr bwMode="auto">
          <a:xfrm>
            <a:off x="7050086" y="2771776"/>
            <a:ext cx="1981200" cy="1152525"/>
            <a:chOff x="432" y="1440"/>
            <a:chExt cx="2739" cy="1200"/>
          </a:xfrm>
        </p:grpSpPr>
        <p:sp>
          <p:nvSpPr>
            <p:cNvPr id="35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</a:rPr>
                <a:t>计算实现</a:t>
              </a:r>
            </a:p>
          </p:txBody>
        </p:sp>
      </p:grp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7193066" y="4716464"/>
            <a:ext cx="17620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Python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MATLAB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59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1476375" y="1778000"/>
            <a:ext cx="614838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x = 1.0;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y = x/3.0;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if (x == y*3.0)    cout&lt;&lt;“They are equal!”;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else                     cout&lt;&lt;“They are NOT equal.”;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84213" y="4292600"/>
            <a:ext cx="7739062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x = 1.0;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y = x/3.0;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if (fabs(x-y*3.0) &lt; epsilon)    cout&lt;&lt;“They are equal!”;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else                                          cout&lt;&lt;“They are NOT equal.”;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539750" y="3716338"/>
            <a:ext cx="3032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</a:rPr>
              <a:t>引入误差容忍度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34821" name="Rectangle 8"/>
          <p:cNvSpPr>
            <a:spLocks noChangeArrowheads="1"/>
          </p:cNvSpPr>
          <p:nvPr/>
        </p:nvSpPr>
        <p:spPr bwMode="auto">
          <a:xfrm>
            <a:off x="539750" y="1196975"/>
            <a:ext cx="23342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</a:rPr>
              <a:t>原始代码：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68313" y="6092825"/>
            <a:ext cx="83518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注意：数学上的等价</a:t>
            </a:r>
            <a:r>
              <a:rPr lang="zh-CN" altLang="en-US" b="1" dirty="0">
                <a:solidFill>
                  <a:srgbClr val="FF0000"/>
                </a:solidFill>
              </a:rPr>
              <a:t>在计算机上不一定等效！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误差</a:t>
            </a:r>
          </a:p>
        </p:txBody>
      </p:sp>
      <p:sp>
        <p:nvSpPr>
          <p:cNvPr id="9" name="Process 8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77FE0FA8-B05C-7C4D-A61D-58C96B70A813}"/>
              </a:ext>
            </a:extLst>
          </p:cNvPr>
          <p:cNvSpPr txBox="1">
            <a:spLocks/>
          </p:cNvSpPr>
          <p:nvPr/>
        </p:nvSpPr>
        <p:spPr bwMode="auto">
          <a:xfrm>
            <a:off x="250825" y="260350"/>
            <a:ext cx="88931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800" b="1" dirty="0"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受计算机硬件的限制：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r>
              <a:rPr kumimoji="1" lang="en-US" altLang="zh-CN" sz="2800" b="1" dirty="0">
                <a:ea typeface="宋体" panose="02010600030101010101" pitchFamily="2" charset="-122"/>
              </a:rPr>
              <a:t>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浮点数的尾数部分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尾数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是</a:t>
            </a: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固定的为</a:t>
            </a:r>
            <a:r>
              <a:rPr kumimoji="1"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位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，如</a:t>
            </a:r>
            <a:r>
              <a:rPr kumimoji="1" lang="en-US" altLang="zh-CN" sz="2800" b="1" dirty="0">
                <a:ea typeface="宋体" panose="02010600030101010101" pitchFamily="2" charset="-122"/>
              </a:rPr>
              <a:t>t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＝</a:t>
            </a:r>
            <a:r>
              <a:rPr kumimoji="1" lang="zh-CN" altLang="ja-JP" sz="2800" b="1" dirty="0">
                <a:ea typeface="宋体" panose="02010600030101010101" pitchFamily="2" charset="-122"/>
              </a:rPr>
              <a:t>6</a:t>
            </a:r>
            <a:r>
              <a:rPr kumimoji="1" lang="en-US" altLang="zh-CN" sz="2800" b="1" dirty="0">
                <a:ea typeface="宋体" panose="02010600030101010101" pitchFamily="2" charset="-122"/>
              </a:rPr>
              <a:t>4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位，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r>
              <a:rPr kumimoji="1" lang="en-US" altLang="zh-CN" sz="2800" b="1" dirty="0">
                <a:ea typeface="宋体" panose="02010600030101010101" pitchFamily="2" charset="-122"/>
              </a:rPr>
              <a:t>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浮点数的阶码</a:t>
            </a:r>
            <a:r>
              <a:rPr kumimoji="1" lang="en-US" altLang="zh-CN" sz="2800" b="1" dirty="0"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的大小有确定的范围</a:t>
            </a: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endParaRPr kumimoji="1" lang="en-US" altLang="zh-CN" sz="2800" b="1" dirty="0">
              <a:ea typeface="宋体" panose="02010600030101010101" pitchFamily="2" charset="-122"/>
            </a:endParaRPr>
          </a:p>
        </p:txBody>
      </p:sp>
      <p:graphicFrame>
        <p:nvGraphicFramePr>
          <p:cNvPr id="9219" name="Object 9">
            <a:extLst>
              <a:ext uri="{FF2B5EF4-FFF2-40B4-BE49-F238E27FC236}">
                <a16:creationId xmlns:a16="http://schemas.microsoft.com/office/drawing/2014/main" id="{78C5F117-0510-F94C-B6AD-B4E4ED0DB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052513"/>
          <a:ext cx="33718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70000" imgH="241300" progId="Equation.3">
                  <p:embed/>
                </p:oleObj>
              </mc:Choice>
              <mc:Fallback>
                <p:oleObj name="Equation" r:id="rId2" imgW="1270000" imgH="241300" progId="Equation.3">
                  <p:embed/>
                  <p:pic>
                    <p:nvPicPr>
                      <p:cNvPr id="9219" name="Object 9">
                        <a:extLst>
                          <a:ext uri="{FF2B5EF4-FFF2-40B4-BE49-F238E27FC236}">
                            <a16:creationId xmlns:a16="http://schemas.microsoft.com/office/drawing/2014/main" id="{78C5F117-0510-F94C-B6AD-B4E4ED0DB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052513"/>
                        <a:ext cx="33718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9">
            <a:extLst>
              <a:ext uri="{FF2B5EF4-FFF2-40B4-BE49-F238E27FC236}">
                <a16:creationId xmlns:a16="http://schemas.microsoft.com/office/drawing/2014/main" id="{75268C24-BCCF-D744-A147-A67C4A8F41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924175"/>
          <a:ext cx="3032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" imgH="139700" progId="Equation.3">
                  <p:embed/>
                </p:oleObj>
              </mc:Choice>
              <mc:Fallback>
                <p:oleObj name="Equation" r:id="rId4" imgW="114300" imgH="139700" progId="Equation.3">
                  <p:embed/>
                  <p:pic>
                    <p:nvPicPr>
                      <p:cNvPr id="9220" name="Object 9">
                        <a:extLst>
                          <a:ext uri="{FF2B5EF4-FFF2-40B4-BE49-F238E27FC236}">
                            <a16:creationId xmlns:a16="http://schemas.microsoft.com/office/drawing/2014/main" id="{75268C24-BCCF-D744-A147-A67C4A8F41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924175"/>
                        <a:ext cx="303212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9">
            <a:extLst>
              <a:ext uri="{FF2B5EF4-FFF2-40B4-BE49-F238E27FC236}">
                <a16:creationId xmlns:a16="http://schemas.microsoft.com/office/drawing/2014/main" id="{D1D9188F-49F4-E94E-AD19-82332FC8B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2895600"/>
          <a:ext cx="17859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3100" imgH="165100" progId="Equation.3">
                  <p:embed/>
                </p:oleObj>
              </mc:Choice>
              <mc:Fallback>
                <p:oleObj name="Equation" r:id="rId6" imgW="673100" imgH="165100" progId="Equation.3">
                  <p:embed/>
                  <p:pic>
                    <p:nvPicPr>
                      <p:cNvPr id="9221" name="Object 9">
                        <a:extLst>
                          <a:ext uri="{FF2B5EF4-FFF2-40B4-BE49-F238E27FC236}">
                            <a16:creationId xmlns:a16="http://schemas.microsoft.com/office/drawing/2014/main" id="{D1D9188F-49F4-E94E-AD19-82332FC8BD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895600"/>
                        <a:ext cx="17859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1604DD3E-52B8-7844-8141-564369F5D7B6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计算机中数的浮点表示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74AE931F-65E3-044D-9410-0B7868699073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D2523A3-D824-9D40-B983-F681F66CF14A}"/>
              </a:ext>
            </a:extLst>
          </p:cNvPr>
          <p:cNvSpPr txBox="1">
            <a:spLocks/>
          </p:cNvSpPr>
          <p:nvPr/>
        </p:nvSpPr>
        <p:spPr bwMode="auto">
          <a:xfrm>
            <a:off x="250825" y="990600"/>
            <a:ext cx="88931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800" b="1" dirty="0">
                <a:ea typeface="宋体" panose="02010600030101010101" pitchFamily="2" charset="-122"/>
              </a:rPr>
              <a:t>    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为了能在计算机中参与运算，计算机将自动用机器数</a:t>
            </a:r>
            <a:r>
              <a:rPr kumimoji="1" lang="en-US" altLang="zh-CN" sz="2800" b="1" dirty="0">
                <a:ea typeface="宋体" panose="02010600030101010101" pitchFamily="2" charset="-122"/>
              </a:rPr>
              <a:t>             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来代替该实数。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zh-CN" altLang="en-US" sz="2800" b="1" dirty="0">
              <a:ea typeface="宋体" panose="02010600030101010101" pitchFamily="2" charset="-122"/>
            </a:endParaRPr>
          </a:p>
        </p:txBody>
      </p: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B726228B-EA41-264A-A334-2AA3D7BB3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75423"/>
              </p:ext>
            </p:extLst>
          </p:nvPr>
        </p:nvGraphicFramePr>
        <p:xfrm>
          <a:off x="1003300" y="3952875"/>
          <a:ext cx="15525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4200" imgH="203200" progId="Equation.3">
                  <p:embed/>
                </p:oleObj>
              </mc:Choice>
              <mc:Fallback>
                <p:oleObj name="Equation" r:id="rId8" imgW="584200" imgH="203200" progId="Equation.3">
                  <p:embed/>
                  <p:pic>
                    <p:nvPicPr>
                      <p:cNvPr id="10246" name="Object 9">
                        <a:extLst>
                          <a:ext uri="{FF2B5EF4-FFF2-40B4-BE49-F238E27FC236}">
                            <a16:creationId xmlns:a16="http://schemas.microsoft.com/office/drawing/2014/main" id="{6C8DD967-3CB5-694C-8A07-85B68CD61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3952875"/>
                        <a:ext cx="15525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F1F977-813B-944F-A1B2-156F5A7B9EF2}"/>
              </a:ext>
            </a:extLst>
          </p:cNvPr>
          <p:cNvSpPr txBox="1">
            <a:spLocks/>
          </p:cNvSpPr>
          <p:nvPr/>
        </p:nvSpPr>
        <p:spPr bwMode="auto">
          <a:xfrm>
            <a:off x="450056" y="4821147"/>
            <a:ext cx="8015288" cy="1643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舍入误差界</a:t>
            </a:r>
            <a:endParaRPr kumimoji="1"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9" name="Object 9">
            <a:extLst>
              <a:ext uri="{FF2B5EF4-FFF2-40B4-BE49-F238E27FC236}">
                <a16:creationId xmlns:a16="http://schemas.microsoft.com/office/drawing/2014/main" id="{C3DD645F-EFA3-BC4C-A9CB-639AB35D0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88310"/>
              </p:ext>
            </p:extLst>
          </p:nvPr>
        </p:nvGraphicFramePr>
        <p:xfrm>
          <a:off x="3059113" y="5404643"/>
          <a:ext cx="30337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228600" progId="Equation.3">
                  <p:embed/>
                </p:oleObj>
              </mc:Choice>
              <mc:Fallback>
                <p:oleObj name="Equation" r:id="rId10" imgW="1143000" imgH="228600" progId="Equation.3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072B1A34-625E-D842-842C-D27DCD356F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404643"/>
                        <a:ext cx="30337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8">
            <a:extLst>
              <a:ext uri="{FF2B5EF4-FFF2-40B4-BE49-F238E27FC236}">
                <a16:creationId xmlns:a16="http://schemas.microsoft.com/office/drawing/2014/main" id="{4058ED99-FACB-3E4F-9E38-0FE37A2D1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55" y="6188140"/>
            <a:ext cx="87745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误差的传播和积累方式决定算法的稳定性。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25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20564" y="1230716"/>
            <a:ext cx="87745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核心手段：将复杂运算转化为</a:t>
            </a:r>
            <a:r>
              <a:rPr lang="zh-CN" altLang="en-US" b="1" dirty="0">
                <a:solidFill>
                  <a:srgbClr val="0000FF"/>
                </a:solidFill>
              </a:rPr>
              <a:t>加减乘除</a:t>
            </a:r>
            <a:r>
              <a:rPr lang="zh-CN" altLang="en-US" b="1" dirty="0"/>
              <a:t>运算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计算方法课程的核心概念</a:t>
            </a:r>
          </a:p>
        </p:txBody>
      </p:sp>
      <p:sp>
        <p:nvSpPr>
          <p:cNvPr id="11" name="Process 10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20564" y="1976618"/>
            <a:ext cx="85629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计算结果：</a:t>
            </a:r>
            <a:r>
              <a:rPr lang="zh-CN" altLang="en-US" b="1" dirty="0">
                <a:solidFill>
                  <a:srgbClr val="C00000"/>
                </a:solidFill>
              </a:rPr>
              <a:t>数值解（近似解）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32104" y="5887137"/>
            <a:ext cx="85629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重要概念：</a:t>
            </a:r>
            <a:r>
              <a:rPr lang="zh-CN" altLang="en-US" b="1" dirty="0">
                <a:solidFill>
                  <a:srgbClr val="C00000"/>
                </a:solidFill>
              </a:rPr>
              <a:t>误差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31" name="Oval 7"/>
          <p:cNvSpPr>
            <a:spLocks noChangeArrowheads="1"/>
          </p:cNvSpPr>
          <p:nvPr/>
        </p:nvSpPr>
        <p:spPr bwMode="auto">
          <a:xfrm>
            <a:off x="855662" y="2716212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</a:p>
        </p:txBody>
      </p:sp>
      <p:sp>
        <p:nvSpPr>
          <p:cNvPr id="32" name="AutoShape 10"/>
          <p:cNvSpPr>
            <a:spLocks noChangeArrowheads="1"/>
          </p:cNvSpPr>
          <p:nvPr/>
        </p:nvSpPr>
        <p:spPr bwMode="auto">
          <a:xfrm>
            <a:off x="2040310" y="3173412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3" name="Group 67"/>
          <p:cNvGrpSpPr/>
          <p:nvPr/>
        </p:nvGrpSpPr>
        <p:grpSpPr bwMode="auto">
          <a:xfrm>
            <a:off x="3055223" y="2728593"/>
            <a:ext cx="1822063" cy="900067"/>
            <a:chOff x="432" y="1440"/>
            <a:chExt cx="2689" cy="1200"/>
          </a:xfrm>
        </p:grpSpPr>
        <p:sp>
          <p:nvSpPr>
            <p:cNvPr id="34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5" name="Rectangle 44"/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</a:p>
          </p:txBody>
        </p:sp>
      </p:grpSp>
      <p:sp>
        <p:nvSpPr>
          <p:cNvPr id="36" name="AutoShape 10"/>
          <p:cNvSpPr>
            <a:spLocks noChangeArrowheads="1"/>
          </p:cNvSpPr>
          <p:nvPr/>
        </p:nvSpPr>
        <p:spPr bwMode="auto">
          <a:xfrm>
            <a:off x="4813591" y="3173412"/>
            <a:ext cx="917575" cy="213100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7" name="AutoShape 49"/>
          <p:cNvSpPr>
            <a:spLocks noChangeArrowheads="1"/>
          </p:cNvSpPr>
          <p:nvPr/>
        </p:nvSpPr>
        <p:spPr bwMode="auto">
          <a:xfrm rot="5400000">
            <a:off x="6576834" y="3633967"/>
            <a:ext cx="365482" cy="260349"/>
          </a:xfrm>
          <a:prstGeom prst="rightArrow">
            <a:avLst>
              <a:gd name="adj1" fmla="val 50000"/>
              <a:gd name="adj2" fmla="val 83336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8" name="Group 67"/>
          <p:cNvGrpSpPr/>
          <p:nvPr/>
        </p:nvGrpSpPr>
        <p:grpSpPr bwMode="auto">
          <a:xfrm>
            <a:off x="5698397" y="2838345"/>
            <a:ext cx="2133599" cy="702005"/>
            <a:chOff x="432" y="1440"/>
            <a:chExt cx="2689" cy="1200"/>
          </a:xfrm>
        </p:grpSpPr>
        <p:sp>
          <p:nvSpPr>
            <p:cNvPr id="39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>
              <a:off x="532" y="1815"/>
              <a:ext cx="2540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计算模型</a:t>
              </a:r>
            </a:p>
          </p:txBody>
        </p:sp>
      </p:grpSp>
      <p:grpSp>
        <p:nvGrpSpPr>
          <p:cNvPr id="41" name="Group 67"/>
          <p:cNvGrpSpPr/>
          <p:nvPr/>
        </p:nvGrpSpPr>
        <p:grpSpPr bwMode="auto">
          <a:xfrm>
            <a:off x="5715001" y="3962400"/>
            <a:ext cx="2133599" cy="702005"/>
            <a:chOff x="432" y="1440"/>
            <a:chExt cx="2689" cy="1200"/>
          </a:xfrm>
        </p:grpSpPr>
        <p:sp>
          <p:nvSpPr>
            <p:cNvPr id="42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432" y="1815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</a:p>
          </p:txBody>
        </p:sp>
      </p:grpSp>
      <p:sp>
        <p:nvSpPr>
          <p:cNvPr id="44" name="Oval 7"/>
          <p:cNvSpPr>
            <a:spLocks noChangeArrowheads="1"/>
          </p:cNvSpPr>
          <p:nvPr/>
        </p:nvSpPr>
        <p:spPr bwMode="auto">
          <a:xfrm>
            <a:off x="6194425" y="5250628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</a:p>
        </p:txBody>
      </p:sp>
      <p:sp>
        <p:nvSpPr>
          <p:cNvPr id="45" name="Bent-Up Arrow 28"/>
          <p:cNvSpPr/>
          <p:nvPr/>
        </p:nvSpPr>
        <p:spPr bwMode="auto">
          <a:xfrm flipH="1">
            <a:off x="2391756" y="3386514"/>
            <a:ext cx="4330931" cy="1551914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/>
          <a:p>
            <a:endParaRPr lang="en-US"/>
          </a:p>
        </p:txBody>
      </p:sp>
      <p:sp>
        <p:nvSpPr>
          <p:cNvPr id="46" name="TextBox 32"/>
          <p:cNvSpPr txBox="1">
            <a:spLocks noChangeArrowheads="1"/>
          </p:cNvSpPr>
          <p:nvPr/>
        </p:nvSpPr>
        <p:spPr bwMode="auto">
          <a:xfrm>
            <a:off x="1981200" y="3980694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47" name="AutoShape 49"/>
          <p:cNvSpPr>
            <a:spLocks noChangeArrowheads="1"/>
          </p:cNvSpPr>
          <p:nvPr/>
        </p:nvSpPr>
        <p:spPr bwMode="auto">
          <a:xfrm rot="5400000">
            <a:off x="6586879" y="4830081"/>
            <a:ext cx="441703" cy="170085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31" grpId="0" animBg="1"/>
      <p:bldP spid="32" grpId="0" animBg="1"/>
      <p:bldP spid="36" grpId="0" animBg="1"/>
      <p:bldP spid="37" grpId="0" animBg="1"/>
      <p:bldP spid="44" grpId="0" animBg="1"/>
      <p:bldP spid="45" grpId="0" animBg="1"/>
      <p:bldP spid="46" grpId="0"/>
      <p:bldP spid="4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1120</Words>
  <Application>Microsoft Macintosh PowerPoint</Application>
  <PresentationFormat>全屏显示(4:3)</PresentationFormat>
  <Paragraphs>205</Paragraphs>
  <Slides>24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楷体_GB2312</vt:lpstr>
      <vt:lpstr>宋体</vt:lpstr>
      <vt:lpstr>宋体</vt:lpstr>
      <vt:lpstr>微软雅黑</vt:lpstr>
      <vt:lpstr>Arial</vt:lpstr>
      <vt:lpstr>Calibri</vt:lpstr>
      <vt:lpstr>Cambria Math</vt:lpstr>
      <vt:lpstr>Wingdings</vt:lpstr>
      <vt:lpstr>Office Theme</vt:lpstr>
      <vt:lpstr>Equation</vt:lpstr>
      <vt:lpstr>计算方法 Computation Methods</vt:lpstr>
      <vt:lpstr>个人简介——刘雪明</vt:lpstr>
      <vt:lpstr>PowerPoint 演示文稿</vt:lpstr>
      <vt:lpstr>课程定位</vt:lpstr>
      <vt:lpstr>课程定位</vt:lpstr>
      <vt:lpstr>实际问题求解流程</vt:lpstr>
      <vt:lpstr>PowerPoint 演示文稿</vt:lpstr>
      <vt:lpstr>插值（Interpolation）</vt:lpstr>
      <vt:lpstr>插值（Interpolation）</vt:lpstr>
      <vt:lpstr>插值（Interpolation）</vt:lpstr>
      <vt:lpstr>插值（Interpolation）</vt:lpstr>
      <vt:lpstr>多项式插值</vt:lpstr>
      <vt:lpstr>多项式插值</vt:lpstr>
      <vt:lpstr>多项式插值</vt:lpstr>
      <vt:lpstr>多项式插值</vt:lpstr>
      <vt:lpstr>多项式插值</vt:lpstr>
      <vt:lpstr>多项式插值</vt:lpstr>
      <vt:lpstr>实际问题求解流程</vt:lpstr>
      <vt:lpstr>PowerPoint 演示文稿</vt:lpstr>
      <vt:lpstr>PowerPoint 演示文稿</vt:lpstr>
      <vt:lpstr>课程地图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刘雪明</cp:lastModifiedBy>
  <cp:revision>1802</cp:revision>
  <dcterms:created xsi:type="dcterms:W3CDTF">2026-05-26T08:23:54Z</dcterms:created>
  <dcterms:modified xsi:type="dcterms:W3CDTF">2026-05-26T23:17:28Z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CDCC83604102AFA09A58156A391432A1_43</vt:lpwstr>
  </property>
  <property fmtid="{D5CDD505-2E9C-101B-9397-08002B2CF9AE}" pid="3" name="KSOProductBuildVer">
    <vt:lpwstr>2052-12.1.25895.25895</vt:lpwstr>
  </property>
</Properties>
</file>